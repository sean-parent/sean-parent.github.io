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73"/>
  </p:notesMasterIdLst>
  <p:sldIdLst>
    <p:sldId id="2147483583" r:id="rId5"/>
    <p:sldId id="2147483551" r:id="rId6"/>
    <p:sldId id="263" r:id="rId7"/>
    <p:sldId id="10953" r:id="rId8"/>
    <p:sldId id="2147483572" r:id="rId9"/>
    <p:sldId id="2147483573" r:id="rId10"/>
    <p:sldId id="2147483581" r:id="rId11"/>
    <p:sldId id="2147483574" r:id="rId12"/>
    <p:sldId id="2147483436" r:id="rId13"/>
    <p:sldId id="2147483575" r:id="rId14"/>
    <p:sldId id="2147483577" r:id="rId15"/>
    <p:sldId id="2147483597" r:id="rId16"/>
    <p:sldId id="265" r:id="rId17"/>
    <p:sldId id="2147483591" r:id="rId18"/>
    <p:sldId id="2147483607" r:id="rId19"/>
    <p:sldId id="2147483576" r:id="rId20"/>
    <p:sldId id="2147483580" r:id="rId21"/>
    <p:sldId id="2147483579" r:id="rId22"/>
    <p:sldId id="2147472774" r:id="rId23"/>
    <p:sldId id="2147483584" r:id="rId24"/>
    <p:sldId id="2147483590" r:id="rId25"/>
    <p:sldId id="2147483585" r:id="rId26"/>
    <p:sldId id="2147483586" r:id="rId27"/>
    <p:sldId id="2147483587" r:id="rId28"/>
    <p:sldId id="2147483588" r:id="rId29"/>
    <p:sldId id="2147483589" r:id="rId30"/>
    <p:sldId id="2147483593" r:id="rId31"/>
    <p:sldId id="2147483569" r:id="rId32"/>
    <p:sldId id="2147483596" r:id="rId33"/>
    <p:sldId id="2147483595" r:id="rId34"/>
    <p:sldId id="2147483598" r:id="rId35"/>
    <p:sldId id="2147483599" r:id="rId36"/>
    <p:sldId id="2147483600" r:id="rId37"/>
    <p:sldId id="2147483601" r:id="rId38"/>
    <p:sldId id="2147483602" r:id="rId39"/>
    <p:sldId id="2147483603" r:id="rId40"/>
    <p:sldId id="2147483604" r:id="rId41"/>
    <p:sldId id="2147483606" r:id="rId42"/>
    <p:sldId id="2147483605" r:id="rId43"/>
    <p:sldId id="2147483608" r:id="rId44"/>
    <p:sldId id="2147483610" r:id="rId45"/>
    <p:sldId id="2147483609" r:id="rId46"/>
    <p:sldId id="2147483627" r:id="rId47"/>
    <p:sldId id="2147483592" r:id="rId48"/>
    <p:sldId id="2147483594" r:id="rId49"/>
    <p:sldId id="2147483618" r:id="rId50"/>
    <p:sldId id="2147483619" r:id="rId51"/>
    <p:sldId id="2147483613" r:id="rId52"/>
    <p:sldId id="2147483614" r:id="rId53"/>
    <p:sldId id="2147483570" r:id="rId54"/>
    <p:sldId id="2147483612" r:id="rId55"/>
    <p:sldId id="2147483611" r:id="rId56"/>
    <p:sldId id="2147483631" r:id="rId57"/>
    <p:sldId id="2147483622" r:id="rId58"/>
    <p:sldId id="2147483623" r:id="rId59"/>
    <p:sldId id="2147483624" r:id="rId60"/>
    <p:sldId id="2147483628" r:id="rId61"/>
    <p:sldId id="2147483616" r:id="rId62"/>
    <p:sldId id="2147483629" r:id="rId63"/>
    <p:sldId id="2147483617" r:id="rId64"/>
    <p:sldId id="2147483615" r:id="rId65"/>
    <p:sldId id="2147483630" r:id="rId66"/>
    <p:sldId id="2147483633" r:id="rId67"/>
    <p:sldId id="2147483625" r:id="rId68"/>
    <p:sldId id="2147483632" r:id="rId69"/>
    <p:sldId id="2147483634" r:id="rId70"/>
    <p:sldId id="2147483626" r:id="rId71"/>
    <p:sldId id="2147483582"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204E912-0142-4F44-B0E0-4C1C230E5F88}">
          <p14:sldIdLst>
            <p14:sldId id="2147483583"/>
            <p14:sldId id="2147483551"/>
            <p14:sldId id="263"/>
            <p14:sldId id="10953"/>
            <p14:sldId id="2147483572"/>
            <p14:sldId id="2147483573"/>
            <p14:sldId id="2147483581"/>
            <p14:sldId id="2147483574"/>
            <p14:sldId id="2147483436"/>
            <p14:sldId id="2147483575"/>
            <p14:sldId id="2147483577"/>
            <p14:sldId id="2147483597"/>
            <p14:sldId id="265"/>
            <p14:sldId id="2147483591"/>
            <p14:sldId id="2147483607"/>
            <p14:sldId id="2147483576"/>
            <p14:sldId id="2147483580"/>
            <p14:sldId id="2147483579"/>
            <p14:sldId id="2147472774"/>
            <p14:sldId id="2147483584"/>
            <p14:sldId id="2147483590"/>
            <p14:sldId id="2147483585"/>
            <p14:sldId id="2147483586"/>
            <p14:sldId id="2147483587"/>
            <p14:sldId id="2147483588"/>
            <p14:sldId id="2147483589"/>
            <p14:sldId id="2147483593"/>
            <p14:sldId id="2147483569"/>
            <p14:sldId id="2147483596"/>
            <p14:sldId id="2147483595"/>
            <p14:sldId id="2147483598"/>
          </p14:sldIdLst>
        </p14:section>
        <p14:section name="Quote Build" id="{C299DDD8-DA44-C54A-926B-854F8A11DB94}">
          <p14:sldIdLst>
            <p14:sldId id="2147483599"/>
            <p14:sldId id="2147483600"/>
            <p14:sldId id="2147483601"/>
            <p14:sldId id="2147483602"/>
            <p14:sldId id="2147483603"/>
            <p14:sldId id="2147483604"/>
            <p14:sldId id="2147483606"/>
            <p14:sldId id="2147483605"/>
          </p14:sldIdLst>
        </p14:section>
        <p14:section name="Library Repsitory" id="{C4DE752D-1D7E-1548-AC53-D070F2611EAF}">
          <p14:sldIdLst>
            <p14:sldId id="2147483608"/>
            <p14:sldId id="2147483610"/>
            <p14:sldId id="2147483609"/>
            <p14:sldId id="2147483627"/>
            <p14:sldId id="2147483592"/>
            <p14:sldId id="2147483594"/>
            <p14:sldId id="2147483618"/>
            <p14:sldId id="2147483619"/>
            <p14:sldId id="2147483613"/>
            <p14:sldId id="2147483614"/>
            <p14:sldId id="2147483570"/>
            <p14:sldId id="2147483612"/>
            <p14:sldId id="2147483611"/>
            <p14:sldId id="2147483631"/>
            <p14:sldId id="2147483622"/>
            <p14:sldId id="2147483623"/>
            <p14:sldId id="2147483624"/>
            <p14:sldId id="2147483628"/>
            <p14:sldId id="2147483616"/>
            <p14:sldId id="2147483629"/>
            <p14:sldId id="2147483617"/>
            <p14:sldId id="2147483615"/>
            <p14:sldId id="2147483630"/>
            <p14:sldId id="2147483633"/>
            <p14:sldId id="2147483625"/>
            <p14:sldId id="2147483632"/>
            <p14:sldId id="2147483634"/>
            <p14:sldId id="2147483626"/>
            <p14:sldId id="214748358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56"/>
    <p:restoredTop sz="69177"/>
  </p:normalViewPr>
  <p:slideViewPr>
    <p:cSldViewPr snapToGrid="0" showGuides="1">
      <p:cViewPr>
        <p:scale>
          <a:sx n="79" d="100"/>
          <a:sy n="79" d="100"/>
        </p:scale>
        <p:origin x="1544" y="504"/>
      </p:cViewPr>
      <p:guideLst/>
    </p:cSldViewPr>
  </p:slideViewPr>
  <p:outlineViewPr>
    <p:cViewPr>
      <p:scale>
        <a:sx n="33" d="100"/>
        <a:sy n="33" d="100"/>
      </p:scale>
      <p:origin x="0" y="-15160"/>
    </p:cViewPr>
  </p:outlin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4" d="100"/>
          <a:sy n="154" d="100"/>
        </p:scale>
        <p:origin x="1776"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notesMaster" Target="notesMasters/notesMaster1.xml"/><Relationship Id="rId78"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4/25/25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first </a:t>
            </a:r>
            <a:r>
              <a:rPr lang="en-US" dirty="0" err="1"/>
              <a:t>BoostCon</a:t>
            </a:r>
            <a:r>
              <a:rPr lang="en-US" dirty="0"/>
              <a:t> in 2007, before it was C++Now, I gave a keynote, "A Possible Future of Software Development". I first gave the talk at Texas A&amp;M when Bjarne invited me to speak at an industry affiliate event. I gave the talk several more times including to IBM Research, the F35 Joint Strike Fighter software development team at Lockheed Martin, internally at Adobe, and as a Google Tech talk. The latter was recorded, and you can find it on YouTube.</a:t>
            </a:r>
          </a:p>
          <a:p>
            <a:endParaRPr lang="en-US" dirty="0"/>
          </a:p>
          <a:p>
            <a:r>
              <a:rPr lang="en-US" dirty="0"/>
              <a:t>Dave suggested I give the talk this year, since 18 years later, few of you have heard it (this was long before "That's a Rotate").</a:t>
            </a:r>
          </a:p>
          <a:p>
            <a:endParaRPr lang="en-US" dirty="0"/>
          </a:p>
          <a:p>
            <a:r>
              <a:rPr lang="en-US" dirty="0"/>
              <a:t>Two years after I gave this talk, the original Adobe Software Technology Lab ended, and I landed at Google working on ChromeOS. I returned to Adobe and worked on a stream of products (Revel, Lightroom Mobile, Lightroom Web, Photoshop Mobile, and Photoshop Web).</a:t>
            </a:r>
          </a:p>
          <a:p>
            <a:endParaRPr lang="en-US" dirty="0"/>
          </a:p>
          <a:p>
            <a:r>
              <a:rPr lang="en-US" dirty="0"/>
              <a:t>And a few years ago, I reformed Adobe's Software Technology Lab. One of our projects is to pick up the work that led to this talk. Project Code Less...</a:t>
            </a:r>
          </a:p>
        </p:txBody>
      </p:sp>
      <p:sp>
        <p:nvSpPr>
          <p:cNvPr id="4" name="Slide Number Placeholder 3"/>
          <p:cNvSpPr>
            <a:spLocks noGrp="1"/>
          </p:cNvSpPr>
          <p:nvPr>
            <p:ph type="sldNum" sz="quarter" idx="5"/>
          </p:nvPr>
        </p:nvSpPr>
        <p:spPr/>
        <p:txBody>
          <a:bodyPr/>
          <a:lstStyle/>
          <a:p>
            <a:fld id="{EFBB79AF-D22A-4E5D-9392-72114F6AB7F4}" type="slidenum">
              <a:rPr lang="en-US" smtClean="0"/>
              <a:t>2</a:t>
            </a:fld>
            <a:endParaRPr lang="en-US"/>
          </a:p>
        </p:txBody>
      </p:sp>
    </p:spTree>
    <p:extLst>
      <p:ext uri="{BB962C8B-B14F-4D97-AF65-F5344CB8AC3E}">
        <p14:creationId xmlns:p14="http://schemas.microsoft.com/office/powerpoint/2010/main" val="3796849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audience for this talk was students, and I started with some of my background. And stats on Adobe.</a:t>
            </a:r>
          </a:p>
        </p:txBody>
      </p:sp>
      <p:sp>
        <p:nvSpPr>
          <p:cNvPr id="4" name="Slide Number Placeholder 3"/>
          <p:cNvSpPr>
            <a:spLocks noGrp="1"/>
          </p:cNvSpPr>
          <p:nvPr>
            <p:ph type="sldNum" sz="quarter" idx="5"/>
          </p:nvPr>
        </p:nvSpPr>
        <p:spPr/>
        <p:txBody>
          <a:bodyPr/>
          <a:lstStyle/>
          <a:p>
            <a:fld id="{EFBB79AF-D22A-4E5D-9392-72114F6AB7F4}" type="slidenum">
              <a:rPr lang="en-US" smtClean="0"/>
              <a:t>3</a:t>
            </a:fld>
            <a:endParaRPr lang="en-US"/>
          </a:p>
        </p:txBody>
      </p:sp>
    </p:spTree>
    <p:extLst>
      <p:ext uri="{BB962C8B-B14F-4D97-AF65-F5344CB8AC3E}">
        <p14:creationId xmlns:p14="http://schemas.microsoft.com/office/powerpoint/2010/main" val="3650653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 fact: Photoshop 3.0 shipped on Sun and SGI Unix. But that was </a:t>
            </a:r>
            <a:r>
              <a:rPr lang="en-US" i="1" dirty="0"/>
              <a:t>way</a:t>
            </a:r>
            <a:r>
              <a:rPr lang="en-US" dirty="0"/>
              <a:t> back in 1994.</a:t>
            </a:r>
          </a:p>
        </p:txBody>
      </p:sp>
      <p:sp>
        <p:nvSpPr>
          <p:cNvPr id="4" name="Slide Number Placeholder 3"/>
          <p:cNvSpPr>
            <a:spLocks noGrp="1"/>
          </p:cNvSpPr>
          <p:nvPr>
            <p:ph type="sldNum" sz="quarter" idx="5"/>
          </p:nvPr>
        </p:nvSpPr>
        <p:spPr/>
        <p:txBody>
          <a:bodyPr/>
          <a:lstStyle/>
          <a:p>
            <a:fld id="{EFBB79AF-D22A-4E5D-9392-72114F6AB7F4}" type="slidenum">
              <a:rPr lang="en-US" smtClean="0"/>
              <a:t>5</a:t>
            </a:fld>
            <a:endParaRPr lang="en-US"/>
          </a:p>
        </p:txBody>
      </p:sp>
    </p:spTree>
    <p:extLst>
      <p:ext uri="{BB962C8B-B14F-4D97-AF65-F5344CB8AC3E}">
        <p14:creationId xmlns:p14="http://schemas.microsoft.com/office/powerpoint/2010/main" val="30243200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follow a waterfall process out of ignorance. Significant constraints, such as the lead time for printing manuals and box art, and booking manufacturing time for CDs, pushed the processes to front-load features.</a:t>
            </a:r>
          </a:p>
        </p:txBody>
      </p:sp>
      <p:sp>
        <p:nvSpPr>
          <p:cNvPr id="4" name="Slide Number Placeholder 3"/>
          <p:cNvSpPr>
            <a:spLocks noGrp="1"/>
          </p:cNvSpPr>
          <p:nvPr>
            <p:ph type="sldNum" sz="quarter" idx="5"/>
          </p:nvPr>
        </p:nvSpPr>
        <p:spPr/>
        <p:txBody>
          <a:bodyPr/>
          <a:lstStyle/>
          <a:p>
            <a:fld id="{EFBB79AF-D22A-4E5D-9392-72114F6AB7F4}" type="slidenum">
              <a:rPr lang="en-US" smtClean="0"/>
              <a:t>6</a:t>
            </a:fld>
            <a:endParaRPr lang="en-US"/>
          </a:p>
        </p:txBody>
      </p:sp>
    </p:spTree>
    <p:extLst>
      <p:ext uri="{BB962C8B-B14F-4D97-AF65-F5344CB8AC3E}">
        <p14:creationId xmlns:p14="http://schemas.microsoft.com/office/powerpoint/2010/main" val="1850855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8</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11</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F96B-94D2-3042-5D9F-85C2ED1D8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4328D-C20E-0978-5BFD-99AB6213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441F-2938-8521-FF26-8473BA41EB96}"/>
              </a:ext>
            </a:extLst>
          </p:cNvPr>
          <p:cNvSpPr>
            <a:spLocks noGrp="1"/>
          </p:cNvSpPr>
          <p:nvPr>
            <p:ph type="body" idx="1"/>
          </p:nvPr>
        </p:nvSpPr>
        <p:spPr/>
        <p:txBody>
          <a:bodyPr/>
          <a:lstStyle/>
          <a:p>
            <a:r>
              <a:rPr lang="en-US" dirty="0"/>
              <a:t>Jon Bentley's solution is considerably longer and arguably incorrect.</a:t>
            </a:r>
          </a:p>
          <a:p>
            <a:pPr marL="457200" indent="-457200">
              <a:buFont typeface="+mj-lt"/>
              <a:buAutoNum type="arabicPeriod"/>
            </a:pPr>
            <a:r>
              <a:rPr lang="en-US" dirty="0"/>
              <a:t>Throws away information</a:t>
            </a:r>
          </a:p>
          <a:p>
            <a:pPr marL="457200" indent="-457200">
              <a:buFont typeface="+mj-lt"/>
              <a:buAutoNum type="arabicPeriod"/>
            </a:pPr>
            <a:r>
              <a:rPr lang="en-US" dirty="0"/>
              <a:t>Possible overflow</a:t>
            </a:r>
          </a:p>
          <a:p>
            <a:pPr marL="457200" indent="-457200">
              <a:buFont typeface="+mj-lt"/>
              <a:buAutoNum type="arabicPeriod"/>
            </a:pPr>
            <a:r>
              <a:rPr lang="en-US" dirty="0"/>
              <a:t>Extra comparison</a:t>
            </a:r>
          </a:p>
          <a:p>
            <a:pPr marL="457200" indent="-457200">
              <a:buFont typeface="+mj-lt"/>
              <a:buAutoNum type="arabicPeriod"/>
            </a:pPr>
            <a:r>
              <a:rPr lang="en-US" dirty="0"/>
              <a:t>Possible underflow (requires signed value)</a:t>
            </a:r>
          </a:p>
          <a:p>
            <a:pPr marL="457200" indent="-457200">
              <a:buFont typeface="+mj-lt"/>
              <a:buAutoNum type="arabicPeriod"/>
            </a:pPr>
            <a:endParaRPr lang="en-US" dirty="0"/>
          </a:p>
          <a:p>
            <a:endParaRPr lang="en-US" dirty="0"/>
          </a:p>
        </p:txBody>
      </p:sp>
      <p:sp>
        <p:nvSpPr>
          <p:cNvPr id="4" name="Slide Number Placeholder 3">
            <a:extLst>
              <a:ext uri="{FF2B5EF4-FFF2-40B4-BE49-F238E27FC236}">
                <a16:creationId xmlns:a16="http://schemas.microsoft.com/office/drawing/2014/main" id="{104440EC-B0DD-AEC2-CAB6-FF7432C20012}"/>
              </a:ext>
            </a:extLst>
          </p:cNvPr>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34789097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a better solution to the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from my original talk and still holds as generally true. I haven’t measured it, but I feel the percentage of engineers who can write this code has increased. We have moved beyond the “Java Dark Ages,” where Java, Design Patterns, and Object-Oriented Programming were taught at the exclusion of machine architecture, algorithms, and data structures. I credit programs like Google’s Summer of Code and competitive coding contests for the change.</a:t>
            </a:r>
          </a:p>
          <a:p>
            <a:endParaRPr lang="en-US" dirty="0"/>
          </a:p>
          <a:p>
            <a:r>
              <a:rPr lang="en-US" dirty="0"/>
              <a:t>However, some of my colleagues believe we are entering a new dark age driven by AI and JavaScript, creating a generation of developers who don’t understand how the code they write works (or doesn’t). I haven’t been involved with hiring new grads in a while, so I have no firsthand knowledge.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2779283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 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39125309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identical to mine except for a few minor naming issues. I’ve tried this experiment a few times, starting with GPT 2.5 (it failed). The code quality has gotten surprisingly good, surprisingly fast. I’m one of those 55% of developers.</a:t>
            </a:r>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solved – that’s the end of my talk… I think we have a little more time? Let’s continue since we aren’t all out of a job yet.</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Unfortunately (maybe?) I don’t believe AI fixes everything. Yet. Let’s look a little more at how software is developed.</a:t>
            </a:r>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Jira reports suck (at least my ability to generate them does).</a:t>
            </a:r>
          </a:p>
          <a:p>
            <a:r>
              <a:rPr lang="en-US" dirty="0"/>
              <a:t>This is a graph of issues (bugs) for a product for the last 10 years.</a:t>
            </a:r>
          </a:p>
          <a:p>
            <a:r>
              <a:rPr lang="en-US" dirty="0"/>
              <a:t>The top red line is the running total of issues created</a:t>
            </a:r>
          </a:p>
          <a:p>
            <a:r>
              <a:rPr lang="en-US" dirty="0"/>
              <a:t>The green line is the running total of issues resolved</a:t>
            </a:r>
          </a:p>
          <a:p>
            <a:r>
              <a:rPr lang="en-US" dirty="0"/>
              <a:t>The blue line shows the accumulation of unresolved issues</a:t>
            </a:r>
          </a:p>
          <a:p>
            <a:r>
              <a:rPr lang="en-US" dirty="0"/>
              <a:t>The bend in 2019 was a significant scale-up of the team as the product became an “ecosystem” and extended to many more platforms</a:t>
            </a:r>
          </a:p>
          <a:p>
            <a:r>
              <a:rPr lang="en-US" dirty="0"/>
              <a:t>The version lines are a new field, but in later releases, they give a sense of the release cadence.</a:t>
            </a:r>
          </a:p>
        </p:txBody>
      </p:sp>
      <p:sp>
        <p:nvSpPr>
          <p:cNvPr id="4" name="Slide Number Placeholder 3"/>
          <p:cNvSpPr>
            <a:spLocks noGrp="1"/>
          </p:cNvSpPr>
          <p:nvPr>
            <p:ph type="sldNum" sz="quarter" idx="5"/>
          </p:nvPr>
        </p:nvSpPr>
        <p:spPr/>
        <p:txBody>
          <a:bodyPr/>
          <a:lstStyle/>
          <a:p>
            <a:fld id="{EFBB79AF-D22A-4E5D-9392-72114F6AB7F4}" type="slidenum">
              <a:rPr lang="en-US" smtClean="0"/>
              <a:t>21</a:t>
            </a:fld>
            <a:endParaRPr lang="en-US"/>
          </a:p>
        </p:txBody>
      </p:sp>
    </p:spTree>
    <p:extLst>
      <p:ext uri="{BB962C8B-B14F-4D97-AF65-F5344CB8AC3E}">
        <p14:creationId xmlns:p14="http://schemas.microsoft.com/office/powerpoint/2010/main" val="21643175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breakdown of how bugs are resolved over the same period.</a:t>
            </a:r>
          </a:p>
        </p:txBody>
      </p:sp>
      <p:sp>
        <p:nvSpPr>
          <p:cNvPr id="4" name="Slide Number Placeholder 3"/>
          <p:cNvSpPr>
            <a:spLocks noGrp="1"/>
          </p:cNvSpPr>
          <p:nvPr>
            <p:ph type="sldNum" sz="quarter" idx="5"/>
          </p:nvPr>
        </p:nvSpPr>
        <p:spPr/>
        <p:txBody>
          <a:bodyPr/>
          <a:lstStyle/>
          <a:p>
            <a:fld id="{EFBB79AF-D22A-4E5D-9392-72114F6AB7F4}" type="slidenum">
              <a:rPr lang="en-US" smtClean="0"/>
              <a:t>22</a:t>
            </a:fld>
            <a:endParaRPr lang="en-US"/>
          </a:p>
        </p:txBody>
      </p:sp>
    </p:spTree>
    <p:extLst>
      <p:ext uri="{BB962C8B-B14F-4D97-AF65-F5344CB8AC3E}">
        <p14:creationId xmlns:p14="http://schemas.microsoft.com/office/powerpoint/2010/main" val="36058872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At least more bugs are fixed than not?</a:t>
            </a:r>
          </a:p>
          <a:p>
            <a:r>
              <a:rPr lang="en-US" dirty="0"/>
              <a:t>In fairness, the % should be a little higher because “Working as Designed” and “Duplicate” are not bugs.</a:t>
            </a:r>
          </a:p>
          <a:p>
            <a:r>
              <a:rPr lang="en-US" dirty="0"/>
              <a:t>“Cannot Reproduce” is a little more problematic and could indicate a need for better test coverage.</a:t>
            </a:r>
          </a:p>
        </p:txBody>
      </p:sp>
      <p:sp>
        <p:nvSpPr>
          <p:cNvPr id="4" name="Slide Number Placeholder 3"/>
          <p:cNvSpPr>
            <a:spLocks noGrp="1"/>
          </p:cNvSpPr>
          <p:nvPr>
            <p:ph type="sldNum" sz="quarter" idx="5"/>
          </p:nvPr>
        </p:nvSpPr>
        <p:spPr/>
        <p:txBody>
          <a:bodyPr/>
          <a:lstStyle/>
          <a:p>
            <a:fld id="{EFBB79AF-D22A-4E5D-9392-72114F6AB7F4}" type="slidenum">
              <a:rPr lang="en-US" smtClean="0"/>
              <a:t>23</a:t>
            </a:fld>
            <a:endParaRPr lang="en-US"/>
          </a:p>
        </p:txBody>
      </p:sp>
    </p:spTree>
    <p:extLst>
      <p:ext uri="{BB962C8B-B14F-4D97-AF65-F5344CB8AC3E}">
        <p14:creationId xmlns:p14="http://schemas.microsoft.com/office/powerpoint/2010/main" val="41980362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2B4D"/>
                </a:solidFill>
                <a:effectLst/>
                <a:latin typeface="clean-regular"/>
              </a:rPr>
              <a:t>Won’t Fix: “Usually low priority bug, not worth the effort, or no need to fix for a situation that's not important anymore.”</a:t>
            </a:r>
          </a:p>
          <a:p>
            <a:r>
              <a:rPr lang="en-US" b="0" i="0" dirty="0">
                <a:solidFill>
                  <a:srgbClr val="172B4D"/>
                </a:solidFill>
                <a:effectLst/>
                <a:latin typeface="clean-regular"/>
              </a:rPr>
              <a:t>Narrator voice: “At least they thought it was a low-priority bug.”</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24</a:t>
            </a:fld>
            <a:endParaRPr lang="en-US"/>
          </a:p>
        </p:txBody>
      </p:sp>
    </p:spTree>
    <p:extLst>
      <p:ext uri="{BB962C8B-B14F-4D97-AF65-F5344CB8AC3E}">
        <p14:creationId xmlns:p14="http://schemas.microsoft.com/office/powerpoint/2010/main" val="10757152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Deferred: “</a:t>
            </a:r>
            <a:r>
              <a:rPr lang="en-US" b="0" i="0" dirty="0">
                <a:solidFill>
                  <a:srgbClr val="172B4D"/>
                </a:solidFill>
                <a:effectLst/>
                <a:latin typeface="clean-regular"/>
              </a:rPr>
              <a:t>Will reconsider at a future date” (narrator voice: “They won’t”).</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25</a:t>
            </a:fld>
            <a:endParaRPr lang="en-US"/>
          </a:p>
        </p:txBody>
      </p:sp>
    </p:spTree>
    <p:extLst>
      <p:ext uri="{BB962C8B-B14F-4D97-AF65-F5344CB8AC3E}">
        <p14:creationId xmlns:p14="http://schemas.microsoft.com/office/powerpoint/2010/main" val="20698904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of all bugs reported remain unresolved.</a:t>
            </a:r>
          </a:p>
        </p:txBody>
      </p:sp>
      <p:sp>
        <p:nvSpPr>
          <p:cNvPr id="4" name="Slide Number Placeholder 3"/>
          <p:cNvSpPr>
            <a:spLocks noGrp="1"/>
          </p:cNvSpPr>
          <p:nvPr>
            <p:ph type="sldNum" sz="quarter" idx="5"/>
          </p:nvPr>
        </p:nvSpPr>
        <p:spPr/>
        <p:txBody>
          <a:bodyPr/>
          <a:lstStyle/>
          <a:p>
            <a:fld id="{EFBB79AF-D22A-4E5D-9392-72114F6AB7F4}" type="slidenum">
              <a:rPr lang="en-US" smtClean="0"/>
              <a:t>26</a:t>
            </a:fld>
            <a:endParaRPr lang="en-US"/>
          </a:p>
        </p:txBody>
      </p:sp>
    </p:spTree>
    <p:extLst>
      <p:ext uri="{BB962C8B-B14F-4D97-AF65-F5344CB8AC3E}">
        <p14:creationId xmlns:p14="http://schemas.microsoft.com/office/powerpoint/2010/main" val="19216449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earlier question, we ship software through a process of iterative refinement.</a:t>
            </a:r>
          </a:p>
          <a:p>
            <a:endParaRPr lang="en-US" dirty="0"/>
          </a:p>
          <a:p>
            <a:r>
              <a:rPr lang="en-US" dirty="0"/>
              <a:t>Who here feels like a good portion of their career is recoding things others have written before, or things you have written before? Why is AI good at code? Because, as an industry, we repeat ourselves a lot.</a:t>
            </a:r>
          </a:p>
        </p:txBody>
      </p:sp>
      <p:sp>
        <p:nvSpPr>
          <p:cNvPr id="4" name="Slide Number Placeholder 3"/>
          <p:cNvSpPr>
            <a:spLocks noGrp="1"/>
          </p:cNvSpPr>
          <p:nvPr>
            <p:ph type="sldNum" sz="quarter" idx="5"/>
          </p:nvPr>
        </p:nvSpPr>
        <p:spPr/>
        <p:txBody>
          <a:bodyPr/>
          <a:lstStyle/>
          <a:p>
            <a:fld id="{EFBB79AF-D22A-4E5D-9392-72114F6AB7F4}" type="slidenum">
              <a:rPr lang="en-US" smtClean="0"/>
              <a:t>27</a:t>
            </a:fld>
            <a:endParaRPr lang="en-US"/>
          </a:p>
        </p:txBody>
      </p:sp>
    </p:spTree>
    <p:extLst>
      <p:ext uri="{BB962C8B-B14F-4D97-AF65-F5344CB8AC3E}">
        <p14:creationId xmlns:p14="http://schemas.microsoft.com/office/powerpoint/2010/main" val="14132357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p:cNvSpPr>
            <a:spLocks noGrp="1"/>
          </p:cNvSpPr>
          <p:nvPr>
            <p:ph type="sldNum" sz="quarter" idx="5"/>
          </p:nvPr>
        </p:nvSpPr>
        <p:spPr/>
        <p:txBody>
          <a:bodyPr/>
          <a:lstStyle/>
          <a:p>
            <a:fld id="{EFBB79AF-D22A-4E5D-9392-72114F6AB7F4}" type="slidenum">
              <a:rPr lang="en-US" smtClean="0"/>
              <a:t>28</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code is a liability. We need to focus on the problem of writing less code (not writing bad code faster).</a:t>
            </a:r>
          </a:p>
        </p:txBody>
      </p:sp>
      <p:sp>
        <p:nvSpPr>
          <p:cNvPr id="4" name="Slide Number Placeholder 3"/>
          <p:cNvSpPr>
            <a:spLocks noGrp="1"/>
          </p:cNvSpPr>
          <p:nvPr>
            <p:ph type="sldNum" sz="quarter" idx="5"/>
          </p:nvPr>
        </p:nvSpPr>
        <p:spPr/>
        <p:txBody>
          <a:bodyPr/>
          <a:lstStyle/>
          <a:p>
            <a:fld id="{EFBB79AF-D22A-4E5D-9392-72114F6AB7F4}" type="slidenum">
              <a:rPr lang="en-US" smtClean="0"/>
              <a:t>29</a:t>
            </a:fld>
            <a:endParaRPr lang="en-US"/>
          </a:p>
        </p:txBody>
      </p:sp>
    </p:spTree>
    <p:extLst>
      <p:ext uri="{BB962C8B-B14F-4D97-AF65-F5344CB8AC3E}">
        <p14:creationId xmlns:p14="http://schemas.microsoft.com/office/powerpoint/2010/main" val="28512192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in the right front corner of the audience for this talk – this was the day when I first met Alex in person.</a:t>
            </a:r>
          </a:p>
          <a:p>
            <a:endParaRPr lang="en-US" dirty="0"/>
          </a:p>
          <a:p>
            <a:r>
              <a:rPr lang="en-US" dirty="0"/>
              <a:t>By extension, Alex wasn’t referring to standard library extensions, but things like the Boost Graph Library (shipped in 2000). How many generic libraries for Algorithms and Data Structures can you name?</a:t>
            </a:r>
          </a:p>
          <a:p>
            <a:endParaRPr lang="en-US" dirty="0"/>
          </a:p>
          <a:p>
            <a:r>
              <a:rPr lang="en-US" dirty="0"/>
              <a:t>No language progress – Alex’s work had directly influenced C++ Concepts, Rust Traits, and Swift Protocols.</a:t>
            </a:r>
          </a:p>
          <a:p>
            <a:endParaRPr lang="en-US" dirty="0"/>
          </a:p>
          <a:p>
            <a:r>
              <a:rPr lang="en-US" dirty="0"/>
              <a:t>I believe STL and  Generic Programming have significantly impacted software engineering throughout the industry, although I know Alex still views it as a ”failure”.</a:t>
            </a:r>
          </a:p>
        </p:txBody>
      </p:sp>
      <p:sp>
        <p:nvSpPr>
          <p:cNvPr id="4" name="Slide Number Placeholder 3"/>
          <p:cNvSpPr>
            <a:spLocks noGrp="1"/>
          </p:cNvSpPr>
          <p:nvPr>
            <p:ph type="sldNum" sz="quarter" idx="5"/>
          </p:nvPr>
        </p:nvSpPr>
        <p:spPr/>
        <p:txBody>
          <a:bodyPr/>
          <a:lstStyle/>
          <a:p>
            <a:fld id="{EFBB79AF-D22A-4E5D-9392-72114F6AB7F4}" type="slidenum">
              <a:rPr lang="en-US" smtClean="0"/>
              <a:t>30</a:t>
            </a:fld>
            <a:endParaRPr lang="en-US"/>
          </a:p>
        </p:txBody>
      </p:sp>
    </p:spTree>
    <p:extLst>
      <p:ext uri="{BB962C8B-B14F-4D97-AF65-F5344CB8AC3E}">
        <p14:creationId xmlns:p14="http://schemas.microsoft.com/office/powerpoint/2010/main" val="27009352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BB79AF-D22A-4E5D-9392-72114F6AB7F4}" type="slidenum">
              <a:rPr lang="en-US" smtClean="0"/>
              <a:t>31</a:t>
            </a:fld>
            <a:endParaRPr lang="en-US"/>
          </a:p>
        </p:txBody>
      </p:sp>
    </p:spTree>
    <p:extLst>
      <p:ext uri="{BB962C8B-B14F-4D97-AF65-F5344CB8AC3E}">
        <p14:creationId xmlns:p14="http://schemas.microsoft.com/office/powerpoint/2010/main" val="35195276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32</a:t>
            </a:fld>
            <a:endParaRPr lang="en-US"/>
          </a:p>
        </p:txBody>
      </p:sp>
    </p:spTree>
    <p:extLst>
      <p:ext uri="{BB962C8B-B14F-4D97-AF65-F5344CB8AC3E}">
        <p14:creationId xmlns:p14="http://schemas.microsoft.com/office/powerpoint/2010/main" val="15712373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33</a:t>
            </a:fld>
            <a:endParaRPr lang="en-US"/>
          </a:p>
        </p:txBody>
      </p:sp>
    </p:spTree>
    <p:extLst>
      <p:ext uri="{BB962C8B-B14F-4D97-AF65-F5344CB8AC3E}">
        <p14:creationId xmlns:p14="http://schemas.microsoft.com/office/powerpoint/2010/main" val="36122371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34</a:t>
            </a:fld>
            <a:endParaRPr lang="en-US"/>
          </a:p>
        </p:txBody>
      </p:sp>
    </p:spTree>
    <p:extLst>
      <p:ext uri="{BB962C8B-B14F-4D97-AF65-F5344CB8AC3E}">
        <p14:creationId xmlns:p14="http://schemas.microsoft.com/office/powerpoint/2010/main" val="39102926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36</a:t>
            </a:fld>
            <a:endParaRPr lang="en-US"/>
          </a:p>
        </p:txBody>
      </p:sp>
    </p:spTree>
    <p:extLst>
      <p:ext uri="{BB962C8B-B14F-4D97-AF65-F5344CB8AC3E}">
        <p14:creationId xmlns:p14="http://schemas.microsoft.com/office/powerpoint/2010/main" val="33773223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37</a:t>
            </a:fld>
            <a:endParaRPr lang="en-US"/>
          </a:p>
        </p:txBody>
      </p:sp>
    </p:spTree>
    <p:extLst>
      <p:ext uri="{BB962C8B-B14F-4D97-AF65-F5344CB8AC3E}">
        <p14:creationId xmlns:p14="http://schemas.microsoft.com/office/powerpoint/2010/main" val="15001842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6464-00ED-F58A-3B06-362F6CD4E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A5CAC-4BE4-771E-9DA1-277CEA13C3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2D663-9FD2-51C0-85F2-7B912C0282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0B478-9A88-C9C9-5A8B-41D95EB8309D}"/>
              </a:ext>
            </a:extLst>
          </p:cNvPr>
          <p:cNvSpPr>
            <a:spLocks noGrp="1"/>
          </p:cNvSpPr>
          <p:nvPr>
            <p:ph type="sldNum" sz="quarter" idx="5"/>
          </p:nvPr>
        </p:nvSpPr>
        <p:spPr/>
        <p:txBody>
          <a:bodyPr/>
          <a:lstStyle/>
          <a:p>
            <a:fld id="{EFBB79AF-D22A-4E5D-9392-72114F6AB7F4}" type="slidenum">
              <a:rPr lang="en-US" smtClean="0"/>
              <a:t>38</a:t>
            </a:fld>
            <a:endParaRPr lang="en-US"/>
          </a:p>
        </p:txBody>
      </p:sp>
    </p:spTree>
    <p:extLst>
      <p:ext uri="{BB962C8B-B14F-4D97-AF65-F5344CB8AC3E}">
        <p14:creationId xmlns:p14="http://schemas.microsoft.com/office/powerpoint/2010/main" val="39831638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39</a:t>
            </a:fld>
            <a:endParaRPr lang="en-US"/>
          </a:p>
        </p:txBody>
      </p:sp>
    </p:spTree>
    <p:extLst>
      <p:ext uri="{BB962C8B-B14F-4D97-AF65-F5344CB8AC3E}">
        <p14:creationId xmlns:p14="http://schemas.microsoft.com/office/powerpoint/2010/main" val="19848109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D8D03-D415-8C34-68A3-AB619842B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CCC38-1AB1-635A-D4C0-DC11ACFA7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7846B-3701-C973-8E95-E8B2E805DB44}"/>
              </a:ext>
            </a:extLst>
          </p:cNvPr>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a:extLst>
              <a:ext uri="{FF2B5EF4-FFF2-40B4-BE49-F238E27FC236}">
                <a16:creationId xmlns:a16="http://schemas.microsoft.com/office/drawing/2014/main" id="{1A1A6B21-D6B0-E2CB-4A92-E3426CAA27B8}"/>
              </a:ext>
            </a:extLst>
          </p:cNvPr>
          <p:cNvSpPr>
            <a:spLocks noGrp="1"/>
          </p:cNvSpPr>
          <p:nvPr>
            <p:ph type="sldNum" sz="quarter" idx="5"/>
          </p:nvPr>
        </p:nvSpPr>
        <p:spPr/>
        <p:txBody>
          <a:bodyPr/>
          <a:lstStyle/>
          <a:p>
            <a:fld id="{EFBB79AF-D22A-4E5D-9392-72114F6AB7F4}" type="slidenum">
              <a:rPr lang="en-US" smtClean="0"/>
              <a:t>40</a:t>
            </a:fld>
            <a:endParaRPr lang="en-US"/>
          </a:p>
        </p:txBody>
      </p:sp>
    </p:spTree>
    <p:extLst>
      <p:ext uri="{BB962C8B-B14F-4D97-AF65-F5344CB8AC3E}">
        <p14:creationId xmlns:p14="http://schemas.microsoft.com/office/powerpoint/2010/main" val="16834912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477F6-B9E0-9371-0C5B-BEFFEB880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1AD92-F54B-481E-21FE-B959AEFFF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A3123A-DDEB-E2AB-92B7-377198400FD1}"/>
              </a:ext>
            </a:extLst>
          </p:cNvPr>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a:extLst>
              <a:ext uri="{FF2B5EF4-FFF2-40B4-BE49-F238E27FC236}">
                <a16:creationId xmlns:a16="http://schemas.microsoft.com/office/drawing/2014/main" id="{6C87BD37-E2C1-DBD1-D891-CDA37D170C77}"/>
              </a:ext>
            </a:extLst>
          </p:cNvPr>
          <p:cNvSpPr>
            <a:spLocks noGrp="1"/>
          </p:cNvSpPr>
          <p:nvPr>
            <p:ph type="sldNum" sz="quarter" idx="5"/>
          </p:nvPr>
        </p:nvSpPr>
        <p:spPr/>
        <p:txBody>
          <a:bodyPr/>
          <a:lstStyle/>
          <a:p>
            <a:fld id="{EFBB79AF-D22A-4E5D-9392-72114F6AB7F4}" type="slidenum">
              <a:rPr lang="en-US" smtClean="0"/>
              <a:t>41</a:t>
            </a:fld>
            <a:endParaRPr lang="en-US"/>
          </a:p>
        </p:txBody>
      </p:sp>
    </p:spTree>
    <p:extLst>
      <p:ext uri="{BB962C8B-B14F-4D97-AF65-F5344CB8AC3E}">
        <p14:creationId xmlns:p14="http://schemas.microsoft.com/office/powerpoint/2010/main" val="17793340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 Stepanov envisioned a national or international repository of proven, abstract, and efficient algorithms. There have even been some (mostly failed) attempts to start such a repository.</a:t>
            </a:r>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287798096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44</a:t>
            </a:fld>
            <a:endParaRPr lang="en-US"/>
          </a:p>
        </p:txBody>
      </p:sp>
    </p:spTree>
    <p:extLst>
      <p:ext uri="{BB962C8B-B14F-4D97-AF65-F5344CB8AC3E}">
        <p14:creationId xmlns:p14="http://schemas.microsoft.com/office/powerpoint/2010/main" val="361102646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all – but what you find is they amount to major works by single individuals or small groups.</a:t>
            </a:r>
          </a:p>
        </p:txBody>
      </p:sp>
      <p:sp>
        <p:nvSpPr>
          <p:cNvPr id="4" name="Slide Number Placeholder 3"/>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319018177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6BFFA-0CE2-F342-591E-FB27AF500A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78166-A508-1B84-0390-B64A309D2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5F940-BF10-8D91-F58A-10E795B91844}"/>
              </a:ext>
            </a:extLst>
          </p:cNvPr>
          <p:cNvSpPr>
            <a:spLocks noGrp="1"/>
          </p:cNvSpPr>
          <p:nvPr>
            <p:ph type="body" idx="1"/>
          </p:nvPr>
        </p:nvSpPr>
        <p:spPr/>
        <p:txBody>
          <a:bodyPr/>
          <a:lstStyle/>
          <a:p>
            <a:r>
              <a:rPr lang="en-US" dirty="0"/>
              <a:t>Discovering requirements, the concepts they form, and the useful models they</a:t>
            </a:r>
          </a:p>
        </p:txBody>
      </p:sp>
      <p:sp>
        <p:nvSpPr>
          <p:cNvPr id="4" name="Slide Number Placeholder 3">
            <a:extLst>
              <a:ext uri="{FF2B5EF4-FFF2-40B4-BE49-F238E27FC236}">
                <a16:creationId xmlns:a16="http://schemas.microsoft.com/office/drawing/2014/main" id="{C64E6499-CB64-DDC1-2AEF-63843EA26F15}"/>
              </a:ext>
            </a:extLst>
          </p:cNvPr>
          <p:cNvSpPr>
            <a:spLocks noGrp="1"/>
          </p:cNvSpPr>
          <p:nvPr>
            <p:ph type="sldNum" sz="quarter" idx="5"/>
          </p:nvPr>
        </p:nvSpPr>
        <p:spPr/>
        <p:txBody>
          <a:bodyPr/>
          <a:lstStyle/>
          <a:p>
            <a:fld id="{EFBB79AF-D22A-4E5D-9392-72114F6AB7F4}" type="slidenum">
              <a:rPr lang="en-US" smtClean="0"/>
              <a:t>46</a:t>
            </a:fld>
            <a:endParaRPr lang="en-US"/>
          </a:p>
        </p:txBody>
      </p:sp>
    </p:spTree>
    <p:extLst>
      <p:ext uri="{BB962C8B-B14F-4D97-AF65-F5344CB8AC3E}">
        <p14:creationId xmlns:p14="http://schemas.microsoft.com/office/powerpoint/2010/main" val="393106720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5EC8-B36B-166B-0B93-DED68806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1361F-FB29-D6C3-A6D1-0CA8726C9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CA9437-EA6D-91CD-689E-86191B954B90}"/>
              </a:ext>
            </a:extLst>
          </p:cNvPr>
          <p:cNvSpPr>
            <a:spLocks noGrp="1"/>
          </p:cNvSpPr>
          <p:nvPr>
            <p:ph type="body" idx="1"/>
          </p:nvPr>
        </p:nvSpPr>
        <p:spPr/>
        <p:txBody>
          <a:bodyPr/>
          <a:lstStyle/>
          <a:p>
            <a:r>
              <a:rPr lang="en-US" dirty="0"/>
              <a:t>Since we cannot express semantic constraints, we associate semantics with the names of operations. And often overload the meaning of a given name for different types or different contexts.</a:t>
            </a:r>
          </a:p>
          <a:p>
            <a:endParaRPr lang="en-US" dirty="0"/>
          </a:p>
          <a:p>
            <a:r>
              <a:rPr lang="en-US" dirty="0"/>
              <a:t>We cannot define the meaning of copy or </a:t>
            </a:r>
            <a:r>
              <a:rPr lang="en-US" dirty="0" err="1"/>
              <a:t>hashable</a:t>
            </a:r>
            <a:r>
              <a:rPr lang="en-US" dirty="0"/>
              <a:t> without equality. Both copy and </a:t>
            </a:r>
            <a:r>
              <a:rPr lang="en-US" dirty="0" err="1"/>
              <a:t>hashable</a:t>
            </a:r>
            <a:r>
              <a:rPr lang="en-US" dirty="0"/>
              <a:t> are inherent properties of types. We cannot define subtraction without addition and an additive identity. Of course maybe we are using minus to mean something other than subtraction, but then the trait “std::ops::Sub” has no meaning other than “implements minus”.</a:t>
            </a:r>
          </a:p>
          <a:p>
            <a:endParaRPr lang="en-US" dirty="0"/>
          </a:p>
          <a:p>
            <a:r>
              <a:rPr lang="en-US" dirty="0"/>
              <a:t>A type may model a concept even if some of the operations for the concept are not implemented. It follows from the definition of a type, the representation of a set of values in memory, that all types are </a:t>
            </a:r>
            <a:r>
              <a:rPr lang="en-US" i="1" dirty="0"/>
              <a:t>regular</a:t>
            </a:r>
            <a:r>
              <a:rPr lang="en-US" dirty="0"/>
              <a:t>. Whether or not the operations on a regular type are implemented or implementable.</a:t>
            </a:r>
          </a:p>
        </p:txBody>
      </p:sp>
      <p:sp>
        <p:nvSpPr>
          <p:cNvPr id="4" name="Slide Number Placeholder 3">
            <a:extLst>
              <a:ext uri="{FF2B5EF4-FFF2-40B4-BE49-F238E27FC236}">
                <a16:creationId xmlns:a16="http://schemas.microsoft.com/office/drawing/2014/main" id="{4E02E9A8-5C2C-99C2-645E-76FF7911428C}"/>
              </a:ext>
            </a:extLst>
          </p:cNvPr>
          <p:cNvSpPr>
            <a:spLocks noGrp="1"/>
          </p:cNvSpPr>
          <p:nvPr>
            <p:ph type="sldNum" sz="quarter" idx="5"/>
          </p:nvPr>
        </p:nvSpPr>
        <p:spPr/>
        <p:txBody>
          <a:bodyPr/>
          <a:lstStyle/>
          <a:p>
            <a:fld id="{EFBB79AF-D22A-4E5D-9392-72114F6AB7F4}" type="slidenum">
              <a:rPr lang="en-US" smtClean="0"/>
              <a:t>47</a:t>
            </a:fld>
            <a:endParaRPr lang="en-US"/>
          </a:p>
        </p:txBody>
      </p:sp>
    </p:spTree>
    <p:extLst>
      <p:ext uri="{BB962C8B-B14F-4D97-AF65-F5344CB8AC3E}">
        <p14:creationId xmlns:p14="http://schemas.microsoft.com/office/powerpoint/2010/main" val="26562384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incidental data structure is formed by relationships outside of a containing class (usually due to shared-pointer or other forms of reference semantics). Pointers should not appear in class interfaces.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incidental algorithm could be a raw loop or an algorithm constructed by messages sent through a structure – separate forms of iteration from the structure.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Lather, rinse, repeat.</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49</a:t>
            </a:fld>
            <a:endParaRPr lang="en-US"/>
          </a:p>
        </p:txBody>
      </p:sp>
    </p:spTree>
    <p:extLst>
      <p:ext uri="{BB962C8B-B14F-4D97-AF65-F5344CB8AC3E}">
        <p14:creationId xmlns:p14="http://schemas.microsoft.com/office/powerpoint/2010/main" val="402209958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50</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01092-AB03-BF30-E3E2-C27D18507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460DB-E3D8-742D-831D-4DDD54B1D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0194D-CEC6-3213-0815-B614F1CE41DD}"/>
              </a:ext>
            </a:extLst>
          </p:cNvPr>
          <p:cNvSpPr>
            <a:spLocks noGrp="1"/>
          </p:cNvSpPr>
          <p:nvPr>
            <p:ph type="body" idx="1"/>
          </p:nvPr>
        </p:nvSpPr>
        <p:spPr/>
        <p:txBody>
          <a:bodyPr/>
          <a:lstStyle/>
          <a:p>
            <a:r>
              <a:rPr lang="en-US" dirty="0"/>
              <a:t>A “network problem” is the problem of establishing and enforcing a set of local rules between related components that guarantee a global behavior.</a:t>
            </a:r>
          </a:p>
          <a:p>
            <a:r>
              <a:rPr lang="en-US" dirty="0"/>
              <a:t>At scale, the relationships between parts of a complex system become increasingly difficult to reason about. Bigger is different.</a:t>
            </a:r>
          </a:p>
          <a:p>
            <a:r>
              <a:rPr lang="en-US" dirty="0"/>
              <a:t>Scale may mean the number of components or the number of relationships.</a:t>
            </a:r>
          </a:p>
          <a:p>
            <a:r>
              <a:rPr lang="en-US" dirty="0"/>
              <a:t>The number of possible computation paths through related elements is bounded by `choose` and grows exponentially.</a:t>
            </a:r>
          </a:p>
        </p:txBody>
      </p:sp>
      <p:sp>
        <p:nvSpPr>
          <p:cNvPr id="4" name="Slide Number Placeholder 3">
            <a:extLst>
              <a:ext uri="{FF2B5EF4-FFF2-40B4-BE49-F238E27FC236}">
                <a16:creationId xmlns:a16="http://schemas.microsoft.com/office/drawing/2014/main" id="{85C282AF-D9D4-E9A3-E4F0-7902D374E54C}"/>
              </a:ext>
            </a:extLst>
          </p:cNvPr>
          <p:cNvSpPr>
            <a:spLocks noGrp="1"/>
          </p:cNvSpPr>
          <p:nvPr>
            <p:ph type="sldNum" sz="quarter" idx="5"/>
          </p:nvPr>
        </p:nvSpPr>
        <p:spPr/>
        <p:txBody>
          <a:bodyPr/>
          <a:lstStyle/>
          <a:p>
            <a:fld id="{EFBB79AF-D22A-4E5D-9392-72114F6AB7F4}" type="slidenum">
              <a:rPr lang="en-US" smtClean="0"/>
              <a:t>51</a:t>
            </a:fld>
            <a:endParaRPr lang="en-US"/>
          </a:p>
        </p:txBody>
      </p:sp>
    </p:spTree>
    <p:extLst>
      <p:ext uri="{BB962C8B-B14F-4D97-AF65-F5344CB8AC3E}">
        <p14:creationId xmlns:p14="http://schemas.microsoft.com/office/powerpoint/2010/main" val="358072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456C-E323-6EC8-59C7-6A3E55A48A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5FDD-EB90-5783-0D8B-1129F1814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6B320-482B-4451-8C1E-62665BF882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B13BE9-D5E2-6849-3936-7B2DF9F1FA22}"/>
              </a:ext>
            </a:extLst>
          </p:cNvPr>
          <p:cNvSpPr>
            <a:spLocks noGrp="1"/>
          </p:cNvSpPr>
          <p:nvPr>
            <p:ph type="sldNum" sz="quarter" idx="5"/>
          </p:nvPr>
        </p:nvSpPr>
        <p:spPr/>
        <p:txBody>
          <a:bodyPr/>
          <a:lstStyle/>
          <a:p>
            <a:fld id="{EFBB79AF-D22A-4E5D-9392-72114F6AB7F4}" type="slidenum">
              <a:rPr lang="en-US" smtClean="0"/>
              <a:t>52</a:t>
            </a:fld>
            <a:endParaRPr lang="en-US"/>
          </a:p>
        </p:txBody>
      </p:sp>
    </p:spTree>
    <p:extLst>
      <p:ext uri="{BB962C8B-B14F-4D97-AF65-F5344CB8AC3E}">
        <p14:creationId xmlns:p14="http://schemas.microsoft.com/office/powerpoint/2010/main" val="379467721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a “declarative form” is rooted in what John Backus referred to as “functional or combining forms” of which he identified 5, very simple ones:</a:t>
            </a:r>
          </a:p>
          <a:p>
            <a:endParaRPr lang="en-US" dirty="0"/>
          </a:p>
          <a:p>
            <a:pPr marL="457200" indent="-457200">
              <a:buAutoNum type="arabicPeriod"/>
            </a:pPr>
            <a:r>
              <a:rPr lang="en-US" dirty="0"/>
              <a:t>Composition</a:t>
            </a:r>
          </a:p>
          <a:p>
            <a:pPr marL="457200" indent="-457200">
              <a:buAutoNum type="arabicPeriod"/>
            </a:pPr>
            <a:r>
              <a:rPr lang="en-US" dirty="0"/>
              <a:t>Construction</a:t>
            </a:r>
          </a:p>
          <a:p>
            <a:pPr marL="457200" indent="-457200">
              <a:buAutoNum type="arabicPeriod"/>
            </a:pPr>
            <a:r>
              <a:rPr lang="en-US" dirty="0"/>
              <a:t>Conditioning</a:t>
            </a:r>
          </a:p>
          <a:p>
            <a:pPr marL="457200" indent="-457200">
              <a:buAutoNum type="arabicPeriod"/>
            </a:pPr>
            <a:r>
              <a:rPr lang="en-US" dirty="0"/>
              <a:t>Iteration</a:t>
            </a:r>
          </a:p>
          <a:p>
            <a:pPr marL="457200" indent="-457200">
              <a:buAutoNum type="arabicPeriod"/>
            </a:pPr>
            <a:r>
              <a:rPr lang="en-US" dirty="0"/>
              <a:t>Recursion</a:t>
            </a:r>
          </a:p>
          <a:p>
            <a:endParaRPr lang="en-US" dirty="0"/>
          </a:p>
          <a:p>
            <a:r>
              <a:rPr lang="en-US" dirty="0"/>
              <a:t>Alex Stepanov recognized these as theories and realized there are not few, but infinitely many.</a:t>
            </a:r>
          </a:p>
          <a:p>
            <a:endParaRPr lang="en-US" dirty="0"/>
          </a:p>
          <a:p>
            <a:r>
              <a:rPr lang="en-US" dirty="0"/>
              <a:t>Similarly, declarative forms are theories. They are patterns of structures and constraints that appear in many contexts. A few are fundamental (I believe a number of those are still undiscovered).</a:t>
            </a:r>
          </a:p>
        </p:txBody>
      </p:sp>
      <p:sp>
        <p:nvSpPr>
          <p:cNvPr id="4" name="Slide Number Placeholder 3"/>
          <p:cNvSpPr>
            <a:spLocks noGrp="1"/>
          </p:cNvSpPr>
          <p:nvPr>
            <p:ph type="sldNum" sz="quarter" idx="5"/>
          </p:nvPr>
        </p:nvSpPr>
        <p:spPr/>
        <p:txBody>
          <a:bodyPr/>
          <a:lstStyle/>
          <a:p>
            <a:fld id="{EFBB79AF-D22A-4E5D-9392-72114F6AB7F4}" type="slidenum">
              <a:rPr lang="en-US" smtClean="0"/>
              <a:t>53</a:t>
            </a:fld>
            <a:endParaRPr lang="en-US"/>
          </a:p>
        </p:txBody>
      </p:sp>
    </p:spTree>
    <p:extLst>
      <p:ext uri="{BB962C8B-B14F-4D97-AF65-F5344CB8AC3E}">
        <p14:creationId xmlns:p14="http://schemas.microsoft.com/office/powerpoint/2010/main" val="19115428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the “what” and not the “how”</a:t>
            </a:r>
          </a:p>
        </p:txBody>
      </p:sp>
      <p:sp>
        <p:nvSpPr>
          <p:cNvPr id="4" name="Slide Number Placeholder 3"/>
          <p:cNvSpPr>
            <a:spLocks noGrp="1"/>
          </p:cNvSpPr>
          <p:nvPr>
            <p:ph type="sldNum" sz="quarter" idx="5"/>
          </p:nvPr>
        </p:nvSpPr>
        <p:spPr/>
        <p:txBody>
          <a:bodyPr/>
          <a:lstStyle/>
          <a:p>
            <a:fld id="{EFBB79AF-D22A-4E5D-9392-72114F6AB7F4}" type="slidenum">
              <a:rPr lang="en-US" smtClean="0"/>
              <a:t>54</a:t>
            </a:fld>
            <a:endParaRPr lang="en-US"/>
          </a:p>
        </p:txBody>
      </p:sp>
    </p:spTree>
    <p:extLst>
      <p:ext uri="{BB962C8B-B14F-4D97-AF65-F5344CB8AC3E}">
        <p14:creationId xmlns:p14="http://schemas.microsoft.com/office/powerpoint/2010/main" val="36856172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55</a:t>
            </a:fld>
            <a:endParaRPr lang="en-US"/>
          </a:p>
        </p:txBody>
      </p:sp>
    </p:spTree>
    <p:extLst>
      <p:ext uri="{BB962C8B-B14F-4D97-AF65-F5344CB8AC3E}">
        <p14:creationId xmlns:p14="http://schemas.microsoft.com/office/powerpoint/2010/main" val="17284066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0EA48-A8B8-9774-E23D-58752EC4A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3AB12-F45E-8EAC-04DE-757E98790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E172-0748-C344-8632-FAD26FC3C362}"/>
              </a:ext>
            </a:extLst>
          </p:cNvPr>
          <p:cNvSpPr>
            <a:spLocks noGrp="1"/>
          </p:cNvSpPr>
          <p:nvPr>
            <p:ph type="body" idx="1"/>
          </p:nvPr>
        </p:nvSpPr>
        <p:spPr/>
        <p:txBody>
          <a:bodyPr/>
          <a:lstStyle/>
          <a:p>
            <a:r>
              <a:rPr lang="en-US" dirty="0"/>
              <a:t>Software development is a process of discovery, not invention.</a:t>
            </a:r>
          </a:p>
          <a:p>
            <a:endParaRPr lang="en-US" dirty="0"/>
          </a:p>
          <a:p>
            <a:r>
              <a:rPr lang="en-US" dirty="0"/>
              <a:t>The laws of mathematics and physics govern our systems.</a:t>
            </a:r>
          </a:p>
          <a:p>
            <a:endParaRPr lang="en-US" dirty="0"/>
          </a:p>
          <a:p>
            <a:r>
              <a:rPr lang="en-US" dirty="0"/>
              <a:t>Engineering is about finding the best solution given a set of constraints, of which the laws are always a part of the constraint set. But we also add time to develop, the number of developers, the skills of the developers, the platform(s) upon which the solution must run, the required performance and features, </a:t>
            </a:r>
            <a:r>
              <a:rPr lang="en-US" dirty="0" err="1"/>
              <a:t>etc</a:t>
            </a:r>
            <a:r>
              <a:rPr lang="en-US" dirty="0"/>
              <a:t>…</a:t>
            </a:r>
          </a:p>
        </p:txBody>
      </p:sp>
      <p:sp>
        <p:nvSpPr>
          <p:cNvPr id="4" name="Slide Number Placeholder 3">
            <a:extLst>
              <a:ext uri="{FF2B5EF4-FFF2-40B4-BE49-F238E27FC236}">
                <a16:creationId xmlns:a16="http://schemas.microsoft.com/office/drawing/2014/main" id="{D434564B-48B4-F745-E593-190E77F119D1}"/>
              </a:ext>
            </a:extLst>
          </p:cNvPr>
          <p:cNvSpPr>
            <a:spLocks noGrp="1"/>
          </p:cNvSpPr>
          <p:nvPr>
            <p:ph type="sldNum" sz="quarter" idx="5"/>
          </p:nvPr>
        </p:nvSpPr>
        <p:spPr/>
        <p:txBody>
          <a:bodyPr/>
          <a:lstStyle/>
          <a:p>
            <a:fld id="{EFBB79AF-D22A-4E5D-9392-72114F6AB7F4}" type="slidenum">
              <a:rPr lang="en-US" smtClean="0"/>
              <a:t>56</a:t>
            </a:fld>
            <a:endParaRPr lang="en-US"/>
          </a:p>
        </p:txBody>
      </p:sp>
    </p:spTree>
    <p:extLst>
      <p:ext uri="{BB962C8B-B14F-4D97-AF65-F5344CB8AC3E}">
        <p14:creationId xmlns:p14="http://schemas.microsoft.com/office/powerpoint/2010/main" val="396837646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an example system</a:t>
            </a:r>
          </a:p>
        </p:txBody>
      </p:sp>
      <p:sp>
        <p:nvSpPr>
          <p:cNvPr id="4" name="Slide Number Placeholder 3"/>
          <p:cNvSpPr>
            <a:spLocks noGrp="1"/>
          </p:cNvSpPr>
          <p:nvPr>
            <p:ph type="sldNum" sz="quarter" idx="5"/>
          </p:nvPr>
        </p:nvSpPr>
        <p:spPr/>
        <p:txBody>
          <a:bodyPr/>
          <a:lstStyle/>
          <a:p>
            <a:fld id="{EFBB79AF-D22A-4E5D-9392-72114F6AB7F4}" type="slidenum">
              <a:rPr lang="en-US" smtClean="0"/>
              <a:t>57</a:t>
            </a:fld>
            <a:endParaRPr lang="en-US"/>
          </a:p>
        </p:txBody>
      </p:sp>
    </p:spTree>
    <p:extLst>
      <p:ext uri="{BB962C8B-B14F-4D97-AF65-F5344CB8AC3E}">
        <p14:creationId xmlns:p14="http://schemas.microsoft.com/office/powerpoint/2010/main" val="342095775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0E-8C63-BF82-D5A7-0D260B7A0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E8822-B0A8-015F-B30F-9E8171F1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ED2E-F4E2-DF86-5C5F-EE6809A7CA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5BBF5F-90CE-2CAA-735A-CC79E809706B}"/>
              </a:ext>
            </a:extLst>
          </p:cNvPr>
          <p:cNvSpPr>
            <a:spLocks noGrp="1"/>
          </p:cNvSpPr>
          <p:nvPr>
            <p:ph type="sldNum" sz="quarter" idx="5"/>
          </p:nvPr>
        </p:nvSpPr>
        <p:spPr/>
        <p:txBody>
          <a:bodyPr/>
          <a:lstStyle/>
          <a:p>
            <a:fld id="{EFBB79AF-D22A-4E5D-9392-72114F6AB7F4}" type="slidenum">
              <a:rPr lang="en-US" smtClean="0"/>
              <a:t>60</a:t>
            </a:fld>
            <a:endParaRPr lang="en-US"/>
          </a:p>
        </p:txBody>
      </p:sp>
    </p:spTree>
    <p:extLst>
      <p:ext uri="{BB962C8B-B14F-4D97-AF65-F5344CB8AC3E}">
        <p14:creationId xmlns:p14="http://schemas.microsoft.com/office/powerpoint/2010/main" val="3034799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42083-C1E1-001C-90EB-7A8BF46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115A8-C19E-A815-C86B-2AFA741B3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8B67F-BBD5-213D-A7A9-7056185F7539}"/>
              </a:ext>
            </a:extLst>
          </p:cNvPr>
          <p:cNvSpPr>
            <a:spLocks noGrp="1"/>
          </p:cNvSpPr>
          <p:nvPr>
            <p:ph type="body" idx="1"/>
          </p:nvPr>
        </p:nvSpPr>
        <p:spPr/>
        <p:txBody>
          <a:bodyPr/>
          <a:lstStyle/>
          <a:p>
            <a:r>
              <a:rPr lang="en-US" dirty="0"/>
              <a:t>This is the description in the code I just showed. This is</a:t>
            </a:r>
          </a:p>
        </p:txBody>
      </p:sp>
      <p:sp>
        <p:nvSpPr>
          <p:cNvPr id="4" name="Slide Number Placeholder 3">
            <a:extLst>
              <a:ext uri="{FF2B5EF4-FFF2-40B4-BE49-F238E27FC236}">
                <a16:creationId xmlns:a16="http://schemas.microsoft.com/office/drawing/2014/main" id="{1D87C40B-0E0F-B930-27CB-EC258BA376BA}"/>
              </a:ext>
            </a:extLst>
          </p:cNvPr>
          <p:cNvSpPr>
            <a:spLocks noGrp="1"/>
          </p:cNvSpPr>
          <p:nvPr>
            <p:ph type="sldNum" sz="quarter" idx="5"/>
          </p:nvPr>
        </p:nvSpPr>
        <p:spPr/>
        <p:txBody>
          <a:bodyPr/>
          <a:lstStyle/>
          <a:p>
            <a:fld id="{EFBB79AF-D22A-4E5D-9392-72114F6AB7F4}" type="slidenum">
              <a:rPr lang="en-US" smtClean="0"/>
              <a:t>61</a:t>
            </a:fld>
            <a:endParaRPr lang="en-US"/>
          </a:p>
        </p:txBody>
      </p:sp>
    </p:spTree>
    <p:extLst>
      <p:ext uri="{BB962C8B-B14F-4D97-AF65-F5344CB8AC3E}">
        <p14:creationId xmlns:p14="http://schemas.microsoft.com/office/powerpoint/2010/main" val="93780302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C68E2-BFF2-458F-C051-7F5FED9F4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158BD-050C-26FF-487F-16DB1FBB3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23AA9-0EF5-20C3-622E-0C28456E4155}"/>
              </a:ext>
            </a:extLst>
          </p:cNvPr>
          <p:cNvSpPr>
            <a:spLocks noGrp="1"/>
          </p:cNvSpPr>
          <p:nvPr>
            <p:ph type="body" idx="1"/>
          </p:nvPr>
        </p:nvSpPr>
        <p:spPr/>
        <p:txBody>
          <a:bodyPr/>
          <a:lstStyle/>
          <a:p>
            <a:r>
              <a:rPr lang="en-US" dirty="0"/>
              <a:t>This is where we would like to get to, at least in a self-contained form. We want sheets to compose; dependent unit conversion is a common building block.</a:t>
            </a:r>
          </a:p>
          <a:p>
            <a:endParaRPr lang="en-US" dirty="0"/>
          </a:p>
          <a:p>
            <a:r>
              <a:rPr lang="en-US" dirty="0"/>
              <a:t>This is a single dependent unit conversion plus a single optional constraint. That’s it.</a:t>
            </a:r>
          </a:p>
          <a:p>
            <a:endParaRPr lang="en-US" dirty="0"/>
          </a:p>
          <a:p>
            <a:r>
              <a:rPr lang="en-US" dirty="0"/>
              <a:t>[ If a question arises about divide by zero… ] If `size` is 0, `percent` becomes a “don’t care” and the control is disabled, showing the prior (empty) value. This secondary pass has not been implemented in the current work.</a:t>
            </a:r>
          </a:p>
        </p:txBody>
      </p:sp>
      <p:sp>
        <p:nvSpPr>
          <p:cNvPr id="4" name="Slide Number Placeholder 3">
            <a:extLst>
              <a:ext uri="{FF2B5EF4-FFF2-40B4-BE49-F238E27FC236}">
                <a16:creationId xmlns:a16="http://schemas.microsoft.com/office/drawing/2014/main" id="{6B44DA37-B068-8F0F-D2C8-9BED32288309}"/>
              </a:ext>
            </a:extLst>
          </p:cNvPr>
          <p:cNvSpPr>
            <a:spLocks noGrp="1"/>
          </p:cNvSpPr>
          <p:nvPr>
            <p:ph type="sldNum" sz="quarter" idx="5"/>
          </p:nvPr>
        </p:nvSpPr>
        <p:spPr/>
        <p:txBody>
          <a:bodyPr/>
          <a:lstStyle/>
          <a:p>
            <a:fld id="{EFBB79AF-D22A-4E5D-9392-72114F6AB7F4}" type="slidenum">
              <a:rPr lang="en-US" smtClean="0"/>
              <a:t>62</a:t>
            </a:fld>
            <a:endParaRPr lang="en-US"/>
          </a:p>
        </p:txBody>
      </p:sp>
    </p:spTree>
    <p:extLst>
      <p:ext uri="{BB962C8B-B14F-4D97-AF65-F5344CB8AC3E}">
        <p14:creationId xmlns:p14="http://schemas.microsoft.com/office/powerpoint/2010/main" val="425781395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63</a:t>
            </a:fld>
            <a:endParaRPr lang="en-US"/>
          </a:p>
        </p:txBody>
      </p:sp>
    </p:spTree>
    <p:extLst>
      <p:ext uri="{BB962C8B-B14F-4D97-AF65-F5344CB8AC3E}">
        <p14:creationId xmlns:p14="http://schemas.microsoft.com/office/powerpoint/2010/main" val="295187556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2109D-5202-66B2-3BD8-A4C1E5320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B3BB-4638-2698-4322-37D72F1BE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EE3B-31D7-0287-6358-1572CE683D21}"/>
              </a:ext>
            </a:extLst>
          </p:cNvPr>
          <p:cNvSpPr>
            <a:spLocks noGrp="1"/>
          </p:cNvSpPr>
          <p:nvPr>
            <p:ph type="body" idx="1"/>
          </p:nvPr>
        </p:nvSpPr>
        <p:spPr/>
        <p:txBody>
          <a:bodyPr/>
          <a:lstStyle/>
          <a:p>
            <a:r>
              <a:rPr lang="en-US" dirty="0"/>
              <a:t>There has been significant progress on the first two points</a:t>
            </a:r>
          </a:p>
          <a:p>
            <a:r>
              <a:rPr lang="en-US" dirty="0"/>
              <a:t>There has been some progress on the latter point, especially in web front-end development</a:t>
            </a:r>
          </a:p>
        </p:txBody>
      </p:sp>
      <p:sp>
        <p:nvSpPr>
          <p:cNvPr id="4" name="Slide Number Placeholder 3">
            <a:extLst>
              <a:ext uri="{FF2B5EF4-FFF2-40B4-BE49-F238E27FC236}">
                <a16:creationId xmlns:a16="http://schemas.microsoft.com/office/drawing/2014/main" id="{D43CF425-771F-8604-7B8B-281C5D560EE2}"/>
              </a:ext>
            </a:extLst>
          </p:cNvPr>
          <p:cNvSpPr>
            <a:spLocks noGrp="1"/>
          </p:cNvSpPr>
          <p:nvPr>
            <p:ph type="sldNum" sz="quarter" idx="5"/>
          </p:nvPr>
        </p:nvSpPr>
        <p:spPr/>
        <p:txBody>
          <a:bodyPr/>
          <a:lstStyle/>
          <a:p>
            <a:fld id="{EFBB79AF-D22A-4E5D-9392-72114F6AB7F4}" type="slidenum">
              <a:rPr lang="en-US" smtClean="0"/>
              <a:t>64</a:t>
            </a:fld>
            <a:endParaRPr lang="en-US"/>
          </a:p>
        </p:txBody>
      </p:sp>
    </p:spTree>
    <p:extLst>
      <p:ext uri="{BB962C8B-B14F-4D97-AF65-F5344CB8AC3E}">
        <p14:creationId xmlns:p14="http://schemas.microsoft.com/office/powerpoint/2010/main" val="132486233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65</a:t>
            </a:fld>
            <a:endParaRPr lang="en-US"/>
          </a:p>
        </p:txBody>
      </p:sp>
    </p:spTree>
    <p:extLst>
      <p:ext uri="{BB962C8B-B14F-4D97-AF65-F5344CB8AC3E}">
        <p14:creationId xmlns:p14="http://schemas.microsoft.com/office/powerpoint/2010/main" val="138004571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65A65-1560-D97A-F58C-30B2FE00E4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D633E-EA3E-5C91-7A14-C79778AE40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18DAE-339D-406D-B498-FDE34A332FF2}"/>
              </a:ext>
            </a:extLst>
          </p:cNvPr>
          <p:cNvSpPr>
            <a:spLocks noGrp="1"/>
          </p:cNvSpPr>
          <p:nvPr>
            <p:ph type="body" idx="1"/>
          </p:nvPr>
        </p:nvSpPr>
        <p:spPr/>
        <p:txBody>
          <a:bodyPr/>
          <a:lstStyle/>
          <a:p>
            <a:endParaRPr lang="en-US" dirty="0"/>
          </a:p>
          <a:p>
            <a:endParaRPr lang="en-US" dirty="0"/>
          </a:p>
        </p:txBody>
      </p:sp>
      <p:sp>
        <p:nvSpPr>
          <p:cNvPr id="4" name="Slide Number Placeholder 3">
            <a:extLst>
              <a:ext uri="{FF2B5EF4-FFF2-40B4-BE49-F238E27FC236}">
                <a16:creationId xmlns:a16="http://schemas.microsoft.com/office/drawing/2014/main" id="{8705053A-E8FD-15BB-A805-89B9B14E5CFA}"/>
              </a:ext>
            </a:extLst>
          </p:cNvPr>
          <p:cNvSpPr>
            <a:spLocks noGrp="1"/>
          </p:cNvSpPr>
          <p:nvPr>
            <p:ph type="sldNum" sz="quarter" idx="5"/>
          </p:nvPr>
        </p:nvSpPr>
        <p:spPr/>
        <p:txBody>
          <a:bodyPr/>
          <a:lstStyle/>
          <a:p>
            <a:fld id="{EFBB79AF-D22A-4E5D-9392-72114F6AB7F4}" type="slidenum">
              <a:rPr lang="en-US" smtClean="0"/>
              <a:t>66</a:t>
            </a:fld>
            <a:endParaRPr lang="en-US"/>
          </a:p>
        </p:txBody>
      </p:sp>
    </p:spTree>
    <p:extLst>
      <p:ext uri="{BB962C8B-B14F-4D97-AF65-F5344CB8AC3E}">
        <p14:creationId xmlns:p14="http://schemas.microsoft.com/office/powerpoint/2010/main" val="387118600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A8BD-9476-07CE-64FA-D9CCD2066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DFB15-D100-EB46-E842-90E3B7E87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0AD94-9378-D7E4-62B5-C207794C67FE}"/>
              </a:ext>
            </a:extLst>
          </p:cNvPr>
          <p:cNvSpPr>
            <a:spLocks noGrp="1"/>
          </p:cNvSpPr>
          <p:nvPr>
            <p:ph type="body" idx="1"/>
          </p:nvPr>
        </p:nvSpPr>
        <p:spPr/>
        <p:txBody>
          <a:bodyPr/>
          <a:lstStyle/>
          <a:p>
            <a:endParaRPr lang="en-US" dirty="0"/>
          </a:p>
          <a:p>
            <a:r>
              <a:rPr lang="en-US" dirty="0"/>
              <a:t>Foundational libraries should be proven correct.</a:t>
            </a:r>
          </a:p>
          <a:p>
            <a:r>
              <a:rPr lang="en-US" dirty="0"/>
              <a:t>Interoperate with the imperative language and with each other</a:t>
            </a:r>
          </a:p>
          <a:p>
            <a:endParaRPr lang="en-US" dirty="0"/>
          </a:p>
          <a:p>
            <a:r>
              <a:rPr lang="en-US" b="0" i="0" dirty="0">
                <a:solidFill>
                  <a:srgbClr val="111111"/>
                </a:solidFill>
                <a:effectLst/>
                <a:latin typeface="Roboto" panose="020F0502020204030204" pitchFamily="34" charset="0"/>
              </a:rPr>
              <a:t>Demis Hassabis, the head of Google’s DeepMind, estimates we will reach AGI in about 5 years. My back-of-the-envelope projection says we will match human intelligence capabilities (number of neurons, speed, power consumption) in 20-40 years. We don’t yet know if intelligence scales or how to ensure our intelligent systems are “sane”. I wouldn’t worry about AI putting you out of a job; I would worry about AI putting </a:t>
            </a:r>
            <a:r>
              <a:rPr lang="en-US" b="0" i="1" dirty="0">
                <a:solidFill>
                  <a:srgbClr val="111111"/>
                </a:solidFill>
                <a:effectLst/>
                <a:latin typeface="Roboto" panose="020F0502020204030204" pitchFamily="34" charset="0"/>
              </a:rPr>
              <a:t>everyone</a:t>
            </a:r>
            <a:r>
              <a:rPr lang="en-US" b="0" i="0" dirty="0">
                <a:solidFill>
                  <a:srgbClr val="111111"/>
                </a:solidFill>
                <a:effectLst/>
                <a:latin typeface="Roboto" panose="020F0502020204030204" pitchFamily="34" charset="0"/>
              </a:rPr>
              <a:t> out of a job.</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AI won’t code in any existing language when it takes our jobs. A reasoning AI will develop a better language that is likely not human-readable.</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But if all you do is repeatedly rewrite some approximation of correct code, AI will take your job soon.</a:t>
            </a:r>
          </a:p>
          <a:p>
            <a:endParaRPr lang="en-US" dirty="0"/>
          </a:p>
        </p:txBody>
      </p:sp>
      <p:sp>
        <p:nvSpPr>
          <p:cNvPr id="4" name="Slide Number Placeholder 3">
            <a:extLst>
              <a:ext uri="{FF2B5EF4-FFF2-40B4-BE49-F238E27FC236}">
                <a16:creationId xmlns:a16="http://schemas.microsoft.com/office/drawing/2014/main" id="{5FC82D3A-9670-EB5C-3575-EFACF7D5B812}"/>
              </a:ext>
            </a:extLst>
          </p:cNvPr>
          <p:cNvSpPr>
            <a:spLocks noGrp="1"/>
          </p:cNvSpPr>
          <p:nvPr>
            <p:ph type="sldNum" sz="quarter" idx="5"/>
          </p:nvPr>
        </p:nvSpPr>
        <p:spPr/>
        <p:txBody>
          <a:bodyPr/>
          <a:lstStyle/>
          <a:p>
            <a:fld id="{EFBB79AF-D22A-4E5D-9392-72114F6AB7F4}" type="slidenum">
              <a:rPr lang="en-US" smtClean="0"/>
              <a:t>67</a:t>
            </a:fld>
            <a:endParaRPr lang="en-US"/>
          </a:p>
        </p:txBody>
      </p:sp>
    </p:spTree>
    <p:extLst>
      <p:ext uri="{BB962C8B-B14F-4D97-AF65-F5344CB8AC3E}">
        <p14:creationId xmlns:p14="http://schemas.microsoft.com/office/powerpoint/2010/main" val="23704987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4/25/25</a:t>
            </a:fld>
            <a:endParaRPr lang="en-US"/>
          </a:p>
        </p:txBody>
      </p:sp>
    </p:spTree>
    <p:extLst>
      <p:ext uri="{BB962C8B-B14F-4D97-AF65-F5344CB8AC3E}">
        <p14:creationId xmlns:p14="http://schemas.microsoft.com/office/powerpoint/2010/main" val="882777902"/>
      </p:ext>
    </p:extLst>
  </p:cSld>
  <p:clrMapOvr>
    <a:masterClrMapping/>
  </p:clrMapOvr>
  <p:transition spd="med"/>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4/25/25</a:t>
            </a:fld>
            <a:endParaRPr lang="en-US"/>
          </a:p>
        </p:txBody>
      </p:sp>
    </p:spTree>
    <p:extLst>
      <p:ext uri="{BB962C8B-B14F-4D97-AF65-F5344CB8AC3E}">
        <p14:creationId xmlns:p14="http://schemas.microsoft.com/office/powerpoint/2010/main" val="2056726932"/>
      </p:ext>
    </p:extLst>
  </p:cSld>
  <p:clrMapOvr>
    <a:masterClrMapping/>
  </p:clrMapOvr>
  <p:transition spd="med"/>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4/25/25</a:t>
            </a:fld>
            <a:endParaRPr lang="en-US"/>
          </a:p>
        </p:txBody>
      </p:sp>
    </p:spTree>
    <p:extLst>
      <p:ext uri="{BB962C8B-B14F-4D97-AF65-F5344CB8AC3E}">
        <p14:creationId xmlns:p14="http://schemas.microsoft.com/office/powerpoint/2010/main" val="269902114"/>
      </p:ext>
    </p:extLst>
  </p:cSld>
  <p:clrMapOvr>
    <a:masterClrMapping/>
  </p:clrMapOvr>
  <p:transition spd="med"/>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4/25/25</a:t>
            </a:fld>
            <a:endParaRPr lang="en-US"/>
          </a:p>
        </p:txBody>
      </p:sp>
    </p:spTree>
    <p:extLst>
      <p:ext uri="{BB962C8B-B14F-4D97-AF65-F5344CB8AC3E}">
        <p14:creationId xmlns:p14="http://schemas.microsoft.com/office/powerpoint/2010/main" val="1736874919"/>
      </p:ext>
    </p:extLst>
  </p:cSld>
  <p:clrMapOvr>
    <a:masterClrMapping/>
  </p:clrMapOvr>
  <p:transition spd="med"/>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a:lnSpc>
                <a:spcPct val="110000"/>
              </a:lnSpc>
              <a:spcBef>
                <a:spcPts val="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4/25/25</a:t>
            </a:fld>
            <a:endParaRPr lang="en-US"/>
          </a:p>
        </p:txBody>
      </p:sp>
    </p:spTree>
    <p:extLst>
      <p:ext uri="{BB962C8B-B14F-4D97-AF65-F5344CB8AC3E}">
        <p14:creationId xmlns:p14="http://schemas.microsoft.com/office/powerpoint/2010/main" val="4060606285"/>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4/25/25</a:t>
            </a:fld>
            <a:endParaRPr lang="en-US"/>
          </a:p>
        </p:txBody>
      </p:sp>
    </p:spTree>
    <p:extLst>
      <p:ext uri="{BB962C8B-B14F-4D97-AF65-F5344CB8AC3E}">
        <p14:creationId xmlns:p14="http://schemas.microsoft.com/office/powerpoint/2010/main" val="3012180649"/>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4/25/25</a:t>
            </a:fld>
            <a:endParaRPr lang="en-US"/>
          </a:p>
        </p:txBody>
      </p:sp>
    </p:spTree>
    <p:extLst>
      <p:ext uri="{BB962C8B-B14F-4D97-AF65-F5344CB8AC3E}">
        <p14:creationId xmlns:p14="http://schemas.microsoft.com/office/powerpoint/2010/main" val="2882275997"/>
      </p:ext>
    </p:extLst>
  </p:cSld>
  <p:clrMapOvr>
    <a:masterClrMapping/>
  </p:clrMapOvr>
  <p:transition spd="med"/>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4/25/25</a:t>
            </a:fld>
            <a:endParaRPr lang="en-US"/>
          </a:p>
        </p:txBody>
      </p:sp>
    </p:spTree>
    <p:extLst>
      <p:ext uri="{BB962C8B-B14F-4D97-AF65-F5344CB8AC3E}">
        <p14:creationId xmlns:p14="http://schemas.microsoft.com/office/powerpoint/2010/main" val="209017401"/>
      </p:ext>
    </p:extLst>
  </p:cSld>
  <p:clrMapOvr>
    <a:masterClrMapping/>
  </p:clrMapOvr>
  <p:transition spd="med"/>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4/25/25</a:t>
            </a:fld>
            <a:endParaRPr lang="en-US"/>
          </a:p>
        </p:txBody>
      </p:sp>
    </p:spTree>
    <p:extLst>
      <p:ext uri="{BB962C8B-B14F-4D97-AF65-F5344CB8AC3E}">
        <p14:creationId xmlns:p14="http://schemas.microsoft.com/office/powerpoint/2010/main" val="1728433906"/>
      </p:ext>
    </p:extLst>
  </p:cSld>
  <p:clrMapOvr>
    <a:masterClrMapping/>
  </p:clrMapOvr>
  <p:transition spd="med"/>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4/25/25</a:t>
            </a:fld>
            <a:endParaRPr lang="en-US"/>
          </a:p>
        </p:txBody>
      </p:sp>
    </p:spTree>
    <p:extLst>
      <p:ext uri="{BB962C8B-B14F-4D97-AF65-F5344CB8AC3E}">
        <p14:creationId xmlns:p14="http://schemas.microsoft.com/office/powerpoint/2010/main" val="3809215983"/>
      </p:ext>
    </p:extLst>
  </p:cSld>
  <p:clrMapOvr>
    <a:masterClrMapping/>
  </p:clrMapOvr>
  <p:transition spd="med"/>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4/25/25</a:t>
            </a:fld>
            <a:endParaRPr lang="en-US"/>
          </a:p>
        </p:txBody>
      </p:sp>
    </p:spTree>
    <p:extLst>
      <p:ext uri="{BB962C8B-B14F-4D97-AF65-F5344CB8AC3E}">
        <p14:creationId xmlns:p14="http://schemas.microsoft.com/office/powerpoint/2010/main" val="554232887"/>
      </p:ext>
    </p:extLst>
  </p:cSld>
  <p:clrMapOvr>
    <a:masterClrMapping/>
  </p:clrMapOvr>
  <p:transition spd="med"/>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4/25/25</a:t>
            </a:fld>
            <a:endParaRPr lang="en-US"/>
          </a:p>
        </p:txBody>
      </p:sp>
    </p:spTree>
    <p:extLst>
      <p:ext uri="{BB962C8B-B14F-4D97-AF65-F5344CB8AC3E}">
        <p14:creationId xmlns:p14="http://schemas.microsoft.com/office/powerpoint/2010/main" val="2370051644"/>
      </p:ext>
    </p:extLst>
  </p:cSld>
  <p:clrMapOvr>
    <a:masterClrMapping/>
  </p:clrMapOvr>
  <p:transition spd="med"/>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4/25/25</a:t>
            </a:fld>
            <a:endParaRPr lang="en-US"/>
          </a:p>
        </p:txBody>
      </p:sp>
    </p:spTree>
    <p:extLst>
      <p:ext uri="{BB962C8B-B14F-4D97-AF65-F5344CB8AC3E}">
        <p14:creationId xmlns:p14="http://schemas.microsoft.com/office/powerpoint/2010/main" val="17961524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4/25/25</a:t>
            </a:fld>
            <a:endParaRPr lang="en-US"/>
          </a:p>
        </p:txBody>
      </p:sp>
    </p:spTree>
    <p:extLst>
      <p:ext uri="{BB962C8B-B14F-4D97-AF65-F5344CB8AC3E}">
        <p14:creationId xmlns:p14="http://schemas.microsoft.com/office/powerpoint/2010/main" val="1872005761"/>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4/25/25</a:t>
            </a:fld>
            <a:endParaRPr lang="en-US"/>
          </a:p>
        </p:txBody>
      </p:sp>
    </p:spTree>
    <p:extLst>
      <p:ext uri="{BB962C8B-B14F-4D97-AF65-F5344CB8AC3E}">
        <p14:creationId xmlns:p14="http://schemas.microsoft.com/office/powerpoint/2010/main" val="3172503338"/>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4/25/25</a:t>
            </a:fld>
            <a:endParaRPr lang="en-US"/>
          </a:p>
        </p:txBody>
      </p:sp>
    </p:spTree>
    <p:extLst>
      <p:ext uri="{BB962C8B-B14F-4D97-AF65-F5344CB8AC3E}">
        <p14:creationId xmlns:p14="http://schemas.microsoft.com/office/powerpoint/2010/main" val="145163521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4/25/25</a:t>
            </a:fld>
            <a:endParaRPr lang="en-US"/>
          </a:p>
        </p:txBody>
      </p:sp>
    </p:spTree>
    <p:extLst>
      <p:ext uri="{BB962C8B-B14F-4D97-AF65-F5344CB8AC3E}">
        <p14:creationId xmlns:p14="http://schemas.microsoft.com/office/powerpoint/2010/main" val="2957798547"/>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4/25/25</a:t>
            </a:fld>
            <a:endParaRPr lang="en-US"/>
          </a:p>
        </p:txBody>
      </p:sp>
    </p:spTree>
    <p:extLst>
      <p:ext uri="{BB962C8B-B14F-4D97-AF65-F5344CB8AC3E}">
        <p14:creationId xmlns:p14="http://schemas.microsoft.com/office/powerpoint/2010/main" val="2883673307"/>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4/25/25</a:t>
            </a:fld>
            <a:endParaRPr lang="en-US"/>
          </a:p>
        </p:txBody>
      </p:sp>
    </p:spTree>
    <p:extLst>
      <p:ext uri="{BB962C8B-B14F-4D97-AF65-F5344CB8AC3E}">
        <p14:creationId xmlns:p14="http://schemas.microsoft.com/office/powerpoint/2010/main" val="206164529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4/25/25</a:t>
            </a:fld>
            <a:endParaRPr lang="en-US"/>
          </a:p>
        </p:txBody>
      </p:sp>
    </p:spTree>
    <p:extLst>
      <p:ext uri="{BB962C8B-B14F-4D97-AF65-F5344CB8AC3E}">
        <p14:creationId xmlns:p14="http://schemas.microsoft.com/office/powerpoint/2010/main" val="712922458"/>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4/25/25</a:t>
            </a:fld>
            <a:endParaRPr lang="en-US"/>
          </a:p>
        </p:txBody>
      </p:sp>
    </p:spTree>
    <p:extLst>
      <p:ext uri="{BB962C8B-B14F-4D97-AF65-F5344CB8AC3E}">
        <p14:creationId xmlns:p14="http://schemas.microsoft.com/office/powerpoint/2010/main" val="2247703521"/>
      </p:ext>
    </p:extLst>
  </p:cSld>
  <p:clrMapOvr>
    <a:masterClrMapping/>
  </p:clrMapOvr>
  <p:transition spd="med"/>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4/25/25</a:t>
            </a:fld>
            <a:endParaRPr lang="en-US"/>
          </a:p>
        </p:txBody>
      </p:sp>
    </p:spTree>
    <p:extLst>
      <p:ext uri="{BB962C8B-B14F-4D97-AF65-F5344CB8AC3E}">
        <p14:creationId xmlns:p14="http://schemas.microsoft.com/office/powerpoint/2010/main" val="351738186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4/25/25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transition spd="med"/>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800"/>
        </a:spcBef>
        <a:spcAft>
          <a:spcPts val="0"/>
        </a:spcAft>
        <a:buSzPct val="70000"/>
        <a:buFont typeface="Wingdings" panose="05000000000000000000" pitchFamily="2" charset="2"/>
        <a:buChar char="§"/>
        <a:defRPr sz="1800" kern="1200" baseline="0">
          <a:solidFill>
            <a:schemeClr val="tx1"/>
          </a:solidFill>
          <a:latin typeface="+mn-lt"/>
          <a:ea typeface="+mn-ea"/>
          <a:cs typeface="+mn-cs"/>
        </a:defRPr>
      </a:lvl2pPr>
      <a:lvl3pPr marL="581025" indent="-142875" algn="l" defTabSz="914400" rtl="0" eaLnBrk="1" latinLnBrk="0" hangingPunct="1">
        <a:lnSpc>
          <a:spcPct val="110000"/>
        </a:lnSpc>
        <a:spcBef>
          <a:spcPts val="8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4220644366"/>
              </p:ext>
            </p:extLst>
          </p:nvPr>
        </p:nvGraphicFramePr>
        <p:xfrm>
          <a:off x="609600" y="1576388"/>
          <a:ext cx="10972797" cy="333699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4219268113"/>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04B5A-B988-F53F-A883-699B44BA4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491DD-023D-206E-F0D9-1F04B9154ECD}"/>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438AC14F-BBFA-FEA0-B65E-CE390CA399BC}"/>
              </a:ext>
            </a:extLst>
          </p:cNvPr>
          <p:cNvGraphicFramePr>
            <a:graphicFrameLocks noGrp="1"/>
          </p:cNvGraphicFramePr>
          <p:nvPr>
            <p:ph type="tbl" sz="quarter" idx="10"/>
            <p:extLst>
              <p:ext uri="{D42A27DB-BD31-4B8C-83A1-F6EECF244321}">
                <p14:modId xmlns:p14="http://schemas.microsoft.com/office/powerpoint/2010/main" val="182567946"/>
              </p:ext>
            </p:extLst>
          </p:nvPr>
        </p:nvGraphicFramePr>
        <p:xfrm>
          <a:off x="609600" y="1576388"/>
          <a:ext cx="10972797" cy="2258217"/>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pic>
        <p:nvPicPr>
          <p:cNvPr id="3" name="Adobe Photoshop icon" descr="Adobe Photoshop logo">
            <a:extLst>
              <a:ext uri="{FF2B5EF4-FFF2-40B4-BE49-F238E27FC236}">
                <a16:creationId xmlns:a16="http://schemas.microsoft.com/office/drawing/2014/main" id="{5B7B37A3-5571-F78D-A96C-3D09E87A0AA5}"/>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59042541"/>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 (Then)</a:t>
            </a:r>
          </a:p>
        </p:txBody>
      </p:sp>
    </p:spTree>
    <p:extLst>
      <p:ext uri="{BB962C8B-B14F-4D97-AF65-F5344CB8AC3E}">
        <p14:creationId xmlns:p14="http://schemas.microsoft.com/office/powerpoint/2010/main" val="4170858985"/>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a:t>
            </a:r>
            <a:r>
              <a:rPr lang="en-US" sz="3600" b="1" dirty="0">
                <a:latin typeface="+mn-lt"/>
              </a:rPr>
              <a:t>Ninety percent </a:t>
            </a:r>
            <a:r>
              <a:rPr lang="en-US" sz="3600" dirty="0">
                <a:latin typeface="+mn-lt"/>
              </a:rPr>
              <a:t>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F0BDB-A0A5-7D80-475B-53B3A1435DA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A19136-D7F6-5F82-62DB-6A0F6BBAF9A9}"/>
              </a:ext>
            </a:extLst>
          </p:cNvPr>
          <p:cNvSpPr>
            <a:spLocks noGrp="1"/>
          </p:cNvSpPr>
          <p:nvPr>
            <p:ph type="title"/>
          </p:nvPr>
        </p:nvSpPr>
        <p:spPr>
          <a:xfrm>
            <a:off x="609600" y="264085"/>
            <a:ext cx="10972800" cy="946389"/>
          </a:xfrm>
        </p:spPr>
        <p:txBody>
          <a:bodyPr/>
          <a:lstStyle/>
          <a:p>
            <a:r>
              <a:rPr lang="en-US" dirty="0"/>
              <a:t>Jon Bentley’s Solution (translated to C++)</a:t>
            </a:r>
          </a:p>
        </p:txBody>
      </p:sp>
      <p:sp>
        <p:nvSpPr>
          <p:cNvPr id="4" name="Content Placeholder 3">
            <a:extLst>
              <a:ext uri="{FF2B5EF4-FFF2-40B4-BE49-F238E27FC236}">
                <a16:creationId xmlns:a16="http://schemas.microsoft.com/office/drawing/2014/main" id="{2610A466-2C24-5537-3320-03320E4B0C6F}"/>
              </a:ext>
            </a:extLst>
          </p:cNvPr>
          <p:cNvSpPr>
            <a:spLocks noGrp="1"/>
          </p:cNvSpPr>
          <p:nvPr>
            <p:ph idx="1"/>
          </p:nvPr>
        </p:nvSpPr>
        <p:spPr>
          <a:xfrm>
            <a:off x="609600" y="1334324"/>
            <a:ext cx="10972800" cy="4992624"/>
          </a:xfrm>
        </p:spPr>
        <p:txBody>
          <a:bodyPr/>
          <a:lstStyle/>
          <a:p>
            <a:pPr lvl="3"/>
            <a:r>
              <a:rPr lang="en-US" dirty="0"/>
              <a:t>int </a:t>
            </a:r>
            <a:r>
              <a:rPr lang="en-US" dirty="0" err="1"/>
              <a:t>binary_search</a:t>
            </a:r>
            <a:r>
              <a:rPr lang="en-US" dirty="0"/>
              <a:t>(int x[], int n, int v) {</a:t>
            </a:r>
          </a:p>
          <a:p>
            <a:pPr lvl="3"/>
            <a:r>
              <a:rPr lang="en-US" dirty="0"/>
              <a:t>    int l = 0;</a:t>
            </a:r>
          </a:p>
          <a:p>
            <a:pPr lvl="3"/>
            <a:r>
              <a:rPr lang="en-US" dirty="0"/>
              <a:t>    int u = n - 1;</a:t>
            </a:r>
          </a:p>
          <a:p>
            <a:pPr lvl="3"/>
            <a:endParaRPr lang="en-US" dirty="0"/>
          </a:p>
          <a:p>
            <a:pPr lvl="3"/>
            <a:r>
              <a:rPr lang="en-US" dirty="0"/>
              <a:t>    while (true) {</a:t>
            </a:r>
          </a:p>
          <a:p>
            <a:pPr lvl="3"/>
            <a:r>
              <a:rPr lang="en-US" dirty="0"/>
              <a:t>        if (l &gt; u) return -1;</a:t>
            </a:r>
          </a:p>
          <a:p>
            <a:pPr lvl="3"/>
            <a:endParaRPr lang="en-US" dirty="0"/>
          </a:p>
          <a:p>
            <a:pPr lvl="3"/>
            <a:r>
              <a:rPr lang="en-US" dirty="0"/>
              <a:t>        int m = (l + u) / 2;</a:t>
            </a:r>
          </a:p>
          <a:p>
            <a:pPr lvl="3"/>
            <a:endParaRPr lang="en-US" dirty="0"/>
          </a:p>
          <a:p>
            <a:pPr lvl="3"/>
            <a:r>
              <a:rPr lang="en-US" dirty="0"/>
              <a:t>        if (x[m] &lt; v) l = m + 1;</a:t>
            </a:r>
          </a:p>
          <a:p>
            <a:pPr lvl="3"/>
            <a:r>
              <a:rPr lang="en-US" dirty="0"/>
              <a:t>        else if (x[m] == v) return m;</a:t>
            </a:r>
          </a:p>
          <a:p>
            <a:pPr lvl="3"/>
            <a:r>
              <a:rPr lang="en-US" dirty="0"/>
              <a:t>        else /* (x[m] &gt; v) */ u = m - 1;</a:t>
            </a:r>
          </a:p>
          <a:p>
            <a:pPr lvl="3"/>
            <a:r>
              <a:rPr lang="en-US" dirty="0"/>
              <a:t>    }</a:t>
            </a:r>
          </a:p>
          <a:p>
            <a:pPr lvl="3"/>
            <a:r>
              <a:rPr lang="en-US" dirty="0"/>
              <a:t>}</a:t>
            </a:r>
          </a:p>
        </p:txBody>
      </p:sp>
      <p:sp>
        <p:nvSpPr>
          <p:cNvPr id="2" name="Arrow">
            <a:extLst>
              <a:ext uri="{FF2B5EF4-FFF2-40B4-BE49-F238E27FC236}">
                <a16:creationId xmlns:a16="http://schemas.microsoft.com/office/drawing/2014/main" id="{DCAE9C7E-D173-BC8E-70DA-1D3F5E4C5D73}"/>
              </a:ext>
            </a:extLst>
          </p:cNvPr>
          <p:cNvSpPr/>
          <p:nvPr/>
        </p:nvSpPr>
        <p:spPr>
          <a:xfrm rot="8781575">
            <a:off x="5398205" y="2242987"/>
            <a:ext cx="1395590" cy="872507"/>
          </a:xfrm>
          <a:prstGeom prst="rightArrow">
            <a:avLst>
              <a:gd name="adj1" fmla="val 32000"/>
              <a:gd name="adj2" fmla="val 64000"/>
            </a:avLst>
          </a:prstGeom>
          <a:solidFill>
            <a:srgbClr val="FFFFFF"/>
          </a:solidFill>
          <a:ln w="50800">
            <a:solidFill>
              <a:schemeClr val="accent1"/>
            </a:solidFill>
          </a:ln>
          <a:effectLst>
            <a:outerShdw blurRad="152400" dist="101600" dir="5400000" rotWithShape="0">
              <a:srgbClr val="4E3B30">
                <a:alpha val="60000"/>
              </a:srgbClr>
            </a:outerShdw>
          </a:effectLst>
        </p:spPr>
        <p:txBody>
          <a:bodyPr tIns="91439" bIns="91439" anchor="ctr"/>
          <a:lstStyle/>
          <a:p>
            <a:endParaRPr/>
          </a:p>
        </p:txBody>
      </p:sp>
    </p:spTree>
    <p:extLst>
      <p:ext uri="{BB962C8B-B14F-4D97-AF65-F5344CB8AC3E}">
        <p14:creationId xmlns:p14="http://schemas.microsoft.com/office/powerpoint/2010/main" val="19868521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grpId="1" nodeType="clickEffect">
                                  <p:stCondLst>
                                    <p:cond delay="0"/>
                                  </p:stCondLst>
                                  <p:childTnLst>
                                    <p:animMotion origin="layout" path="M 0 -7.40741E-7 L 0 0.07593 " pathEditMode="relative" rAng="0" ptsTypes="AA">
                                      <p:cBhvr>
                                        <p:cTn id="10" dur="500" fill="hold"/>
                                        <p:tgtEl>
                                          <p:spTgt spid="2"/>
                                        </p:tgtEl>
                                        <p:attrNameLst>
                                          <p:attrName>ppt_x</p:attrName>
                                          <p:attrName>ppt_y</p:attrName>
                                        </p:attrNameLst>
                                      </p:cBhvr>
                                      <p:rCtr x="0" y="3796"/>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2" nodeType="clickEffect">
                                  <p:stCondLst>
                                    <p:cond delay="0"/>
                                  </p:stCondLst>
                                  <p:childTnLst>
                                    <p:animMotion origin="layout" path="M 0 0.07592 L 0.08906 0.19537 " pathEditMode="relative" rAng="0" ptsTypes="AA">
                                      <p:cBhvr>
                                        <p:cTn id="14" dur="500" fill="hold"/>
                                        <p:tgtEl>
                                          <p:spTgt spid="2"/>
                                        </p:tgtEl>
                                        <p:attrNameLst>
                                          <p:attrName>ppt_x</p:attrName>
                                          <p:attrName>ppt_y</p:attrName>
                                        </p:attrNameLst>
                                      </p:cBhvr>
                                      <p:rCtr x="4453" y="625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3" nodeType="clickEffect">
                                  <p:stCondLst>
                                    <p:cond delay="0"/>
                                  </p:stCondLst>
                                  <p:childTnLst>
                                    <p:animMotion origin="layout" path="M 0.08906 0.19537 L 0.12656 0.25648 " pathEditMode="relative" rAng="0" ptsTypes="AA">
                                      <p:cBhvr>
                                        <p:cTn id="18" dur="500" fill="hold"/>
                                        <p:tgtEl>
                                          <p:spTgt spid="2"/>
                                        </p:tgtEl>
                                        <p:attrNameLst>
                                          <p:attrName>ppt_x</p:attrName>
                                          <p:attrName>ppt_y</p:attrName>
                                        </p:attrNameLst>
                                      </p:cBhvr>
                                      <p:rCtr x="1875" y="3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 grpId="2" animBg="1"/>
      <p:bldP spid="2" grpId="3"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B15A-A2A1-1BF9-2848-6B958762D291}"/>
              </a:ext>
            </a:extLst>
          </p:cNvPr>
          <p:cNvSpPr>
            <a:spLocks noGrp="1"/>
          </p:cNvSpPr>
          <p:nvPr>
            <p:ph type="title"/>
          </p:nvPr>
        </p:nvSpPr>
        <p:spPr/>
        <p:txBody>
          <a:bodyPr/>
          <a:lstStyle/>
          <a:p>
            <a:r>
              <a:rPr lang="en-US" dirty="0"/>
              <a:t>Question: If we can’t write binary search…</a:t>
            </a:r>
          </a:p>
        </p:txBody>
      </p:sp>
      <p:sp>
        <p:nvSpPr>
          <p:cNvPr id="3" name="Content Placeholder 2">
            <a:extLst>
              <a:ext uri="{FF2B5EF4-FFF2-40B4-BE49-F238E27FC236}">
                <a16:creationId xmlns:a16="http://schemas.microsoft.com/office/drawing/2014/main" id="{AA4F4415-16D7-8533-B1AC-69B6539224A4}"/>
              </a:ext>
            </a:extLst>
          </p:cNvPr>
          <p:cNvSpPr>
            <a:spLocks noGrp="1"/>
          </p:cNvSpPr>
          <p:nvPr>
            <p:ph idx="1"/>
          </p:nvPr>
        </p:nvSpPr>
        <p:spPr/>
        <p:txBody>
          <a:bodyPr/>
          <a:lstStyle/>
          <a:p>
            <a:r>
              <a:rPr lang="en-US" dirty="0"/>
              <a:t>Jon Bentley’s solution is considerably more complicated (and slower)</a:t>
            </a:r>
          </a:p>
          <a:p>
            <a:r>
              <a:rPr lang="en-US" dirty="0"/>
              <a:t>Photoshop uses this problem as a take-home test for candidates</a:t>
            </a:r>
          </a:p>
          <a:p>
            <a:pPr lvl="1"/>
            <a:r>
              <a:rPr lang="en-US" dirty="0"/>
              <a:t>More than 90% of candidates fail</a:t>
            </a:r>
          </a:p>
          <a:p>
            <a:r>
              <a:rPr lang="en-US" dirty="0"/>
              <a:t>Our experience teaching algorithms would indicate that more than 90% of engineers, regardless of experience, cannot write this simple code</a:t>
            </a:r>
          </a:p>
          <a:p>
            <a:endParaRPr lang="en-US" dirty="0"/>
          </a:p>
          <a:p>
            <a:r>
              <a:rPr lang="en-US" dirty="0"/>
              <a:t>…then how is it possible that Photoshop, Acrobat, and Microsoft Word exist?</a:t>
            </a:r>
          </a:p>
        </p:txBody>
      </p:sp>
    </p:spTree>
    <p:extLst>
      <p:ext uri="{BB962C8B-B14F-4D97-AF65-F5344CB8AC3E}">
        <p14:creationId xmlns:p14="http://schemas.microsoft.com/office/powerpoint/2010/main" val="2332243372"/>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C6F6-7C8F-6EB6-2D7E-6BBFF501FF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1F588F-DB99-44A0-6211-A399C8A0F7AC}"/>
              </a:ext>
            </a:extLst>
          </p:cNvPr>
          <p:cNvSpPr>
            <a:spLocks noGrp="1"/>
          </p:cNvSpPr>
          <p:nvPr>
            <p:ph type="title"/>
          </p:nvPr>
        </p:nvSpPr>
        <p:spPr>
          <a:xfrm>
            <a:off x="609600" y="2939635"/>
            <a:ext cx="10972800" cy="978729"/>
          </a:xfrm>
        </p:spPr>
        <p:txBody>
          <a:bodyPr/>
          <a:lstStyle/>
          <a:p>
            <a:r>
              <a:rPr lang="en-US" dirty="0"/>
              <a:t>Analysts (Now)</a:t>
            </a:r>
          </a:p>
        </p:txBody>
      </p:sp>
    </p:spTree>
    <p:extLst>
      <p:ext uri="{BB962C8B-B14F-4D97-AF65-F5344CB8AC3E}">
        <p14:creationId xmlns:p14="http://schemas.microsoft.com/office/powerpoint/2010/main" val="203106793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idx="4294967295"/>
          </p:nvPr>
        </p:nvSpPr>
        <p:spPr>
          <a:xfrm>
            <a:off x="609600" y="-1371600"/>
            <a:ext cx="10972800" cy="946389"/>
          </a:xfrm>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CD0-E180-6CDF-122E-8E1D46FF1753}"/>
              </a:ext>
            </a:extLst>
          </p:cNvPr>
          <p:cNvSpPr>
            <a:spLocks noGrp="1"/>
          </p:cNvSpPr>
          <p:nvPr>
            <p:ph type="title" idx="4294967295"/>
          </p:nvPr>
        </p:nvSpPr>
        <p:spPr>
          <a:xfrm>
            <a:off x="609600" y="-1371600"/>
            <a:ext cx="10972800" cy="946389"/>
          </a:xfrm>
        </p:spPr>
        <p:txBody>
          <a:bodyPr/>
          <a:lstStyle/>
          <a:p>
            <a:endParaRPr lang="en-US"/>
          </a:p>
        </p:txBody>
      </p:sp>
      <p:pic>
        <p:nvPicPr>
          <p:cNvPr id="7" name="Picture 6" descr="A graph of a graph&#10;&#10;AI-generated content may be incorrect.">
            <a:extLst>
              <a:ext uri="{FF2B5EF4-FFF2-40B4-BE49-F238E27FC236}">
                <a16:creationId xmlns:a16="http://schemas.microsoft.com/office/drawing/2014/main" id="{BBE6680A-064E-A6F5-C245-E2D878144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209398"/>
            <a:ext cx="7772400" cy="6439203"/>
          </a:xfrm>
          <a:prstGeom prst="rect">
            <a:avLst/>
          </a:prstGeom>
        </p:spPr>
      </p:pic>
    </p:spTree>
    <p:extLst>
      <p:ext uri="{BB962C8B-B14F-4D97-AF65-F5344CB8AC3E}">
        <p14:creationId xmlns:p14="http://schemas.microsoft.com/office/powerpoint/2010/main" val="3748501121"/>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35A2-B3EE-03FE-7909-A586326377DF}"/>
              </a:ext>
            </a:extLst>
          </p:cNvPr>
          <p:cNvSpPr>
            <a:spLocks noGrp="1"/>
          </p:cNvSpPr>
          <p:nvPr>
            <p:ph type="title" idx="4294967295"/>
          </p:nvPr>
        </p:nvSpPr>
        <p:spPr>
          <a:xfrm>
            <a:off x="609600" y="-1371600"/>
            <a:ext cx="10972800" cy="946389"/>
          </a:xfrm>
        </p:spPr>
        <p:txBody>
          <a:bodyPr/>
          <a:lstStyle/>
          <a:p>
            <a:endParaRPr lang="en-US"/>
          </a:p>
        </p:txBody>
      </p:sp>
      <p:pic>
        <p:nvPicPr>
          <p:cNvPr id="7" name="Picture Placeholder 6" descr="A circular chart with different colored circles&#10;&#10;AI-generated content may be incorrect.">
            <a:extLst>
              <a:ext uri="{FF2B5EF4-FFF2-40B4-BE49-F238E27FC236}">
                <a16:creationId xmlns:a16="http://schemas.microsoft.com/office/drawing/2014/main" id="{EB5CBB92-ACEF-AA3B-A439-319D7B6A345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83951483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4205F-DA80-E750-5AFF-D0E4FCC5C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4EFA34-0177-BA81-663B-CF422D7781B8}"/>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a number of different colored circles&#10;&#10;AI-generated content may be incorrect.">
            <a:extLst>
              <a:ext uri="{FF2B5EF4-FFF2-40B4-BE49-F238E27FC236}">
                <a16:creationId xmlns:a16="http://schemas.microsoft.com/office/drawing/2014/main" id="{E8C488EA-7197-1FEA-8FB9-05E2A906D09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2766911454"/>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E34F-ACDB-DE63-B0A3-B49F03CF7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649F8-43B2-5559-3D85-BDA3F56C8FF7}"/>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23CB6231-A1E9-8708-188E-C6459A4F906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4711669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7C75E-C65A-929F-8A59-0B75EC56C8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14EAF-9BB9-BF35-996A-4308A5424B15}"/>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C548884F-4669-26DB-83E5-181D47048D1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142930738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6A98-9891-26D8-4E2D-767F5FDDF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4DF08-0E06-56AE-DFAB-73FBA8DDD99F}"/>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02917850-738A-2F3B-19ED-182E56340A8D}"/>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931194931"/>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24B1-02C2-9C3C-7505-109773398D78}"/>
              </a:ext>
            </a:extLst>
          </p:cNvPr>
          <p:cNvSpPr>
            <a:spLocks noGrp="1"/>
          </p:cNvSpPr>
          <p:nvPr>
            <p:ph type="title"/>
          </p:nvPr>
        </p:nvSpPr>
        <p:spPr/>
        <p:txBody>
          <a:bodyPr/>
          <a:lstStyle/>
          <a:p>
            <a:r>
              <a:rPr lang="en-US" dirty="0"/>
              <a:t>Answer: Iterative Refinement.</a:t>
            </a:r>
          </a:p>
        </p:txBody>
      </p:sp>
      <p:sp>
        <p:nvSpPr>
          <p:cNvPr id="3" name="Content Placeholder 2">
            <a:extLst>
              <a:ext uri="{FF2B5EF4-FFF2-40B4-BE49-F238E27FC236}">
                <a16:creationId xmlns:a16="http://schemas.microsoft.com/office/drawing/2014/main" id="{29C13F4F-781B-1FBE-BEB9-E06CBB512355}"/>
              </a:ext>
            </a:extLst>
          </p:cNvPr>
          <p:cNvSpPr>
            <a:spLocks noGrp="1"/>
          </p:cNvSpPr>
          <p:nvPr>
            <p:ph idx="1"/>
          </p:nvPr>
        </p:nvSpPr>
        <p:spPr/>
        <p:txBody>
          <a:bodyPr/>
          <a:lstStyle/>
          <a:p>
            <a:r>
              <a:rPr lang="en-US" dirty="0"/>
              <a:t>Current programming methodologies lend themselves to iterative refinement</a:t>
            </a:r>
          </a:p>
          <a:p>
            <a:r>
              <a:rPr lang="en-US" dirty="0"/>
              <a:t>We don’t solve problems; we approximate solutions</a:t>
            </a:r>
          </a:p>
        </p:txBody>
      </p:sp>
    </p:spTree>
    <p:extLst>
      <p:ext uri="{BB962C8B-B14F-4D97-AF65-F5344CB8AC3E}">
        <p14:creationId xmlns:p14="http://schemas.microsoft.com/office/powerpoint/2010/main" val="2684856876"/>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9A9A-8C6E-D69C-A851-3A0DA356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D7C25-DEB8-0ADF-0383-94266C585552}"/>
              </a:ext>
            </a:extLst>
          </p:cNvPr>
          <p:cNvSpPr>
            <a:spLocks noGrp="1"/>
          </p:cNvSpPr>
          <p:nvPr>
            <p:ph type="title"/>
          </p:nvPr>
        </p:nvSpPr>
        <p:spPr/>
        <p:txBody>
          <a:bodyPr/>
          <a:lstStyle/>
          <a:p>
            <a:r>
              <a:rPr lang="en-US" dirty="0"/>
              <a:t>How can we write </a:t>
            </a:r>
            <a:r>
              <a:rPr lang="en-US" i="1" dirty="0"/>
              <a:t>Better Code</a:t>
            </a:r>
            <a:r>
              <a:rPr lang="en-US" dirty="0"/>
              <a:t>?</a:t>
            </a:r>
          </a:p>
        </p:txBody>
      </p:sp>
      <p:sp>
        <p:nvSpPr>
          <p:cNvPr id="3" name="Content Placeholder 2">
            <a:extLst>
              <a:ext uri="{FF2B5EF4-FFF2-40B4-BE49-F238E27FC236}">
                <a16:creationId xmlns:a16="http://schemas.microsoft.com/office/drawing/2014/main" id="{932B55C5-D089-807D-0950-6504711970E1}"/>
              </a:ext>
            </a:extLst>
          </p:cNvPr>
          <p:cNvSpPr>
            <a:spLocks noGrp="1"/>
          </p:cNvSpPr>
          <p:nvPr>
            <p:ph idx="1"/>
          </p:nvPr>
        </p:nvSpPr>
        <p:spPr/>
        <p:txBody>
          <a:bodyPr/>
          <a:lstStyle/>
          <a:p>
            <a:r>
              <a:rPr lang="en-US" dirty="0"/>
              <a:t>Study how to write correct software</a:t>
            </a:r>
          </a:p>
          <a:p>
            <a:r>
              <a:rPr lang="en-US" dirty="0"/>
              <a:t>Write algorithms once, in a general form that can be reused</a:t>
            </a:r>
          </a:p>
          <a:p>
            <a:r>
              <a:rPr lang="en-US" dirty="0"/>
              <a:t>Focus on fundamental algorithms</a:t>
            </a:r>
          </a:p>
          <a:p>
            <a:r>
              <a:rPr lang="en-US" dirty="0"/>
              <a:t>Compose larger systems from proven components</a:t>
            </a:r>
          </a:p>
        </p:txBody>
      </p:sp>
    </p:spTree>
    <p:extLst>
      <p:ext uri="{BB962C8B-B14F-4D97-AF65-F5344CB8AC3E}">
        <p14:creationId xmlns:p14="http://schemas.microsoft.com/office/powerpoint/2010/main" val="402626290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509F1-9E89-0A29-4C22-86244FA6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A3268-737B-5F18-C448-8A08CC1A7492}"/>
              </a:ext>
            </a:extLst>
          </p:cNvPr>
          <p:cNvSpPr>
            <a:spLocks noGrp="1"/>
          </p:cNvSpPr>
          <p:nvPr>
            <p:ph type="title"/>
          </p:nvPr>
        </p:nvSpPr>
        <p:spPr>
          <a:xfrm>
            <a:off x="609600" y="264085"/>
            <a:ext cx="10972800" cy="946389"/>
          </a:xfrm>
        </p:spPr>
        <p:txBody>
          <a:bodyPr anchor="ctr">
            <a:normAutofit/>
          </a:bodyPr>
          <a:lstStyle/>
          <a:p>
            <a:r>
              <a:rPr lang="en-US" dirty="0"/>
              <a:t>Generic Programming</a:t>
            </a:r>
          </a:p>
        </p:txBody>
      </p:sp>
      <p:sp>
        <p:nvSpPr>
          <p:cNvPr id="3" name="Content Placeholder 2">
            <a:extLst>
              <a:ext uri="{FF2B5EF4-FFF2-40B4-BE49-F238E27FC236}">
                <a16:creationId xmlns:a16="http://schemas.microsoft.com/office/drawing/2014/main" id="{997F51F2-F201-F003-6E10-F41AC7FA4063}"/>
              </a:ext>
            </a:extLst>
          </p:cNvPr>
          <p:cNvSpPr>
            <a:spLocks noGrp="1"/>
          </p:cNvSpPr>
          <p:nvPr>
            <p:ph idx="1"/>
          </p:nvPr>
        </p:nvSpPr>
        <p:spPr>
          <a:xfrm>
            <a:off x="609600" y="1334324"/>
            <a:ext cx="4937760" cy="4992624"/>
          </a:xfrm>
        </p:spPr>
        <p:txBody>
          <a:bodyPr>
            <a:normAutofit/>
          </a:bodyPr>
          <a:lstStyle/>
          <a:p>
            <a:r>
              <a:rPr lang="en-US" dirty="0"/>
              <a:t>In 2006, the idea of generic programming was still young</a:t>
            </a:r>
          </a:p>
          <a:p>
            <a:r>
              <a:rPr lang="en-US" dirty="0"/>
              <a:t>In 2002, Alex Stepanov gave a presentation at Adobe with this slide</a:t>
            </a:r>
          </a:p>
          <a:p>
            <a:pPr marL="0" indent="0">
              <a:buNone/>
            </a:pPr>
            <a:endParaRPr lang="en-US" sz="2600" dirty="0"/>
          </a:p>
        </p:txBody>
      </p:sp>
      <p:pic>
        <p:nvPicPr>
          <p:cNvPr id="6" name="Picture Placeholder 5" descr="A screen shot of a computer&#10;&#10;AI-generated content may be incorrect.">
            <a:extLst>
              <a:ext uri="{FF2B5EF4-FFF2-40B4-BE49-F238E27FC236}">
                <a16:creationId xmlns:a16="http://schemas.microsoft.com/office/drawing/2014/main" id="{D36BF3B5-E174-4FC0-1E49-BF3E07A440BE}"/>
              </a:ext>
            </a:extLst>
          </p:cNvPr>
          <p:cNvPicPr>
            <a:picLocks noGrp="1" noChangeAspect="1"/>
          </p:cNvPicPr>
          <p:nvPr>
            <p:ph idx="13"/>
          </p:nvPr>
        </p:nvPicPr>
        <p:blipFill>
          <a:blip r:embed="rId3">
            <a:extLst>
              <a:ext uri="{28A0092B-C50C-407E-A947-70E740481C1C}">
                <a14:useLocalDpi xmlns:a14="http://schemas.microsoft.com/office/drawing/2010/main" val="0"/>
              </a:ext>
            </a:extLst>
          </a:blip>
          <a:srcRect l="10700" r="-10700"/>
          <a:stretch/>
        </p:blipFill>
        <p:spPr>
          <a:xfrm>
            <a:off x="6096000" y="674967"/>
            <a:ext cx="7571227" cy="5508065"/>
          </a:xfrm>
          <a:noFill/>
        </p:spPr>
      </p:pic>
    </p:spTree>
    <p:extLst>
      <p:ext uri="{BB962C8B-B14F-4D97-AF65-F5344CB8AC3E}">
        <p14:creationId xmlns:p14="http://schemas.microsoft.com/office/powerpoint/2010/main" val="2986477196"/>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C720DD1-56E7-2FD7-5B7F-7034EE3247D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5DD0A2E-EC92-7E5E-5BE0-2D9C7893CC7E}"/>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E247A-5E0E-E8D3-0215-F415FB3938E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5CC171-7367-4518-3B07-D6C9BCECAE08}"/>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678B6B10-A19A-45A5-5CD6-D517A687A4E7}"/>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a:t>
            </a:r>
            <a:r>
              <a:rPr lang="en-US" sz="3600" dirty="0">
                <a:effectLst>
                  <a:outerShdw blurRad="50800" dist="38100" dir="2700000" algn="tl" rotWithShape="0">
                    <a:prstClr val="black">
                      <a:alpha val="89758"/>
                    </a:prstClr>
                  </a:outerShdw>
                </a:effectLst>
                <a:latin typeface="+mn-lt"/>
              </a:rPr>
              <a:t>generic programming </a:t>
            </a:r>
            <a:r>
              <a:rPr lang="en-US" sz="3600" dirty="0">
                <a:latin typeface="+mn-lt"/>
              </a:rPr>
              <a:t>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5DA5B23-D631-74EE-1B01-5FF3243B20D3}"/>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Tree>
    <p:extLst>
      <p:ext uri="{BB962C8B-B14F-4D97-AF65-F5344CB8AC3E}">
        <p14:creationId xmlns:p14="http://schemas.microsoft.com/office/powerpoint/2010/main" val="8111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0B74-B8E4-DC2A-0BBB-187E6E9E852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0C5894B-D530-3FD6-7806-C311EE6925A5}"/>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ED9DACAF-72F0-7B5C-3CF5-F32C9BC160FF}"/>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t>
            </a:r>
            <a:r>
              <a:rPr lang="en-US" sz="3600" dirty="0">
                <a:effectLst>
                  <a:outerShdw blurRad="50800" dist="38100" dir="2700000" algn="tl" rotWithShape="0">
                    <a:prstClr val="black">
                      <a:alpha val="90000"/>
                    </a:prstClr>
                  </a:outerShdw>
                </a:effectLst>
                <a:latin typeface="+mn-lt"/>
              </a:rPr>
              <a:t>algorithms</a:t>
            </a:r>
            <a:r>
              <a:rPr lang="en-US" sz="3600" dirty="0">
                <a:latin typeface="+mn-lt"/>
              </a:rPr>
              <a:t> and </a:t>
            </a:r>
            <a:r>
              <a:rPr lang="en-US" sz="3600" dirty="0">
                <a:effectLst>
                  <a:outerShdw blurRad="50800" dist="38100" dir="2700000" algn="tl" rotWithShape="0">
                    <a:prstClr val="black">
                      <a:alpha val="90000"/>
                    </a:prstClr>
                  </a:outerShdw>
                </a:effectLst>
                <a:latin typeface="+mn-lt"/>
              </a:rPr>
              <a:t>data structures </a:t>
            </a:r>
            <a:r>
              <a:rPr lang="en-US" sz="3600" dirty="0">
                <a:latin typeface="+mn-lt"/>
              </a:rPr>
              <a:t>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9295005-2524-F4ED-51A1-6FBE28C025B8}"/>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627695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D2E64-6A6B-B8D4-AC36-6DBEF0FC420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C97A148-F4B5-B8CD-B591-B98E9E6A1F1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4B2DAAAA-C206-8EE1-B149-620D1D82C37C}"/>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t>
            </a:r>
            <a:r>
              <a:rPr lang="en-US" sz="3600" dirty="0">
                <a:effectLst>
                  <a:outerShdw blurRad="50800" dist="38100" dir="2700000" algn="tl" rotWithShape="0">
                    <a:prstClr val="black">
                      <a:alpha val="90000"/>
                    </a:prstClr>
                  </a:outerShdw>
                </a:effectLst>
                <a:latin typeface="+mn-lt"/>
              </a:rPr>
              <a:t>abstract</a:t>
            </a:r>
            <a:r>
              <a:rPr lang="en-US" sz="3600" dirty="0">
                <a:latin typeface="+mn-lt"/>
              </a:rPr>
              <a:t> or </a:t>
            </a:r>
            <a:r>
              <a:rPr lang="en-US" sz="3600" dirty="0">
                <a:effectLst>
                  <a:outerShdw blurRad="50800" dist="38100" dir="2700000" algn="tl" rotWithShape="0">
                    <a:prstClr val="black">
                      <a:alpha val="90000"/>
                    </a:prstClr>
                  </a:outerShdw>
                </a:effectLst>
                <a:latin typeface="+mn-lt"/>
              </a:rPr>
              <a:t>generic</a:t>
            </a:r>
            <a:r>
              <a:rPr lang="en-US" sz="3600" dirty="0">
                <a:latin typeface="+mn-lt"/>
              </a:rPr>
              <a:t>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B391F4F2-577D-DC6B-F9D6-ED6F77830F67}"/>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34</a:t>
            </a:fld>
            <a:endParaRPr/>
          </a:p>
        </p:txBody>
      </p:sp>
    </p:spTree>
    <p:extLst>
      <p:ext uri="{BB962C8B-B14F-4D97-AF65-F5344CB8AC3E}">
        <p14:creationId xmlns:p14="http://schemas.microsoft.com/office/powerpoint/2010/main" val="461644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2E529-E516-D7F1-CDFC-043A2386BFD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6071DEE-8E04-A0EA-B00C-0EE00AC277D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04E5570-8BEF-BD24-6575-1C65CF7F6B3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t>
            </a:r>
            <a:r>
              <a:rPr lang="en-US" sz="3600" dirty="0">
                <a:effectLst>
                  <a:outerShdw blurRad="50800" dist="38100" dir="2700000" algn="tl" rotWithShape="0">
                    <a:prstClr val="black">
                      <a:alpha val="90000"/>
                    </a:prstClr>
                  </a:outerShdw>
                </a:effectLst>
                <a:latin typeface="+mn-lt"/>
              </a:rPr>
              <a:t>accomplishing</a:t>
            </a:r>
            <a:r>
              <a:rPr lang="en-US" sz="3600" dirty="0">
                <a:latin typeface="+mn-lt"/>
              </a:rPr>
              <a:t> many </a:t>
            </a:r>
            <a:r>
              <a:rPr lang="en-US" sz="3600" dirty="0">
                <a:effectLst>
                  <a:outerShdw blurRad="50800" dist="38100" dir="2700000" algn="tl" rotWithShape="0">
                    <a:prstClr val="black">
                      <a:alpha val="90000"/>
                    </a:prstClr>
                  </a:outerShdw>
                </a:effectLst>
                <a:latin typeface="+mn-lt"/>
              </a:rPr>
              <a:t>related programming tasks simultaneously</a:t>
            </a:r>
            <a:r>
              <a:rPr lang="en-US" sz="3600" dirty="0">
                <a:latin typeface="+mn-lt"/>
              </a:rPr>
              <a:t>.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BDB077C-3D24-65CB-B024-04300E93E5D5}"/>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35</a:t>
            </a:fld>
            <a:endParaRPr/>
          </a:p>
        </p:txBody>
      </p:sp>
    </p:spTree>
    <p:extLst>
      <p:ext uri="{BB962C8B-B14F-4D97-AF65-F5344CB8AC3E}">
        <p14:creationId xmlns:p14="http://schemas.microsoft.com/office/powerpoint/2010/main" val="2869619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3A10-15DC-0F1B-6275-C2965F9E3EA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E35B93-A878-98DA-459D-03231484CF7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B6D2EF46-1E64-4930-B759-1A03E36659F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a:t>
            </a:r>
            <a:r>
              <a:rPr lang="en-US" sz="3600" dirty="0">
                <a:effectLst>
                  <a:outerShdw blurRad="50800" dist="38100" dir="2700000" algn="tl" rotWithShape="0">
                    <a:prstClr val="black">
                      <a:alpha val="90000"/>
                    </a:prstClr>
                  </a:outerShdw>
                </a:effectLst>
                <a:latin typeface="+mn-lt"/>
              </a:rPr>
              <a:t>central notion </a:t>
            </a:r>
            <a:r>
              <a:rPr lang="en-US" sz="3600" dirty="0">
                <a:latin typeface="+mn-lt"/>
              </a:rPr>
              <a:t>is that of </a:t>
            </a:r>
            <a:r>
              <a:rPr lang="en-US" sz="3600" dirty="0">
                <a:effectLst>
                  <a:outerShdw blurRad="50800" dist="38100" dir="2700000" algn="tl" rotWithShape="0">
                    <a:prstClr val="black">
                      <a:alpha val="90000"/>
                    </a:prstClr>
                  </a:outerShdw>
                </a:effectLst>
                <a:latin typeface="+mn-lt"/>
              </a:rPr>
              <a:t>generic algorithms</a:t>
            </a:r>
            <a:r>
              <a:rPr lang="en-US" sz="3600" dirty="0">
                <a:latin typeface="+mn-lt"/>
              </a:rPr>
              <a:t>,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962D487-CE36-7D7C-DCCC-9E9377E3E6B2}"/>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36</a:t>
            </a:fld>
            <a:endParaRPr/>
          </a:p>
        </p:txBody>
      </p:sp>
    </p:spTree>
    <p:extLst>
      <p:ext uri="{BB962C8B-B14F-4D97-AF65-F5344CB8AC3E}">
        <p14:creationId xmlns:p14="http://schemas.microsoft.com/office/powerpoint/2010/main" val="146160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C273-4828-30A2-4EB5-A5152C50D9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00DEF32-38EF-A973-D375-E513C5F542EE}"/>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F0DCEF36-2F14-F573-01D4-D0106DB386DA}"/>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a:t>
            </a:r>
            <a:r>
              <a:rPr lang="en-US" sz="3600" dirty="0">
                <a:effectLst>
                  <a:outerShdw blurRad="50800" dist="38100" dir="2700000" algn="tl" rotWithShape="0">
                    <a:prstClr val="black">
                      <a:alpha val="90000"/>
                    </a:prstClr>
                  </a:outerShdw>
                </a:effectLst>
                <a:latin typeface="+mn-lt"/>
              </a:rPr>
              <a:t>parameterized procedural schemata </a:t>
            </a:r>
            <a:r>
              <a:rPr lang="en-US" sz="3600" dirty="0">
                <a:latin typeface="+mn-lt"/>
              </a:rPr>
              <a:t>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13E8DDD-DB49-879E-E908-346A2BB6F7BF}"/>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2244841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6C28-F6AB-8185-EA3D-DC8B04714B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45C95BC-EF23-E482-56C5-EFA2609F87E4}"/>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5E59120D-AEC7-6269-6B4E-F97627CA6B8B}"/>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a:t>
            </a:r>
            <a:r>
              <a:rPr lang="en-US" sz="3600" dirty="0">
                <a:effectLst>
                  <a:outerShdw blurRad="50800" dist="38100" dir="2700000" algn="tl" rotWithShape="0">
                    <a:prstClr val="black">
                      <a:alpha val="90000"/>
                    </a:prstClr>
                  </a:outerShdw>
                </a:effectLst>
                <a:latin typeface="+mn-lt"/>
              </a:rPr>
              <a:t>independent</a:t>
            </a:r>
            <a:r>
              <a:rPr lang="en-US" sz="3600" dirty="0">
                <a:latin typeface="+mn-lt"/>
              </a:rPr>
              <a:t> of the </a:t>
            </a:r>
            <a:r>
              <a:rPr lang="en-US" sz="3600" dirty="0">
                <a:effectLst>
                  <a:outerShdw blurRad="50800" dist="38100" dir="2700000" algn="tl" rotWithShape="0">
                    <a:prstClr val="black">
                      <a:alpha val="90000"/>
                    </a:prstClr>
                  </a:outerShdw>
                </a:effectLst>
                <a:latin typeface="+mn-lt"/>
              </a:rPr>
              <a:t>underlying data representation </a:t>
            </a:r>
            <a:r>
              <a:rPr lang="en-US" sz="3600" dirty="0">
                <a:latin typeface="+mn-lt"/>
              </a:rPr>
              <a:t>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3841E98-BD50-13F9-3DCA-A4C62443F4F7}"/>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38</a:t>
            </a:fld>
            <a:endParaRPr/>
          </a:p>
        </p:txBody>
      </p:sp>
    </p:spTree>
    <p:extLst>
      <p:ext uri="{BB962C8B-B14F-4D97-AF65-F5344CB8AC3E}">
        <p14:creationId xmlns:p14="http://schemas.microsoft.com/office/powerpoint/2010/main" val="1751784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B529-A2B8-1A21-258B-E9360B2D49A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3109DDE-2CAC-D026-BED6-EAF2779C3E61}"/>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DDFEDF14-0F4B-139D-978A-79682EEE3573}"/>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a:t>
            </a:r>
            <a:r>
              <a:rPr lang="en-US" sz="3600" dirty="0">
                <a:effectLst>
                  <a:outerShdw blurRad="50800" dist="38100" dir="2700000" algn="tl" rotWithShape="0">
                    <a:prstClr val="black">
                      <a:alpha val="90000"/>
                    </a:prstClr>
                  </a:outerShdw>
                </a:effectLst>
                <a:latin typeface="+mn-lt"/>
              </a:rPr>
              <a:t>derived from concrete, efficient algorithms</a:t>
            </a:r>
            <a:r>
              <a:rPr lang="en-US" sz="3600" dirty="0">
                <a:latin typeface="+mn-lt"/>
              </a:rPr>
              <a:t>.”</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9BA2B71C-6E2F-BDA3-2986-76B3559A8089}"/>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39</a:t>
            </a:fld>
            <a:endParaRPr/>
          </a:p>
        </p:txBody>
      </p:sp>
    </p:spTree>
    <p:extLst>
      <p:ext uri="{BB962C8B-B14F-4D97-AF65-F5344CB8AC3E}">
        <p14:creationId xmlns:p14="http://schemas.microsoft.com/office/powerpoint/2010/main" val="3478874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6332-02B1-E600-F675-359339A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B129593-3301-755A-9525-6748B13C1B79}"/>
              </a:ext>
            </a:extLst>
          </p:cNvPr>
          <p:cNvSpPr>
            <a:spLocks noGrp="1"/>
          </p:cNvSpPr>
          <p:nvPr>
            <p:ph type="title"/>
          </p:nvPr>
        </p:nvSpPr>
        <p:spPr>
          <a:xfrm>
            <a:off x="609600" y="2164039"/>
            <a:ext cx="10972800" cy="2529923"/>
          </a:xfrm>
        </p:spPr>
        <p:txBody>
          <a:bodyPr/>
          <a:lstStyle/>
          <a:p>
            <a:pPr algn="ctr"/>
            <a:r>
              <a:rPr lang="en-US" sz="6600" dirty="0"/>
              <a:t>Programming with Generics</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3229784269"/>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3F064-728E-8DB2-A0C0-B24F507DC9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B012BC-580F-E27B-F4B2-C6F10705F40D}"/>
              </a:ext>
            </a:extLst>
          </p:cNvPr>
          <p:cNvSpPr>
            <a:spLocks noGrp="1"/>
          </p:cNvSpPr>
          <p:nvPr>
            <p:ph type="title"/>
          </p:nvPr>
        </p:nvSpPr>
        <p:spPr>
          <a:xfrm>
            <a:off x="609600" y="2164039"/>
            <a:ext cx="10972800" cy="2529923"/>
          </a:xfrm>
        </p:spPr>
        <p:txBody>
          <a:bodyPr/>
          <a:lstStyle/>
          <a:p>
            <a:pPr algn="ctr"/>
            <a:r>
              <a:rPr lang="en-US" sz="6600" dirty="0"/>
              <a:t>Metaprogramming</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540981609"/>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5891-EEC8-830F-2ADD-BE4484C40731}"/>
              </a:ext>
            </a:extLst>
          </p:cNvPr>
          <p:cNvSpPr>
            <a:spLocks noGrp="1"/>
          </p:cNvSpPr>
          <p:nvPr>
            <p:ph type="title"/>
          </p:nvPr>
        </p:nvSpPr>
        <p:spPr/>
        <p:txBody>
          <a:bodyPr/>
          <a:lstStyle/>
          <a:p>
            <a:r>
              <a:rPr lang="en-US" dirty="0"/>
              <a:t>Programming </a:t>
            </a:r>
            <a:r>
              <a:rPr lang="en-US" i="1" dirty="0"/>
              <a:t>is</a:t>
            </a:r>
            <a:r>
              <a:rPr lang="en-US" dirty="0"/>
              <a:t> Mathematics</a:t>
            </a:r>
          </a:p>
        </p:txBody>
      </p:sp>
      <p:sp>
        <p:nvSpPr>
          <p:cNvPr id="3" name="Content Placeholder 2">
            <a:extLst>
              <a:ext uri="{FF2B5EF4-FFF2-40B4-BE49-F238E27FC236}">
                <a16:creationId xmlns:a16="http://schemas.microsoft.com/office/drawing/2014/main" id="{FC9E6C85-F9BB-A8A9-1D5F-D88CEAB34499}"/>
              </a:ext>
            </a:extLst>
          </p:cNvPr>
          <p:cNvSpPr>
            <a:spLocks noGrp="1"/>
          </p:cNvSpPr>
          <p:nvPr>
            <p:ph idx="1"/>
          </p:nvPr>
        </p:nvSpPr>
        <p:spPr>
          <a:xfrm>
            <a:off x="609600" y="4352950"/>
            <a:ext cx="10972800" cy="1962912"/>
          </a:xfrm>
          <a:ln w="38100" cap="rnd">
            <a:solidFill>
              <a:schemeClr val="bg1">
                <a:lumMod val="50000"/>
              </a:schemeClr>
            </a:solidFill>
          </a:ln>
          <a:effectLst/>
        </p:spPr>
        <p:txBody>
          <a:bodyPr/>
          <a:lstStyle/>
          <a:p>
            <a:pPr marL="457200">
              <a:lnSpc>
                <a:spcPct val="100000"/>
              </a:lnSpc>
              <a:spcBef>
                <a:spcPts val="600"/>
              </a:spcBef>
            </a:pPr>
            <a:r>
              <a:rPr lang="en-US" dirty="0">
                <a:latin typeface="Adobe Clean ExtraBold" panose="020B0503020404020204" pitchFamily="34" charset="0"/>
              </a:rPr>
              <a:t>Refined Concept: a concept defined by adding requirements to an existing concept</a:t>
            </a:r>
          </a:p>
          <a:p>
            <a:pPr marL="914400" lvl="1">
              <a:lnSpc>
                <a:spcPct val="100000"/>
              </a:lnSpc>
              <a:spcBef>
                <a:spcPts val="600"/>
              </a:spcBef>
            </a:pPr>
            <a:r>
              <a:rPr lang="en-US" dirty="0">
                <a:latin typeface="Adobe Clean ExtraBold" panose="020B0503020404020204" pitchFamily="34" charset="0"/>
              </a:rPr>
              <a:t>Monoid: a semigroup with an identity element</a:t>
            </a:r>
          </a:p>
          <a:p>
            <a:pPr marL="914400" lvl="1">
              <a:lnSpc>
                <a:spcPct val="100000"/>
              </a:lnSpc>
              <a:spcBef>
                <a:spcPts val="600"/>
              </a:spcBef>
            </a:pPr>
            <a:r>
              <a:rPr lang="en-US" dirty="0">
                <a:latin typeface="Adobe Clean ExtraBold" panose="020B0503020404020204" pitchFamily="34" charset="0"/>
              </a:rPr>
              <a:t>Bidirectional Iterator: forward iterator with constant complexity decrement</a:t>
            </a:r>
          </a:p>
          <a:p>
            <a:pPr marL="457200">
              <a:lnSpc>
                <a:spcPct val="100000"/>
              </a:lnSpc>
              <a:spcBef>
                <a:spcPts val="600"/>
              </a:spcBef>
            </a:pPr>
            <a:r>
              <a:rPr lang="en-US" dirty="0">
                <a:latin typeface="Adobe Clean ExtraBold" panose="020B0503020404020204" pitchFamily="34" charset="0"/>
              </a:rPr>
              <a:t>Refined Algorithm: An algorithm performing the same function as another but with lower complexity or higher efficiency on a refined concept</a:t>
            </a:r>
          </a:p>
        </p:txBody>
      </p:sp>
      <p:sp>
        <p:nvSpPr>
          <p:cNvPr id="4" name="Content Placeholder 3">
            <a:extLst>
              <a:ext uri="{FF2B5EF4-FFF2-40B4-BE49-F238E27FC236}">
                <a16:creationId xmlns:a16="http://schemas.microsoft.com/office/drawing/2014/main" id="{25A5A8FA-C999-594E-FDA1-19135CC793EF}"/>
              </a:ext>
            </a:extLst>
          </p:cNvPr>
          <p:cNvSpPr>
            <a:spLocks noGrp="1"/>
          </p:cNvSpPr>
          <p:nvPr>
            <p:ph idx="13"/>
          </p:nvPr>
        </p:nvSpPr>
        <p:spPr>
          <a:xfrm>
            <a:off x="6644640" y="1334324"/>
            <a:ext cx="4937760" cy="2885276"/>
          </a:xfrm>
          <a:ln w="38100">
            <a:solidFill>
              <a:schemeClr val="bg1">
                <a:lumMod val="50000"/>
              </a:schemeClr>
            </a:solidFill>
          </a:ln>
          <a:effectLst/>
        </p:spPr>
        <p:txBody>
          <a:bodyPr/>
          <a:lstStyle/>
          <a:p>
            <a:pPr marL="457200"/>
            <a:r>
              <a:rPr lang="en-US" dirty="0">
                <a:latin typeface="Adobe Clean ExtraBold" panose="020B0503020404020204" pitchFamily="34" charset="0"/>
              </a:rPr>
              <a:t>Mathematics</a:t>
            </a:r>
          </a:p>
          <a:p>
            <a:pPr marL="914400" lvl="1">
              <a:spcBef>
                <a:spcPts val="800"/>
              </a:spcBef>
            </a:pPr>
            <a:r>
              <a:rPr lang="en-US" dirty="0">
                <a:latin typeface="Adobe Clean ExtraBold" panose="020B0503020404020204" pitchFamily="34" charset="0"/>
              </a:rPr>
              <a:t>Axiom</a:t>
            </a:r>
          </a:p>
          <a:p>
            <a:pPr marL="914400" lvl="1">
              <a:spcBef>
                <a:spcPts val="800"/>
              </a:spcBef>
            </a:pPr>
            <a:r>
              <a:rPr lang="en-US" dirty="0">
                <a:latin typeface="Adobe Clean ExtraBold" panose="020B0503020404020204" pitchFamily="34" charset="0"/>
              </a:rPr>
              <a:t>Algebraic Structure</a:t>
            </a:r>
          </a:p>
          <a:p>
            <a:pPr marL="914400" lvl="1">
              <a:spcBef>
                <a:spcPts val="800"/>
              </a:spcBef>
            </a:pPr>
            <a:r>
              <a:rPr lang="en-US" dirty="0">
                <a:latin typeface="Adobe Clean ExtraBold" panose="020B0503020404020204" pitchFamily="34" charset="0"/>
              </a:rPr>
              <a:t>Model</a:t>
            </a:r>
          </a:p>
          <a:p>
            <a:pPr marL="914400" lvl="1">
              <a:spcBef>
                <a:spcPts val="800"/>
              </a:spcBef>
            </a:pPr>
            <a:r>
              <a:rPr lang="en-US" dirty="0">
                <a:latin typeface="Adobe Clean ExtraBold" panose="020B0503020404020204" pitchFamily="34" charset="0"/>
              </a:rPr>
              <a:t>Theorems</a:t>
            </a:r>
          </a:p>
          <a:p>
            <a:pPr marL="914400" lvl="1">
              <a:spcBef>
                <a:spcPts val="800"/>
              </a:spcBef>
            </a:pPr>
            <a:r>
              <a:rPr lang="en-US" dirty="0">
                <a:latin typeface="Adobe Clean ExtraBold" panose="020B0503020404020204" pitchFamily="34" charset="0"/>
              </a:rPr>
              <a:t>Function</a:t>
            </a:r>
          </a:p>
          <a:p>
            <a:pPr marL="914400" lvl="1">
              <a:spcBef>
                <a:spcPts val="800"/>
              </a:spcBef>
            </a:pPr>
            <a:r>
              <a:rPr lang="en-US" dirty="0">
                <a:latin typeface="Adobe Clean ExtraBold" panose="020B0503020404020204" pitchFamily="34" charset="0"/>
              </a:rPr>
              <a:t>__________</a:t>
            </a:r>
          </a:p>
        </p:txBody>
      </p:sp>
      <p:sp>
        <p:nvSpPr>
          <p:cNvPr id="5" name="Content Placeholder 2">
            <a:extLst>
              <a:ext uri="{FF2B5EF4-FFF2-40B4-BE49-F238E27FC236}">
                <a16:creationId xmlns:a16="http://schemas.microsoft.com/office/drawing/2014/main" id="{F353FC18-19C9-2FF8-26AF-87E9F495613D}"/>
              </a:ext>
            </a:extLst>
          </p:cNvPr>
          <p:cNvSpPr txBox="1">
            <a:spLocks/>
          </p:cNvSpPr>
          <p:nvPr/>
        </p:nvSpPr>
        <p:spPr>
          <a:xfrm>
            <a:off x="609600" y="4361688"/>
            <a:ext cx="10972800" cy="1962912"/>
          </a:xfrm>
          <a:prstGeom prst="rect">
            <a:avLst/>
          </a:prstGeom>
          <a:ln>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Adobe Clean ExtraBold" panose="020B0503020404020204" pitchFamily="34" charset="0"/>
            </a:endParaRPr>
          </a:p>
        </p:txBody>
      </p:sp>
      <p:sp>
        <p:nvSpPr>
          <p:cNvPr id="9" name="Content Placeholder 2">
            <a:extLst>
              <a:ext uri="{FF2B5EF4-FFF2-40B4-BE49-F238E27FC236}">
                <a16:creationId xmlns:a16="http://schemas.microsoft.com/office/drawing/2014/main" id="{7B013ED3-2516-21FA-F089-E7F7C925A49A}"/>
              </a:ext>
            </a:extLst>
          </p:cNvPr>
          <p:cNvSpPr txBox="1">
            <a:spLocks/>
          </p:cNvSpPr>
          <p:nvPr/>
        </p:nvSpPr>
        <p:spPr>
          <a:xfrm>
            <a:off x="609601" y="1334324"/>
            <a:ext cx="4937760" cy="2885276"/>
          </a:xfrm>
          <a:prstGeom prst="rect">
            <a:avLst/>
          </a:prstGeom>
          <a:ln w="38100" cap="rnd">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a:r>
              <a:rPr lang="en-US" dirty="0">
                <a:latin typeface="Adobe Clean ExtraBold" panose="020B0503020404020204" pitchFamily="34" charset="0"/>
              </a:rPr>
              <a:t>Generic Programming</a:t>
            </a:r>
          </a:p>
          <a:p>
            <a:pPr marL="914400" lvl="1">
              <a:spcBef>
                <a:spcPts val="800"/>
              </a:spcBef>
            </a:pPr>
            <a:r>
              <a:rPr lang="en-US" sz="1800" dirty="0">
                <a:latin typeface="Adobe Clean ExtraBold" panose="020B0503020404020204" pitchFamily="34" charset="0"/>
              </a:rPr>
              <a:t>Semantic Requirements</a:t>
            </a:r>
          </a:p>
          <a:p>
            <a:pPr marL="914400" lvl="1">
              <a:spcBef>
                <a:spcPts val="800"/>
              </a:spcBef>
            </a:pPr>
            <a:r>
              <a:rPr lang="en-US" sz="1800" dirty="0">
                <a:latin typeface="Adobe Clean ExtraBold" panose="020B0503020404020204" pitchFamily="34" charset="0"/>
              </a:rPr>
              <a:t>Concept</a:t>
            </a:r>
          </a:p>
          <a:p>
            <a:pPr marL="914400" lvl="1">
              <a:spcBef>
                <a:spcPts val="800"/>
              </a:spcBef>
            </a:pPr>
            <a:r>
              <a:rPr lang="en-US" sz="1800" dirty="0">
                <a:latin typeface="Adobe Clean ExtraBold" panose="020B0503020404020204" pitchFamily="34" charset="0"/>
              </a:rPr>
              <a:t>Model</a:t>
            </a:r>
          </a:p>
          <a:p>
            <a:pPr marL="914400" lvl="1">
              <a:spcBef>
                <a:spcPts val="800"/>
              </a:spcBef>
            </a:pPr>
            <a:r>
              <a:rPr lang="en-US" sz="1800" dirty="0">
                <a:latin typeface="Adobe Clean ExtraBold" panose="020B0503020404020204" pitchFamily="34" charset="0"/>
              </a:rPr>
              <a:t>Algorithms</a:t>
            </a:r>
          </a:p>
          <a:p>
            <a:pPr marL="914400" lvl="1">
              <a:spcBef>
                <a:spcPts val="800"/>
              </a:spcBef>
            </a:pPr>
            <a:r>
              <a:rPr lang="en-US" sz="1800" dirty="0">
                <a:latin typeface="Adobe Clean ExtraBold" panose="020B0503020404020204" pitchFamily="34" charset="0"/>
              </a:rPr>
              <a:t>Regular Function</a:t>
            </a:r>
          </a:p>
          <a:p>
            <a:pPr marL="914400" lvl="1">
              <a:spcBef>
                <a:spcPts val="800"/>
              </a:spcBef>
            </a:pPr>
            <a:r>
              <a:rPr lang="en-US" sz="1800" dirty="0">
                <a:latin typeface="Adobe Clean ExtraBold" panose="020B0503020404020204" pitchFamily="34" charset="0"/>
              </a:rPr>
              <a:t>Complexity</a:t>
            </a:r>
          </a:p>
        </p:txBody>
      </p:sp>
    </p:spTree>
    <p:extLst>
      <p:ext uri="{BB962C8B-B14F-4D97-AF65-F5344CB8AC3E}">
        <p14:creationId xmlns:p14="http://schemas.microsoft.com/office/powerpoint/2010/main" val="12625837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bg/>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4" grpId="0" uiExpand="1" build="p" animBg="1"/>
      <p:bldP spid="9" grpId="0" uiExpand="1" build="p"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A30DE-976C-F54A-5A75-AD57D930B6DB}"/>
              </a:ext>
            </a:extLst>
          </p:cNvPr>
          <p:cNvSpPr>
            <a:spLocks noGrp="1"/>
          </p:cNvSpPr>
          <p:nvPr>
            <p:ph type="title"/>
          </p:nvPr>
        </p:nvSpPr>
        <p:spPr/>
        <p:txBody>
          <a:bodyPr/>
          <a:lstStyle/>
          <a:p>
            <a:r>
              <a:rPr lang="en-US" dirty="0"/>
              <a:t>Concepts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C18F1F-BA1F-98EA-EBE7-7BAF04F5EE67}"/>
                  </a:ext>
                </a:extLst>
              </p:cNvPr>
              <p:cNvSpPr>
                <a:spLocks noGrp="1"/>
              </p:cNvSpPr>
              <p:nvPr>
                <p:ph idx="1"/>
              </p:nvPr>
            </p:nvSpPr>
            <p:spPr/>
            <p:txBody>
              <a:bodyPr/>
              <a:lstStyle/>
              <a:p>
                <a:r>
                  <a:rPr lang="en-US" dirty="0"/>
                  <a:t>A Concept is an algebraic structure formed of </a:t>
                </a:r>
                <a:r>
                  <a:rPr lang="en-US" i="1" dirty="0"/>
                  <a:t>connected</a:t>
                </a:r>
                <a:r>
                  <a:rPr lang="en-US" dirty="0"/>
                  <a:t> requirements</a:t>
                </a:r>
              </a:p>
              <a:p>
                <a:r>
                  <a:rPr lang="en-US" dirty="0"/>
                  <a:t>Equality is a unique equivalence relation…</a:t>
                </a:r>
              </a:p>
              <a:p>
                <a:pPr marL="2540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reflexiv</m:t>
                      </m:r>
                      <m:r>
                        <m:rPr>
                          <m:sty m:val="p"/>
                        </m:rPr>
                        <a:rPr lang="en-US" b="0" i="1" smtClean="0">
                          <a:latin typeface="Cambria Math" panose="02040503050406030204" pitchFamily="18" charset="0"/>
                          <a:ea typeface="Cambria Math" panose="02040503050406030204" pitchFamily="18" charset="0"/>
                        </a:rPr>
                        <m:t>e</m:t>
                      </m:r>
                      <m:r>
                        <m:rPr>
                          <m:nor/>
                        </m:rPr>
                        <a:rPr lang="en-US" b="0" i="0" smtClean="0">
                          <a:latin typeface="Cambria Math" panose="02040503050406030204" pitchFamily="18" charset="0"/>
                          <a:ea typeface="Cambria Math" panose="02040503050406030204" pitchFamily="18" charset="0"/>
                        </a:rPr>
                        <m:t>)</m:t>
                      </m:r>
                    </m:oMath>
                  </m:oMathPara>
                </a14:m>
                <a:endParaRPr lang="en-US" dirty="0"/>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symmetric</m:t>
                      </m:r>
                      <m:r>
                        <m:rPr>
                          <m:nor/>
                        </m:rPr>
                        <a:rPr lang="en-US" b="0" i="0" smtClean="0">
                          <a:latin typeface="Cambria Math" panose="02040503050406030204" pitchFamily="18" charset="0"/>
                          <a:ea typeface="Cambria Math" panose="02040503050406030204" pitchFamily="18" charset="0"/>
                        </a:rPr>
                        <m:t>)</m:t>
                      </m:r>
                    </m:oMath>
                  </m:oMathPara>
                </a14:m>
                <a:endParaRPr lang="en-US" b="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transitive</m:t>
                      </m:r>
                      <m:r>
                        <m:rPr>
                          <m:nor/>
                        </m:rPr>
                        <a:rPr lang="en-US" b="0" i="0" smtClean="0">
                          <a:latin typeface="Cambria Math" panose="02040503050406030204" pitchFamily="18" charset="0"/>
                        </a:rPr>
                        <m:t>)</m:t>
                      </m:r>
                    </m:oMath>
                  </m:oMathPara>
                </a14:m>
                <a:endParaRPr lang="en-US" b="0" i="0" dirty="0">
                  <a:latin typeface="Cambria Math" panose="02040503050406030204" pitchFamily="18" charset="0"/>
                </a:endParaRPr>
              </a:p>
              <a:p>
                <a:r>
                  <a:rPr lang="en-US" b="0" i="0" dirty="0"/>
                  <a:t>…connected to copy and assignment:</a:t>
                </a: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copies</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are</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equal</m:t>
                      </m:r>
                      <m:r>
                        <m:rPr>
                          <m:nor/>
                        </m:rPr>
                        <a:rPr lang="en-US" b="0" i="0" smtClean="0">
                          <a:latin typeface="Cambria Math" panose="02040503050406030204" pitchFamily="18" charset="0"/>
                          <a:ea typeface="Cambria Math" panose="02040503050406030204" pitchFamily="18" charset="0"/>
                        </a:rPr>
                        <m:t>)</m:t>
                      </m:r>
                    </m:oMath>
                  </m:oMathPara>
                </a14:m>
                <a:endParaRPr lang="en-US" b="0" i="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m:rPr>
                          <m:nor/>
                        </m:rPr>
                        <a:rPr lang="en-US" b="0" i="0" smtClean="0">
                          <a:latin typeface="Cambria Math" panose="02040503050406030204" pitchFamily="18" charset="0"/>
                        </a:rPr>
                        <m:t>,</m:t>
                      </m:r>
                      <m:r>
                        <a:rPr lang="en-US" b="0" i="1" smtClean="0">
                          <a:latin typeface="Cambria Math" panose="02040503050406030204" pitchFamily="18" charset="0"/>
                        </a:rPr>
                        <m:t>  </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copies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are</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disjoint</m:t>
                      </m:r>
                      <m:r>
                        <m:rPr>
                          <m:nor/>
                        </m:rPr>
                        <a:rPr lang="en-US" b="0" i="0" smtClean="0">
                          <a:latin typeface="Cambria Math" panose="02040503050406030204" pitchFamily="18" charset="0"/>
                        </a:rPr>
                        <m:t>)</m:t>
                      </m:r>
                    </m:oMath>
                  </m:oMathPara>
                </a14:m>
                <a:endParaRPr lang="en-US" b="0" i="0" dirty="0"/>
              </a:p>
              <a:p>
                <a:r>
                  <a:rPr lang="en-US" b="0" i="0" dirty="0"/>
                  <a:t>The </a:t>
                </a:r>
                <a:r>
                  <a:rPr lang="en-US" b="0" dirty="0"/>
                  <a:t>concept</a:t>
                </a:r>
                <a:r>
                  <a:rPr lang="en-US" b="0" i="0" dirty="0"/>
                  <a:t> </a:t>
                </a:r>
                <a:r>
                  <a:rPr lang="en-US" i="1" dirty="0"/>
                  <a:t>regular</a:t>
                </a:r>
                <a:r>
                  <a:rPr lang="en-US" dirty="0"/>
                  <a:t> is essential for equational and local reasoning</a:t>
                </a:r>
                <a:endParaRPr lang="en-US" b="0" i="0" dirty="0"/>
              </a:p>
            </p:txBody>
          </p:sp>
        </mc:Choice>
        <mc:Fallback xmlns="">
          <p:sp>
            <p:nvSpPr>
              <p:cNvPr id="3" name="Content Placeholder 2">
                <a:extLst>
                  <a:ext uri="{FF2B5EF4-FFF2-40B4-BE49-F238E27FC236}">
                    <a16:creationId xmlns:a16="http://schemas.microsoft.com/office/drawing/2014/main" id="{18C18F1F-BA1F-98EA-EBE7-7BAF04F5EE67}"/>
                  </a:ext>
                </a:extLst>
              </p:cNvPr>
              <p:cNvSpPr>
                <a:spLocks noGrp="1" noRot="1" noChangeAspect="1" noMove="1" noResize="1" noEditPoints="1" noAdjustHandles="1" noChangeArrowheads="1" noChangeShapeType="1" noTextEdit="1"/>
              </p:cNvSpPr>
              <p:nvPr>
                <p:ph idx="1"/>
              </p:nvPr>
            </p:nvSpPr>
            <p:spPr>
              <a:blipFill>
                <a:blip r:embed="rId2"/>
                <a:stretch>
                  <a:fillRect l="-1040" t="-508"/>
                </a:stretch>
              </a:blipFill>
            </p:spPr>
            <p:txBody>
              <a:bodyPr/>
              <a:lstStyle/>
              <a:p>
                <a:r>
                  <a:rPr lang="en-US">
                    <a:noFill/>
                  </a:rPr>
                  <a:t> </a:t>
                </a:r>
              </a:p>
            </p:txBody>
          </p:sp>
        </mc:Fallback>
      </mc:AlternateContent>
    </p:spTree>
    <p:extLst>
      <p:ext uri="{BB962C8B-B14F-4D97-AF65-F5344CB8AC3E}">
        <p14:creationId xmlns:p14="http://schemas.microsoft.com/office/powerpoint/2010/main" val="3786702481"/>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B36C-08EC-825D-3EF0-FF15C65055E6}"/>
              </a:ext>
            </a:extLst>
          </p:cNvPr>
          <p:cNvSpPr>
            <a:spLocks noGrp="1"/>
          </p:cNvSpPr>
          <p:nvPr>
            <p:ph type="title"/>
          </p:nvPr>
        </p:nvSpPr>
        <p:spPr>
          <a:xfrm>
            <a:off x="609600" y="264085"/>
            <a:ext cx="4937760" cy="946389"/>
          </a:xfrm>
        </p:spPr>
        <p:txBody>
          <a:bodyPr anchor="ctr">
            <a:normAutofit/>
          </a:bodyPr>
          <a:lstStyle/>
          <a:p>
            <a:r>
              <a:rPr lang="en-US" dirty="0"/>
              <a:t>Building a Repository of Algorithms</a:t>
            </a:r>
          </a:p>
        </p:txBody>
      </p:sp>
      <p:sp>
        <p:nvSpPr>
          <p:cNvPr id="3" name="Content Placeholder 2">
            <a:extLst>
              <a:ext uri="{FF2B5EF4-FFF2-40B4-BE49-F238E27FC236}">
                <a16:creationId xmlns:a16="http://schemas.microsoft.com/office/drawing/2014/main" id="{FD1F4BF4-8F2E-6FAB-02F9-12530A4EC6F9}"/>
              </a:ext>
            </a:extLst>
          </p:cNvPr>
          <p:cNvSpPr>
            <a:spLocks noGrp="1"/>
          </p:cNvSpPr>
          <p:nvPr>
            <p:ph idx="1"/>
          </p:nvPr>
        </p:nvSpPr>
        <p:spPr>
          <a:xfrm>
            <a:off x="609600" y="1334324"/>
            <a:ext cx="4572000" cy="4992624"/>
          </a:xfrm>
        </p:spPr>
        <p:txBody>
          <a:bodyPr>
            <a:normAutofit/>
          </a:bodyPr>
          <a:lstStyle/>
          <a:p>
            <a:r>
              <a:rPr lang="en-US" dirty="0"/>
              <a:t>Modeled after the IRMT</a:t>
            </a:r>
          </a:p>
          <a:p>
            <a:r>
              <a:rPr lang="en-US" dirty="0"/>
              <a:t>A collection of fundamental algorithms and data structures</a:t>
            </a:r>
          </a:p>
          <a:p>
            <a:r>
              <a:rPr lang="en-US" dirty="0"/>
              <a:t>Proven implementations in a variety of languages</a:t>
            </a:r>
          </a:p>
          <a:p>
            <a:r>
              <a:rPr lang="en-US" dirty="0"/>
              <a:t>Implementations selected for inclusion based on abstractness and efficiency</a:t>
            </a:r>
          </a:p>
        </p:txBody>
      </p:sp>
      <p:pic>
        <p:nvPicPr>
          <p:cNvPr id="12" name="Picture Placeholder 11" descr="A black and white logo&#10;&#10;AI-generated content may be incorrect.">
            <a:extLst>
              <a:ext uri="{FF2B5EF4-FFF2-40B4-BE49-F238E27FC236}">
                <a16:creationId xmlns:a16="http://schemas.microsoft.com/office/drawing/2014/main" id="{A811CEDE-C964-3ADA-6EE3-209ABD51EEA5}"/>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033753190"/>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7F1E-E2EC-8A23-F721-24A65858D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8146-7939-A43D-1C12-EB2EE2CCFC92}"/>
              </a:ext>
            </a:extLst>
          </p:cNvPr>
          <p:cNvSpPr>
            <a:spLocks noGrp="1"/>
          </p:cNvSpPr>
          <p:nvPr>
            <p:ph type="title"/>
          </p:nvPr>
        </p:nvSpPr>
        <p:spPr/>
        <p:txBody>
          <a:bodyPr/>
          <a:lstStyle/>
          <a:p>
            <a:r>
              <a:rPr lang="en-US" dirty="0"/>
              <a:t>Unfortunately, the IRMT doesn’t exist</a:t>
            </a:r>
          </a:p>
        </p:txBody>
      </p:sp>
      <p:sp>
        <p:nvSpPr>
          <p:cNvPr id="3" name="Content Placeholder 2">
            <a:extLst>
              <a:ext uri="{FF2B5EF4-FFF2-40B4-BE49-F238E27FC236}">
                <a16:creationId xmlns:a16="http://schemas.microsoft.com/office/drawing/2014/main" id="{F39732A4-26D1-1A15-196E-15464470F957}"/>
              </a:ext>
            </a:extLst>
          </p:cNvPr>
          <p:cNvSpPr>
            <a:spLocks noGrp="1"/>
          </p:cNvSpPr>
          <p:nvPr>
            <p:ph idx="1"/>
          </p:nvPr>
        </p:nvSpPr>
        <p:spPr/>
        <p:txBody>
          <a:bodyPr/>
          <a:lstStyle/>
          <a:p>
            <a:r>
              <a:rPr lang="en-US" dirty="0"/>
              <a:t>Building a cohesive foundation is </a:t>
            </a:r>
            <a:r>
              <a:rPr lang="en-US" i="1" dirty="0"/>
              <a:t>hard.</a:t>
            </a:r>
          </a:p>
          <a:p>
            <a:r>
              <a:rPr lang="en-US" dirty="0"/>
              <a:t>Examples:</a:t>
            </a:r>
          </a:p>
          <a:p>
            <a:pPr lvl="1"/>
            <a:r>
              <a:rPr lang="en-US" i="1" dirty="0"/>
              <a:t>Euclid’s Elements</a:t>
            </a:r>
            <a:r>
              <a:rPr lang="en-US" dirty="0"/>
              <a:t> (300 BCE)</a:t>
            </a:r>
            <a:endParaRPr lang="en-US" i="1" dirty="0"/>
          </a:p>
          <a:p>
            <a:pPr lvl="1"/>
            <a:r>
              <a:rPr lang="en-US" i="1" dirty="0"/>
              <a:t>Principia Mathematica </a:t>
            </a:r>
            <a:r>
              <a:rPr lang="en-US" dirty="0"/>
              <a:t>by Isaac Newton (1687)</a:t>
            </a:r>
            <a:endParaRPr lang="en-US" i="1" dirty="0"/>
          </a:p>
          <a:p>
            <a:pPr lvl="1"/>
            <a:r>
              <a:rPr lang="en-US" i="1" dirty="0" err="1"/>
              <a:t>Formulario</a:t>
            </a:r>
            <a:r>
              <a:rPr lang="en-US" i="1" dirty="0"/>
              <a:t> </a:t>
            </a:r>
            <a:r>
              <a:rPr lang="en-US" i="1" dirty="0" err="1"/>
              <a:t>Mathematico</a:t>
            </a:r>
            <a:r>
              <a:rPr lang="en-US" dirty="0"/>
              <a:t> by Giuseppe Peano (1894)</a:t>
            </a:r>
          </a:p>
          <a:p>
            <a:pPr lvl="1"/>
            <a:r>
              <a:rPr lang="en-US" i="1" dirty="0" err="1"/>
              <a:t>Éléments</a:t>
            </a:r>
            <a:r>
              <a:rPr lang="en-US" i="1" dirty="0"/>
              <a:t> de </a:t>
            </a:r>
            <a:r>
              <a:rPr lang="en-US" i="1" dirty="0" err="1"/>
              <a:t>mathématique</a:t>
            </a:r>
            <a:r>
              <a:rPr lang="en-US" i="1" dirty="0"/>
              <a:t> </a:t>
            </a:r>
            <a:r>
              <a:rPr lang="en-US" dirty="0"/>
              <a:t>by Nicolas Bourbaki (1939)</a:t>
            </a:r>
            <a:endParaRPr lang="en-US" i="1" dirty="0"/>
          </a:p>
        </p:txBody>
      </p:sp>
    </p:spTree>
    <p:extLst>
      <p:ext uri="{BB962C8B-B14F-4D97-AF65-F5344CB8AC3E}">
        <p14:creationId xmlns:p14="http://schemas.microsoft.com/office/powerpoint/2010/main" val="66161224"/>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18A9C-BDAF-8B83-F693-31539E0D4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0ECF5-997E-69D7-D3F6-42FADF2E90BD}"/>
              </a:ext>
            </a:extLst>
          </p:cNvPr>
          <p:cNvSpPr>
            <a:spLocks noGrp="1"/>
          </p:cNvSpPr>
          <p:nvPr>
            <p:ph type="title"/>
          </p:nvPr>
        </p:nvSpPr>
        <p:spPr/>
        <p:txBody>
          <a:bodyPr/>
          <a:lstStyle/>
          <a:p>
            <a:r>
              <a:rPr lang="en-US" dirty="0"/>
              <a:t>Computer Science foundations</a:t>
            </a:r>
          </a:p>
        </p:txBody>
      </p:sp>
      <p:sp>
        <p:nvSpPr>
          <p:cNvPr id="3" name="Content Placeholder 2">
            <a:extLst>
              <a:ext uri="{FF2B5EF4-FFF2-40B4-BE49-F238E27FC236}">
                <a16:creationId xmlns:a16="http://schemas.microsoft.com/office/drawing/2014/main" id="{F9E2160C-6389-36FE-3177-C5D0645A943A}"/>
              </a:ext>
            </a:extLst>
          </p:cNvPr>
          <p:cNvSpPr>
            <a:spLocks noGrp="1"/>
          </p:cNvSpPr>
          <p:nvPr>
            <p:ph idx="1"/>
          </p:nvPr>
        </p:nvSpPr>
        <p:spPr/>
        <p:txBody>
          <a:bodyPr/>
          <a:lstStyle/>
          <a:p>
            <a:r>
              <a:rPr lang="en-US" dirty="0"/>
              <a:t>Example books:</a:t>
            </a:r>
          </a:p>
          <a:p>
            <a:pPr lvl="1"/>
            <a:r>
              <a:rPr lang="en-US" i="1" dirty="0"/>
              <a:t>The Art of Computer Programming</a:t>
            </a:r>
            <a:r>
              <a:rPr lang="en-US" dirty="0"/>
              <a:t> by Don Knuth (1968..)</a:t>
            </a:r>
            <a:endParaRPr lang="en-US" i="1" dirty="0"/>
          </a:p>
          <a:p>
            <a:pPr lvl="1"/>
            <a:r>
              <a:rPr lang="en-US" i="1" dirty="0"/>
              <a:t>Communicating Sequential Processes </a:t>
            </a:r>
            <a:r>
              <a:rPr lang="en-US" dirty="0"/>
              <a:t>by Tony Hoare (1978)</a:t>
            </a:r>
          </a:p>
          <a:p>
            <a:pPr lvl="1"/>
            <a:r>
              <a:rPr lang="en-US" i="1" dirty="0"/>
              <a:t>Elements of Programming </a:t>
            </a:r>
            <a:r>
              <a:rPr lang="en-US" dirty="0"/>
              <a:t>by Alex Stepanov &amp; Paul </a:t>
            </a:r>
            <a:r>
              <a:rPr lang="en-US" dirty="0" err="1"/>
              <a:t>McJones</a:t>
            </a:r>
            <a:r>
              <a:rPr lang="en-US" dirty="0"/>
              <a:t> (2019)</a:t>
            </a:r>
          </a:p>
          <a:p>
            <a:pPr lvl="1"/>
            <a:endParaRPr lang="en-US" dirty="0"/>
          </a:p>
          <a:p>
            <a:r>
              <a:rPr lang="en-US" dirty="0"/>
              <a:t>Libraries:</a:t>
            </a:r>
          </a:p>
          <a:p>
            <a:pPr lvl="1"/>
            <a:r>
              <a:rPr lang="en-US" dirty="0"/>
              <a:t>Standard Template Library</a:t>
            </a:r>
          </a:p>
          <a:p>
            <a:pPr lvl="1"/>
            <a:r>
              <a:rPr lang="en-US" dirty="0"/>
              <a:t>Boost Graph Library</a:t>
            </a:r>
          </a:p>
          <a:p>
            <a:pPr lvl="1"/>
            <a:r>
              <a:rPr lang="en-US" dirty="0"/>
              <a:t>Ranges</a:t>
            </a:r>
          </a:p>
        </p:txBody>
      </p:sp>
    </p:spTree>
    <p:extLst>
      <p:ext uri="{BB962C8B-B14F-4D97-AF65-F5344CB8AC3E}">
        <p14:creationId xmlns:p14="http://schemas.microsoft.com/office/powerpoint/2010/main" val="3242228832"/>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1C3B3-96AF-311D-D461-46E6F3537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2BAC5-CD02-87C0-ED4D-2744BE5EF571}"/>
              </a:ext>
            </a:extLst>
          </p:cNvPr>
          <p:cNvSpPr>
            <a:spLocks noGrp="1"/>
          </p:cNvSpPr>
          <p:nvPr>
            <p:ph type="title"/>
          </p:nvPr>
        </p:nvSpPr>
        <p:spPr/>
        <p:txBody>
          <a:bodyPr/>
          <a:lstStyle/>
          <a:p>
            <a:r>
              <a:rPr lang="en-US" dirty="0"/>
              <a:t>The Language Challenge</a:t>
            </a:r>
          </a:p>
        </p:txBody>
      </p:sp>
      <p:sp>
        <p:nvSpPr>
          <p:cNvPr id="3" name="Content Placeholder 2">
            <a:extLst>
              <a:ext uri="{FF2B5EF4-FFF2-40B4-BE49-F238E27FC236}">
                <a16:creationId xmlns:a16="http://schemas.microsoft.com/office/drawing/2014/main" id="{40E31E0A-1712-7238-C90E-C167611D7FB3}"/>
              </a:ext>
            </a:extLst>
          </p:cNvPr>
          <p:cNvSpPr>
            <a:spLocks noGrp="1"/>
          </p:cNvSpPr>
          <p:nvPr>
            <p:ph idx="1"/>
          </p:nvPr>
        </p:nvSpPr>
        <p:spPr/>
        <p:txBody>
          <a:bodyPr/>
          <a:lstStyle/>
          <a:p>
            <a:r>
              <a:rPr lang="en-US" dirty="0"/>
              <a:t>Semantic constraints are not expressed (and unchecked)</a:t>
            </a:r>
          </a:p>
          <a:p>
            <a:r>
              <a:rPr lang="en-US" dirty="0"/>
              <a:t>Tradeoffs</a:t>
            </a:r>
          </a:p>
          <a:p>
            <a:pPr lvl="1"/>
            <a:r>
              <a:rPr lang="en-US" dirty="0"/>
              <a:t>Separate compilation makes refinement difficult (impacts efficiency and </a:t>
            </a:r>
            <a:r>
              <a:rPr lang="en-US" dirty="0" err="1"/>
              <a:t>expressibility</a:t>
            </a:r>
            <a:r>
              <a:rPr lang="en-US" dirty="0"/>
              <a:t>)</a:t>
            </a:r>
          </a:p>
          <a:p>
            <a:r>
              <a:rPr lang="en-US" dirty="0"/>
              <a:t>Concept mechanisms are used for “implements” as opposed to “models”</a:t>
            </a:r>
          </a:p>
          <a:p>
            <a:pPr lvl="1"/>
            <a:r>
              <a:rPr lang="en-US" dirty="0"/>
              <a:t>See concepts like “std::</a:t>
            </a:r>
            <a:r>
              <a:rPr lang="en-US" dirty="0" err="1"/>
              <a:t>copy_constructible</a:t>
            </a:r>
            <a:r>
              <a:rPr lang="en-US" dirty="0"/>
              <a:t>”, or the trait “std::ops::Sub”, or the protocol “</a:t>
            </a:r>
            <a:r>
              <a:rPr lang="en-US" dirty="0" err="1"/>
              <a:t>Hashable</a:t>
            </a:r>
            <a:r>
              <a:rPr lang="en-US" dirty="0"/>
              <a:t>”</a:t>
            </a:r>
          </a:p>
          <a:p>
            <a:r>
              <a:rPr lang="en-US" dirty="0"/>
              <a:t>Confusion over the domain of operations</a:t>
            </a:r>
          </a:p>
          <a:p>
            <a:pPr lvl="1"/>
            <a:r>
              <a:rPr lang="en-US" dirty="0"/>
              <a:t>A type </a:t>
            </a:r>
            <a:r>
              <a:rPr lang="en-US" i="1" dirty="0"/>
              <a:t>models</a:t>
            </a:r>
            <a:r>
              <a:rPr lang="en-US" dirty="0"/>
              <a:t> a concept if values of that type </a:t>
            </a:r>
            <a:r>
              <a:rPr lang="en-US" i="1" dirty="0"/>
              <a:t>exist</a:t>
            </a:r>
            <a:r>
              <a:rPr lang="en-US" dirty="0"/>
              <a:t> that satisfy the constraint</a:t>
            </a:r>
          </a:p>
          <a:p>
            <a:pPr lvl="1"/>
            <a:r>
              <a:rPr lang="en-US" dirty="0"/>
              <a:t>operator &lt; on double models strict-weak-ordering</a:t>
            </a:r>
          </a:p>
        </p:txBody>
      </p:sp>
    </p:spTree>
    <p:extLst>
      <p:ext uri="{BB962C8B-B14F-4D97-AF65-F5344CB8AC3E}">
        <p14:creationId xmlns:p14="http://schemas.microsoft.com/office/powerpoint/2010/main" val="2914876731"/>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97392-8E15-BA3C-197A-7E6357BA09FF}"/>
              </a:ext>
            </a:extLst>
          </p:cNvPr>
          <p:cNvSpPr>
            <a:spLocks noGrp="1"/>
          </p:cNvSpPr>
          <p:nvPr>
            <p:ph type="title"/>
          </p:nvPr>
        </p:nvSpPr>
        <p:spPr/>
        <p:txBody>
          <a:bodyPr/>
          <a:lstStyle/>
          <a:p>
            <a:r>
              <a:rPr lang="en-US" dirty="0"/>
              <a:t>Current Design of Large Systems</a:t>
            </a:r>
          </a:p>
        </p:txBody>
      </p:sp>
      <p:sp>
        <p:nvSpPr>
          <p:cNvPr id="3" name="Content Placeholder 2">
            <a:extLst>
              <a:ext uri="{FF2B5EF4-FFF2-40B4-BE49-F238E27FC236}">
                <a16:creationId xmlns:a16="http://schemas.microsoft.com/office/drawing/2014/main" id="{605C06CD-545B-5E55-DAB0-AB79758F8630}"/>
              </a:ext>
            </a:extLst>
          </p:cNvPr>
          <p:cNvSpPr>
            <a:spLocks noGrp="1"/>
          </p:cNvSpPr>
          <p:nvPr>
            <p:ph idx="1"/>
          </p:nvPr>
        </p:nvSpPr>
        <p:spPr/>
        <p:txBody>
          <a:bodyPr/>
          <a:lstStyle/>
          <a:p>
            <a:r>
              <a:rPr lang="en-US" dirty="0"/>
              <a:t>Networks of objects form implicit data structures</a:t>
            </a:r>
          </a:p>
          <a:p>
            <a:r>
              <a:rPr lang="en-US" dirty="0"/>
              <a:t>Messaging among objects forms implicit algorithms</a:t>
            </a:r>
          </a:p>
          <a:p>
            <a:r>
              <a:rPr lang="en-US" dirty="0"/>
              <a:t>Design Patterns assist in reasoning about these systems</a:t>
            </a:r>
          </a:p>
          <a:p>
            <a:pPr lvl="1"/>
            <a:r>
              <a:rPr lang="en-US" dirty="0"/>
              <a:t>Local rules approximate correct algorithms and structures</a:t>
            </a:r>
          </a:p>
          <a:p>
            <a:r>
              <a:rPr lang="en-US" dirty="0"/>
              <a:t>Iteratively refine until quality is </a:t>
            </a:r>
            <a:r>
              <a:rPr lang="en-US" i="1" dirty="0"/>
              <a:t>good enough</a:t>
            </a:r>
            <a:endParaRPr lang="en-US" dirty="0"/>
          </a:p>
        </p:txBody>
      </p:sp>
    </p:spTree>
    <p:extLst>
      <p:ext uri="{BB962C8B-B14F-4D97-AF65-F5344CB8AC3E}">
        <p14:creationId xmlns:p14="http://schemas.microsoft.com/office/powerpoint/2010/main" val="2773540871"/>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BDE3-8201-DF9F-67AE-C8E27360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AD416-0B4A-57E1-8F39-AF1760F51A3B}"/>
              </a:ext>
            </a:extLst>
          </p:cNvPr>
          <p:cNvSpPr>
            <a:spLocks noGrp="1"/>
          </p:cNvSpPr>
          <p:nvPr>
            <p:ph type="title"/>
          </p:nvPr>
        </p:nvSpPr>
        <p:spPr/>
        <p:txBody>
          <a:bodyPr/>
          <a:lstStyle/>
          <a:p>
            <a:r>
              <a:rPr lang="en-US" dirty="0"/>
              <a:t>A “Generic Algorithm” for Building Systems</a:t>
            </a:r>
          </a:p>
        </p:txBody>
      </p:sp>
      <p:sp>
        <p:nvSpPr>
          <p:cNvPr id="3" name="Content Placeholder 2">
            <a:extLst>
              <a:ext uri="{FF2B5EF4-FFF2-40B4-BE49-F238E27FC236}">
                <a16:creationId xmlns:a16="http://schemas.microsoft.com/office/drawing/2014/main" id="{613EAD80-A568-EE4A-9986-9090AD4300EE}"/>
              </a:ext>
            </a:extLst>
          </p:cNvPr>
          <p:cNvSpPr>
            <a:spLocks noGrp="1"/>
          </p:cNvSpPr>
          <p:nvPr>
            <p:ph idx="1"/>
          </p:nvPr>
        </p:nvSpPr>
        <p:spPr/>
        <p:txBody>
          <a:bodyPr/>
          <a:lstStyle/>
          <a:p>
            <a:r>
              <a:rPr lang="en-US" dirty="0"/>
              <a:t>Identify the components and how they connect and interrelate</a:t>
            </a:r>
          </a:p>
          <a:p>
            <a:r>
              <a:rPr lang="en-US" dirty="0"/>
              <a:t>Avoid incidental data structures by packaging related objects, other than whole/part relationships, as parts of a whole</a:t>
            </a:r>
          </a:p>
          <a:p>
            <a:pPr lvl="1"/>
            <a:r>
              <a:rPr lang="en-US" dirty="0"/>
              <a:t>The whole maintains the invariants of any relationships between the parts</a:t>
            </a:r>
          </a:p>
          <a:p>
            <a:r>
              <a:rPr lang="en-US" dirty="0"/>
              <a:t>Avoid incidental algorithms by recasting as explicit algorithms</a:t>
            </a:r>
          </a:p>
          <a:p>
            <a:r>
              <a:rPr lang="en-US" dirty="0"/>
              <a:t>Identify common structures and algorithms, and refactor them into generic components</a:t>
            </a:r>
          </a:p>
          <a:p>
            <a:r>
              <a:rPr lang="en-US" dirty="0"/>
              <a:t>Repeat…</a:t>
            </a:r>
          </a:p>
        </p:txBody>
      </p:sp>
    </p:spTree>
    <p:extLst>
      <p:ext uri="{BB962C8B-B14F-4D97-AF65-F5344CB8AC3E}">
        <p14:creationId xmlns:p14="http://schemas.microsoft.com/office/powerpoint/2010/main" val="64600595"/>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053239"/>
            <a:ext cx="10972800" cy="2751522"/>
          </a:xfrm>
        </p:spPr>
        <p:txBody>
          <a:bodyPr/>
          <a:lstStyle/>
          <a:p>
            <a:r>
              <a:rPr lang="en-US" dirty="0"/>
              <a:t>Question: Is generic programming sufficient to build software at scale?</a:t>
            </a:r>
          </a:p>
        </p:txBody>
      </p:sp>
    </p:spTree>
    <p:extLst>
      <p:ext uri="{BB962C8B-B14F-4D97-AF65-F5344CB8AC3E}">
        <p14:creationId xmlns:p14="http://schemas.microsoft.com/office/powerpoint/2010/main" val="3000464591"/>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E713-1711-793A-1E0E-06D8A78D8B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E23B1F-1ADC-FFE7-C5B6-1E31BF21928E}"/>
              </a:ext>
            </a:extLst>
          </p:cNvPr>
          <p:cNvSpPr>
            <a:spLocks noGrp="1"/>
          </p:cNvSpPr>
          <p:nvPr>
            <p:ph type="title"/>
          </p:nvPr>
        </p:nvSpPr>
        <p:spPr>
          <a:xfrm>
            <a:off x="609600" y="2053239"/>
            <a:ext cx="10972800" cy="2751522"/>
          </a:xfrm>
        </p:spPr>
        <p:txBody>
          <a:bodyPr/>
          <a:lstStyle/>
          <a:p>
            <a:r>
              <a:rPr lang="en-US" dirty="0"/>
              <a:t>Conjecture: All problems of scale become a network problem</a:t>
            </a:r>
          </a:p>
        </p:txBody>
      </p:sp>
    </p:spTree>
    <p:extLst>
      <p:ext uri="{BB962C8B-B14F-4D97-AF65-F5344CB8AC3E}">
        <p14:creationId xmlns:p14="http://schemas.microsoft.com/office/powerpoint/2010/main" val="3687807554"/>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7B78B-8AE1-B0FD-B7C3-31FBAD47B6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BDB911-78C6-5067-1C11-DAE8B4835CC8}"/>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641260072"/>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EE270-81A2-9618-2E8E-E71FEBE033CB}"/>
              </a:ext>
            </a:extLst>
          </p:cNvPr>
          <p:cNvSpPr>
            <a:spLocks noGrp="1"/>
          </p:cNvSpPr>
          <p:nvPr>
            <p:ph type="title"/>
          </p:nvPr>
        </p:nvSpPr>
        <p:spPr/>
        <p:txBody>
          <a:bodyPr/>
          <a:lstStyle/>
          <a:p>
            <a:r>
              <a:rPr lang="en-US" dirty="0"/>
              <a:t>Declarative Forms</a:t>
            </a:r>
          </a:p>
        </p:txBody>
      </p:sp>
      <p:pic>
        <p:nvPicPr>
          <p:cNvPr id="4" name="Image" descr="Image">
            <a:extLst>
              <a:ext uri="{FF2B5EF4-FFF2-40B4-BE49-F238E27FC236}">
                <a16:creationId xmlns:a16="http://schemas.microsoft.com/office/drawing/2014/main" id="{C9B6EE35-EC52-6C52-F5B9-1B8E63964547}"/>
              </a:ext>
            </a:extLst>
          </p:cNvPr>
          <p:cNvPicPr>
            <a:picLocks noChangeAspect="1"/>
          </p:cNvPicPr>
          <p:nvPr/>
        </p:nvPicPr>
        <p:blipFill>
          <a:blip r:embed="rId3"/>
          <a:stretch>
            <a:fillRect/>
          </a:stretch>
        </p:blipFill>
        <p:spPr>
          <a:xfrm>
            <a:off x="1605257" y="1334324"/>
            <a:ext cx="8981486" cy="4992624"/>
          </a:xfrm>
          <a:prstGeom prst="rect">
            <a:avLst/>
          </a:prstGeom>
          <a:ln w="50800">
            <a:solidFill>
              <a:srgbClr val="DDDDDD"/>
            </a:solidFill>
            <a:miter lim="400000"/>
          </a:ln>
        </p:spPr>
      </p:pic>
    </p:spTree>
    <p:extLst>
      <p:ext uri="{BB962C8B-B14F-4D97-AF65-F5344CB8AC3E}">
        <p14:creationId xmlns:p14="http://schemas.microsoft.com/office/powerpoint/2010/main" val="42580416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iterate>
                                    <p:tmAbs val="0"/>
                                  </p:iterate>
                                  <p:childTnLst>
                                    <p:set>
                                      <p:cBhvr>
                                        <p:cTn id="6" fill="hold"/>
                                        <p:tgtEl>
                                          <p:spTgt spid="4"/>
                                        </p:tgtEl>
                                        <p:attrNameLst>
                                          <p:attrName>style.visibility</p:attrName>
                                        </p:attrNameLst>
                                      </p:cBhvr>
                                      <p:to>
                                        <p:strVal val="visible"/>
                                      </p:to>
                                    </p:set>
                                    <p:anim calcmode="lin" valueType="num">
                                      <p:cBhvr>
                                        <p:cTn id="7" dur="750" fill="hold"/>
                                        <p:tgtEl>
                                          <p:spTgt spid="4"/>
                                        </p:tgtEl>
                                        <p:attrNameLst>
                                          <p:attrName>ppt_w</p:attrName>
                                        </p:attrNameLst>
                                      </p:cBhvr>
                                      <p:tavLst>
                                        <p:tav tm="0">
                                          <p:val>
                                            <p:fltVal val="0"/>
                                          </p:val>
                                        </p:tav>
                                        <p:tav tm="100000">
                                          <p:val>
                                            <p:strVal val="#ppt_w"/>
                                          </p:val>
                                        </p:tav>
                                      </p:tavLst>
                                    </p:anim>
                                    <p:anim calcmode="lin" valueType="num">
                                      <p:cBhvr>
                                        <p:cTn id="8" dur="750" fill="hold"/>
                                        <p:tgtEl>
                                          <p:spTgt spid="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dvAuto="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EBBD-6E1B-07D2-0AA2-188215BBC929}"/>
              </a:ext>
            </a:extLst>
          </p:cNvPr>
          <p:cNvSpPr>
            <a:spLocks noGrp="1"/>
          </p:cNvSpPr>
          <p:nvPr>
            <p:ph type="title"/>
          </p:nvPr>
        </p:nvSpPr>
        <p:spPr/>
        <p:txBody>
          <a:bodyPr/>
          <a:lstStyle/>
          <a:p>
            <a:r>
              <a:rPr lang="en-US" dirty="0"/>
              <a:t>Declarative Forms</a:t>
            </a:r>
          </a:p>
        </p:txBody>
      </p:sp>
      <p:sp>
        <p:nvSpPr>
          <p:cNvPr id="3" name="Content Placeholder 2">
            <a:extLst>
              <a:ext uri="{FF2B5EF4-FFF2-40B4-BE49-F238E27FC236}">
                <a16:creationId xmlns:a16="http://schemas.microsoft.com/office/drawing/2014/main" id="{E40A9563-E84A-4A57-F084-832AB842D211}"/>
              </a:ext>
            </a:extLst>
          </p:cNvPr>
          <p:cNvSpPr>
            <a:spLocks noGrp="1"/>
          </p:cNvSpPr>
          <p:nvPr>
            <p:ph idx="1"/>
          </p:nvPr>
        </p:nvSpPr>
        <p:spPr/>
        <p:txBody>
          <a:bodyPr/>
          <a:lstStyle/>
          <a:p>
            <a:r>
              <a:rPr lang="en-US" dirty="0"/>
              <a:t>Describe components by their structure and constraints in a domain-specific language</a:t>
            </a:r>
          </a:p>
          <a:p>
            <a:pPr lvl="1"/>
            <a:r>
              <a:rPr lang="en-US" dirty="0"/>
              <a:t>4</a:t>
            </a:r>
            <a:r>
              <a:rPr lang="en-US" baseline="30000" dirty="0"/>
              <a:t>th</a:t>
            </a:r>
            <a:r>
              <a:rPr lang="en-US" dirty="0"/>
              <a:t> generation 5</a:t>
            </a:r>
            <a:r>
              <a:rPr lang="en-US" baseline="30000" dirty="0"/>
              <a:t>th</a:t>
            </a:r>
            <a:r>
              <a:rPr lang="en-US" dirty="0"/>
              <a:t> generation languages</a:t>
            </a:r>
          </a:p>
          <a:p>
            <a:r>
              <a:rPr lang="en-US" dirty="0"/>
              <a:t>The DSLs should not strive to be general-purpose or Turing-complete</a:t>
            </a:r>
          </a:p>
          <a:p>
            <a:pPr lvl="1"/>
            <a:r>
              <a:rPr lang="en-US" dirty="0"/>
              <a:t>But Turing completeness, or effective Turing completeness, is nearly impossible to avoid</a:t>
            </a:r>
          </a:p>
          <a:p>
            <a:r>
              <a:rPr lang="en-US" dirty="0"/>
              <a:t>Examples:</a:t>
            </a:r>
          </a:p>
          <a:p>
            <a:pPr lvl="1"/>
            <a:r>
              <a:rPr lang="en-US" dirty="0"/>
              <a:t>Lex and YACC (and BNF-based parser generators in general)</a:t>
            </a:r>
          </a:p>
          <a:p>
            <a:pPr lvl="1"/>
            <a:r>
              <a:rPr lang="en-US" dirty="0"/>
              <a:t>SQL</a:t>
            </a:r>
          </a:p>
          <a:p>
            <a:pPr lvl="1"/>
            <a:r>
              <a:rPr lang="en-US" dirty="0"/>
              <a:t>HTML (ignoring &lt;script&gt; tags)</a:t>
            </a:r>
          </a:p>
          <a:p>
            <a:pPr lvl="1"/>
            <a:r>
              <a:rPr lang="en-US" dirty="0"/>
              <a:t>Type Systems and Schema Languages</a:t>
            </a:r>
          </a:p>
          <a:p>
            <a:pPr lvl="1"/>
            <a:r>
              <a:rPr lang="en-US" dirty="0"/>
              <a:t>Spreadsheets</a:t>
            </a:r>
          </a:p>
        </p:txBody>
      </p:sp>
    </p:spTree>
    <p:extLst>
      <p:ext uri="{BB962C8B-B14F-4D97-AF65-F5344CB8AC3E}">
        <p14:creationId xmlns:p14="http://schemas.microsoft.com/office/powerpoint/2010/main" val="2351935363"/>
      </p:ext>
    </p:extLst>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7243-C411-BE39-8E46-36BC8C642E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7EC36-6570-4E6F-D66B-597E43C2619B}"/>
              </a:ext>
            </a:extLst>
          </p:cNvPr>
          <p:cNvSpPr>
            <a:spLocks noGrp="1"/>
          </p:cNvSpPr>
          <p:nvPr>
            <p:ph type="title"/>
          </p:nvPr>
        </p:nvSpPr>
        <p:spPr/>
        <p:txBody>
          <a:bodyPr/>
          <a:lstStyle/>
          <a:p>
            <a:r>
              <a:rPr lang="en-US" dirty="0"/>
              <a:t>A “Generic Algorithm” for Building Large Systems</a:t>
            </a:r>
          </a:p>
        </p:txBody>
      </p:sp>
      <p:sp>
        <p:nvSpPr>
          <p:cNvPr id="3" name="Content Placeholder 2">
            <a:extLst>
              <a:ext uri="{FF2B5EF4-FFF2-40B4-BE49-F238E27FC236}">
                <a16:creationId xmlns:a16="http://schemas.microsoft.com/office/drawing/2014/main" id="{40D6FBC5-2B53-2151-01DA-B3E7C2439374}"/>
              </a:ext>
            </a:extLst>
          </p:cNvPr>
          <p:cNvSpPr>
            <a:spLocks noGrp="1"/>
          </p:cNvSpPr>
          <p:nvPr>
            <p:ph idx="1"/>
          </p:nvPr>
        </p:nvSpPr>
        <p:spPr/>
        <p:txBody>
          <a:bodyPr/>
          <a:lstStyle/>
          <a:p>
            <a:r>
              <a:rPr lang="en-US" dirty="0"/>
              <a:t>Apply the algorithm for building systems</a:t>
            </a:r>
          </a:p>
          <a:p>
            <a:r>
              <a:rPr lang="en-US" dirty="0"/>
              <a:t>Identify the common rules governing related parts of components and their structure</a:t>
            </a:r>
          </a:p>
          <a:p>
            <a:r>
              <a:rPr lang="en-US" dirty="0"/>
              <a:t>Choose a DSL that allows you to define the component by expressing the structure and constraints</a:t>
            </a:r>
          </a:p>
          <a:p>
            <a:pPr lvl="1"/>
            <a:r>
              <a:rPr lang="en-US" dirty="0"/>
              <a:t>If a DSL doesn’t exist, develop one*</a:t>
            </a:r>
          </a:p>
          <a:p>
            <a:r>
              <a:rPr lang="en-US" dirty="0"/>
              <a:t>Repeat</a:t>
            </a:r>
          </a:p>
          <a:p>
            <a:endParaRPr lang="en-US" dirty="0"/>
          </a:p>
          <a:p>
            <a:r>
              <a:rPr lang="en-US" dirty="0"/>
              <a:t>*Currently </a:t>
            </a:r>
            <a:r>
              <a:rPr lang="en-US" i="1" dirty="0"/>
              <a:t>hard</a:t>
            </a:r>
          </a:p>
        </p:txBody>
      </p:sp>
    </p:spTree>
    <p:extLst>
      <p:ext uri="{BB962C8B-B14F-4D97-AF65-F5344CB8AC3E}">
        <p14:creationId xmlns:p14="http://schemas.microsoft.com/office/powerpoint/2010/main" val="4287962681"/>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654D1-B040-25E3-840D-1E353BE3F4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ADC73B-C6E6-0B2A-61E1-A19EAD18717A}"/>
              </a:ext>
            </a:extLst>
          </p:cNvPr>
          <p:cNvSpPr>
            <a:spLocks noGrp="1"/>
          </p:cNvSpPr>
          <p:nvPr>
            <p:ph type="title"/>
          </p:nvPr>
        </p:nvSpPr>
        <p:spPr>
          <a:xfrm>
            <a:off x="609600" y="2939635"/>
            <a:ext cx="10972800" cy="978729"/>
          </a:xfrm>
        </p:spPr>
        <p:txBody>
          <a:bodyPr/>
          <a:lstStyle/>
          <a:p>
            <a:pPr algn="ctr"/>
            <a:r>
              <a:rPr lang="en-US" dirty="0"/>
              <a:t>Rules Exist</a:t>
            </a:r>
          </a:p>
        </p:txBody>
      </p:sp>
    </p:spTree>
    <p:extLst>
      <p:ext uri="{BB962C8B-B14F-4D97-AF65-F5344CB8AC3E}">
        <p14:creationId xmlns:p14="http://schemas.microsoft.com/office/powerpoint/2010/main" val="1472349492"/>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BFAF0-4143-3CAA-2B52-734DC678652A}"/>
              </a:ext>
            </a:extLst>
          </p:cNvPr>
          <p:cNvSpPr>
            <a:spLocks noGrp="1"/>
          </p:cNvSpPr>
          <p:nvPr>
            <p:ph type="title"/>
          </p:nvPr>
        </p:nvSpPr>
        <p:spPr/>
        <p:txBody>
          <a:bodyPr/>
          <a:lstStyle/>
          <a:p>
            <a:r>
              <a:rPr lang="en-US" dirty="0"/>
              <a:t>Property Models</a:t>
            </a:r>
          </a:p>
        </p:txBody>
      </p:sp>
      <p:pic>
        <p:nvPicPr>
          <p:cNvPr id="5" name="Content Placeholder 4" descr="A screenshot of a computer&#10;&#10;AI-generated content may be incorrect.">
            <a:extLst>
              <a:ext uri="{FF2B5EF4-FFF2-40B4-BE49-F238E27FC236}">
                <a16:creationId xmlns:a16="http://schemas.microsoft.com/office/drawing/2014/main" id="{5131D543-A343-72D5-7C17-146779484E5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1175" y="1038313"/>
            <a:ext cx="8629650" cy="6519251"/>
          </a:xfrm>
        </p:spPr>
      </p:pic>
    </p:spTree>
    <p:extLst>
      <p:ext uri="{BB962C8B-B14F-4D97-AF65-F5344CB8AC3E}">
        <p14:creationId xmlns:p14="http://schemas.microsoft.com/office/powerpoint/2010/main" val="338087600"/>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DDA8-5809-15DB-6164-EFE64187D63C}"/>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A600B299-FD39-B609-5456-18F9C2254380}"/>
              </a:ext>
            </a:extLst>
          </p:cNvPr>
          <p:cNvPicPr>
            <a:picLocks noChangeAspect="1"/>
          </p:cNvPicPr>
          <p:nvPr/>
        </p:nvPicPr>
        <p:blipFill>
          <a:blip r:embed="rId2"/>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3624138733"/>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ACCDD-F294-B51A-8B4D-F3579A1807BB}"/>
              </a:ext>
            </a:extLst>
          </p:cNvPr>
          <p:cNvSpPr>
            <a:spLocks noGrp="1"/>
          </p:cNvSpPr>
          <p:nvPr>
            <p:ph type="title"/>
          </p:nvPr>
        </p:nvSpPr>
        <p:spPr/>
        <p:txBody>
          <a:bodyPr/>
          <a:lstStyle/>
          <a:p>
            <a:r>
              <a:rPr lang="en-US" dirty="0"/>
              <a:t>Event Flow</a:t>
            </a:r>
          </a:p>
        </p:txBody>
      </p:sp>
      <p:pic>
        <p:nvPicPr>
          <p:cNvPr id="4" name="Content Placeholder 3">
            <a:extLst>
              <a:ext uri="{FF2B5EF4-FFF2-40B4-BE49-F238E27FC236}">
                <a16:creationId xmlns:a16="http://schemas.microsoft.com/office/drawing/2014/main" id="{A149507E-BFA8-3140-C14C-7D1CD1644B96}"/>
              </a:ext>
            </a:extLst>
          </p:cNvPr>
          <p:cNvPicPr>
            <a:picLocks noGrp="1" noChangeAspect="1"/>
          </p:cNvPicPr>
          <p:nvPr>
            <p:ph idx="1"/>
          </p:nvPr>
        </p:nvPicPr>
        <p:blipFill>
          <a:blip r:embed="rId2"/>
          <a:stretch>
            <a:fillRect/>
          </a:stretch>
        </p:blipFill>
        <p:spPr>
          <a:xfrm>
            <a:off x="2628900" y="1208807"/>
            <a:ext cx="6858000" cy="5302577"/>
          </a:xfrm>
          <a:prstGeom prst="rect">
            <a:avLst/>
          </a:prstGeom>
        </p:spPr>
      </p:pic>
    </p:spTree>
    <p:extLst>
      <p:ext uri="{BB962C8B-B14F-4D97-AF65-F5344CB8AC3E}">
        <p14:creationId xmlns:p14="http://schemas.microsoft.com/office/powerpoint/2010/main" val="1346383737"/>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CBD68-9F0C-F8FD-B2F9-F10F481DF6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DC14E6-7725-0840-1443-63F8511F6C93}"/>
              </a:ext>
            </a:extLst>
          </p:cNvPr>
          <p:cNvSpPr>
            <a:spLocks noGrp="1"/>
          </p:cNvSpPr>
          <p:nvPr>
            <p:ph type="title"/>
          </p:nvPr>
        </p:nvSpPr>
        <p:spPr>
          <a:xfrm>
            <a:off x="609600" y="2939635"/>
            <a:ext cx="10972800" cy="978729"/>
          </a:xfrm>
        </p:spPr>
        <p:txBody>
          <a:bodyPr/>
          <a:lstStyle/>
          <a:p>
            <a:r>
              <a:rPr lang="en-US" dirty="0"/>
              <a:t>Demo</a:t>
            </a:r>
          </a:p>
        </p:txBody>
      </p:sp>
    </p:spTree>
    <p:extLst>
      <p:ext uri="{BB962C8B-B14F-4D97-AF65-F5344CB8AC3E}">
        <p14:creationId xmlns:p14="http://schemas.microsoft.com/office/powerpoint/2010/main" val="2767896338"/>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83FEC-8904-F675-D655-57AE3E8E467C}"/>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8EA27E5-4D87-1E93-F6C7-68FDF2873BC9}"/>
              </a:ext>
            </a:extLst>
          </p:cNvPr>
          <p:cNvSpPr>
            <a:spLocks noGrp="1"/>
          </p:cNvSpPr>
          <p:nvPr>
            <p:ph idx="1"/>
          </p:nvPr>
        </p:nvSpPr>
        <p:spPr>
          <a:xfrm>
            <a:off x="609600" y="0"/>
            <a:ext cx="10972800" cy="6515100"/>
          </a:xfrm>
        </p:spPr>
        <p:txBody>
          <a:bodyPr/>
          <a:lstStyle/>
          <a:p>
            <a:pPr lvl="3"/>
            <a:r>
              <a:rPr lang="en-US" sz="1600" dirty="0"/>
              <a:t>sheet </a:t>
            </a:r>
            <a:r>
              <a:rPr lang="en-US" sz="1600" dirty="0" err="1"/>
              <a:t>mini_image_size</a:t>
            </a:r>
            <a:r>
              <a:rPr lang="en-US" sz="1600" dirty="0"/>
              <a:t> {</a:t>
            </a:r>
          </a:p>
          <a:p>
            <a:pPr lvl="3"/>
            <a:r>
              <a:rPr lang="en-US" sz="1600" dirty="0"/>
              <a:t> input:</a:t>
            </a:r>
          </a:p>
          <a:p>
            <a:pPr lvl="3"/>
            <a:r>
              <a:rPr lang="en-US" sz="1600" dirty="0"/>
              <a:t>    </a:t>
            </a:r>
            <a:r>
              <a:rPr lang="en-US" sz="1600" dirty="0" err="1"/>
              <a:t>original_width</a:t>
            </a:r>
            <a:r>
              <a:rPr lang="en-US" sz="1600" dirty="0"/>
              <a:t>       : 5 * 300;</a:t>
            </a:r>
          </a:p>
          <a:p>
            <a:pPr lvl="3"/>
            <a:r>
              <a:rPr lang="en-US" sz="1600" dirty="0"/>
              <a:t>    </a:t>
            </a:r>
            <a:r>
              <a:rPr lang="en-US" sz="1600" dirty="0" err="1"/>
              <a:t>original_height</a:t>
            </a:r>
            <a:r>
              <a:rPr lang="en-US" sz="1600" dirty="0"/>
              <a:t>      : 7 * 300;</a:t>
            </a:r>
          </a:p>
          <a:p>
            <a:pPr lvl="3"/>
            <a:r>
              <a:rPr lang="en-US" sz="1600" dirty="0"/>
              <a:t> interface:</a:t>
            </a:r>
          </a:p>
          <a:p>
            <a:pPr lvl="3"/>
            <a:r>
              <a:rPr lang="en-US" sz="1600" dirty="0"/>
              <a:t>    constrain           : true;</a:t>
            </a:r>
          </a:p>
          <a:p>
            <a:pPr lvl="3"/>
            <a:r>
              <a:rPr lang="en-US" sz="1600" dirty="0"/>
              <a:t>    </a:t>
            </a:r>
            <a:r>
              <a:rPr lang="en-US" sz="1600" dirty="0" err="1"/>
              <a:t>width_pixels</a:t>
            </a:r>
            <a:r>
              <a:rPr lang="en-US" sz="1600" dirty="0"/>
              <a:t>        : </a:t>
            </a:r>
            <a:r>
              <a:rPr lang="en-US" sz="1600" dirty="0" err="1"/>
              <a:t>original_width</a:t>
            </a:r>
            <a:r>
              <a:rPr lang="en-US" sz="1600" dirty="0"/>
              <a:t>     &lt;== round(</a:t>
            </a:r>
            <a:r>
              <a:rPr lang="en-US" sz="1600" dirty="0" err="1"/>
              <a:t>width_pixels</a:t>
            </a:r>
            <a:r>
              <a:rPr lang="en-US" sz="1600" dirty="0"/>
              <a:t>);</a:t>
            </a:r>
          </a:p>
          <a:p>
            <a:pPr lvl="3"/>
            <a:r>
              <a:rPr lang="en-US" sz="1600" dirty="0"/>
              <a:t>    </a:t>
            </a:r>
            <a:r>
              <a:rPr lang="en-US" sz="1600" dirty="0" err="1"/>
              <a:t>height_pixels</a:t>
            </a:r>
            <a:r>
              <a:rPr lang="en-US" sz="1600" dirty="0"/>
              <a:t>       : </a:t>
            </a:r>
            <a:r>
              <a:rPr lang="en-US" sz="1600" dirty="0" err="1"/>
              <a:t>original_height</a:t>
            </a:r>
            <a:r>
              <a:rPr lang="en-US" sz="1600" dirty="0"/>
              <a:t>    &lt;== round(</a:t>
            </a:r>
            <a:r>
              <a:rPr lang="en-US" sz="1600" dirty="0" err="1"/>
              <a:t>height_pixels</a:t>
            </a:r>
            <a:r>
              <a:rPr lang="en-US" sz="1600" dirty="0"/>
              <a:t>);</a:t>
            </a:r>
          </a:p>
          <a:p>
            <a:pPr lvl="3"/>
            <a:r>
              <a:rPr lang="en-US" sz="1600" dirty="0"/>
              <a:t>    </a:t>
            </a:r>
            <a:r>
              <a:rPr lang="en-US" sz="1600" dirty="0" err="1"/>
              <a:t>width_percent</a:t>
            </a:r>
            <a:r>
              <a:rPr lang="en-US" sz="1600" dirty="0"/>
              <a:t>;</a:t>
            </a:r>
          </a:p>
          <a:p>
            <a:pPr lvl="3"/>
            <a:r>
              <a:rPr lang="en-US" sz="1600" dirty="0"/>
              <a:t>    </a:t>
            </a:r>
            <a:r>
              <a:rPr lang="en-US" sz="1600" dirty="0" err="1"/>
              <a:t>height_percent</a:t>
            </a:r>
            <a:r>
              <a:rPr lang="en-US" sz="1600" dirty="0"/>
              <a:t>;</a:t>
            </a:r>
          </a:p>
          <a:p>
            <a:pPr lvl="3"/>
            <a:r>
              <a:rPr lang="en-US" sz="1600" dirty="0"/>
              <a:t> logic:</a:t>
            </a:r>
          </a:p>
          <a:p>
            <a:pPr lvl="3"/>
            <a:r>
              <a:rPr lang="en-US" sz="1600" dirty="0"/>
              <a:t>    relate {</a:t>
            </a:r>
          </a:p>
          <a:p>
            <a:pPr lvl="3"/>
            <a:r>
              <a:rPr lang="en-US" sz="1600" dirty="0"/>
              <a:t>        </a:t>
            </a:r>
            <a:r>
              <a:rPr lang="en-US" sz="1600" dirty="0" err="1"/>
              <a:t>width_pixels</a:t>
            </a:r>
            <a:r>
              <a:rPr lang="en-US" sz="1600" dirty="0"/>
              <a:t>    &lt;== round(</a:t>
            </a:r>
            <a:r>
              <a:rPr lang="en-US" sz="1600" dirty="0" err="1"/>
              <a:t>width_percent</a:t>
            </a:r>
            <a:r>
              <a:rPr lang="en-US" sz="1600" dirty="0"/>
              <a:t> * </a:t>
            </a:r>
            <a:r>
              <a:rPr lang="en-US" sz="1600" dirty="0" err="1"/>
              <a:t>original_width</a:t>
            </a:r>
            <a:r>
              <a:rPr lang="en-US" sz="1600" dirty="0"/>
              <a:t> / 100);</a:t>
            </a:r>
          </a:p>
          <a:p>
            <a:pPr lvl="3"/>
            <a:r>
              <a:rPr lang="en-US" sz="1600" dirty="0"/>
              <a:t>        </a:t>
            </a:r>
            <a:r>
              <a:rPr lang="en-US" sz="1600" dirty="0" err="1"/>
              <a:t>width_percent</a:t>
            </a:r>
            <a:r>
              <a:rPr lang="en-US" sz="1600" dirty="0"/>
              <a:t>   &lt;== </a:t>
            </a:r>
            <a:r>
              <a:rPr lang="en-US" sz="1600" dirty="0" err="1"/>
              <a:t>width_pixels</a:t>
            </a:r>
            <a:r>
              <a:rPr lang="en-US" sz="1600" dirty="0"/>
              <a:t> * 100 / </a:t>
            </a:r>
            <a:r>
              <a:rPr lang="en-US" sz="1600" dirty="0" err="1"/>
              <a:t>original_width</a:t>
            </a:r>
            <a:r>
              <a:rPr lang="en-US" sz="1600" dirty="0"/>
              <a:t>;</a:t>
            </a:r>
          </a:p>
          <a:p>
            <a:pPr lvl="3"/>
            <a:r>
              <a:rPr lang="en-US" sz="1600" dirty="0"/>
              <a:t>    }</a:t>
            </a:r>
          </a:p>
          <a:p>
            <a:pPr lvl="3"/>
            <a:r>
              <a:rPr lang="en-US" sz="1600" dirty="0"/>
              <a:t>    relate {</a:t>
            </a:r>
          </a:p>
          <a:p>
            <a:pPr lvl="3"/>
            <a:r>
              <a:rPr lang="en-US" sz="1600" dirty="0"/>
              <a:t>        </a:t>
            </a:r>
            <a:r>
              <a:rPr lang="en-US" sz="1600" dirty="0" err="1"/>
              <a:t>height_pixels</a:t>
            </a:r>
            <a:r>
              <a:rPr lang="en-US" sz="1600" dirty="0"/>
              <a:t>   &lt;== round(</a:t>
            </a:r>
            <a:r>
              <a:rPr lang="en-US" sz="1600" dirty="0" err="1"/>
              <a:t>height_percent</a:t>
            </a:r>
            <a:r>
              <a:rPr lang="en-US" sz="1600" dirty="0"/>
              <a:t> * </a:t>
            </a:r>
            <a:r>
              <a:rPr lang="en-US" sz="1600" dirty="0" err="1"/>
              <a:t>original_height</a:t>
            </a:r>
            <a:r>
              <a:rPr lang="en-US" sz="1600" dirty="0"/>
              <a:t> / 100);</a:t>
            </a:r>
          </a:p>
          <a:p>
            <a:pPr lvl="3"/>
            <a:r>
              <a:rPr lang="en-US" sz="1600" dirty="0"/>
              <a:t>        </a:t>
            </a:r>
            <a:r>
              <a:rPr lang="en-US" sz="1600" dirty="0" err="1"/>
              <a:t>height_percent</a:t>
            </a:r>
            <a:r>
              <a:rPr lang="en-US" sz="1600" dirty="0"/>
              <a:t>  &lt;== </a:t>
            </a:r>
            <a:r>
              <a:rPr lang="en-US" sz="1600" dirty="0" err="1"/>
              <a:t>height_pixels</a:t>
            </a:r>
            <a:r>
              <a:rPr lang="en-US" sz="1600" dirty="0"/>
              <a:t> * 100 / </a:t>
            </a:r>
            <a:r>
              <a:rPr lang="en-US" sz="1600" dirty="0" err="1"/>
              <a:t>original_height</a:t>
            </a:r>
            <a:r>
              <a:rPr lang="en-US" sz="1600" dirty="0"/>
              <a:t>;</a:t>
            </a:r>
          </a:p>
          <a:p>
            <a:pPr lvl="3"/>
            <a:r>
              <a:rPr lang="en-US" sz="1600" dirty="0"/>
              <a:t>    }</a:t>
            </a:r>
          </a:p>
          <a:p>
            <a:pPr lvl="3"/>
            <a:r>
              <a:rPr lang="en-US" sz="1600" dirty="0"/>
              <a:t>    when (constrain) relate {</a:t>
            </a:r>
          </a:p>
          <a:p>
            <a:pPr lvl="3"/>
            <a:r>
              <a:rPr lang="en-US" sz="1600" dirty="0"/>
              <a:t>        </a:t>
            </a:r>
            <a:r>
              <a:rPr lang="en-US" sz="1600" dirty="0" err="1"/>
              <a:t>width_percent</a:t>
            </a:r>
            <a:r>
              <a:rPr lang="en-US" sz="1600" dirty="0"/>
              <a:t>   &lt;== </a:t>
            </a:r>
            <a:r>
              <a:rPr lang="en-US" sz="1600" dirty="0" err="1"/>
              <a:t>height_percent</a:t>
            </a:r>
            <a:r>
              <a:rPr lang="en-US" sz="1600" dirty="0"/>
              <a:t>;</a:t>
            </a:r>
          </a:p>
          <a:p>
            <a:pPr lvl="3"/>
            <a:r>
              <a:rPr lang="en-US" sz="1600" dirty="0"/>
              <a:t>        </a:t>
            </a:r>
            <a:r>
              <a:rPr lang="en-US" sz="1600" dirty="0" err="1"/>
              <a:t>height_percent</a:t>
            </a:r>
            <a:r>
              <a:rPr lang="en-US" sz="1600" dirty="0"/>
              <a:t>  &lt;== </a:t>
            </a:r>
            <a:r>
              <a:rPr lang="en-US" sz="1600" dirty="0" err="1"/>
              <a:t>width_percent</a:t>
            </a:r>
            <a:r>
              <a:rPr lang="en-US" sz="1600" dirty="0"/>
              <a:t>;</a:t>
            </a:r>
          </a:p>
          <a:p>
            <a:pPr lvl="3"/>
            <a:r>
              <a:rPr lang="en-US" sz="1600" dirty="0"/>
              <a:t>    }</a:t>
            </a:r>
          </a:p>
          <a:p>
            <a:pPr lvl="3"/>
            <a:r>
              <a:rPr lang="en-US" sz="1600" dirty="0"/>
              <a:t> output:</a:t>
            </a:r>
          </a:p>
          <a:p>
            <a:pPr lvl="3"/>
            <a:r>
              <a:rPr lang="en-US" sz="1600" dirty="0"/>
              <a:t>    result &lt;== { height: </a:t>
            </a:r>
            <a:r>
              <a:rPr lang="en-US" sz="1600" dirty="0" err="1"/>
              <a:t>height_pixels</a:t>
            </a:r>
            <a:r>
              <a:rPr lang="en-US" sz="1600" dirty="0"/>
              <a:t>, width: </a:t>
            </a:r>
            <a:r>
              <a:rPr lang="en-US" sz="1600" dirty="0" err="1"/>
              <a:t>width_pixels</a:t>
            </a:r>
            <a:r>
              <a:rPr lang="en-US" sz="1600" dirty="0"/>
              <a:t> };</a:t>
            </a:r>
          </a:p>
          <a:p>
            <a:pPr lvl="3"/>
            <a:r>
              <a:rPr lang="en-US" sz="1600" dirty="0"/>
              <a:t>}</a:t>
            </a:r>
          </a:p>
        </p:txBody>
      </p:sp>
    </p:spTree>
    <p:extLst>
      <p:ext uri="{BB962C8B-B14F-4D97-AF65-F5344CB8AC3E}">
        <p14:creationId xmlns:p14="http://schemas.microsoft.com/office/powerpoint/2010/main" val="2572482972"/>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7E347-D468-C7F0-A481-6A0A92F98B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52457E-9835-9EC8-F7B8-2EB0D4A691C9}"/>
              </a:ext>
            </a:extLst>
          </p:cNvPr>
          <p:cNvSpPr>
            <a:spLocks noGrp="1"/>
          </p:cNvSpPr>
          <p:nvPr>
            <p:ph type="title"/>
          </p:nvPr>
        </p:nvSpPr>
        <p:spPr>
          <a:xfrm>
            <a:off x="609600" y="264085"/>
            <a:ext cx="10972800" cy="946389"/>
          </a:xfrm>
        </p:spPr>
        <p:txBody>
          <a:bodyPr/>
          <a:lstStyle/>
          <a:p>
            <a:r>
              <a:rPr lang="en-US" dirty="0"/>
              <a:t>A Declarative Form</a:t>
            </a:r>
          </a:p>
        </p:txBody>
      </p:sp>
      <p:sp>
        <p:nvSpPr>
          <p:cNvPr id="4" name="Content Placeholder 3">
            <a:extLst>
              <a:ext uri="{FF2B5EF4-FFF2-40B4-BE49-F238E27FC236}">
                <a16:creationId xmlns:a16="http://schemas.microsoft.com/office/drawing/2014/main" id="{9655CB9F-9C1B-E43D-89ED-A492F1D2E3B3}"/>
              </a:ext>
            </a:extLst>
          </p:cNvPr>
          <p:cNvSpPr>
            <a:spLocks noGrp="1"/>
          </p:cNvSpPr>
          <p:nvPr>
            <p:ph idx="1"/>
          </p:nvPr>
        </p:nvSpPr>
        <p:spPr>
          <a:xfrm>
            <a:off x="609600" y="1334324"/>
            <a:ext cx="10972800" cy="4992624"/>
          </a:xfrm>
        </p:spPr>
        <p:txBody>
          <a:bodyPr/>
          <a:lstStyle/>
          <a:p>
            <a:pPr lvl="3"/>
            <a:r>
              <a:rPr lang="en-US" dirty="0"/>
              <a:t>sheet </a:t>
            </a:r>
            <a:r>
              <a:rPr lang="en-US" dirty="0" err="1"/>
              <a:t>mini_image_size</a:t>
            </a:r>
            <a:r>
              <a:rPr lang="en-US" dirty="0"/>
              <a:t>(size: (</a:t>
            </a:r>
            <a:r>
              <a:rPr lang="en-US" dirty="0" err="1"/>
              <a:t>usize</a:t>
            </a:r>
            <a:r>
              <a:rPr lang="en-US" dirty="0"/>
              <a:t>, </a:t>
            </a:r>
            <a:r>
              <a:rPr lang="en-US" dirty="0" err="1"/>
              <a:t>usize</a:t>
            </a:r>
            <a:r>
              <a:rPr lang="en-US" dirty="0"/>
              <a:t>) {</a:t>
            </a:r>
          </a:p>
          <a:p>
            <a:pPr lvl="3"/>
            <a:r>
              <a:rPr lang="en-US" dirty="0"/>
              <a:t>  var </a:t>
            </a:r>
            <a:r>
              <a:rPr lang="en-US" dirty="0" err="1"/>
              <a:t>constrain_aspect_ratio</a:t>
            </a:r>
            <a:r>
              <a:rPr lang="en-US" dirty="0"/>
              <a:t>: bool = true</a:t>
            </a:r>
          </a:p>
          <a:p>
            <a:pPr lvl="3"/>
            <a:r>
              <a:rPr lang="en-US" dirty="0"/>
              <a:t>  var </a:t>
            </a:r>
            <a:r>
              <a:rPr lang="en-US" dirty="0" err="1"/>
              <a:t>pixel_size</a:t>
            </a:r>
            <a:r>
              <a:rPr lang="en-US" dirty="0"/>
              <a:t>: (</a:t>
            </a:r>
            <a:r>
              <a:rPr lang="en-US" dirty="0" err="1"/>
              <a:t>usize</a:t>
            </a:r>
            <a:r>
              <a:rPr lang="en-US" dirty="0"/>
              <a:t>, </a:t>
            </a:r>
            <a:r>
              <a:rPr lang="en-US" dirty="0" err="1"/>
              <a:t>usize</a:t>
            </a:r>
            <a:r>
              <a:rPr lang="en-US" dirty="0"/>
              <a:t>) = size</a:t>
            </a:r>
          </a:p>
          <a:p>
            <a:pPr lvl="3"/>
            <a:r>
              <a:rPr lang="en-US" dirty="0"/>
              <a:t>  var percent: (f64, f64)</a:t>
            </a:r>
          </a:p>
          <a:p>
            <a:pPr lvl="3"/>
            <a:endParaRPr lang="en-US" dirty="0"/>
          </a:p>
          <a:p>
            <a:pPr lvl="3"/>
            <a:r>
              <a:rPr lang="en-US" dirty="0"/>
              <a:t>maintains:</a:t>
            </a:r>
          </a:p>
          <a:p>
            <a:pPr lvl="3"/>
            <a:r>
              <a:rPr lang="en-US" dirty="0"/>
              <a:t>  pixel_size.0 == round(percent.0 * size.0 / 100.0)</a:t>
            </a:r>
          </a:p>
          <a:p>
            <a:pPr lvl="3"/>
            <a:r>
              <a:rPr lang="en-US" dirty="0"/>
              <a:t>  pixel_size.1 == round(percent.1 * size.1 / 100.0)</a:t>
            </a:r>
          </a:p>
          <a:p>
            <a:pPr lvl="3"/>
            <a:endParaRPr lang="en-US" dirty="0"/>
          </a:p>
          <a:p>
            <a:pPr lvl="3"/>
            <a:r>
              <a:rPr lang="en-US" dirty="0"/>
              <a:t>  when </a:t>
            </a:r>
            <a:r>
              <a:rPr lang="en-US" dirty="0" err="1"/>
              <a:t>constrain_aspect_ratio</a:t>
            </a:r>
            <a:r>
              <a:rPr lang="en-US" dirty="0"/>
              <a:t> {</a:t>
            </a:r>
          </a:p>
          <a:p>
            <a:pPr lvl="3"/>
            <a:r>
              <a:rPr lang="en-US" dirty="0"/>
              <a:t>	percent.0 == percent.1</a:t>
            </a:r>
          </a:p>
          <a:p>
            <a:pPr lvl="3"/>
            <a:r>
              <a:rPr lang="en-US" dirty="0"/>
              <a:t>  }</a:t>
            </a:r>
          </a:p>
          <a:p>
            <a:pPr lvl="3"/>
            <a:r>
              <a:rPr lang="en-US" dirty="0"/>
              <a:t>}</a:t>
            </a:r>
          </a:p>
        </p:txBody>
      </p:sp>
    </p:spTree>
    <p:extLst>
      <p:ext uri="{BB962C8B-B14F-4D97-AF65-F5344CB8AC3E}">
        <p14:creationId xmlns:p14="http://schemas.microsoft.com/office/powerpoint/2010/main" val="2290133817"/>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73603-3788-C2A1-601B-2D246581A11F}"/>
              </a:ext>
            </a:extLst>
          </p:cNvPr>
          <p:cNvSpPr>
            <a:spLocks noGrp="1"/>
          </p:cNvSpPr>
          <p:nvPr>
            <p:ph type="title"/>
          </p:nvPr>
        </p:nvSpPr>
        <p:spPr/>
        <p:txBody>
          <a:bodyPr/>
          <a:lstStyle/>
          <a:p>
            <a:r>
              <a:rPr lang="en-US" dirty="0"/>
              <a:t>Structure of Mini Image Size</a:t>
            </a:r>
          </a:p>
        </p:txBody>
      </p:sp>
      <p:pic>
        <p:nvPicPr>
          <p:cNvPr id="4" name="Picture 3">
            <a:extLst>
              <a:ext uri="{FF2B5EF4-FFF2-40B4-BE49-F238E27FC236}">
                <a16:creationId xmlns:a16="http://schemas.microsoft.com/office/drawing/2014/main" id="{C0A57EF6-8FBE-3FE7-9A0D-0B1C3F9CE374}"/>
              </a:ext>
            </a:extLst>
          </p:cNvPr>
          <p:cNvPicPr>
            <a:picLocks noChangeAspect="1"/>
          </p:cNvPicPr>
          <p:nvPr/>
        </p:nvPicPr>
        <p:blipFill>
          <a:blip r:embed="rId3"/>
          <a:stretch>
            <a:fillRect/>
          </a:stretch>
        </p:blipFill>
        <p:spPr>
          <a:xfrm>
            <a:off x="1193940" y="1210474"/>
            <a:ext cx="9804120" cy="5124532"/>
          </a:xfrm>
          <a:prstGeom prst="rect">
            <a:avLst/>
          </a:prstGeom>
        </p:spPr>
      </p:pic>
    </p:spTree>
    <p:extLst>
      <p:ext uri="{BB962C8B-B14F-4D97-AF65-F5344CB8AC3E}">
        <p14:creationId xmlns:p14="http://schemas.microsoft.com/office/powerpoint/2010/main" val="2328757117"/>
      </p:ext>
    </p:extLst>
  </p:cSld>
  <p:clrMapOvr>
    <a:masterClrMapping/>
  </p:clrMapOvr>
  <p:transition spd="me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05BA-BD70-26B8-7DEB-7AAE37819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4C9B9-DB67-7AB6-C6C3-5CCC7E9931E5}"/>
              </a:ext>
            </a:extLst>
          </p:cNvPr>
          <p:cNvSpPr>
            <a:spLocks noGrp="1"/>
          </p:cNvSpPr>
          <p:nvPr>
            <p:ph type="title"/>
          </p:nvPr>
        </p:nvSpPr>
        <p:spPr/>
        <p:txBody>
          <a:bodyPr/>
          <a:lstStyle/>
          <a:p>
            <a:r>
              <a:rPr lang="en-US" dirty="0"/>
              <a:t>Future of Software Development (2006 - restated)</a:t>
            </a:r>
          </a:p>
        </p:txBody>
      </p:sp>
      <p:sp>
        <p:nvSpPr>
          <p:cNvPr id="3" name="Content Placeholder 2">
            <a:extLst>
              <a:ext uri="{FF2B5EF4-FFF2-40B4-BE49-F238E27FC236}">
                <a16:creationId xmlns:a16="http://schemas.microsoft.com/office/drawing/2014/main" id="{6A80CE04-82FC-91B4-EE77-979123677504}"/>
              </a:ext>
            </a:extLst>
          </p:cNvPr>
          <p:cNvSpPr>
            <a:spLocks noGrp="1"/>
          </p:cNvSpPr>
          <p:nvPr>
            <p:ph idx="1"/>
          </p:nvPr>
        </p:nvSpPr>
        <p:spPr/>
        <p:txBody>
          <a:bodyPr/>
          <a:lstStyle/>
          <a:p>
            <a:r>
              <a:rPr lang="en-US" dirty="0"/>
              <a:t>Extend the ideas of generic programming to more domains</a:t>
            </a:r>
          </a:p>
          <a:p>
            <a:r>
              <a:rPr lang="en-US" dirty="0"/>
              <a:t>Extend generic programming to apply to runtime polymorphism</a:t>
            </a:r>
          </a:p>
          <a:p>
            <a:r>
              <a:rPr lang="en-US" dirty="0"/>
              <a:t>Formally describe software behavior by expressing the structure and constraints of the system</a:t>
            </a:r>
          </a:p>
        </p:txBody>
      </p:sp>
    </p:spTree>
    <p:extLst>
      <p:ext uri="{BB962C8B-B14F-4D97-AF65-F5344CB8AC3E}">
        <p14:creationId xmlns:p14="http://schemas.microsoft.com/office/powerpoint/2010/main" val="1351011837"/>
      </p:ext>
    </p:extLst>
  </p:cSld>
  <p:clrMapOvr>
    <a:masterClrMapping/>
  </p:clrMapOvr>
  <p:transition spd="me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1D860-EB0D-4237-BD72-C9E14436B0C6}"/>
              </a:ext>
            </a:extLst>
          </p:cNvPr>
          <p:cNvSpPr>
            <a:spLocks noGrp="1"/>
          </p:cNvSpPr>
          <p:nvPr>
            <p:ph type="title"/>
          </p:nvPr>
        </p:nvSpPr>
        <p:spPr/>
        <p:txBody>
          <a:bodyPr/>
          <a:lstStyle/>
          <a:p>
            <a:r>
              <a:rPr lang="en-US" dirty="0"/>
              <a:t>References for Property Models</a:t>
            </a:r>
          </a:p>
        </p:txBody>
      </p:sp>
      <p:sp>
        <p:nvSpPr>
          <p:cNvPr id="3" name="Content Placeholder 2">
            <a:extLst>
              <a:ext uri="{FF2B5EF4-FFF2-40B4-BE49-F238E27FC236}">
                <a16:creationId xmlns:a16="http://schemas.microsoft.com/office/drawing/2014/main" id="{C53C8607-0C35-34DD-EED5-200658F35547}"/>
              </a:ext>
            </a:extLst>
          </p:cNvPr>
          <p:cNvSpPr>
            <a:spLocks noGrp="1"/>
          </p:cNvSpPr>
          <p:nvPr>
            <p:ph idx="1"/>
          </p:nvPr>
        </p:nvSpPr>
        <p:spPr/>
        <p:txBody>
          <a:bodyPr/>
          <a:lstStyle/>
          <a:p>
            <a:r>
              <a:rPr lang="en-US" dirty="0"/>
              <a:t>Property models</a:t>
            </a:r>
          </a:p>
          <a:p>
            <a:pPr lvl="1"/>
            <a:r>
              <a:rPr lang="en-US" i="1" dirty="0"/>
              <a:t>Generating Reactive Programs for Graphical User Interfaces from Multi-way Dataflow Constraint Systems</a:t>
            </a:r>
            <a:r>
              <a:rPr lang="en-US" dirty="0"/>
              <a:t> (2016),</a:t>
            </a:r>
            <a:br>
              <a:rPr lang="en-US" i="1" dirty="0"/>
            </a:br>
            <a:r>
              <a:rPr lang="en-US" dirty="0"/>
              <a:t>Foust G, Järvi J, Parent S</a:t>
            </a:r>
          </a:p>
          <a:p>
            <a:pPr lvl="1"/>
            <a:r>
              <a:rPr lang="en-US" i="1" dirty="0"/>
              <a:t>Specializing Planners for Hierarchical Multi-way Dataflow Constraint Systems </a:t>
            </a:r>
            <a:r>
              <a:rPr lang="en-US" dirty="0"/>
              <a:t>(2015), Järvi J, Foust G, </a:t>
            </a:r>
            <a:r>
              <a:rPr lang="en-US" dirty="0" err="1"/>
              <a:t>Haveraaen</a:t>
            </a:r>
            <a:r>
              <a:rPr lang="en-US" dirty="0"/>
              <a:t> M</a:t>
            </a:r>
          </a:p>
          <a:p>
            <a:pPr lvl="1"/>
            <a:r>
              <a:rPr lang="en-US" i="1" dirty="0" err="1"/>
              <a:t>HotDrink</a:t>
            </a:r>
            <a:r>
              <a:rPr lang="en-US" dirty="0"/>
              <a:t> A Library for Web User Interfaces (2013), Freeman J, Järvi J, Foust G</a:t>
            </a:r>
          </a:p>
          <a:p>
            <a:pPr lvl="1"/>
            <a:r>
              <a:rPr lang="en-US" i="1" dirty="0"/>
              <a:t>Helping Programmers Help Users </a:t>
            </a:r>
            <a:r>
              <a:rPr lang="en-US" dirty="0"/>
              <a:t>(2012), Freeman J, Järvi J, Kim W, Marcus M, Parent S</a:t>
            </a:r>
          </a:p>
        </p:txBody>
      </p:sp>
    </p:spTree>
    <p:extLst>
      <p:ext uri="{BB962C8B-B14F-4D97-AF65-F5344CB8AC3E}">
        <p14:creationId xmlns:p14="http://schemas.microsoft.com/office/powerpoint/2010/main" val="1876238863"/>
      </p:ext>
    </p:extLst>
  </p:cSld>
  <p:clrMapOvr>
    <a:masterClrMapping/>
  </p:clrMapOvr>
  <p:transition spd="me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92E6E-9072-AD56-4E80-E76C7F15AC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2C861-DF7A-E7F8-0E8B-80ED1820FAF4}"/>
              </a:ext>
            </a:extLst>
          </p:cNvPr>
          <p:cNvSpPr>
            <a:spLocks noGrp="1"/>
          </p:cNvSpPr>
          <p:nvPr>
            <p:ph type="title"/>
          </p:nvPr>
        </p:nvSpPr>
        <p:spPr/>
        <p:txBody>
          <a:bodyPr/>
          <a:lstStyle/>
          <a:p>
            <a:r>
              <a:rPr lang="en-US" dirty="0"/>
              <a:t>Related Work</a:t>
            </a:r>
          </a:p>
        </p:txBody>
      </p:sp>
      <p:sp>
        <p:nvSpPr>
          <p:cNvPr id="3" name="Content Placeholder 2">
            <a:extLst>
              <a:ext uri="{FF2B5EF4-FFF2-40B4-BE49-F238E27FC236}">
                <a16:creationId xmlns:a16="http://schemas.microsoft.com/office/drawing/2014/main" id="{32638CC4-DF20-E4B2-7EE9-14ECF4E47099}"/>
              </a:ext>
            </a:extLst>
          </p:cNvPr>
          <p:cNvSpPr>
            <a:spLocks noGrp="1"/>
          </p:cNvSpPr>
          <p:nvPr>
            <p:ph idx="1"/>
          </p:nvPr>
        </p:nvSpPr>
        <p:spPr/>
        <p:txBody>
          <a:bodyPr/>
          <a:lstStyle/>
          <a:p>
            <a:r>
              <a:rPr lang="en-US" dirty="0"/>
              <a:t>Selections</a:t>
            </a:r>
          </a:p>
          <a:p>
            <a:pPr lvl="1"/>
            <a:r>
              <a:rPr lang="en-US" dirty="0"/>
              <a:t>One Way to Select Many (2016), Jaakko Järvi, Sean Parent</a:t>
            </a:r>
          </a:p>
          <a:p>
            <a:r>
              <a:rPr lang="en-US" dirty="0"/>
              <a:t>Collection models</a:t>
            </a:r>
          </a:p>
          <a:p>
            <a:pPr lvl="1"/>
            <a:r>
              <a:rPr lang="en-US" i="1" dirty="0"/>
              <a:t>Containers for GUI Models </a:t>
            </a:r>
            <a:r>
              <a:rPr lang="en-US" dirty="0"/>
              <a:t>(2024), </a:t>
            </a:r>
            <a:br>
              <a:rPr lang="en-US" dirty="0"/>
            </a:br>
            <a:r>
              <a:rPr lang="en-US" dirty="0"/>
              <a:t>Stokke, Knut Anders; Barash, Mikhail; Järvi, Jaakko; Stenholm, Elisabeth; Robbestad </a:t>
            </a:r>
            <a:r>
              <a:rPr lang="en-US" dirty="0" err="1"/>
              <a:t>Gylterud</a:t>
            </a:r>
            <a:r>
              <a:rPr lang="en-US" dirty="0"/>
              <a:t>, Håkon</a:t>
            </a:r>
          </a:p>
          <a:p>
            <a:pPr lvl="1"/>
            <a:r>
              <a:rPr lang="en-US" i="1" dirty="0"/>
              <a:t>The Ultimate GUI Framework: Are We There Yet? </a:t>
            </a:r>
            <a:r>
              <a:rPr lang="en-US" dirty="0"/>
              <a:t>(2023), Stokke Knut Anders, Barash Mikhail, Järvi Jaakko</a:t>
            </a:r>
          </a:p>
          <a:p>
            <a:pPr lvl="1"/>
            <a:r>
              <a:rPr lang="en-US" i="1" dirty="0"/>
              <a:t>A domain-specific language for structure manipulation in constraint system-based GUIs </a:t>
            </a:r>
            <a:r>
              <a:rPr lang="en-US" dirty="0"/>
              <a:t>(2023),</a:t>
            </a:r>
            <a:br>
              <a:rPr lang="en-US" dirty="0"/>
            </a:br>
            <a:r>
              <a:rPr lang="en-US" dirty="0"/>
              <a:t>Stokke Knut Anders, Barash Mikhail, Järvi Jaakko</a:t>
            </a:r>
          </a:p>
          <a:p>
            <a:pPr lvl="1"/>
            <a:r>
              <a:rPr lang="en-US" i="1" dirty="0"/>
              <a:t>Towards Reusable GUI Structures </a:t>
            </a:r>
            <a:r>
              <a:rPr lang="en-US" dirty="0"/>
              <a:t>(2023), Stokke Knut Anders, Barash Mikhail, Järvi Jaakko</a:t>
            </a:r>
          </a:p>
        </p:txBody>
      </p:sp>
    </p:spTree>
    <p:extLst>
      <p:ext uri="{BB962C8B-B14F-4D97-AF65-F5344CB8AC3E}">
        <p14:creationId xmlns:p14="http://schemas.microsoft.com/office/powerpoint/2010/main" val="1322771822"/>
      </p:ext>
    </p:extLst>
  </p:cSld>
  <p:clrMapOvr>
    <a:masterClrMapping/>
  </p:clrMapOvr>
  <p:transition spd="me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D925D-EE0B-F921-8E65-63E67A1FD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B7737-E352-E22D-8696-A85C8C16BA15}"/>
              </a:ext>
            </a:extLst>
          </p:cNvPr>
          <p:cNvSpPr>
            <a:spLocks noGrp="1"/>
          </p:cNvSpPr>
          <p:nvPr>
            <p:ph type="title"/>
          </p:nvPr>
        </p:nvSpPr>
        <p:spPr/>
        <p:txBody>
          <a:bodyPr/>
          <a:lstStyle/>
          <a:p>
            <a:r>
              <a:rPr lang="en-US" dirty="0"/>
              <a:t>Future of Software Development</a:t>
            </a:r>
          </a:p>
        </p:txBody>
      </p:sp>
      <p:sp>
        <p:nvSpPr>
          <p:cNvPr id="3" name="Content Placeholder 2">
            <a:extLst>
              <a:ext uri="{FF2B5EF4-FFF2-40B4-BE49-F238E27FC236}">
                <a16:creationId xmlns:a16="http://schemas.microsoft.com/office/drawing/2014/main" id="{B27CA4B8-AA6D-2283-F7E6-23BACE13CCFB}"/>
              </a:ext>
            </a:extLst>
          </p:cNvPr>
          <p:cNvSpPr>
            <a:spLocks noGrp="1"/>
          </p:cNvSpPr>
          <p:nvPr>
            <p:ph idx="1"/>
          </p:nvPr>
        </p:nvSpPr>
        <p:spPr/>
        <p:txBody>
          <a:bodyPr/>
          <a:lstStyle/>
          <a:p>
            <a:r>
              <a:rPr lang="en-US" dirty="0"/>
              <a:t>Continue to improve the generic programming support in languages</a:t>
            </a:r>
          </a:p>
          <a:p>
            <a:pPr lvl="1"/>
            <a:r>
              <a:rPr lang="en-US" dirty="0"/>
              <a:t>Refinements</a:t>
            </a:r>
          </a:p>
          <a:p>
            <a:pPr lvl="1"/>
            <a:r>
              <a:rPr lang="en-US" dirty="0"/>
              <a:t>Dependent concepts</a:t>
            </a:r>
          </a:p>
          <a:p>
            <a:pPr lvl="1"/>
            <a:r>
              <a:rPr lang="en-US" dirty="0"/>
              <a:t>Law of exclusivity (follows from whole/part relationships and local reasoning)</a:t>
            </a:r>
          </a:p>
          <a:p>
            <a:pPr lvl="1"/>
            <a:r>
              <a:rPr lang="en-US" dirty="0"/>
              <a:t>Minimize tradeoffs between efficiency and safety</a:t>
            </a:r>
          </a:p>
          <a:p>
            <a:r>
              <a:rPr lang="en-US" dirty="0"/>
              <a:t>Create better foundational libraries by implementing fundamental concepts and algorithms</a:t>
            </a:r>
          </a:p>
          <a:p>
            <a:r>
              <a:rPr lang="en-US" dirty="0"/>
              <a:t>Create libraries of embedded DSLs that interoperate</a:t>
            </a:r>
          </a:p>
          <a:p>
            <a:r>
              <a:rPr lang="en-US" dirty="0"/>
              <a:t>Develop AI to </a:t>
            </a:r>
            <a:r>
              <a:rPr lang="en-US" i="1" dirty="0"/>
              <a:t>reason</a:t>
            </a:r>
            <a:r>
              <a:rPr lang="en-US" dirty="0"/>
              <a:t> about code so that it can continue the above</a:t>
            </a:r>
          </a:p>
          <a:p>
            <a:endParaRPr lang="en-US" dirty="0"/>
          </a:p>
        </p:txBody>
      </p:sp>
    </p:spTree>
    <p:extLst>
      <p:ext uri="{BB962C8B-B14F-4D97-AF65-F5344CB8AC3E}">
        <p14:creationId xmlns:p14="http://schemas.microsoft.com/office/powerpoint/2010/main" val="2776792700"/>
      </p:ext>
    </p:extLst>
  </p:cSld>
  <p:clrMapOvr>
    <a:masterClrMapping/>
  </p:clrMapOvr>
  <p:transition spd="me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transition spd="med"/>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3C468D7-2A62-4899-BEF3-AA07431EA73C}">
  <ds:schemaRefs>
    <ds:schemaRef ds:uri="http://schemas.microsoft.com/sharepoint/v3/contenttype/forms"/>
  </ds:schemaRefs>
</ds:datastoreItem>
</file>

<file path=customXml/itemProps3.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23959</TotalTime>
  <Words>4918</Words>
  <Application>Microsoft Macintosh PowerPoint</Application>
  <PresentationFormat>Widescreen</PresentationFormat>
  <Paragraphs>509</Paragraphs>
  <Slides>68</Slides>
  <Notes>56</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68</vt:i4>
      </vt:variant>
    </vt:vector>
  </HeadingPairs>
  <TitlesOfParts>
    <vt:vector size="80" baseType="lpstr">
      <vt:lpstr>Adobe Clean</vt:lpstr>
      <vt:lpstr>Adobe Clean Black</vt:lpstr>
      <vt:lpstr>Adobe Clean ExtraBold</vt:lpstr>
      <vt:lpstr>Arial</vt:lpstr>
      <vt:lpstr>Calibri</vt:lpstr>
      <vt:lpstr>Cambria Math</vt:lpstr>
      <vt:lpstr>clean-regular</vt:lpstr>
      <vt:lpstr>Menlo</vt:lpstr>
      <vt:lpstr>Roboto</vt:lpstr>
      <vt:lpstr>System Font Regular</vt:lpstr>
      <vt:lpstr>Wingdings</vt:lpstr>
      <vt:lpstr>Adobe Template 2024</vt:lpstr>
      <vt:lpstr>PowerPoint Presentation</vt:lpstr>
      <vt:lpstr>Are We There Yet?</vt:lpstr>
      <vt:lpstr>Industry Developments</vt:lpstr>
      <vt:lpstr>Adobe</vt:lpstr>
      <vt:lpstr>       Photoshop</vt:lpstr>
      <vt:lpstr>       Photoshop</vt:lpstr>
      <vt:lpstr>Analysts (Then)</vt:lpstr>
      <vt:lpstr>Analysts</vt:lpstr>
      <vt:lpstr>Large Quote</vt:lpstr>
      <vt:lpstr>Large Quote</vt:lpstr>
      <vt:lpstr>Large Quote</vt:lpstr>
      <vt:lpstr>Jon Bentley’s Solution (translated to C++)</vt:lpstr>
      <vt:lpstr>Binary Search Solution (from 2006 talk)</vt:lpstr>
      <vt:lpstr>Question: If we can’t write binary search…</vt:lpstr>
      <vt:lpstr>Analysts (Now)</vt:lpstr>
      <vt:lpstr>Large Quote</vt:lpstr>
      <vt:lpstr>Large Quote</vt:lpstr>
      <vt:lpstr>Binary Search Solution (Copilot 2025)</vt:lpstr>
      <vt:lpstr>Closer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Answer: Iterative Refinement.</vt:lpstr>
      <vt:lpstr>Generic Programming</vt:lpstr>
      <vt:lpstr>How can we write Better Code?</vt:lpstr>
      <vt:lpstr>Generic Programming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Programming with Generics ≠ Generic Programming</vt:lpstr>
      <vt:lpstr>Metaprogramming ≠ Generic Programming</vt:lpstr>
      <vt:lpstr>Programming is Mathematics</vt:lpstr>
      <vt:lpstr>Concepts</vt:lpstr>
      <vt:lpstr>Building a Repository of Algorithms</vt:lpstr>
      <vt:lpstr>Unfortunately, the IRMT doesn’t exist</vt:lpstr>
      <vt:lpstr>Computer Science foundations</vt:lpstr>
      <vt:lpstr>The Language Challenge</vt:lpstr>
      <vt:lpstr>Current Design of Large Systems</vt:lpstr>
      <vt:lpstr>A “Generic Algorithm” for Building Systems</vt:lpstr>
      <vt:lpstr>Question: Is generic programming sufficient to build software at scale?</vt:lpstr>
      <vt:lpstr>Conjecture: All problems of scale become a network problem</vt:lpstr>
      <vt:lpstr>Declarative Forms</vt:lpstr>
      <vt:lpstr>Declarative Forms</vt:lpstr>
      <vt:lpstr>Declarative Forms</vt:lpstr>
      <vt:lpstr>A “Generic Algorithm” for Building Large Systems</vt:lpstr>
      <vt:lpstr>Rules Exist</vt:lpstr>
      <vt:lpstr>Property Models</vt:lpstr>
      <vt:lpstr>Imperative Solution to Mini Image Size</vt:lpstr>
      <vt:lpstr>Event Flow</vt:lpstr>
      <vt:lpstr>Demo</vt:lpstr>
      <vt:lpstr>PowerPoint Presentation</vt:lpstr>
      <vt:lpstr>A Declarative Form</vt:lpstr>
      <vt:lpstr>Structure of Mini Image Size</vt:lpstr>
      <vt:lpstr>Future of Software Development (2006 - restated)</vt:lpstr>
      <vt:lpstr>References for Property Models</vt:lpstr>
      <vt:lpstr>Related Work</vt:lpstr>
      <vt:lpstr>Future of Software Development</vt:lpstr>
      <vt:lpstr>Closer Slide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108</cp:revision>
  <dcterms:created xsi:type="dcterms:W3CDTF">2024-01-24T22:04:21Z</dcterms:created>
  <dcterms:modified xsi:type="dcterms:W3CDTF">2025-04-25T23:51:20Z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