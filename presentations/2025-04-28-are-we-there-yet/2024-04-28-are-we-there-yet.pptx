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3"/>
  </p:notesMasterIdLst>
  <p:sldIdLst>
    <p:sldId id="2147483583" r:id="rId5"/>
    <p:sldId id="2147483551" r:id="rId6"/>
    <p:sldId id="263" r:id="rId7"/>
    <p:sldId id="10953" r:id="rId8"/>
    <p:sldId id="2147483572" r:id="rId9"/>
    <p:sldId id="2147483581" r:id="rId10"/>
    <p:sldId id="2147483574" r:id="rId11"/>
    <p:sldId id="2147483436" r:id="rId12"/>
    <p:sldId id="2147483575" r:id="rId13"/>
    <p:sldId id="2147483577" r:id="rId14"/>
    <p:sldId id="2147483597" r:id="rId15"/>
    <p:sldId id="265" r:id="rId16"/>
    <p:sldId id="2147483591" r:id="rId17"/>
    <p:sldId id="2147483607" r:id="rId18"/>
    <p:sldId id="2147483576" r:id="rId19"/>
    <p:sldId id="2147483580" r:id="rId20"/>
    <p:sldId id="2147483579" r:id="rId21"/>
    <p:sldId id="2147472774" r:id="rId22"/>
    <p:sldId id="2147483584" r:id="rId23"/>
    <p:sldId id="2147483590" r:id="rId24"/>
    <p:sldId id="2147483585" r:id="rId25"/>
    <p:sldId id="2147483586" r:id="rId26"/>
    <p:sldId id="2147483587" r:id="rId27"/>
    <p:sldId id="2147483588" r:id="rId28"/>
    <p:sldId id="2147483589" r:id="rId29"/>
    <p:sldId id="2147483593" r:id="rId30"/>
    <p:sldId id="2147483596" r:id="rId31"/>
    <p:sldId id="2147483569" r:id="rId32"/>
    <p:sldId id="2147483595" r:id="rId33"/>
    <p:sldId id="2147483598" r:id="rId34"/>
    <p:sldId id="2147483599" r:id="rId35"/>
    <p:sldId id="2147483600" r:id="rId36"/>
    <p:sldId id="2147483601" r:id="rId37"/>
    <p:sldId id="2147483602" r:id="rId38"/>
    <p:sldId id="2147483603" r:id="rId39"/>
    <p:sldId id="2147483604" r:id="rId40"/>
    <p:sldId id="2147483606" r:id="rId41"/>
    <p:sldId id="2147483605" r:id="rId42"/>
    <p:sldId id="2147483608" r:id="rId43"/>
    <p:sldId id="2147483610" r:id="rId44"/>
    <p:sldId id="2147483609" r:id="rId45"/>
    <p:sldId id="2147483627" r:id="rId46"/>
    <p:sldId id="2147483592" r:id="rId47"/>
    <p:sldId id="2147483594" r:id="rId48"/>
    <p:sldId id="2147483618" r:id="rId49"/>
    <p:sldId id="2147483619" r:id="rId50"/>
    <p:sldId id="2147483613" r:id="rId51"/>
    <p:sldId id="2147483614" r:id="rId52"/>
    <p:sldId id="2147483570" r:id="rId53"/>
    <p:sldId id="2147483612" r:id="rId54"/>
    <p:sldId id="2147483611" r:id="rId55"/>
    <p:sldId id="2147483631" r:id="rId56"/>
    <p:sldId id="2147483622" r:id="rId57"/>
    <p:sldId id="2147483623" r:id="rId58"/>
    <p:sldId id="2147483624" r:id="rId59"/>
    <p:sldId id="2147483628" r:id="rId60"/>
    <p:sldId id="2147483616" r:id="rId61"/>
    <p:sldId id="2147483629" r:id="rId62"/>
    <p:sldId id="2147483617" r:id="rId63"/>
    <p:sldId id="2147483615" r:id="rId64"/>
    <p:sldId id="2147483630" r:id="rId65"/>
    <p:sldId id="2147483635" r:id="rId66"/>
    <p:sldId id="2147483633" r:id="rId67"/>
    <p:sldId id="2147483625" r:id="rId68"/>
    <p:sldId id="2147483632" r:id="rId69"/>
    <p:sldId id="2147483634" r:id="rId70"/>
    <p:sldId id="2147483626" r:id="rId71"/>
    <p:sldId id="2147483582"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96"/>
            <p14:sldId id="2147483569"/>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5"/>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621"/>
    <p:restoredTop sz="69937"/>
  </p:normalViewPr>
  <p:slideViewPr>
    <p:cSldViewPr snapToGrid="0" showGuides="1">
      <p:cViewPr varScale="1">
        <p:scale>
          <a:sx n="81" d="100"/>
          <a:sy n="81" d="100"/>
        </p:scale>
        <p:origin x="3056" y="488"/>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notesMaster" Target="notesMasters/notesMaster1.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I’ve heard from people who saw that talk that this had an influence on the development of the Elm language, Prezi (the presentation software), and the UI software for Tesla and WebOS (in Palm-&gt;HP-&gt;LG TVs).</a:t>
            </a:r>
          </a:p>
          <a:p>
            <a:endParaRPr lang="en-US" dirty="0"/>
          </a:p>
          <a:p>
            <a:r>
              <a:rPr lang="en-US" dirty="0"/>
              <a:t>Dave suggested I give the talk this year, since 18 years later, few of you have heard it (this was long before "That's a Rotate"). How many here saw the original or the YouTube video? This talk looks at what has changed and is an updated version of A Possible Future.</a:t>
            </a:r>
          </a:p>
          <a:p>
            <a:endParaRPr lang="en-US" dirty="0"/>
          </a:p>
          <a:p>
            <a:r>
              <a:rPr lang="en-US" dirty="0"/>
              <a:t>Two years after I gave the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has grown a bit - 5x the number of employees and nearly 8.5x revenue.</a:t>
            </a:r>
          </a:p>
        </p:txBody>
      </p:sp>
      <p:sp>
        <p:nvSpPr>
          <p:cNvPr id="4" name="Slide Number Placeholder 3"/>
          <p:cNvSpPr>
            <a:spLocks noGrp="1"/>
          </p:cNvSpPr>
          <p:nvPr>
            <p:ph type="sldNum" sz="quarter" idx="5"/>
          </p:nvPr>
        </p:nvSpPr>
        <p:spPr/>
        <p:txBody>
          <a:bodyPr/>
          <a:lstStyle/>
          <a:p>
            <a:fld id="{EFBB79AF-D22A-4E5D-9392-72114F6AB7F4}" type="slidenum">
              <a:rPr lang="en-US" smtClean="0"/>
              <a:t>4</a:t>
            </a:fld>
            <a:endParaRPr lang="en-US"/>
          </a:p>
        </p:txBody>
      </p:sp>
    </p:spTree>
    <p:extLst>
      <p:ext uri="{BB962C8B-B14F-4D97-AF65-F5344CB8AC3E}">
        <p14:creationId xmlns:p14="http://schemas.microsoft.com/office/powerpoint/2010/main" val="820879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Photoshop has 12.5x the number of engineers and 2x the number of QE (more on that).</a:t>
            </a:r>
          </a:p>
          <a:p>
            <a:endParaRPr lang="en-US" dirty="0"/>
          </a:p>
          <a:p>
            <a:r>
              <a:rPr lang="en-US" dirty="0"/>
              <a:t>Fun fact: Photoshop 3.0 shipped on Sun and SGI Unix. But that was </a:t>
            </a:r>
            <a:r>
              <a:rPr lang="en-US" i="1" dirty="0"/>
              <a:t>way</a:t>
            </a:r>
            <a:r>
              <a:rPr lang="en-US" dirty="0"/>
              <a:t> back in 1994.</a:t>
            </a:r>
          </a:p>
          <a:p>
            <a:endParaRPr lang="en-US" dirty="0"/>
          </a:p>
          <a:p>
            <a:r>
              <a:rPr lang="en-US" dirty="0"/>
              <a:t>How we deal with shared technologies internally is entirely different now than before. I couldn't come up with any meaningful comparisons. We still have a heavy reliance on shared tech. The core of Photoshop itself is shipped as a library included in many of our other products (and the same is true of those products in Photoshop).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didn’t follow a waterfall process out of ignorance. Significant constraints, such as the lead time for printing manuals and box art, and booking manufacturing time for CDs, pushed the processes to front-load features.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what some analysts said in 2006 about where software was headed.</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283560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security and memory safety a current hot topic. Adobe acquired Macromedia (and Flash) in 2005. You can look it up if you don’t know what happened with Flash. Acrobat Reader has millions of users, and we’ve announced that Reader will be the default PDF viewer in Microsoft Edge starting this September. Security, both client and server side, remains a hot topic today.</a:t>
            </a:r>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5451923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80:00]</a:t>
            </a:r>
          </a:p>
          <a:p>
            <a:endParaRPr lang="en-US" dirty="0"/>
          </a:p>
          <a:p>
            <a:r>
              <a:rPr lang="en-US" dirty="0"/>
              <a:t>I found this quote entertaining – I don’t work at Microsoft, so I can’t comment on how their development practices are going, but my sense as a user is they have improved (although I ran into several bugs in PowerPoint just putting this presentation together).</a:t>
            </a:r>
          </a:p>
        </p:txBody>
      </p:sp>
      <p:sp>
        <p:nvSpPr>
          <p:cNvPr id="4" name="Slide Number Placeholder 3"/>
          <p:cNvSpPr>
            <a:spLocks noGrp="1"/>
          </p:cNvSpPr>
          <p:nvPr>
            <p:ph type="sldNum" sz="quarter" idx="5"/>
          </p:nvPr>
        </p:nvSpPr>
        <p:spPr/>
        <p:txBody>
          <a:bodyPr/>
          <a:lstStyle/>
          <a:p>
            <a:fld id="{EFBB79AF-D22A-4E5D-9392-72114F6AB7F4}" type="slidenum">
              <a:rPr lang="en-US" smtClean="0"/>
              <a:t>9</a:t>
            </a:fld>
            <a:endParaRPr lang="en-US"/>
          </a:p>
        </p:txBody>
      </p:sp>
    </p:spTree>
    <p:extLst>
      <p:ext uri="{BB962C8B-B14F-4D97-AF65-F5344CB8AC3E}">
        <p14:creationId xmlns:p14="http://schemas.microsoft.com/office/powerpoint/2010/main" val="714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10</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Requires signed values</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I expected this, I was still a bit surprised…</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dominates the analysts' predictions – even things like </a:t>
            </a:r>
            <a:r>
              <a:rPr lang="en-US" dirty="0" err="1"/>
              <a:t>secDevOps</a:t>
            </a:r>
            <a:r>
              <a:rPr lang="en-US" dirty="0"/>
              <a:t> have minimal mentions, and no mention of memory safety.</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8391533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generative AI often when coding, but I still find this static terrifying.</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1438307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almost identical to mine. I would write `while first does not equal last`, but this is fine. I’ve tried this experiment a few times, starting with GPT 2.5 (it failed). The code quality has gotten surprisingly good, surprisingly fast.</a:t>
            </a:r>
          </a:p>
          <a:p>
            <a:endParaRPr lang="en-US" sz="2000" dirty="0"/>
          </a:p>
          <a:p>
            <a:r>
              <a:rPr lang="en-US" sz="2000" dirty="0"/>
              <a:t>The name of the algorithm was basically pulled from the description of the problem. I asked how the code could be improved, and it pointed out the name, and that this is essential std::</a:t>
            </a:r>
            <a:r>
              <a:rPr lang="en-US" sz="2000" dirty="0" err="1"/>
              <a:t>lower_bound</a:t>
            </a:r>
            <a:r>
              <a:rPr lang="en-US" sz="2000" dirty="0"/>
              <a:t>() – I consider calling std::</a:t>
            </a:r>
            <a:r>
              <a:rPr lang="en-US" sz="2000" dirty="0" err="1"/>
              <a:t>lower_bound</a:t>
            </a:r>
            <a:r>
              <a:rPr lang="en-US" sz="2000" dirty="0"/>
              <a:t>() an acceptable solution to the binary search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[20:00 – 70:00]</a:t>
            </a:r>
          </a:p>
          <a:p>
            <a:endParaRPr lang="en-US" dirty="0"/>
          </a:p>
          <a:p>
            <a:r>
              <a:rPr lang="en-US" dirty="0"/>
              <a:t>The analysts are right, 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(or unfortunately), I don’t believe AI fixes everything, yet.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ability to generate a Jira report that doesn’t look like noise sucks.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a:t>
            </a:r>
            <a:r>
              <a:rPr lang="en-US" dirty="0" err="1"/>
              <a:t>resolvedThe</a:t>
            </a:r>
            <a:r>
              <a:rPr lang="en-US" dirty="0"/>
              <a:t> version lines are a new field, but they give a sense of the release cadence in later releases.</a:t>
            </a:r>
          </a:p>
          <a:p>
            <a:endParaRPr lang="en-US" dirty="0"/>
          </a:p>
          <a:p>
            <a:r>
              <a:rPr lang="en-US" dirty="0"/>
              <a:t>The bend in 2019 was a significant scale-up of the team as the product became an “ecosystem” and extended to more platforms</a:t>
            </a:r>
          </a:p>
          <a:p>
            <a:endParaRPr lang="en-US" dirty="0"/>
          </a:p>
          <a:p>
            <a:r>
              <a:rPr lang="en-US" dirty="0"/>
              <a:t>The blue line at the bottom shows the accumulation of unresolved issues. This is the more interesting bit – the bend in the curve on top caused a bump and jitter on the bottom, but it has normalized. For the last several years, there hasn’t been a noticeable increase in unresolved bugs.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[30:00 – 60:00]</a:t>
            </a:r>
          </a:p>
          <a:p>
            <a:endParaRPr lang="en-US" dirty="0"/>
          </a:p>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feels like they spend most of their time writing and rewriting either code you’ve written before or code someone has written?</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There are many more extensions now, but certainly not as many as I would hope for.</a:t>
            </a:r>
          </a:p>
          <a:p>
            <a:endParaRPr lang="en-US" dirty="0"/>
          </a:p>
          <a:p>
            <a:r>
              <a:rPr lang="en-US" dirty="0"/>
              <a:t>No language progress – Alex’s work had directly influenced C++ Concepts, Rust Traits, and Swift Protocols. None of these do better than (named) duck conformance. The semantics are still relegated to comments.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is worth taking a moment to look at the original definition of generic programming from 1988 (before STL).</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35</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Generic programming has little to nothing to do with generics, or templates, or even traits, or protocols.</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And generic programming certainly has nothing to do with metaprogramming. Metaprogramming and templates are mechanisms used to approximate generic programming.</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Alex’s books, Elements of Programming and From Mathematics to Generic Programming.</a:t>
            </a:r>
          </a:p>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(not the C++ language mechanism) are central to generic programming. They are the substrate upon which algorithms (theorems) are defined.</a:t>
            </a:r>
          </a:p>
          <a:p>
            <a:endParaRPr lang="en-US" dirty="0"/>
          </a:p>
          <a:p>
            <a:r>
              <a:rPr lang="en-US" dirty="0"/>
              <a:t>The best we can do is require that an equality operation exists and require in the documentation that the semantics are upheld by the developer (or, in limited cases, assert the semantics in the code).</a:t>
            </a:r>
          </a:p>
          <a:p>
            <a:endParaRPr lang="en-US" dirty="0"/>
          </a:p>
          <a:p>
            <a:r>
              <a:rPr lang="en-US" dirty="0"/>
              <a:t>Alex Stepanov envisioned a national or international repository of proven, abstract, and efficient algorithms. There have even been some (mostly failed) attempts to start such a repository.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6244588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should be easy to build such a repository – we only have to follow the IRMT model.</a:t>
            </a:r>
          </a:p>
          <a:p>
            <a:endParaRPr lang="en-US" dirty="0"/>
          </a:p>
          <a:p>
            <a:r>
              <a:rPr lang="en-US" dirty="0"/>
              <a:t>Just like the IRMT, it has all the fundamental theorems and formulas in standard form.</a:t>
            </a:r>
          </a:p>
          <a:p>
            <a:endParaRPr lang="en-US" dirty="0"/>
          </a:p>
          <a:p>
            <a:r>
              <a:rPr lang="en-US" dirty="0"/>
              <a:t>Just like the IRMT, it has both manual and automated proofs of all the theorems.</a:t>
            </a:r>
          </a:p>
          <a:p>
            <a:endParaRPr lang="en-US" dirty="0"/>
          </a:p>
          <a:p>
            <a:r>
              <a:rPr lang="en-US" dirty="0"/>
              <a:t>Just like the IRMT,  we should select theorems for inclusion based on their general usefulness. These are the theorems or algorithms upon which most others are based.</a:t>
            </a:r>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excellent tools like Wolfram Alpha, and you’ll find many attempts online. But nothing that resembles a cohesive collection of theorems.</a:t>
            </a:r>
          </a:p>
          <a:p>
            <a:endParaRPr lang="en-US" dirty="0"/>
          </a:p>
          <a:p>
            <a:r>
              <a:rPr lang="en-US" dirty="0"/>
              <a:t>The closest we have are some of the great math texts. 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a:p>
            <a:r>
              <a:rPr lang="en-US" dirty="0"/>
              <a:t>Discovering requirements of algorithms, the concepts they form, and the useful models of those concepts, then organizing those into a cohesive whole that can be built on is _hard_. Packaging those works into usable and proven code, and then maintaining that code in an evolving environment, is a significant effort.</a:t>
            </a:r>
          </a:p>
          <a:p>
            <a:endParaRPr lang="en-US" dirty="0"/>
          </a:p>
          <a:p>
            <a:r>
              <a:rPr lang="en-US" dirty="0"/>
              <a:t>As professional developers, we have a moral obligation to contribute to standardization, to open source, and to publish. We have faith that someone will come along to collect and distill what proves to be of value into the cohesive whole. The algorithms in these works were not, in large part, the invention of the authors. They collected and categorized, built on the work of others, and sometimes were able to add some additional insight.</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from A Possible Future. Although I think the landscape has somewhat improved, especially in the web space (there is also a lot of garbage in the web space), unfortunately this is still the dominant way large systems are built.</a:t>
            </a:r>
          </a:p>
        </p:txBody>
      </p:sp>
      <p:sp>
        <p:nvSpPr>
          <p:cNvPr id="4" name="Slide Number Placeholder 3"/>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544702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repeat? New relationships will happen. Code is promiscuous.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want to be a 10x developer, build libraries of reusable components. Consider STL - the work of Alex and Meng and they impact – they are 1Mx developers. But even at much smaller scale a good library can have significant impact on your company and, perhaps on the industry.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enough?</a:t>
            </a:r>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a:t>
            </a:r>
          </a:p>
          <a:p>
            <a:endParaRPr lang="en-US" dirty="0"/>
          </a:p>
          <a:p>
            <a:r>
              <a:rPr lang="en-US" dirty="0"/>
              <a:t>Dave once explained to be that bigger is different.</a:t>
            </a:r>
          </a:p>
          <a:p>
            <a:endParaRPr lang="en-US" dirty="0"/>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r>
              <a:rPr lang="en-US" dirty="0"/>
              <a:t>This brings us to what I call declarative forms.</a:t>
            </a:r>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very simple ones: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r>
              <a:rPr lang="en-US" baseline="30000" dirty="0"/>
              <a:t>th</a:t>
            </a:r>
            <a:r>
              <a:rPr lang="en-US" dirty="0"/>
              <a:t> generation languages are domain-specific languages; 5th generation languages are languages where you operate by specifying the problem, not the algorithms to solve it. You specify the “what”, not the “how”. Prolog is the canonical 5th-generation language. However, general-purpose 5th-generation languages are difficult to use effectively.	</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[60:00 – 30:00]</a:t>
            </a:r>
          </a:p>
          <a:p>
            <a:endParaRPr lang="en-US" dirty="0"/>
          </a:p>
          <a:p>
            <a:r>
              <a:rPr lang="en-US" dirty="0"/>
              <a:t>We can extend our previous process to large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This algorithm works because rules exist.</a:t>
            </a:r>
          </a:p>
          <a:p>
            <a:endParaRPr lang="en-US" dirty="0"/>
          </a:p>
          <a:p>
            <a:r>
              <a:rPr lang="en-US" dirty="0"/>
              <a:t>Software development is a process of discovery, not invention.</a:t>
            </a:r>
          </a:p>
          <a:p>
            <a:endParaRPr lang="en-US" dirty="0"/>
          </a:p>
          <a:p>
            <a:r>
              <a:rPr lang="en-US" dirty="0"/>
              <a:t>The laws of mathematics and physics govern our systems. If a problem and solution appear unique, required for a specific case, they are probably wrong. Writing a “new algorithm”, or a “new structure”, or defining a “new concept” should set off red-flags. It is probably time to do some research and read some papers.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This is a greatly simplified version of a dialog that lets the user resize an image. They can specify the width or height in pixels or percent and toggle constraining proportions—pretty simple stuff.</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asked Mark Hamburg to code this dialog. Mark was the Photoshop lead in the early days and is the creator of Lightroom. He’s a brilliant engineer and Adobe Fellow.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could use the framework of his choice, and I wasn’t interested in the appearance, but the behavior.</a:t>
            </a:r>
          </a:p>
        </p:txBody>
      </p:sp>
      <p:sp>
        <p:nvSpPr>
          <p:cNvPr id="4" name="Slide Number Placeholder 3"/>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is Obj-C using Apple’s </a:t>
            </a:r>
            <a:r>
              <a:rPr lang="en-US" dirty="0" err="1"/>
              <a:t>AppKit</a:t>
            </a:r>
            <a:r>
              <a:rPr lang="en-US" dirty="0"/>
              <a:t>. This is _just_ the code from what Apple calls the “controller” logic. i.e., the behavior. The grey area loosely represents the code to enforce the constraints between the values in this dialog. The rest of the code is event-handling logic to drive the constraints.</a:t>
            </a:r>
          </a:p>
          <a:p>
            <a:endParaRPr lang="en-US" dirty="0"/>
          </a:p>
          <a:p>
            <a:r>
              <a:rPr lang="en-US" dirty="0"/>
              <a:t>Similar code is about 30% of the Adobe (client-side) codebases.</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1268463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diagram the event flow, it would look something like this – this includes handling script playback, which I don’t believe Mark implemented.</a:t>
            </a:r>
          </a:p>
        </p:txBody>
      </p:sp>
      <p:sp>
        <p:nvSpPr>
          <p:cNvPr id="4" name="Slide Number Placeholder 3"/>
          <p:cNvSpPr>
            <a:spLocks noGrp="1"/>
          </p:cNvSpPr>
          <p:nvPr>
            <p:ph type="sldNum" sz="quarter" idx="5"/>
          </p:nvPr>
        </p:nvSpPr>
        <p:spPr/>
        <p:txBody>
          <a:bodyPr/>
          <a:lstStyle/>
          <a:p>
            <a:fld id="{EFBB79AF-D22A-4E5D-9392-72114F6AB7F4}" type="slidenum">
              <a:rPr lang="en-US" smtClean="0"/>
              <a:t>58</a:t>
            </a:fld>
            <a:endParaRPr lang="en-US"/>
          </a:p>
        </p:txBody>
      </p:sp>
    </p:spTree>
    <p:extLst>
      <p:ext uri="{BB962C8B-B14F-4D97-AF65-F5344CB8AC3E}">
        <p14:creationId xmlns:p14="http://schemas.microsoft.com/office/powerpoint/2010/main" val="385589944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r>
              <a:rPr lang="en-US" dirty="0"/>
              <a:t>[65:00 – 20:00</a:t>
            </a:r>
          </a:p>
          <a:p>
            <a:r>
              <a:rPr lang="en-US" dirty="0"/>
              <a:t>Demo mini-image-size and also full image-size</a:t>
            </a:r>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[70:00 – 15:00]</a:t>
            </a:r>
          </a:p>
          <a:p>
            <a:r>
              <a:rPr lang="en-US" dirty="0"/>
              <a:t>This is the property model description for the mini-image size problem. Each `relate` clause is a constraint with a set of constraint satisfaction functions. The first two are two-way multiplicative relationships (the original value is pinned) and the last one is a conditional implication. Property models support any n-to-m relationship.</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About 85% of the code could be replaced by small declarative descriptions. Combined with generic programming, there is a potential two orders of magnitude reduction in the code needed to describe our products and we would see a greater than two orders of magnitude reduction in defects. </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do you think is more likely to contain a bug…</a:t>
            </a:r>
          </a:p>
          <a:p>
            <a:endParaRPr lang="en-US" dirty="0"/>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D9B36-6E3C-56C7-AFBA-3B05C6C44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AFFBB-BCDF-501E-8DFA-011015BA9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E6F127-29C1-400D-B4FC-70048C7B71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E09CB0-0A24-DD44-F82B-6EC4C9EE325C}"/>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13733298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constraints are structured. I mentioned disabling controls in the demo. The rules for when a value-input in the UI is disabled is when it is a “don’t care” (it doesn’t contribute to the result under the current constraints) or when it’s value is implied and no contra-positive is expressed. All the information governing the UI behavior is in the relationships.</a:t>
            </a:r>
          </a:p>
        </p:txBody>
      </p:sp>
      <p:sp>
        <p:nvSpPr>
          <p:cNvPr id="4" name="Slide Number Placeholder 3"/>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This was my final slide in the old talk.</a:t>
            </a:r>
          </a:p>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 haven’t been working directly on property models some work has continued. Jaakko Järvi and I published some additional papers and he and his students pushed the tech forward developing additional solvers in JavaScript and Rust.</a:t>
            </a:r>
          </a:p>
        </p:txBody>
      </p:sp>
      <p:sp>
        <p:nvSpPr>
          <p:cNvPr id="4" name="Slide Number Placeholder 3"/>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r>
              <a:rPr lang="en-US" dirty="0"/>
              <a:t>In 2016 Jaakko spent his sabbatical at Adobe, our plan was to work on extending the ideas of property models to collections. We get stuck on how to describe how to create a selection within a collection, and ended up developing a calculus for this and writing a paper. If you do anything with user interfaces it is worth reading.</a:t>
            </a:r>
          </a:p>
          <a:p>
            <a:endParaRPr lang="en-US" dirty="0"/>
          </a:p>
          <a:p>
            <a:r>
              <a:rPr lang="en-US" dirty="0"/>
              <a:t>Recently Jaakko has picked up the collection model work again and has published several papers. I didn’t know one of his recent ones is titled “are we there yet?” before preparing this talk!</a:t>
            </a:r>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On that upbeat note – I hope you will all do your part to help create the future.</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67</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[80:00 – 10:00]</a:t>
            </a:r>
          </a:p>
          <a:p>
            <a:r>
              <a:rPr lang="en-US" dirty="0"/>
              <a:t>Questions?</a:t>
            </a:r>
          </a:p>
        </p:txBody>
      </p:sp>
      <p:sp>
        <p:nvSpPr>
          <p:cNvPr id="4" name="Slide Number Placeholder 3"/>
          <p:cNvSpPr>
            <a:spLocks noGrp="1"/>
          </p:cNvSpPr>
          <p:nvPr>
            <p:ph type="sldNum" sz="quarter" idx="5"/>
          </p:nvPr>
        </p:nvSpPr>
        <p:spPr/>
        <p:txBody>
          <a:bodyPr/>
          <a:lstStyle/>
          <a:p>
            <a:fld id="{EFBB79AF-D22A-4E5D-9392-72114F6AB7F4}" type="slidenum">
              <a:rPr lang="en-US" smtClean="0"/>
              <a:t>68</a:t>
            </a:fld>
            <a:endParaRPr lang="en-US"/>
          </a:p>
        </p:txBody>
      </p:sp>
    </p:spTree>
    <p:extLst>
      <p:ext uri="{BB962C8B-B14F-4D97-AF65-F5344CB8AC3E}">
        <p14:creationId xmlns:p14="http://schemas.microsoft.com/office/powerpoint/2010/main" val="35873579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4/27/25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4/27/25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4/27/25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4/27/25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4/27/25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4/27/25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4/27/25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4/27/25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4/27/25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4/27/25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4/27/25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4/27/25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4/27/25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4/27/25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4/27/25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3"/>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 presented in a common form.</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incidental data structures</a:t>
            </a:r>
          </a:p>
          <a:p>
            <a:r>
              <a:rPr lang="en-US" dirty="0"/>
              <a:t>Messaging among objects forms incidental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3"/>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577DF-78B5-65D7-5853-E8A189A81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1CDD0-10DB-EC1A-BD56-F8C6018604CB}"/>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F6A0A918-81BA-89D2-D474-3BB373E149B1}"/>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1162804835"/>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2.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3.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24236</TotalTime>
  <Words>6555</Words>
  <Application>Microsoft Macintosh PowerPoint</Application>
  <PresentationFormat>Widescreen</PresentationFormat>
  <Paragraphs>566</Paragraphs>
  <Slides>68</Slides>
  <Notes>67</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68</vt:i4>
      </vt:variant>
    </vt:vector>
  </HeadingPairs>
  <TitlesOfParts>
    <vt:vector size="80"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How can we write Better Code?</vt:lpstr>
      <vt:lpstr>Generic Programming</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Imperative Solution to Mini Image Size</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131</cp:revision>
  <dcterms:created xsi:type="dcterms:W3CDTF">2024-01-24T22:04:21Z</dcterms:created>
  <dcterms:modified xsi:type="dcterms:W3CDTF">2025-04-27T22:24:38Z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