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2"/>
  </p:notesMasterIdLst>
  <p:sldIdLst>
    <p:sldId id="2147483583" r:id="rId5"/>
    <p:sldId id="2147483551" r:id="rId6"/>
    <p:sldId id="263" r:id="rId7"/>
    <p:sldId id="10953" r:id="rId8"/>
    <p:sldId id="2147483572" r:id="rId9"/>
    <p:sldId id="2147483581" r:id="rId10"/>
    <p:sldId id="2147483574" r:id="rId11"/>
    <p:sldId id="2147483436" r:id="rId12"/>
    <p:sldId id="2147483575" r:id="rId13"/>
    <p:sldId id="2147483577" r:id="rId14"/>
    <p:sldId id="2147483597" r:id="rId15"/>
    <p:sldId id="265" r:id="rId16"/>
    <p:sldId id="2147483591" r:id="rId17"/>
    <p:sldId id="2147483607" r:id="rId18"/>
    <p:sldId id="2147483576" r:id="rId19"/>
    <p:sldId id="2147483580" r:id="rId20"/>
    <p:sldId id="2147483579" r:id="rId21"/>
    <p:sldId id="2147472774" r:id="rId22"/>
    <p:sldId id="2147483584" r:id="rId23"/>
    <p:sldId id="2147483590" r:id="rId24"/>
    <p:sldId id="2147483585" r:id="rId25"/>
    <p:sldId id="2147483586" r:id="rId26"/>
    <p:sldId id="2147483587" r:id="rId27"/>
    <p:sldId id="2147483588" r:id="rId28"/>
    <p:sldId id="2147483589" r:id="rId29"/>
    <p:sldId id="2147483593" r:id="rId30"/>
    <p:sldId id="2147483596" r:id="rId31"/>
    <p:sldId id="2147483569" r:id="rId32"/>
    <p:sldId id="2147483595" r:id="rId33"/>
    <p:sldId id="2147483598" r:id="rId34"/>
    <p:sldId id="2147483599" r:id="rId35"/>
    <p:sldId id="2147483600" r:id="rId36"/>
    <p:sldId id="2147483601" r:id="rId37"/>
    <p:sldId id="2147483602" r:id="rId38"/>
    <p:sldId id="2147483603" r:id="rId39"/>
    <p:sldId id="2147483604" r:id="rId40"/>
    <p:sldId id="2147483606" r:id="rId41"/>
    <p:sldId id="2147483605" r:id="rId42"/>
    <p:sldId id="2147483608" r:id="rId43"/>
    <p:sldId id="2147483610" r:id="rId44"/>
    <p:sldId id="2147483609" r:id="rId45"/>
    <p:sldId id="2147483627" r:id="rId46"/>
    <p:sldId id="2147483592" r:id="rId47"/>
    <p:sldId id="2147483594" r:id="rId48"/>
    <p:sldId id="2147483618" r:id="rId49"/>
    <p:sldId id="2147483619" r:id="rId50"/>
    <p:sldId id="2147483613" r:id="rId51"/>
    <p:sldId id="2147483614" r:id="rId52"/>
    <p:sldId id="2147483570" r:id="rId53"/>
    <p:sldId id="2147483612" r:id="rId54"/>
    <p:sldId id="2147483611" r:id="rId55"/>
    <p:sldId id="2147483631" r:id="rId56"/>
    <p:sldId id="2147483622" r:id="rId57"/>
    <p:sldId id="2147483623" r:id="rId58"/>
    <p:sldId id="2147483624" r:id="rId59"/>
    <p:sldId id="2147483628" r:id="rId60"/>
    <p:sldId id="2147483616" r:id="rId61"/>
    <p:sldId id="2147483629" r:id="rId62"/>
    <p:sldId id="2147483617" r:id="rId63"/>
    <p:sldId id="2147483615" r:id="rId64"/>
    <p:sldId id="2147483630" r:id="rId65"/>
    <p:sldId id="2147483633" r:id="rId66"/>
    <p:sldId id="2147483625" r:id="rId67"/>
    <p:sldId id="2147483632" r:id="rId68"/>
    <p:sldId id="2147483634" r:id="rId69"/>
    <p:sldId id="2147483626" r:id="rId70"/>
    <p:sldId id="2147483582"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96"/>
            <p14:sldId id="2147483569"/>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22"/>
            <p14:sldId id="2147483623"/>
            <p14:sldId id="2147483624"/>
            <p14:sldId id="2147483628"/>
            <p14:sldId id="2147483616"/>
            <p14:sldId id="2147483629"/>
            <p14:sldId id="2147483617"/>
            <p14:sldId id="2147483615"/>
            <p14:sldId id="2147483630"/>
            <p14:sldId id="2147483633"/>
            <p14:sldId id="2147483625"/>
            <p14:sldId id="2147483632"/>
            <p14:sldId id="2147483634"/>
            <p14:sldId id="2147483626"/>
            <p14:sldId id="214748358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045"/>
    <p:restoredTop sz="69224"/>
  </p:normalViewPr>
  <p:slideViewPr>
    <p:cSldViewPr snapToGrid="0" showGuides="1">
      <p:cViewPr varScale="1">
        <p:scale>
          <a:sx n="127" d="100"/>
          <a:sy n="127" d="100"/>
        </p:scale>
        <p:origin x="3240" y="480"/>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microsoft.com/office/2018/10/relationships/authors" Targe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Dave suggested I give the talk this year, since 18 years later, few of you have heard it (this was long before "That's a Rotate"). How many here saw the original or the YouTube video? This talk looks at what has changed and is an updated version of A Possible Future.</a:t>
            </a:r>
          </a:p>
          <a:p>
            <a:endParaRPr lang="en-US" dirty="0"/>
          </a:p>
          <a:p>
            <a:r>
              <a:rPr lang="en-US" dirty="0"/>
              <a:t>Two years after I gave the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has grown a bit - 5x the number of employees and nearly 8.5x revenue.</a:t>
            </a:r>
          </a:p>
        </p:txBody>
      </p:sp>
      <p:sp>
        <p:nvSpPr>
          <p:cNvPr id="4" name="Slide Number Placeholder 3"/>
          <p:cNvSpPr>
            <a:spLocks noGrp="1"/>
          </p:cNvSpPr>
          <p:nvPr>
            <p:ph type="sldNum" sz="quarter" idx="5"/>
          </p:nvPr>
        </p:nvSpPr>
        <p:spPr/>
        <p:txBody>
          <a:bodyPr/>
          <a:lstStyle/>
          <a:p>
            <a:fld id="{EFBB79AF-D22A-4E5D-9392-72114F6AB7F4}" type="slidenum">
              <a:rPr lang="en-US" smtClean="0"/>
              <a:t>4</a:t>
            </a:fld>
            <a:endParaRPr lang="en-US"/>
          </a:p>
        </p:txBody>
      </p:sp>
    </p:spTree>
    <p:extLst>
      <p:ext uri="{BB962C8B-B14F-4D97-AF65-F5344CB8AC3E}">
        <p14:creationId xmlns:p14="http://schemas.microsoft.com/office/powerpoint/2010/main" val="820879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Photoshop has 12.5x the number of engineers and 2x the number of QE (more on that).</a:t>
            </a:r>
          </a:p>
          <a:p>
            <a:endParaRPr lang="en-US" dirty="0"/>
          </a:p>
          <a:p>
            <a:r>
              <a:rPr lang="en-US" dirty="0"/>
              <a:t>Fun fact: Photoshop 3.0 shipped on Sun and SGI Unix. But that was </a:t>
            </a:r>
            <a:r>
              <a:rPr lang="en-US" i="1" dirty="0"/>
              <a:t>way</a:t>
            </a:r>
            <a:r>
              <a:rPr lang="en-US" dirty="0"/>
              <a:t> back in 1994.</a:t>
            </a:r>
          </a:p>
          <a:p>
            <a:endParaRPr lang="en-US" dirty="0"/>
          </a:p>
          <a:p>
            <a:r>
              <a:rPr lang="en-US" dirty="0"/>
              <a:t>How we deal with shared technologies internally is entirely different now than before. I couldn't come up with any meaningful comparisons. We still have a heavy reliance on shared tech. The core of Photoshop itself is shipped as a library included in many of our other products (and the same is true of those products in Photoshop).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didn’t follow a waterfall process out of ignorance. Significant constraints, such as the lead time for printing manuals and box art, and booking manufacturing time for CDs, pushed the processes to front-load features.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what some analysts said in 2006 about where software was headed.</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283560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7</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 security and memory safety a current hot topic. Adobe acquired Macromedia (and Flash) in 2005. You can look it up if you don’t know what happened with Flash. Acrobat Reader has millions of users, and we’ve announced that Reader will be the default PDF viewer in Microsoft Edge starting this September. Security, both client and server side, remains a hot topic today.</a:t>
            </a:r>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5451923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found this quote entertaining – I don’t work at Microsoft, so I can’t comment on how their development practices are going, but my sense as a user is they have improved (although I ran into several bugs in PowerPoint just putting this presentation together).</a:t>
            </a:r>
          </a:p>
        </p:txBody>
      </p:sp>
      <p:sp>
        <p:nvSpPr>
          <p:cNvPr id="4" name="Slide Number Placeholder 3"/>
          <p:cNvSpPr>
            <a:spLocks noGrp="1"/>
          </p:cNvSpPr>
          <p:nvPr>
            <p:ph type="sldNum" sz="quarter" idx="5"/>
          </p:nvPr>
        </p:nvSpPr>
        <p:spPr/>
        <p:txBody>
          <a:bodyPr/>
          <a:lstStyle/>
          <a:p>
            <a:fld id="{EFBB79AF-D22A-4E5D-9392-72114F6AB7F4}" type="slidenum">
              <a:rPr lang="en-US" smtClean="0"/>
              <a:t>9</a:t>
            </a:fld>
            <a:endParaRPr lang="en-US"/>
          </a:p>
        </p:txBody>
      </p:sp>
    </p:spTree>
    <p:extLst>
      <p:ext uri="{BB962C8B-B14F-4D97-AF65-F5344CB8AC3E}">
        <p14:creationId xmlns:p14="http://schemas.microsoft.com/office/powerpoint/2010/main" val="714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10</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Requires signed values</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I expected this, I was still a bit surprised…</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dominates the analysts' predictions – even things like </a:t>
            </a:r>
            <a:r>
              <a:rPr lang="en-US" dirty="0" err="1"/>
              <a:t>secDevOps</a:t>
            </a:r>
            <a:r>
              <a:rPr lang="en-US" dirty="0"/>
              <a:t> have minimal mentions, and no mention of memory safety.</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28391533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generative AI often when coding, but I still find this static terrifying.</a:t>
            </a:r>
          </a:p>
        </p:txBody>
      </p:sp>
      <p:sp>
        <p:nvSpPr>
          <p:cNvPr id="4" name="Slide Number Placeholder 3"/>
          <p:cNvSpPr>
            <a:spLocks noGrp="1"/>
          </p:cNvSpPr>
          <p:nvPr>
            <p:ph type="sldNum" sz="quarter" idx="5"/>
          </p:nvPr>
        </p:nvSpPr>
        <p:spPr/>
        <p:txBody>
          <a:bodyPr/>
          <a:lstStyle/>
          <a:p>
            <a:fld id="{EFBB79AF-D22A-4E5D-9392-72114F6AB7F4}" type="slidenum">
              <a:rPr lang="en-US" smtClean="0"/>
              <a:t>16</a:t>
            </a:fld>
            <a:endParaRPr lang="en-US"/>
          </a:p>
        </p:txBody>
      </p:sp>
    </p:spTree>
    <p:extLst>
      <p:ext uri="{BB962C8B-B14F-4D97-AF65-F5344CB8AC3E}">
        <p14:creationId xmlns:p14="http://schemas.microsoft.com/office/powerpoint/2010/main" val="14383072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almost identical to mine. I would write `while first does not equal last`, but this is fine. I’ve tried this experiment a few times, starting with GPT 2.5 (it failed). The code quality has gotten surprisingly good, surprisingly fast.</a:t>
            </a:r>
          </a:p>
          <a:p>
            <a:endParaRPr lang="en-US" sz="2000" dirty="0"/>
          </a:p>
          <a:p>
            <a:r>
              <a:rPr lang="en-US" sz="2000" dirty="0"/>
              <a:t>The name of the algorithm was basically pulled from the description of the problem. I asked how the code could be improved, and it pointed out the name, and that this is essential std::</a:t>
            </a:r>
            <a:r>
              <a:rPr lang="en-US" sz="2000" dirty="0" err="1"/>
              <a:t>lower_bound</a:t>
            </a:r>
            <a:r>
              <a:rPr lang="en-US" sz="2000" dirty="0"/>
              <a:t>() – I consider calling std::</a:t>
            </a:r>
            <a:r>
              <a:rPr lang="en-US" sz="2000" dirty="0" err="1"/>
              <a:t>lower_bound</a:t>
            </a:r>
            <a:r>
              <a:rPr lang="en-US" sz="2000" dirty="0"/>
              <a:t>() an acceptable solution to the binary search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analysts are right, 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(or unfortunately), I don’t believe AI fixes everything, yet.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ability to generate a Jira report that doesn’t look like noise sucks.</a:t>
            </a:r>
          </a:p>
          <a:p>
            <a:r>
              <a:rPr lang="en-US" dirty="0"/>
              <a:t>This is a graph of issues (bugs) for a product for the last 10 years.</a:t>
            </a:r>
          </a:p>
          <a:p>
            <a:r>
              <a:rPr lang="en-US" dirty="0"/>
              <a:t>The top red line is the running total of issues created</a:t>
            </a:r>
          </a:p>
          <a:p>
            <a:r>
              <a:rPr lang="en-US" dirty="0"/>
              <a:t>The green line is the running total of issues </a:t>
            </a:r>
            <a:r>
              <a:rPr lang="en-US" dirty="0" err="1"/>
              <a:t>resolvedThe</a:t>
            </a:r>
            <a:r>
              <a:rPr lang="en-US" dirty="0"/>
              <a:t> version lines are a new field, but they give a sense of the release cadence in later releases.</a:t>
            </a:r>
          </a:p>
          <a:p>
            <a:endParaRPr lang="en-US" dirty="0"/>
          </a:p>
          <a:p>
            <a:r>
              <a:rPr lang="en-US" dirty="0"/>
              <a:t>The bend in 2019 was a significant scale-up of the team as the product became an “ecosystem” and extended to more platforms</a:t>
            </a:r>
          </a:p>
          <a:p>
            <a:endParaRPr lang="en-US" dirty="0"/>
          </a:p>
          <a:p>
            <a:r>
              <a:rPr lang="en-US" dirty="0"/>
              <a:t>The blue line at the bottom shows the accumulation of unresolved issues. This is the more interesting bit – the bend in the curve on top caused a bump and jitter on the bottom, but it has normalized. For the last several years, there hasn’t been a noticeable increase in unresolved bugs.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21643175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21</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feels like they spend most of their time writing and rewriting either code you’ve written before or code someone has written?</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There are many more extensions now, but certainly not as many as I would hope for.</a:t>
            </a:r>
          </a:p>
          <a:p>
            <a:endParaRPr lang="en-US" dirty="0"/>
          </a:p>
          <a:p>
            <a:r>
              <a:rPr lang="en-US" dirty="0"/>
              <a:t>No language progress – Alex’s work had directly influenced C++ Concepts, Rust Traits, and Swift Protocols. None of these do better than (named) duck conformance. The semantics are still relegated to comments.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it is worth taking a moment to look at the original definition of generic programming from 1988 (before STL).</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35</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Generic programming has little to nothing to do with generics, or templates, or even traits, or protocols.</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And generic programming certainly has nothing to do with metaprogramming. Metaprogramming and templates are mechanisms used to approximate generic programming.</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Alex’s books, Elements of Programming and From Mathematics to Generic Programming.</a:t>
            </a:r>
          </a:p>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(not the C++ language mechanism) are central to generic programming. They are the substrate upon which algorithms (theorems) are defined.</a:t>
            </a:r>
          </a:p>
          <a:p>
            <a:endParaRPr lang="en-US" dirty="0"/>
          </a:p>
          <a:p>
            <a:r>
              <a:rPr lang="en-US" dirty="0"/>
              <a:t>The best we can do is require that an equality operation exists and require in the documentation that the semantics are upheld by the developer (or, in limited cases, assert the semantics in the code).</a:t>
            </a:r>
          </a:p>
          <a:p>
            <a:endParaRPr lang="en-US" dirty="0"/>
          </a:p>
          <a:p>
            <a:r>
              <a:rPr lang="en-US" dirty="0"/>
              <a:t>Alex Stepanov envisioned a national or international repository of proven, abstract, and efficient algorithms. There have even been some (mostly failed) attempts to start such a repository.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6244588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should be easy to build such a repository – we only have to follow the IRMT model.</a:t>
            </a:r>
          </a:p>
          <a:p>
            <a:endParaRPr lang="en-US" dirty="0"/>
          </a:p>
          <a:p>
            <a:r>
              <a:rPr lang="en-US" dirty="0"/>
              <a:t>Just like the IRMT, it has all the fundamental theorems and formulas in standard form.</a:t>
            </a:r>
          </a:p>
          <a:p>
            <a:endParaRPr lang="en-US" dirty="0"/>
          </a:p>
          <a:p>
            <a:r>
              <a:rPr lang="en-US" dirty="0"/>
              <a:t>Just like the IRMT, it has both manual and automated proofs of all the theorems.</a:t>
            </a:r>
          </a:p>
          <a:p>
            <a:endParaRPr lang="en-US" dirty="0"/>
          </a:p>
          <a:p>
            <a:r>
              <a:rPr lang="en-US" dirty="0"/>
              <a:t>Just like the IRMT,  we should select theorems for inclusion based on their general usefulness. These are the theorems or algorithms upon which most others are based.</a:t>
            </a:r>
          </a:p>
        </p:txBody>
      </p:sp>
      <p:sp>
        <p:nvSpPr>
          <p:cNvPr id="4" name="Slide Number Placeholder 3"/>
          <p:cNvSpPr>
            <a:spLocks noGrp="1"/>
          </p:cNvSpPr>
          <p:nvPr>
            <p:ph type="sldNum" sz="quarter" idx="5"/>
          </p:nvPr>
        </p:nvSpPr>
        <p:spPr/>
        <p:txBody>
          <a:bodyPr/>
          <a:lstStyle/>
          <a:p>
            <a:fld id="{EFBB79AF-D22A-4E5D-9392-72114F6AB7F4}" type="slidenum">
              <a:rPr lang="en-US" smtClean="0"/>
              <a:t>43</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r>
              <a:rPr lang="en-US" dirty="0"/>
              <a:t>Discovering requirements, the concepts they form, and the useful models they</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Lather, rinse, repeat.</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48</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 Bigger is different.</a:t>
            </a:r>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of which he identified 5, very simple ones:</a:t>
            </a:r>
          </a:p>
          <a:p>
            <a:endParaRPr lang="en-US" dirty="0"/>
          </a:p>
          <a:p>
            <a:pPr marL="457200" indent="-457200">
              <a:buAutoNum type="arabicPeriod"/>
            </a:pPr>
            <a:r>
              <a:rPr lang="en-US" dirty="0"/>
              <a:t>Composition</a:t>
            </a:r>
          </a:p>
          <a:p>
            <a:pPr marL="457200" indent="-457200">
              <a:buAutoNum type="arabicPeriod"/>
            </a:pPr>
            <a:r>
              <a:rPr lang="en-US" dirty="0"/>
              <a:t>Construction</a:t>
            </a:r>
          </a:p>
          <a:p>
            <a:pPr marL="457200" indent="-457200">
              <a:buAutoNum type="arabicPeriod"/>
            </a:pPr>
            <a:r>
              <a:rPr lang="en-US" dirty="0"/>
              <a:t>Conditioning</a:t>
            </a:r>
          </a:p>
          <a:p>
            <a:pPr marL="457200" indent="-457200">
              <a:buAutoNum type="arabicPeriod"/>
            </a:pPr>
            <a:r>
              <a:rPr lang="en-US" dirty="0"/>
              <a:t>Iteration</a:t>
            </a:r>
          </a:p>
          <a:p>
            <a:pPr marL="457200" indent="-457200">
              <a:buAutoNum type="arabicPeriod"/>
            </a:pPr>
            <a:r>
              <a:rPr lang="en-US" dirty="0"/>
              <a:t>Recursion</a:t>
            </a:r>
          </a:p>
          <a:p>
            <a:endParaRPr lang="en-US" dirty="0"/>
          </a:p>
          <a:p>
            <a:r>
              <a:rPr lang="en-US" dirty="0"/>
              <a:t>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the “what” and not the “how”</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Software development is a process of discovery, not invention.</a:t>
            </a:r>
          </a:p>
          <a:p>
            <a:endParaRPr lang="en-US" dirty="0"/>
          </a:p>
          <a:p>
            <a:r>
              <a:rPr lang="en-US" dirty="0"/>
              <a:t>The laws of mathematics and physics govern our systems.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59</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This is the description in the code I just showed. This is</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295187556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63</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8004571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5A65-1560-D97A-F58C-30B2FE00E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D633E-EA3E-5C91-7A14-C79778AE40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18DAE-339D-406D-B498-FDE34A332FF2}"/>
              </a:ext>
            </a:extLst>
          </p:cNvPr>
          <p:cNvSpPr>
            <a:spLocks noGrp="1"/>
          </p:cNvSpPr>
          <p:nvPr>
            <p:ph type="body" idx="1"/>
          </p:nvPr>
        </p:nvSpPr>
        <p:spPr/>
        <p:txBody>
          <a:bodyPr/>
          <a:lstStyle/>
          <a:p>
            <a:endParaRPr lang="en-US" dirty="0"/>
          </a:p>
          <a:p>
            <a:endParaRPr lang="en-US" dirty="0"/>
          </a:p>
        </p:txBody>
      </p:sp>
      <p:sp>
        <p:nvSpPr>
          <p:cNvPr id="4" name="Slide Number Placeholder 3">
            <a:extLst>
              <a:ext uri="{FF2B5EF4-FFF2-40B4-BE49-F238E27FC236}">
                <a16:creationId xmlns:a16="http://schemas.microsoft.com/office/drawing/2014/main" id="{8705053A-E8FD-15BB-A805-89B9B14E5CFA}"/>
              </a:ext>
            </a:extLst>
          </p:cNvPr>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387118600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66</a:t>
            </a:fld>
            <a:endParaRPr lang="en-US"/>
          </a:p>
        </p:txBody>
      </p:sp>
    </p:spTree>
    <p:extLst>
      <p:ext uri="{BB962C8B-B14F-4D97-AF65-F5344CB8AC3E}">
        <p14:creationId xmlns:p14="http://schemas.microsoft.com/office/powerpoint/2010/main" val="23704987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4/26/25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4/26/25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4/26/25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4/26/25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4/26/25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4/26/25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4/26/25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4/26/25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4/26/25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4/26/25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4/26/25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4/26/25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4/26/25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4/26/25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4/26/25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4/26/25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5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5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5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xmlns="">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3"/>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 presented in a common form.</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implicit data structures</a:t>
            </a:r>
          </a:p>
          <a:p>
            <a:r>
              <a:rPr lang="en-US" dirty="0"/>
              <a:t>Messaging among objects forms implicit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rgbClr val="DDDDDD"/>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2"/>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2"/>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73603-3788-C2A1-601B-2D246581A11F}"/>
              </a:ext>
            </a:extLst>
          </p:cNvPr>
          <p:cNvSpPr>
            <a:spLocks noGrp="1"/>
          </p:cNvSpPr>
          <p:nvPr>
            <p:ph type="title"/>
          </p:nvPr>
        </p:nvSpPr>
        <p:spPr/>
        <p:txBody>
          <a:bodyPr/>
          <a:lstStyle/>
          <a:p>
            <a:r>
              <a:rPr lang="en-US" dirty="0"/>
              <a:t>Structure of Mini Image Size</a:t>
            </a:r>
          </a:p>
        </p:txBody>
      </p:sp>
      <p:pic>
        <p:nvPicPr>
          <p:cNvPr id="4" name="Picture 3">
            <a:extLst>
              <a:ext uri="{FF2B5EF4-FFF2-40B4-BE49-F238E27FC236}">
                <a16:creationId xmlns:a16="http://schemas.microsoft.com/office/drawing/2014/main" id="{C0A57EF6-8FBE-3FE7-9A0D-0B1C3F9CE374}"/>
              </a:ext>
            </a:extLst>
          </p:cNvPr>
          <p:cNvPicPr>
            <a:picLocks noChangeAspect="1"/>
          </p:cNvPicPr>
          <p:nvPr/>
        </p:nvPicPr>
        <p:blipFill>
          <a:blip r:embed="rId3"/>
          <a:stretch>
            <a:fillRect/>
          </a:stretch>
        </p:blipFill>
        <p:spPr>
          <a:xfrm>
            <a:off x="1193940" y="1210474"/>
            <a:ext cx="9804120" cy="5124532"/>
          </a:xfrm>
          <a:prstGeom prst="rect">
            <a:avLst/>
          </a:prstGeom>
        </p:spPr>
      </p:pic>
    </p:spTree>
    <p:extLst>
      <p:ext uri="{BB962C8B-B14F-4D97-AF65-F5344CB8AC3E}">
        <p14:creationId xmlns:p14="http://schemas.microsoft.com/office/powerpoint/2010/main" val="2328757117"/>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References for Property Models</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pPr lvl="1"/>
            <a:r>
              <a:rPr lang="en-US" i="1" dirty="0"/>
              <a:t>Generating Reactive Programs for Graphical User Interfaces from Multi-way Dataflow Constraint Systems</a:t>
            </a:r>
            <a:r>
              <a:rPr lang="en-US" dirty="0"/>
              <a:t> (2016),</a:t>
            </a:r>
            <a:br>
              <a:rPr lang="en-US" i="1" dirty="0"/>
            </a:br>
            <a:r>
              <a:rPr lang="en-US" dirty="0"/>
              <a:t>Foust G, Järvi J, Parent S</a:t>
            </a:r>
          </a:p>
          <a:p>
            <a:pPr lvl="1"/>
            <a:r>
              <a:rPr lang="en-US" i="1" dirty="0"/>
              <a:t>Specializing Planners for Hierarchical Multi-way Dataflow Constraint Systems </a:t>
            </a:r>
            <a:r>
              <a:rPr lang="en-US" dirty="0"/>
              <a:t>(2015), Järvi J, Foust G, </a:t>
            </a:r>
            <a:r>
              <a:rPr lang="en-US" dirty="0" err="1"/>
              <a:t>Haveraaen</a:t>
            </a:r>
            <a:r>
              <a:rPr lang="en-US" dirty="0"/>
              <a:t> M</a:t>
            </a:r>
          </a:p>
          <a:p>
            <a:pPr lvl="1"/>
            <a:r>
              <a:rPr lang="en-US" i="1" dirty="0" err="1"/>
              <a:t>HotDrink</a:t>
            </a:r>
            <a:r>
              <a:rPr lang="en-US" dirty="0"/>
              <a:t> A Library for Web User Interfaces (2013), Freeman J, Järvi J, Foust G</a:t>
            </a:r>
          </a:p>
          <a:p>
            <a:pPr lvl="1"/>
            <a:r>
              <a:rPr lang="en-US" i="1" dirty="0"/>
              <a:t>Helping Programmers Help Users </a:t>
            </a:r>
            <a:r>
              <a:rPr lang="en-US" dirty="0"/>
              <a:t>(2012), Freeman J, Järvi J, Kim W, Marcus M, Parent S</a:t>
            </a:r>
          </a:p>
        </p:txBody>
      </p:sp>
    </p:spTree>
    <p:extLst>
      <p:ext uri="{BB962C8B-B14F-4D97-AF65-F5344CB8AC3E}">
        <p14:creationId xmlns:p14="http://schemas.microsoft.com/office/powerpoint/2010/main" val="1876238863"/>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92E6E-9072-AD56-4E80-E76C7F15AC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2C861-DF7A-E7F8-0E8B-80ED1820FAF4}"/>
              </a:ext>
            </a:extLst>
          </p:cNvPr>
          <p:cNvSpPr>
            <a:spLocks noGrp="1"/>
          </p:cNvSpPr>
          <p:nvPr>
            <p:ph type="title"/>
          </p:nvPr>
        </p:nvSpPr>
        <p:spPr/>
        <p:txBody>
          <a:bodyPr/>
          <a:lstStyle/>
          <a:p>
            <a:r>
              <a:rPr lang="en-US" dirty="0"/>
              <a:t>Related Work</a:t>
            </a:r>
          </a:p>
        </p:txBody>
      </p:sp>
      <p:sp>
        <p:nvSpPr>
          <p:cNvPr id="3" name="Content Placeholder 2">
            <a:extLst>
              <a:ext uri="{FF2B5EF4-FFF2-40B4-BE49-F238E27FC236}">
                <a16:creationId xmlns:a16="http://schemas.microsoft.com/office/drawing/2014/main" id="{32638CC4-DF20-E4B2-7EE9-14ECF4E47099}"/>
              </a:ext>
            </a:extLst>
          </p:cNvPr>
          <p:cNvSpPr>
            <a:spLocks noGrp="1"/>
          </p:cNvSpPr>
          <p:nvPr>
            <p:ph idx="1"/>
          </p:nvPr>
        </p:nvSpPr>
        <p:spPr/>
        <p:txBody>
          <a:bodyPr/>
          <a:lstStyle/>
          <a:p>
            <a:r>
              <a:rPr lang="en-US" dirty="0"/>
              <a:t>Selections</a:t>
            </a:r>
          </a:p>
          <a:p>
            <a:pPr lvl="1"/>
            <a:r>
              <a:rPr lang="en-US" dirty="0"/>
              <a:t>One Way to Select Many (2016), Jaakko Järvi, Sean Parent</a:t>
            </a:r>
          </a:p>
          <a:p>
            <a:r>
              <a:rPr lang="en-US" dirty="0"/>
              <a:t>Collection models</a:t>
            </a:r>
          </a:p>
          <a:p>
            <a:pPr lvl="1"/>
            <a:r>
              <a:rPr lang="en-US" i="1" dirty="0"/>
              <a:t>Containers for GUI Models </a:t>
            </a:r>
            <a:r>
              <a:rPr lang="en-US" dirty="0"/>
              <a:t>(2024), </a:t>
            </a:r>
            <a:br>
              <a:rPr lang="en-US" dirty="0"/>
            </a:br>
            <a:r>
              <a:rPr lang="en-US" dirty="0"/>
              <a:t>Stokke, Knut Anders; Barash, Mikhail; Järvi, Jaakko; Stenholm, Elisabeth; Robbestad </a:t>
            </a:r>
            <a:r>
              <a:rPr lang="en-US" dirty="0" err="1"/>
              <a:t>Gylterud</a:t>
            </a:r>
            <a:r>
              <a:rPr lang="en-US" dirty="0"/>
              <a:t>, Håkon</a:t>
            </a:r>
          </a:p>
          <a:p>
            <a:pPr lvl="1"/>
            <a:r>
              <a:rPr lang="en-US" i="1" dirty="0"/>
              <a:t>The Ultimate GUI Framework: Are We There Yet? </a:t>
            </a:r>
            <a:r>
              <a:rPr lang="en-US" dirty="0"/>
              <a:t>(2023), Stokke Knut Anders, Barash Mikhail, Järvi Jaakko</a:t>
            </a:r>
          </a:p>
          <a:p>
            <a:pPr lvl="1"/>
            <a:r>
              <a:rPr lang="en-US" i="1" dirty="0"/>
              <a:t>A domain-specific language for structure manipulation in constraint system-based GUIs </a:t>
            </a:r>
            <a:r>
              <a:rPr lang="en-US" dirty="0"/>
              <a:t>(2023),</a:t>
            </a:r>
            <a:br>
              <a:rPr lang="en-US" dirty="0"/>
            </a:br>
            <a:r>
              <a:rPr lang="en-US" dirty="0"/>
              <a:t>Stokke Knut Anders, Barash Mikhail, Järvi Jaakko</a:t>
            </a:r>
          </a:p>
          <a:p>
            <a:pPr lvl="1"/>
            <a:r>
              <a:rPr lang="en-US" i="1" dirty="0"/>
              <a:t>Towards Reusable GUI Structures </a:t>
            </a:r>
            <a:r>
              <a:rPr lang="en-US" dirty="0"/>
              <a:t>(2023), Stokke Knut Anders, Barash Mikhail, Järvi Jaakko</a:t>
            </a:r>
          </a:p>
        </p:txBody>
      </p:sp>
    </p:spTree>
    <p:extLst>
      <p:ext uri="{BB962C8B-B14F-4D97-AF65-F5344CB8AC3E}">
        <p14:creationId xmlns:p14="http://schemas.microsoft.com/office/powerpoint/2010/main" val="1322771822"/>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pPr lvl="1"/>
            <a:r>
              <a:rPr lang="en-US" dirty="0"/>
              <a:t>Minimize tradeoffs between efficiency and safety</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2.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3C468D7-2A62-4899-BEF3-AA07431EA73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24089</TotalTime>
  <Words>5487</Words>
  <Application>Microsoft Macintosh PowerPoint</Application>
  <PresentationFormat>Widescreen</PresentationFormat>
  <Paragraphs>507</Paragraphs>
  <Slides>67</Slides>
  <Notes>62</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67</vt:i4>
      </vt:variant>
    </vt:vector>
  </HeadingPairs>
  <TitlesOfParts>
    <vt:vector size="79"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How can we write Better Code?</vt:lpstr>
      <vt:lpstr>Generic Programming</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Structure of Mini Image Size</vt:lpstr>
      <vt:lpstr>Future of Software Development (2006 - restated)</vt:lpstr>
      <vt:lpstr>References for Property Models</vt:lpstr>
      <vt:lpstr>Related Work</vt:lpstr>
      <vt:lpstr>Future of Software Development</vt:lpstr>
      <vt:lpstr>Closer Slide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113</cp:revision>
  <dcterms:created xsi:type="dcterms:W3CDTF">2024-01-24T22:04:21Z</dcterms:created>
  <dcterms:modified xsi:type="dcterms:W3CDTF">2025-04-27T04:07:31Z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