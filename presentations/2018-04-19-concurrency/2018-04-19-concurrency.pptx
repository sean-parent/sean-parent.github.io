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media/image9.jpeg" ContentType="image/jpeg"/>
  <Override PartName="/ppt/media/image10.jpeg" ContentType="image/jpeg"/>
  <Override PartName="/ppt/media/image11.jpeg" ContentType="image/jpeg"/>
  <Override PartName="/ppt/media/image12.jpeg" ContentType="image/jpeg"/>
  <Override PartName="/ppt/media/image13.jpeg" ContentType="image/jpeg"/>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
        <a:srgbClr val="000000"/>
      </a:buClr>
      <a:buSzTx/>
      <a:buFontTx/>
      <a:buNone/>
      <a:tabLst/>
      <a:defRPr b="0" baseline="0" cap="none" i="0" spc="0" strike="noStrike" sz="3600" u="none" kumimoji="0" normalizeH="0">
        <a:ln>
          <a:noFill/>
        </a:ln>
        <a:solidFill>
          <a:srgbClr val="000000"/>
        </a:solidFill>
        <a:effectLst/>
        <a:uFill>
          <a:solidFill>
            <a:srgbClr val="000000"/>
          </a:solidFill>
        </a:uFill>
        <a:latin typeface="+mn-lt"/>
        <a:ea typeface="+mn-ea"/>
        <a:cs typeface="+mn-cs"/>
        <a:sym typeface="Adobe Clean"/>
      </a:defRPr>
    </a:lvl1pPr>
    <a:lvl2pPr marL="0" marR="0" indent="342900" algn="l" defTabSz="1828800" rtl="0" fontAlgn="auto" latinLnBrk="0" hangingPunct="0">
      <a:lnSpc>
        <a:spcPct val="100000"/>
      </a:lnSpc>
      <a:spcBef>
        <a:spcPts val="0"/>
      </a:spcBef>
      <a:spcAft>
        <a:spcPts val="0"/>
      </a:spcAft>
      <a:buClr>
        <a:srgbClr val="000000"/>
      </a:buClr>
      <a:buSzTx/>
      <a:buFontTx/>
      <a:buNone/>
      <a:tabLst/>
      <a:defRPr b="0" baseline="0" cap="none" i="0" spc="0" strike="noStrike" sz="3600" u="none" kumimoji="0" normalizeH="0">
        <a:ln>
          <a:noFill/>
        </a:ln>
        <a:solidFill>
          <a:srgbClr val="000000"/>
        </a:solidFill>
        <a:effectLst/>
        <a:uFill>
          <a:solidFill>
            <a:srgbClr val="000000"/>
          </a:solidFill>
        </a:uFill>
        <a:latin typeface="+mn-lt"/>
        <a:ea typeface="+mn-ea"/>
        <a:cs typeface="+mn-cs"/>
        <a:sym typeface="Adobe Clean"/>
      </a:defRPr>
    </a:lvl2pPr>
    <a:lvl3pPr marL="0" marR="0" indent="685800" algn="l" defTabSz="1828800" rtl="0" fontAlgn="auto" latinLnBrk="0" hangingPunct="0">
      <a:lnSpc>
        <a:spcPct val="100000"/>
      </a:lnSpc>
      <a:spcBef>
        <a:spcPts val="0"/>
      </a:spcBef>
      <a:spcAft>
        <a:spcPts val="0"/>
      </a:spcAft>
      <a:buClr>
        <a:srgbClr val="000000"/>
      </a:buClr>
      <a:buSzTx/>
      <a:buFontTx/>
      <a:buNone/>
      <a:tabLst/>
      <a:defRPr b="0" baseline="0" cap="none" i="0" spc="0" strike="noStrike" sz="3600" u="none" kumimoji="0" normalizeH="0">
        <a:ln>
          <a:noFill/>
        </a:ln>
        <a:solidFill>
          <a:srgbClr val="000000"/>
        </a:solidFill>
        <a:effectLst/>
        <a:uFill>
          <a:solidFill>
            <a:srgbClr val="000000"/>
          </a:solidFill>
        </a:uFill>
        <a:latin typeface="+mn-lt"/>
        <a:ea typeface="+mn-ea"/>
        <a:cs typeface="+mn-cs"/>
        <a:sym typeface="Adobe Clean"/>
      </a:defRPr>
    </a:lvl3pPr>
    <a:lvl4pPr marL="0" marR="0" indent="1028700" algn="l" defTabSz="1828800" rtl="0" fontAlgn="auto" latinLnBrk="0" hangingPunct="0">
      <a:lnSpc>
        <a:spcPct val="100000"/>
      </a:lnSpc>
      <a:spcBef>
        <a:spcPts val="0"/>
      </a:spcBef>
      <a:spcAft>
        <a:spcPts val="0"/>
      </a:spcAft>
      <a:buClr>
        <a:srgbClr val="000000"/>
      </a:buClr>
      <a:buSzTx/>
      <a:buFontTx/>
      <a:buNone/>
      <a:tabLst/>
      <a:defRPr b="0" baseline="0" cap="none" i="0" spc="0" strike="noStrike" sz="3600" u="none" kumimoji="0" normalizeH="0">
        <a:ln>
          <a:noFill/>
        </a:ln>
        <a:solidFill>
          <a:srgbClr val="000000"/>
        </a:solidFill>
        <a:effectLst/>
        <a:uFill>
          <a:solidFill>
            <a:srgbClr val="000000"/>
          </a:solidFill>
        </a:uFill>
        <a:latin typeface="+mn-lt"/>
        <a:ea typeface="+mn-ea"/>
        <a:cs typeface="+mn-cs"/>
        <a:sym typeface="Adobe Clean"/>
      </a:defRPr>
    </a:lvl4pPr>
    <a:lvl5pPr marL="0" marR="0" indent="1371600" algn="l" defTabSz="1828800" rtl="0" fontAlgn="auto" latinLnBrk="0" hangingPunct="0">
      <a:lnSpc>
        <a:spcPct val="100000"/>
      </a:lnSpc>
      <a:spcBef>
        <a:spcPts val="0"/>
      </a:spcBef>
      <a:spcAft>
        <a:spcPts val="0"/>
      </a:spcAft>
      <a:buClr>
        <a:srgbClr val="000000"/>
      </a:buClr>
      <a:buSzTx/>
      <a:buFontTx/>
      <a:buNone/>
      <a:tabLst/>
      <a:defRPr b="0" baseline="0" cap="none" i="0" spc="0" strike="noStrike" sz="3600" u="none" kumimoji="0" normalizeH="0">
        <a:ln>
          <a:noFill/>
        </a:ln>
        <a:solidFill>
          <a:srgbClr val="000000"/>
        </a:solidFill>
        <a:effectLst/>
        <a:uFill>
          <a:solidFill>
            <a:srgbClr val="000000"/>
          </a:solidFill>
        </a:uFill>
        <a:latin typeface="+mn-lt"/>
        <a:ea typeface="+mn-ea"/>
        <a:cs typeface="+mn-cs"/>
        <a:sym typeface="Adobe Clean"/>
      </a:defRPr>
    </a:lvl5pPr>
    <a:lvl6pPr marL="0" marR="0" indent="1714500" algn="l" defTabSz="1828800" rtl="0" fontAlgn="auto" latinLnBrk="0" hangingPunct="0">
      <a:lnSpc>
        <a:spcPct val="100000"/>
      </a:lnSpc>
      <a:spcBef>
        <a:spcPts val="0"/>
      </a:spcBef>
      <a:spcAft>
        <a:spcPts val="0"/>
      </a:spcAft>
      <a:buClr>
        <a:srgbClr val="000000"/>
      </a:buClr>
      <a:buSzTx/>
      <a:buFontTx/>
      <a:buNone/>
      <a:tabLst/>
      <a:defRPr b="0" baseline="0" cap="none" i="0" spc="0" strike="noStrike" sz="3600" u="none" kumimoji="0" normalizeH="0">
        <a:ln>
          <a:noFill/>
        </a:ln>
        <a:solidFill>
          <a:srgbClr val="000000"/>
        </a:solidFill>
        <a:effectLst/>
        <a:uFill>
          <a:solidFill>
            <a:srgbClr val="000000"/>
          </a:solidFill>
        </a:uFill>
        <a:latin typeface="+mn-lt"/>
        <a:ea typeface="+mn-ea"/>
        <a:cs typeface="+mn-cs"/>
        <a:sym typeface="Adobe Clean"/>
      </a:defRPr>
    </a:lvl6pPr>
    <a:lvl7pPr marL="0" marR="0" indent="2057400" algn="l" defTabSz="1828800" rtl="0" fontAlgn="auto" latinLnBrk="0" hangingPunct="0">
      <a:lnSpc>
        <a:spcPct val="100000"/>
      </a:lnSpc>
      <a:spcBef>
        <a:spcPts val="0"/>
      </a:spcBef>
      <a:spcAft>
        <a:spcPts val="0"/>
      </a:spcAft>
      <a:buClr>
        <a:srgbClr val="000000"/>
      </a:buClr>
      <a:buSzTx/>
      <a:buFontTx/>
      <a:buNone/>
      <a:tabLst/>
      <a:defRPr b="0" baseline="0" cap="none" i="0" spc="0" strike="noStrike" sz="3600" u="none" kumimoji="0" normalizeH="0">
        <a:ln>
          <a:noFill/>
        </a:ln>
        <a:solidFill>
          <a:srgbClr val="000000"/>
        </a:solidFill>
        <a:effectLst/>
        <a:uFill>
          <a:solidFill>
            <a:srgbClr val="000000"/>
          </a:solidFill>
        </a:uFill>
        <a:latin typeface="+mn-lt"/>
        <a:ea typeface="+mn-ea"/>
        <a:cs typeface="+mn-cs"/>
        <a:sym typeface="Adobe Clean"/>
      </a:defRPr>
    </a:lvl7pPr>
    <a:lvl8pPr marL="0" marR="0" indent="2400300" algn="l" defTabSz="1828800" rtl="0" fontAlgn="auto" latinLnBrk="0" hangingPunct="0">
      <a:lnSpc>
        <a:spcPct val="100000"/>
      </a:lnSpc>
      <a:spcBef>
        <a:spcPts val="0"/>
      </a:spcBef>
      <a:spcAft>
        <a:spcPts val="0"/>
      </a:spcAft>
      <a:buClr>
        <a:srgbClr val="000000"/>
      </a:buClr>
      <a:buSzTx/>
      <a:buFontTx/>
      <a:buNone/>
      <a:tabLst/>
      <a:defRPr b="0" baseline="0" cap="none" i="0" spc="0" strike="noStrike" sz="3600" u="none" kumimoji="0" normalizeH="0">
        <a:ln>
          <a:noFill/>
        </a:ln>
        <a:solidFill>
          <a:srgbClr val="000000"/>
        </a:solidFill>
        <a:effectLst/>
        <a:uFill>
          <a:solidFill>
            <a:srgbClr val="000000"/>
          </a:solidFill>
        </a:uFill>
        <a:latin typeface="+mn-lt"/>
        <a:ea typeface="+mn-ea"/>
        <a:cs typeface="+mn-cs"/>
        <a:sym typeface="Adobe Clean"/>
      </a:defRPr>
    </a:lvl8pPr>
    <a:lvl9pPr marL="0" marR="0" indent="2743200" algn="l" defTabSz="1828800" rtl="0" fontAlgn="auto" latinLnBrk="0" hangingPunct="0">
      <a:lnSpc>
        <a:spcPct val="100000"/>
      </a:lnSpc>
      <a:spcBef>
        <a:spcPts val="0"/>
      </a:spcBef>
      <a:spcAft>
        <a:spcPts val="0"/>
      </a:spcAft>
      <a:buClr>
        <a:srgbClr val="000000"/>
      </a:buClr>
      <a:buSzTx/>
      <a:buFontTx/>
      <a:buNone/>
      <a:tabLst/>
      <a:defRPr b="0" baseline="0" cap="none" i="0" spc="0" strike="noStrike" sz="3600" u="none" kumimoji="0" normalizeH="0">
        <a:ln>
          <a:noFill/>
        </a:ln>
        <a:solidFill>
          <a:srgbClr val="000000"/>
        </a:solidFill>
        <a:effectLst/>
        <a:uFill>
          <a:solidFill>
            <a:srgbClr val="000000"/>
          </a:solidFill>
        </a:uFill>
        <a:latin typeface="+mn-lt"/>
        <a:ea typeface="+mn-ea"/>
        <a:cs typeface="+mn-cs"/>
        <a:sym typeface="Adobe Clean"/>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8F44A2F1-9E1F-4B54-A3A2-5F16C0AD49E2}"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5F8DC"/>
          </a:solidFill>
        </a:fill>
      </a:tcStyle>
    </a:wholeTbl>
    <a:band2H>
      <a:tcTxStyle b="def" i="def"/>
      <a:tcStyle>
        <a:tcBdr/>
        <a:fill>
          <a:solidFill>
            <a:srgbClr val="FAFCEF"/>
          </a:solidFill>
        </a:fill>
      </a:tcStyle>
    </a:band2H>
    <a:firstCol>
      <a:tcTxStyle b="on" i="off">
        <a:fontRef idx="minor">
          <a:srgbClr val="FFFFFF"/>
        </a:fontRef>
        <a:srgbClr val="FFFFFF"/>
      </a:tcTxStyle>
      <a:tcStyle>
        <a:tcBdr>
          <a:left>
            <a:ln w="12700" cap="flat">
              <a:solidFill>
                <a:srgbClr val="FFFFFF"/>
              </a:solidFill>
              <a:prstDash val="solid"/>
              <a:round/>
            </a:ln>
          </a:left>
          <a:right>
            <a:ln w="381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DC3C"/>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DC3C"/>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DC3C"/>
          </a:solidFill>
        </a:fill>
      </a:tcStyle>
    </a:firstRow>
  </a:tblStyle>
  <a:tblStyle styleId="{C7B018BB-80A7-4F77-B60F-C8B233D01FF8}" styleName="">
    <a:tblBg/>
    <a:wholeTbl>
      <a:tcTxStyle b="def" i="def">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n" i="de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def" i="def">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de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def" i="def">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b="def" i="def"/>
      <a:tcStyle>
        <a:tcBdr/>
        <a:fill>
          <a:solidFill>
            <a:srgbClr val="C3C2C2"/>
          </a:solidFill>
        </a:fill>
      </a:tcStyle>
    </a:band2H>
    <a:firstCol>
      <a:tcTxStyle b="on" i="de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de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de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def" i="def">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b="def" i="def"/>
      <a:tcStyle>
        <a:tcBdr/>
        <a:fill>
          <a:solidFill>
            <a:srgbClr val="DCE5E6"/>
          </a:solidFill>
        </a:fill>
      </a:tcStyle>
    </a:band2H>
    <a:firstCol>
      <a:tcTxStyle b="on" i="de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de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de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def" i="def">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b="def" i="def"/>
      <a:tcStyle>
        <a:tcBdr/>
        <a:fill>
          <a:solidFill>
            <a:srgbClr val="DEDEDF"/>
          </a:solidFill>
        </a:fill>
      </a:tcStyle>
    </a:band2H>
    <a:firstCol>
      <a:tcTxStyle b="on" i="de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de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de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def" i="def">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de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de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de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b="def" i="de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de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def" i="de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de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234241"/>
          <c:y val="0.110724"/>
          <c:w val="0.948565"/>
          <c:h val="0.459921"/>
        </c:manualLayout>
      </c:layout>
      <c:barChart>
        <c:barDir val="bar"/>
        <c:grouping val="stacked"/>
        <c:varyColors val="0"/>
        <c:ser>
          <c:idx val="0"/>
          <c:order val="0"/>
          <c:tx>
            <c:strRef>
              <c:f>Sheet1!$A$2</c:f>
              <c:strCache>
                <c:ptCount val="1"/>
                <c:pt idx="0">
                  <c:v>GPU</c:v>
                </c:pt>
              </c:strCache>
            </c:strRef>
          </c:tx>
          <c:spPr>
            <a:solidFill>
              <a:srgbClr val="008F00"/>
            </a:solidFill>
            <a:ln w="9525" cap="flat">
              <a:noFill/>
              <a:round/>
            </a:ln>
            <a:effectLst>
              <a:outerShdw sx="100000" sy="100000" kx="0" ky="0" algn="tl" rotWithShape="1" blurRad="38100" dist="23000" dir="5400000">
                <a:srgbClr val="000000">
                  <a:alpha val="35000"/>
                </a:srgbClr>
              </a:outerShdw>
            </a:effectLst>
          </c:spPr>
          <c:invertIfNegative val="0"/>
          <c:dLbls>
            <c:numFmt formatCode="0" sourceLinked="0"/>
            <c:txPr>
              <a:bodyPr/>
              <a:lstStyle/>
              <a:p>
                <a:pPr>
                  <a:defRPr b="0" i="0" strike="noStrike" sz="3600" u="none">
                    <a:solidFill>
                      <a:srgbClr val="000000"/>
                    </a:solidFill>
                    <a:effectLst>
                      <a:outerShdw sx="100000" sy="100000" kx="0" ky="0" algn="tl" rotWithShape="1" blurRad="190500" dist="25400" dir="5400000">
                        <a:srgbClr val="000000">
                          <a:alpha val="50000"/>
                        </a:srgbClr>
                      </a:outerShdw>
                    </a:effectLst>
                    <a:latin typeface="Adobe Clean"/>
                  </a:defRPr>
                </a:pPr>
              </a:p>
            </c:txPr>
            <c:dLblPos val="ctr"/>
            <c:showLegendKey val="0"/>
            <c:showVal val="0"/>
            <c:showCatName val="0"/>
            <c:showSerName val="0"/>
            <c:showPercent val="0"/>
            <c:showBubbleSize val="0"/>
            <c:showLeaderLines val="0"/>
          </c:dLbls>
          <c:cat>
            <c:strRef>
              <c:f>Sheet1!$B$1:$B$1</c:f>
              <c:strCache>
                <c:ptCount val="1"/>
                <c:pt idx="0">
                  <c:v/>
                </c:pt>
              </c:strCache>
            </c:strRef>
          </c:cat>
          <c:val>
            <c:numRef>
              <c:f>Sheet1!$B$2:$B$2</c:f>
              <c:numCache>
                <c:ptCount val="1"/>
                <c:pt idx="0">
                  <c:v>2250.000000</c:v>
                </c:pt>
              </c:numCache>
            </c:numRef>
          </c:val>
        </c:ser>
        <c:ser>
          <c:idx val="1"/>
          <c:order val="1"/>
          <c:tx>
            <c:strRef>
              <c:f>Sheet1!$A$3</c:f>
              <c:strCache>
                <c:ptCount val="1"/>
                <c:pt idx="0">
                  <c:v>Vectorization</c:v>
                </c:pt>
              </c:strCache>
            </c:strRef>
          </c:tx>
          <c:spPr>
            <a:solidFill>
              <a:srgbClr val="4180FF"/>
            </a:solidFill>
            <a:ln w="9525" cap="flat">
              <a:noFill/>
              <a:round/>
            </a:ln>
            <a:effectLst>
              <a:outerShdw sx="100000" sy="100000" kx="0" ky="0" algn="tl" rotWithShape="1" blurRad="38100" dist="23000" dir="5400000">
                <a:srgbClr val="000000">
                  <a:alpha val="35000"/>
                </a:srgbClr>
              </a:outerShdw>
            </a:effectLst>
          </c:spPr>
          <c:invertIfNegative val="0"/>
          <c:dLbls>
            <c:numFmt formatCode="0" sourceLinked="0"/>
            <c:txPr>
              <a:bodyPr/>
              <a:lstStyle/>
              <a:p>
                <a:pPr>
                  <a:defRPr b="0" i="0" strike="noStrike" sz="3600" u="none">
                    <a:solidFill>
                      <a:srgbClr val="000000"/>
                    </a:solidFill>
                    <a:effectLst>
                      <a:outerShdw sx="100000" sy="100000" kx="0" ky="0" algn="tl" rotWithShape="1" blurRad="190500" dist="25400" dir="5400000">
                        <a:srgbClr val="000000">
                          <a:alpha val="50000"/>
                        </a:srgbClr>
                      </a:outerShdw>
                    </a:effectLst>
                    <a:latin typeface="Adobe Clean"/>
                  </a:defRPr>
                </a:pPr>
              </a:p>
            </c:txPr>
            <c:dLblPos val="ctr"/>
            <c:showLegendKey val="0"/>
            <c:showVal val="0"/>
            <c:showCatName val="0"/>
            <c:showSerName val="0"/>
            <c:showPercent val="0"/>
            <c:showBubbleSize val="0"/>
            <c:showLeaderLines val="0"/>
          </c:dLbls>
          <c:cat>
            <c:strRef>
              <c:f>Sheet1!$B$1:$B$1</c:f>
              <c:strCache>
                <c:ptCount val="1"/>
                <c:pt idx="0">
                  <c:v/>
                </c:pt>
              </c:strCache>
            </c:strRef>
          </c:cat>
          <c:val>
            <c:numRef>
              <c:f>Sheet1!$B$3:$B$3</c:f>
              <c:numCache>
                <c:ptCount val="1"/>
                <c:pt idx="0">
                  <c:v>448.000000</c:v>
                </c:pt>
              </c:numCache>
            </c:numRef>
          </c:val>
        </c:ser>
        <c:ser>
          <c:idx val="2"/>
          <c:order val="2"/>
          <c:tx>
            <c:strRef>
              <c:f>Sheet1!$A$4</c:f>
              <c:strCache>
                <c:ptCount val="1"/>
                <c:pt idx="0">
                  <c:v>Multi-thread</c:v>
                </c:pt>
              </c:strCache>
            </c:strRef>
          </c:tx>
          <c:spPr>
            <a:gradFill flip="none" rotWithShape="1">
              <a:gsLst>
                <a:gs pos="0">
                  <a:srgbClr val="9854D0"/>
                </a:gs>
                <a:gs pos="100000">
                  <a:srgbClr val="E6C9FF"/>
                </a:gs>
              </a:gsLst>
              <a:lin ang="16200000" scaled="0"/>
            </a:gradFill>
            <a:ln w="9525" cap="flat">
              <a:noFill/>
              <a:round/>
            </a:ln>
            <a:effectLst>
              <a:outerShdw sx="100000" sy="100000" kx="0" ky="0" algn="tl" rotWithShape="1" blurRad="38100" dist="23000" dir="5400000">
                <a:srgbClr val="000000">
                  <a:alpha val="35000"/>
                </a:srgbClr>
              </a:outerShdw>
            </a:effectLst>
          </c:spPr>
          <c:invertIfNegative val="0"/>
          <c:dLbls>
            <c:numFmt formatCode="0" sourceLinked="0"/>
            <c:txPr>
              <a:bodyPr/>
              <a:lstStyle/>
              <a:p>
                <a:pPr>
                  <a:defRPr b="0" i="0" strike="noStrike" sz="3600" u="none">
                    <a:solidFill>
                      <a:srgbClr val="000000"/>
                    </a:solidFill>
                    <a:effectLst>
                      <a:outerShdw sx="100000" sy="100000" kx="0" ky="0" algn="tl" rotWithShape="1" blurRad="190500" dist="25400" dir="5400000">
                        <a:srgbClr val="000000">
                          <a:alpha val="50000"/>
                        </a:srgbClr>
                      </a:outerShdw>
                    </a:effectLst>
                    <a:latin typeface="Adobe Clean"/>
                  </a:defRPr>
                </a:pPr>
              </a:p>
            </c:txPr>
            <c:dLblPos val="ctr"/>
            <c:showLegendKey val="0"/>
            <c:showVal val="0"/>
            <c:showCatName val="0"/>
            <c:showSerName val="0"/>
            <c:showPercent val="0"/>
            <c:showBubbleSize val="0"/>
            <c:showLeaderLines val="0"/>
          </c:dLbls>
          <c:cat>
            <c:strRef>
              <c:f>Sheet1!$B$1:$B$1</c:f>
              <c:strCache>
                <c:ptCount val="1"/>
                <c:pt idx="0">
                  <c:v/>
                </c:pt>
              </c:strCache>
            </c:strRef>
          </c:cat>
          <c:val>
            <c:numRef>
              <c:f>Sheet1!$B$4:$B$4</c:f>
              <c:numCache>
                <c:ptCount val="1"/>
                <c:pt idx="0">
                  <c:v>56.000000</c:v>
                </c:pt>
              </c:numCache>
            </c:numRef>
          </c:val>
        </c:ser>
        <c:ser>
          <c:idx val="3"/>
          <c:order val="3"/>
          <c:tx>
            <c:strRef>
              <c:f>Sheet1!$A$5</c:f>
              <c:strCache>
                <c:ptCount val="1"/>
                <c:pt idx="0">
                  <c:v>Scalar</c:v>
                </c:pt>
              </c:strCache>
            </c:strRef>
          </c:tx>
          <c:spPr>
            <a:solidFill>
              <a:srgbClr val="FF2600"/>
            </a:solidFill>
            <a:ln w="9525" cap="flat">
              <a:noFill/>
              <a:round/>
            </a:ln>
            <a:effectLst>
              <a:outerShdw sx="100000" sy="100000" kx="0" ky="0" algn="tl" rotWithShape="1" blurRad="38100" dist="23000" dir="5400000">
                <a:srgbClr val="000000">
                  <a:alpha val="35000"/>
                </a:srgbClr>
              </a:outerShdw>
            </a:effectLst>
          </c:spPr>
          <c:invertIfNegative val="0"/>
          <c:dLbls>
            <c:numFmt formatCode="0" sourceLinked="0"/>
            <c:txPr>
              <a:bodyPr/>
              <a:lstStyle/>
              <a:p>
                <a:pPr>
                  <a:defRPr b="0" i="0" strike="noStrike" sz="3600" u="none">
                    <a:solidFill>
                      <a:srgbClr val="000000"/>
                    </a:solidFill>
                    <a:effectLst>
                      <a:outerShdw sx="100000" sy="100000" kx="0" ky="0" algn="tl" rotWithShape="1" blurRad="190500" dist="25400" dir="5400000">
                        <a:srgbClr val="000000">
                          <a:alpha val="50000"/>
                        </a:srgbClr>
                      </a:outerShdw>
                    </a:effectLst>
                    <a:latin typeface="Adobe Clean"/>
                  </a:defRPr>
                </a:pPr>
              </a:p>
            </c:txPr>
            <c:dLblPos val="ctr"/>
            <c:showLegendKey val="0"/>
            <c:showVal val="0"/>
            <c:showCatName val="0"/>
            <c:showSerName val="0"/>
            <c:showPercent val="0"/>
            <c:showBubbleSize val="0"/>
            <c:showLeaderLines val="0"/>
          </c:dLbls>
          <c:cat>
            <c:strRef>
              <c:f>Sheet1!$B$1:$B$1</c:f>
              <c:strCache>
                <c:ptCount val="1"/>
                <c:pt idx="0">
                  <c:v/>
                </c:pt>
              </c:strCache>
            </c:strRef>
          </c:cat>
          <c:val>
            <c:numRef>
              <c:f>Sheet1!$B$5:$B$5</c:f>
              <c:numCache>
                <c:ptCount val="1"/>
                <c:pt idx="0">
                  <c:v>7.000000</c:v>
                </c:pt>
              </c:numCache>
            </c:numRef>
          </c:val>
        </c:ser>
        <c:gapWidth val="150"/>
        <c:overlap val="100"/>
        <c:axId val="2094734552"/>
        <c:axId val="2094734553"/>
      </c:barChart>
      <c:catAx>
        <c:axId val="2094734552"/>
        <c:scaling>
          <c:orientation val="maxMin"/>
        </c:scaling>
        <c:delete val="0"/>
        <c:axPos val="l"/>
        <c:numFmt formatCode="General" sourceLinked="0"/>
        <c:majorTickMark val="out"/>
        <c:minorTickMark val="none"/>
        <c:tickLblPos val="nextTo"/>
        <c:spPr>
          <a:ln w="9525" cap="flat">
            <a:solidFill>
              <a:srgbClr val="B7B7B7"/>
            </a:solidFill>
            <a:prstDash val="solid"/>
            <a:round/>
          </a:ln>
        </c:spPr>
        <c:txPr>
          <a:bodyPr rot="0"/>
          <a:lstStyle/>
          <a:p>
            <a:pPr>
              <a:defRPr b="0" i="0" strike="noStrike" sz="3600" u="none">
                <a:solidFill>
                  <a:srgbClr val="000000"/>
                </a:solidFill>
                <a:latin typeface="Adobe Clean"/>
              </a:defRPr>
            </a:pPr>
          </a:p>
        </c:txPr>
        <c:crossAx val="2094734553"/>
        <c:crosses val="autoZero"/>
        <c:auto val="1"/>
        <c:lblAlgn val="ctr"/>
        <c:noMultiLvlLbl val="1"/>
      </c:catAx>
      <c:valAx>
        <c:axId val="2094734553"/>
        <c:scaling>
          <c:orientation val="minMax"/>
          <c:max val="3000"/>
        </c:scaling>
        <c:delete val="0"/>
        <c:axPos val="b"/>
        <c:majorGridlines>
          <c:spPr>
            <a:ln w="12700" cap="flat">
              <a:solidFill>
                <a:srgbClr val="B7B7B7"/>
              </a:solidFill>
              <a:prstDash val="solid"/>
              <a:round/>
            </a:ln>
          </c:spPr>
        </c:majorGridlines>
        <c:numFmt formatCode="0" sourceLinked="0"/>
        <c:majorTickMark val="out"/>
        <c:minorTickMark val="none"/>
        <c:tickLblPos val="high"/>
        <c:spPr>
          <a:ln w="9525" cap="flat">
            <a:solidFill>
              <a:srgbClr val="B7B7B7"/>
            </a:solidFill>
            <a:prstDash val="solid"/>
            <a:round/>
          </a:ln>
        </c:spPr>
        <c:txPr>
          <a:bodyPr rot="0"/>
          <a:lstStyle/>
          <a:p>
            <a:pPr>
              <a:defRPr b="0" i="0" strike="noStrike" sz="3600" u="none">
                <a:solidFill>
                  <a:srgbClr val="FFFFFF"/>
                </a:solidFill>
                <a:latin typeface="Adobe Clean"/>
              </a:defRPr>
            </a:pPr>
          </a:p>
        </c:txPr>
        <c:crossAx val="2094734552"/>
        <c:crosses val="autoZero"/>
        <c:crossBetween val="between"/>
        <c:majorUnit val="750"/>
        <c:minorUnit val="375"/>
      </c:valAx>
      <c:spPr>
        <a:solidFill>
          <a:srgbClr val="FFFFFF"/>
        </a:solidFill>
        <a:ln w="12700" cap="flat">
          <a:noFill/>
          <a:miter lim="400000"/>
        </a:ln>
        <a:effectLst/>
      </c:spPr>
    </c:plotArea>
    <c:legend>
      <c:legendPos val="b"/>
      <c:layout>
        <c:manualLayout>
          <c:xMode val="edge"/>
          <c:yMode val="edge"/>
          <c:x val="0.0926817"/>
          <c:y val="0.876776"/>
          <c:w val="0.708019"/>
          <c:h val="0.123224"/>
        </c:manualLayout>
      </c:layout>
      <c:overlay val="1"/>
      <c:spPr>
        <a:noFill/>
        <a:ln w="9525" cap="flat">
          <a:noFill/>
          <a:round/>
        </a:ln>
        <a:effectLst/>
      </c:spPr>
      <c:txPr>
        <a:bodyPr rot="0"/>
        <a:lstStyle/>
        <a:p>
          <a:pPr>
            <a:defRPr b="0" i="0" strike="noStrike" sz="3600" u="none">
              <a:solidFill>
                <a:srgbClr val="FFFFFF"/>
              </a:solidFill>
              <a:latin typeface="Adobe Clean"/>
            </a:defRPr>
          </a:pPr>
        </a:p>
      </c:txPr>
    </c:legend>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491" name="Shape 491"/>
          <p:cNvSpPr/>
          <p:nvPr>
            <p:ph type="sldImg"/>
          </p:nvPr>
        </p:nvSpPr>
        <p:spPr>
          <a:xfrm>
            <a:off x="1143000" y="685800"/>
            <a:ext cx="4572000" cy="3429000"/>
          </a:xfrm>
          <a:prstGeom prst="rect">
            <a:avLst/>
          </a:prstGeom>
        </p:spPr>
        <p:txBody>
          <a:bodyPr/>
          <a:lstStyle/>
          <a:p>
            <a:pPr/>
          </a:p>
        </p:txBody>
      </p:sp>
      <p:sp>
        <p:nvSpPr>
          <p:cNvPr id="492" name="Shape 4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3600">
        <a:uFill>
          <a:solidFill>
            <a:srgbClr val="000000"/>
          </a:solidFill>
        </a:uFill>
        <a:latin typeface="+mn-lt"/>
        <a:ea typeface="+mn-ea"/>
        <a:cs typeface="+mn-cs"/>
        <a:sym typeface="Adobe Clean"/>
      </a:defRPr>
    </a:lvl1pPr>
    <a:lvl2pPr indent="228600" latinLnBrk="0">
      <a:defRPr sz="3600">
        <a:uFill>
          <a:solidFill>
            <a:srgbClr val="000000"/>
          </a:solidFill>
        </a:uFill>
        <a:latin typeface="+mn-lt"/>
        <a:ea typeface="+mn-ea"/>
        <a:cs typeface="+mn-cs"/>
        <a:sym typeface="Adobe Clean"/>
      </a:defRPr>
    </a:lvl2pPr>
    <a:lvl3pPr indent="457200" latinLnBrk="0">
      <a:defRPr sz="3600">
        <a:uFill>
          <a:solidFill>
            <a:srgbClr val="000000"/>
          </a:solidFill>
        </a:uFill>
        <a:latin typeface="+mn-lt"/>
        <a:ea typeface="+mn-ea"/>
        <a:cs typeface="+mn-cs"/>
        <a:sym typeface="Adobe Clean"/>
      </a:defRPr>
    </a:lvl3pPr>
    <a:lvl4pPr indent="685800" latinLnBrk="0">
      <a:defRPr sz="3600">
        <a:uFill>
          <a:solidFill>
            <a:srgbClr val="000000"/>
          </a:solidFill>
        </a:uFill>
        <a:latin typeface="+mn-lt"/>
        <a:ea typeface="+mn-ea"/>
        <a:cs typeface="+mn-cs"/>
        <a:sym typeface="Adobe Clean"/>
      </a:defRPr>
    </a:lvl4pPr>
    <a:lvl5pPr indent="914400" latinLnBrk="0">
      <a:defRPr sz="3600">
        <a:uFill>
          <a:solidFill>
            <a:srgbClr val="000000"/>
          </a:solidFill>
        </a:uFill>
        <a:latin typeface="+mn-lt"/>
        <a:ea typeface="+mn-ea"/>
        <a:cs typeface="+mn-cs"/>
        <a:sym typeface="Adobe Clean"/>
      </a:defRPr>
    </a:lvl5pPr>
    <a:lvl6pPr indent="1143000" latinLnBrk="0">
      <a:defRPr sz="3600">
        <a:uFill>
          <a:solidFill>
            <a:srgbClr val="000000"/>
          </a:solidFill>
        </a:uFill>
        <a:latin typeface="+mn-lt"/>
        <a:ea typeface="+mn-ea"/>
        <a:cs typeface="+mn-cs"/>
        <a:sym typeface="Adobe Clean"/>
      </a:defRPr>
    </a:lvl6pPr>
    <a:lvl7pPr indent="1371600" latinLnBrk="0">
      <a:defRPr sz="3600">
        <a:uFill>
          <a:solidFill>
            <a:srgbClr val="000000"/>
          </a:solidFill>
        </a:uFill>
        <a:latin typeface="+mn-lt"/>
        <a:ea typeface="+mn-ea"/>
        <a:cs typeface="+mn-cs"/>
        <a:sym typeface="Adobe Clean"/>
      </a:defRPr>
    </a:lvl7pPr>
    <a:lvl8pPr indent="1600200" latinLnBrk="0">
      <a:defRPr sz="3600">
        <a:uFill>
          <a:solidFill>
            <a:srgbClr val="000000"/>
          </a:solidFill>
        </a:uFill>
        <a:latin typeface="+mn-lt"/>
        <a:ea typeface="+mn-ea"/>
        <a:cs typeface="+mn-cs"/>
        <a:sym typeface="Adobe Clean"/>
      </a:defRPr>
    </a:lvl8pPr>
    <a:lvl9pPr indent="1828800" latinLnBrk="0">
      <a:defRPr sz="3600">
        <a:uFill>
          <a:solidFill>
            <a:srgbClr val="000000"/>
          </a:solidFill>
        </a:uFill>
        <a:latin typeface="+mn-lt"/>
        <a:ea typeface="+mn-ea"/>
        <a:cs typeface="+mn-cs"/>
        <a:sym typeface="Adobe Clean"/>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Relationships>

</file>

<file path=ppt/notesSlides/_rels/notesSlide32.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Relationships>

</file>

<file path=ppt/notesSlides/_rels/notesSlide33.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Relationships>

</file>

<file path=ppt/notesSlides/_rels/notesSlide34.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Relationships>

</file>

<file path=ppt/notesSlides/_rels/notesSlide35.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Relationships>

</file>

<file path=ppt/notesSlides/_rels/notesSlide36.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Relationships>

</file>

<file path=ppt/notesSlides/_rels/notesSlide37.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Relationships>

</file>

<file path=ppt/notesSlides/_rels/notesSlide38.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Relationships>

</file>

<file path=ppt/notesSlides/_rels/notesSlide39.xml.rels><?xml version="1.0" encoding="UTF-8"?>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Relationships>

</file>

<file path=ppt/notesSlides/_rels/notesSlide40.xml.rels><?xml version="1.0" encoding="UTF-8"?>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Relationships>

</file>

<file path=ppt/notesSlides/_rels/notesSlide41.xml.rels><?xml version="1.0" encoding="UTF-8"?>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Relationships>

</file>

<file path=ppt/notesSlides/_rels/notesSlide42.xml.rels><?xml version="1.0" encoding="UTF-8"?>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Relationships>

</file>

<file path=ppt/notesSlides/_rels/notesSlide43.xml.rels><?xml version="1.0" encoding="UTF-8"?>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Relationships>

</file>

<file path=ppt/notesSlides/_rels/notesSlide44.xml.rels><?xml version="1.0" encoding="UTF-8"?>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Relationships>

</file>

<file path=ppt/notesSlides/_rels/notesSlide45.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Relationships>

</file>

<file path=ppt/notesSlides/_rels/notesSlide46.xml.rels><?xml version="1.0" encoding="UTF-8"?>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Relationships>

</file>

<file path=ppt/notesSlides/_rels/notesSlide47.xml.rels><?xml version="1.0" encoding="UTF-8"?>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Relationships>

</file>

<file path=ppt/notesSlides/_rels/notesSlide48.xml.rels><?xml version="1.0" encoding="UTF-8"?>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Relationships>

</file>

<file path=ppt/notesSlides/_rels/notesSlide49.xml.rels><?xml version="1.0" encoding="UTF-8"?>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Relationships>

</file>

<file path=ppt/notesSlides/_rels/notesSlide50.xml.rels><?xml version="1.0" encoding="UTF-8"?>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Relationships>

</file>

<file path=ppt/notesSlides/_rels/notesSlide51.xml.rels><?xml version="1.0" encoding="UTF-8"?>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Relationships>

</file>

<file path=ppt/notesSlides/_rels/notesSlide52.xml.rels><?xml version="1.0" encoding="UTF-8"?>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Relationships>

</file>

<file path=ppt/notesSlides/_rels/notesSlide53.xml.rels><?xml version="1.0" encoding="UTF-8"?>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Relationships>

</file>

<file path=ppt/notesSlides/_rels/notesSlide54.xml.rels><?xml version="1.0" encoding="UTF-8"?>
<Relationships xmlns="http://schemas.openxmlformats.org/package/2006/relationships"><Relationship Id="rId1" Type="http://schemas.openxmlformats.org/officeDocument/2006/relationships/slide" Target="../slides/slide112.xml"/><Relationship Id="rId2" Type="http://schemas.openxmlformats.org/officeDocument/2006/relationships/notesMaster" Target="../notesMasters/notesMaster1.xml"/></Relationships>

</file>

<file path=ppt/notesSlides/_rels/notesSlide55.xml.rels><?xml version="1.0" encoding="UTF-8"?>
<Relationships xmlns="http://schemas.openxmlformats.org/package/2006/relationships"><Relationship Id="rId1" Type="http://schemas.openxmlformats.org/officeDocument/2006/relationships/slide" Target="../slides/slide113.xml"/><Relationship Id="rId2" Type="http://schemas.openxmlformats.org/officeDocument/2006/relationships/notesMaster" Target="../notesMasters/notesMaster1.xml"/></Relationships>

</file>

<file path=ppt/notesSlides/_rels/notesSlide56.xml.rels><?xml version="1.0" encoding="UTF-8"?>
<Relationships xmlns="http://schemas.openxmlformats.org/package/2006/relationships"><Relationship Id="rId1" Type="http://schemas.openxmlformats.org/officeDocument/2006/relationships/slide" Target="../slides/slide12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6" name="Shape 496"/>
          <p:cNvSpPr/>
          <p:nvPr>
            <p:ph type="sldImg"/>
          </p:nvPr>
        </p:nvSpPr>
        <p:spPr>
          <a:prstGeom prst="rect">
            <a:avLst/>
          </a:prstGeom>
        </p:spPr>
        <p:txBody>
          <a:bodyPr/>
          <a:lstStyle/>
          <a:p>
            <a:pPr/>
          </a:p>
        </p:txBody>
      </p:sp>
      <p:sp>
        <p:nvSpPr>
          <p:cNvPr id="497" name="Shape 497"/>
          <p:cNvSpPr/>
          <p:nvPr>
            <p:ph type="body" sz="quarter" idx="1"/>
          </p:nvPr>
        </p:nvSpPr>
        <p:spPr>
          <a:prstGeom prst="rect">
            <a:avLst/>
          </a:prstGeom>
        </p:spPr>
        <p:txBody>
          <a:bodyPr/>
          <a:lstStyle/>
          <a:p>
            <a:pPr/>
            <a:r>
              <a:t>Self Intro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7" name="Shape 507"/>
          <p:cNvSpPr/>
          <p:nvPr>
            <p:ph type="sldImg"/>
          </p:nvPr>
        </p:nvSpPr>
        <p:spPr>
          <a:prstGeom prst="rect">
            <a:avLst/>
          </a:prstGeom>
        </p:spPr>
        <p:txBody>
          <a:bodyPr/>
          <a:lstStyle/>
          <a:p>
            <a:pPr/>
          </a:p>
        </p:txBody>
      </p:sp>
      <p:sp>
        <p:nvSpPr>
          <p:cNvPr id="508" name="Shape 508"/>
          <p:cNvSpPr/>
          <p:nvPr>
            <p:ph type="body" sz="quarter" idx="1"/>
          </p:nvPr>
        </p:nvSpPr>
        <p:spPr>
          <a:prstGeom prst="rect">
            <a:avLst/>
          </a:prstGeom>
        </p:spPr>
        <p:txBody>
          <a:bodyPr/>
          <a:lstStyle/>
          <a:p>
            <a:pPr/>
            <a:r>
              <a:t>C++ Seasoning From Going Native 2013</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7" name="Shape 517"/>
          <p:cNvSpPr/>
          <p:nvPr>
            <p:ph type="sldImg"/>
          </p:nvPr>
        </p:nvSpPr>
        <p:spPr>
          <a:prstGeom prst="rect">
            <a:avLst/>
          </a:prstGeom>
        </p:spPr>
        <p:txBody>
          <a:bodyPr/>
          <a:lstStyle/>
          <a:p>
            <a:pPr/>
          </a:p>
        </p:txBody>
      </p:sp>
      <p:sp>
        <p:nvSpPr>
          <p:cNvPr id="518" name="Shape 518"/>
          <p:cNvSpPr/>
          <p:nvPr>
            <p:ph type="body" sz="quarter" idx="1"/>
          </p:nvPr>
        </p:nvSpPr>
        <p:spPr>
          <a:prstGeom prst="rect">
            <a:avLst/>
          </a:prstGeom>
        </p:spPr>
        <p:txBody>
          <a:bodyPr/>
          <a:lstStyle/>
          <a:p>
            <a:pPr/>
            <a:r>
              <a:t>Code Simply - killing me for this talk…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1" name="Shape 521"/>
          <p:cNvSpPr/>
          <p:nvPr>
            <p:ph type="sldImg"/>
          </p:nvPr>
        </p:nvSpPr>
        <p:spPr>
          <a:prstGeom prst="rect">
            <a:avLst/>
          </a:prstGeom>
        </p:spPr>
        <p:txBody>
          <a:bodyPr/>
          <a:lstStyle/>
          <a:p>
            <a:pPr/>
          </a:p>
        </p:txBody>
      </p:sp>
      <p:sp>
        <p:nvSpPr>
          <p:cNvPr id="522" name="Shape 522"/>
          <p:cNvSpPr/>
          <p:nvPr>
            <p:ph type="body" sz="quarter" idx="1"/>
          </p:nvPr>
        </p:nvSpPr>
        <p:spPr>
          <a:prstGeom prst="rect">
            <a:avLst/>
          </a:prstGeom>
        </p:spPr>
        <p:txBody>
          <a:bodyPr/>
          <a:lstStyle/>
          <a:p>
            <a:pPr/>
            <a:r>
              <a:t>Lr Web</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5" name="Shape 525"/>
          <p:cNvSpPr/>
          <p:nvPr>
            <p:ph type="sldImg"/>
          </p:nvPr>
        </p:nvSpPr>
        <p:spPr>
          <a:prstGeom prst="rect">
            <a:avLst/>
          </a:prstGeom>
        </p:spPr>
        <p:txBody>
          <a:bodyPr/>
          <a:lstStyle/>
          <a:p>
            <a:pPr/>
          </a:p>
        </p:txBody>
      </p:sp>
      <p:sp>
        <p:nvSpPr>
          <p:cNvPr id="526" name="Shape 526"/>
          <p:cNvSpPr/>
          <p:nvPr>
            <p:ph type="body" sz="quarter" idx="1"/>
          </p:nvPr>
        </p:nvSpPr>
        <p:spPr>
          <a:prstGeom prst="rect">
            <a:avLst/>
          </a:prstGeom>
        </p:spPr>
        <p:txBody>
          <a:bodyPr/>
          <a:lstStyle/>
          <a:p>
            <a:pPr/>
            <a:r>
              <a:t>Lr Web</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1" name="Shape 531"/>
          <p:cNvSpPr/>
          <p:nvPr>
            <p:ph type="sldImg"/>
          </p:nvPr>
        </p:nvSpPr>
        <p:spPr>
          <a:prstGeom prst="rect">
            <a:avLst/>
          </a:prstGeom>
        </p:spPr>
        <p:txBody>
          <a:bodyPr/>
          <a:lstStyle/>
          <a:p>
            <a:pPr/>
          </a:p>
        </p:txBody>
      </p:sp>
      <p:sp>
        <p:nvSpPr>
          <p:cNvPr id="532" name="Shape 532"/>
          <p:cNvSpPr/>
          <p:nvPr>
            <p:ph type="body" sz="quarter" idx="1"/>
          </p:nvPr>
        </p:nvSpPr>
        <p:spPr>
          <a:prstGeom prst="rect">
            <a:avLst/>
          </a:prstGeom>
        </p:spPr>
        <p:txBody>
          <a:bodyPr/>
          <a:lstStyle/>
          <a:p>
            <a:pPr defTabSz="406400">
              <a:defRPr sz="2800">
                <a:uFillTx/>
                <a:latin typeface="Lucida Grande"/>
                <a:ea typeface="Lucida Grande"/>
                <a:cs typeface="Lucida Grande"/>
                <a:sym typeface="Lucida Grande"/>
              </a:defRPr>
            </a:pPr>
            <a:r>
              <a:t>LrM demo</a:t>
            </a:r>
          </a:p>
          <a:p>
            <a:pPr defTabSz="406400">
              <a:defRPr sz="2800">
                <a:uFillTx/>
                <a:latin typeface="Lucida Grande"/>
                <a:ea typeface="Lucida Grande"/>
                <a:cs typeface="Lucida Grande"/>
                <a:sym typeface="Lucida Grande"/>
              </a:defRPr>
            </a:pPr>
            <a:r>
              <a:t>Discussion of taking large, multi-threaded code base to run with Google PNaCl and compiled single threaded to JS. Give demo in Safari.</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2" name="Shape 542"/>
          <p:cNvSpPr/>
          <p:nvPr>
            <p:ph type="sldImg"/>
          </p:nvPr>
        </p:nvSpPr>
        <p:spPr>
          <a:prstGeom prst="rect">
            <a:avLst/>
          </a:prstGeom>
        </p:spPr>
        <p:txBody>
          <a:bodyPr/>
          <a:lstStyle/>
          <a:p>
            <a:pPr/>
          </a:p>
        </p:txBody>
      </p:sp>
      <p:sp>
        <p:nvSpPr>
          <p:cNvPr id="543" name="Shape 543"/>
          <p:cNvSpPr/>
          <p:nvPr>
            <p:ph type="body" sz="quarter" idx="1"/>
          </p:nvPr>
        </p:nvSpPr>
        <p:spPr>
          <a:prstGeom prst="rect">
            <a:avLst/>
          </a:prstGeom>
        </p:spPr>
        <p:txBody>
          <a:bodyPr/>
          <a:lstStyle/>
          <a:p>
            <a:pPr/>
            <a:r>
              <a:t>Interactivity aften impedes overall performance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7" name="Shape 567"/>
          <p:cNvSpPr/>
          <p:nvPr>
            <p:ph type="sldImg"/>
          </p:nvPr>
        </p:nvSpPr>
        <p:spPr>
          <a:prstGeom prst="rect">
            <a:avLst/>
          </a:prstGeom>
        </p:spPr>
        <p:txBody>
          <a:bodyPr/>
          <a:lstStyle/>
          <a:p>
            <a:pPr/>
          </a:p>
        </p:txBody>
      </p:sp>
      <p:sp>
        <p:nvSpPr>
          <p:cNvPr id="568" name="Shape 568"/>
          <p:cNvSpPr/>
          <p:nvPr>
            <p:ph type="body" sz="quarter" idx="1"/>
          </p:nvPr>
        </p:nvSpPr>
        <p:spPr>
          <a:prstGeom prst="rect">
            <a:avLst/>
          </a:prstGeom>
        </p:spPr>
        <p:txBody>
          <a:bodyPr/>
          <a:lstStyle>
            <a:lvl1pPr defTabSz="457200">
              <a:defRPr sz="2400">
                <a:uFillTx/>
                <a:latin typeface="Helvetica"/>
                <a:ea typeface="Helvetica"/>
                <a:cs typeface="Helvetica"/>
                <a:sym typeface="Helvetica"/>
              </a:defRPr>
            </a:lvl1pPr>
          </a:lstStyle>
          <a:p>
            <a:pPr/>
            <a:r>
              <a:t>Emailing Hans Boehm about about how to correctly communicate a bool for cancelation.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8" name="Shape 588"/>
          <p:cNvSpPr/>
          <p:nvPr>
            <p:ph type="sldImg"/>
          </p:nvPr>
        </p:nvSpPr>
        <p:spPr>
          <a:prstGeom prst="rect">
            <a:avLst/>
          </a:prstGeom>
        </p:spPr>
        <p:txBody>
          <a:bodyPr/>
          <a:lstStyle/>
          <a:p>
            <a:pPr/>
          </a:p>
        </p:txBody>
      </p:sp>
      <p:sp>
        <p:nvSpPr>
          <p:cNvPr id="589" name="Shape 589"/>
          <p:cNvSpPr/>
          <p:nvPr>
            <p:ph type="body" sz="quarter" idx="1"/>
          </p:nvPr>
        </p:nvSpPr>
        <p:spPr>
          <a:prstGeom prst="rect">
            <a:avLst/>
          </a:prstGeom>
        </p:spPr>
        <p:txBody>
          <a:bodyPr/>
          <a:lstStyle/>
          <a:p>
            <a:pPr defTabSz="457200">
              <a:defRPr sz="1100">
                <a:uFillTx/>
                <a:latin typeface="Helvetica"/>
                <a:ea typeface="Helvetica"/>
                <a:cs typeface="Helvetica"/>
                <a:sym typeface="Helvetica"/>
              </a:defRPr>
            </a:pPr>
            <a:r>
              <a:t>I marked in red each of the atomic operations</a:t>
            </a:r>
          </a:p>
          <a:p>
            <a:pPr defTabSz="457200">
              <a:defRPr sz="1100">
                <a:uFillTx/>
                <a:latin typeface="Helvetica"/>
                <a:ea typeface="Helvetica"/>
                <a:cs typeface="Helvetica"/>
                <a:sym typeface="Helvetica"/>
              </a:defRPr>
            </a:pPr>
            <a:r>
              <a:t>There is a subtle bug in this code...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7" name="Shape 607"/>
          <p:cNvSpPr/>
          <p:nvPr>
            <p:ph type="sldImg"/>
          </p:nvPr>
        </p:nvSpPr>
        <p:spPr>
          <a:prstGeom prst="rect">
            <a:avLst/>
          </a:prstGeom>
        </p:spPr>
        <p:txBody>
          <a:bodyPr/>
          <a:lstStyle/>
          <a:p>
            <a:pPr/>
          </a:p>
        </p:txBody>
      </p:sp>
      <p:sp>
        <p:nvSpPr>
          <p:cNvPr id="608" name="Shape 608"/>
          <p:cNvSpPr/>
          <p:nvPr>
            <p:ph type="body" sz="quarter" idx="1"/>
          </p:nvPr>
        </p:nvSpPr>
        <p:spPr>
          <a:prstGeom prst="rect">
            <a:avLst/>
          </a:prstGeom>
        </p:spPr>
        <p:txBody>
          <a:bodyPr/>
          <a:lstStyle/>
          <a:p>
            <a:pPr defTabSz="457200">
              <a:defRPr sz="1100">
                <a:uFillTx/>
                <a:latin typeface="Helvetica"/>
                <a:ea typeface="Helvetica"/>
                <a:cs typeface="Helvetica"/>
                <a:sym typeface="Helvetica"/>
              </a:defRPr>
            </a:pPr>
            <a:r>
              <a:t>I marked in red each of the atomic operations</a:t>
            </a:r>
          </a:p>
          <a:p>
            <a:pPr defTabSz="457200">
              <a:defRPr sz="1100">
                <a:uFillTx/>
                <a:latin typeface="Helvetica"/>
                <a:ea typeface="Helvetica"/>
                <a:cs typeface="Helvetica"/>
                <a:sym typeface="Helvetica"/>
              </a:defRPr>
            </a:pPr>
            <a:r>
              <a:t>There is a subtle bug in this code...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6" name="Shape 656"/>
          <p:cNvSpPr/>
          <p:nvPr>
            <p:ph type="sldImg"/>
          </p:nvPr>
        </p:nvSpPr>
        <p:spPr>
          <a:prstGeom prst="rect">
            <a:avLst/>
          </a:prstGeom>
        </p:spPr>
        <p:txBody>
          <a:bodyPr/>
          <a:lstStyle/>
          <a:p>
            <a:pPr/>
          </a:p>
        </p:txBody>
      </p:sp>
      <p:sp>
        <p:nvSpPr>
          <p:cNvPr id="657" name="Shape 657"/>
          <p:cNvSpPr/>
          <p:nvPr>
            <p:ph type="body" sz="quarter" idx="1"/>
          </p:nvPr>
        </p:nvSpPr>
        <p:spPr>
          <a:prstGeom prst="rect">
            <a:avLst/>
          </a:prstGeom>
        </p:spPr>
        <p:txBody>
          <a:bodyPr/>
          <a:lstStyle/>
          <a:p>
            <a:pPr/>
            <a:r>
              <a:t>What does the available computing power in a modern high end machine look like?</a:t>
            </a:r>
          </a:p>
          <a:p>
            <a:pPr/>
            <a:r>
              <a:t>“Guaranteed not to exceed” Card $250. GPU: 2250, SSE: 500, thread: 50, scalar: 7, 0.25% of total, 1.5% of cpu. On-board CPU graphics are not included. </a:t>
            </a:r>
          </a:p>
          <a:p>
            <a:pPr/>
            <a:r>
              <a:t>C++11 gets us to maybe 1% of the GFlops</a:t>
            </a:r>
          </a:p>
          <a:p>
            <a:pPr/>
          </a:p>
          <a:p>
            <a:pPr/>
            <a:r>
              <a:t>Thread Building Blocks, </a:t>
            </a:r>
          </a:p>
          <a:p>
            <a:pPr/>
            <a:r>
              <a:t>Apple Grand Central Dispatch</a:t>
            </a:r>
          </a:p>
          <a:p>
            <a:pPr/>
            <a:r>
              <a:t>GPU is a latency-hiding, data-parallel, bandwidth-oriented world. CPU is a latency-sensitive, branching world.</a:t>
            </a:r>
          </a:p>
          <a:p>
            <a:pPr/>
            <a:r>
              <a:t>Bandwidth 25 GB CPU / 180 GB GPU, 400-500 GB/s in 2014.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8" name="Shape 668"/>
          <p:cNvSpPr/>
          <p:nvPr>
            <p:ph type="sldImg"/>
          </p:nvPr>
        </p:nvSpPr>
        <p:spPr>
          <a:prstGeom prst="rect">
            <a:avLst/>
          </a:prstGeom>
        </p:spPr>
        <p:txBody>
          <a:bodyPr/>
          <a:lstStyle/>
          <a:p>
            <a:pPr/>
          </a:p>
        </p:txBody>
      </p:sp>
      <p:sp>
        <p:nvSpPr>
          <p:cNvPr id="669" name="Shape 669"/>
          <p:cNvSpPr/>
          <p:nvPr>
            <p:ph type="body" sz="quarter" idx="1"/>
          </p:nvPr>
        </p:nvSpPr>
        <p:spPr>
          <a:prstGeom prst="rect">
            <a:avLst/>
          </a:prstGeom>
        </p:spPr>
        <p:txBody>
          <a:bodyPr/>
          <a:lstStyle/>
          <a:p>
            <a:pPr/>
            <a:r>
              <a:t>This is a horrible graph - logarithmic scale</a:t>
            </a:r>
          </a:p>
          <a:p>
            <a:pPr/>
            <a:r>
              <a:t>Linear speed up arcs up to the moon (if printed on paper about 1/2 mile(or km) away).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9" name="Shape 679"/>
          <p:cNvSpPr/>
          <p:nvPr>
            <p:ph type="sldImg"/>
          </p:nvPr>
        </p:nvSpPr>
        <p:spPr>
          <a:prstGeom prst="rect">
            <a:avLst/>
          </a:prstGeom>
        </p:spPr>
        <p:txBody>
          <a:bodyPr/>
          <a:lstStyle/>
          <a:p>
            <a:pPr/>
          </a:p>
        </p:txBody>
      </p:sp>
      <p:sp>
        <p:nvSpPr>
          <p:cNvPr id="680" name="Shape 680"/>
          <p:cNvSpPr/>
          <p:nvPr>
            <p:ph type="body" sz="quarter" idx="1"/>
          </p:nvPr>
        </p:nvSpPr>
        <p:spPr>
          <a:prstGeom prst="rect">
            <a:avLst/>
          </a:prstGeom>
        </p:spPr>
        <p:txBody>
          <a:bodyPr/>
          <a:lstStyle/>
          <a:p>
            <a:pPr/>
            <a:r>
              <a:t>Code Simply - killing me for this talk…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0" name="Shape 690"/>
          <p:cNvSpPr/>
          <p:nvPr>
            <p:ph type="sldImg"/>
          </p:nvPr>
        </p:nvSpPr>
        <p:spPr>
          <a:prstGeom prst="rect">
            <a:avLst/>
          </a:prstGeom>
        </p:spPr>
        <p:txBody>
          <a:bodyPr/>
          <a:lstStyle/>
          <a:p>
            <a:pPr/>
          </a:p>
        </p:txBody>
      </p:sp>
      <p:sp>
        <p:nvSpPr>
          <p:cNvPr id="691" name="Shape 691"/>
          <p:cNvSpPr/>
          <p:nvPr>
            <p:ph type="body" sz="quarter" idx="1"/>
          </p:nvPr>
        </p:nvSpPr>
        <p:spPr>
          <a:prstGeom prst="rect">
            <a:avLst/>
          </a:prstGeom>
        </p:spPr>
        <p:txBody>
          <a:bodyPr/>
          <a:lstStyle/>
          <a:p>
            <a:pPr/>
            <a:r>
              <a:t>Lock free is not wait free</a:t>
            </a:r>
          </a:p>
          <a:p>
            <a:pPr/>
            <a:r>
              <a:t>Wait free is not synchronization free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5" name="Shape 725"/>
          <p:cNvSpPr/>
          <p:nvPr>
            <p:ph type="sldImg"/>
          </p:nvPr>
        </p:nvSpPr>
        <p:spPr>
          <a:prstGeom prst="rect">
            <a:avLst/>
          </a:prstGeom>
        </p:spPr>
        <p:txBody>
          <a:bodyPr/>
          <a:lstStyle/>
          <a:p>
            <a:pPr/>
          </a:p>
        </p:txBody>
      </p:sp>
      <p:sp>
        <p:nvSpPr>
          <p:cNvPr id="726" name="Shape 726"/>
          <p:cNvSpPr/>
          <p:nvPr>
            <p:ph type="body" sz="quarter" idx="1"/>
          </p:nvPr>
        </p:nvSpPr>
        <p:spPr>
          <a:prstGeom prst="rect">
            <a:avLst/>
          </a:prstGeom>
        </p:spPr>
        <p:txBody>
          <a:bodyPr/>
          <a:lstStyle/>
          <a:p>
            <a:pPr/>
            <a:r>
              <a:t>Interactivity aften impedes overall performance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0" name="Shape 760"/>
          <p:cNvSpPr/>
          <p:nvPr>
            <p:ph type="sldImg"/>
          </p:nvPr>
        </p:nvSpPr>
        <p:spPr>
          <a:prstGeom prst="rect">
            <a:avLst/>
          </a:prstGeom>
        </p:spPr>
        <p:txBody>
          <a:bodyPr/>
          <a:lstStyle/>
          <a:p>
            <a:pPr/>
          </a:p>
        </p:txBody>
      </p:sp>
      <p:sp>
        <p:nvSpPr>
          <p:cNvPr id="761" name="Shape 761"/>
          <p:cNvSpPr/>
          <p:nvPr>
            <p:ph type="body" sz="quarter" idx="1"/>
          </p:nvPr>
        </p:nvSpPr>
        <p:spPr>
          <a:prstGeom prst="rect">
            <a:avLst/>
          </a:prstGeom>
        </p:spPr>
        <p:txBody>
          <a:bodyPr/>
          <a:lstStyle/>
          <a:p>
            <a:pPr/>
            <a:r>
              <a:t>Interactivity aften impedes overall performance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2" name="Shape 792"/>
          <p:cNvSpPr/>
          <p:nvPr>
            <p:ph type="sldImg"/>
          </p:nvPr>
        </p:nvSpPr>
        <p:spPr>
          <a:prstGeom prst="rect">
            <a:avLst/>
          </a:prstGeom>
        </p:spPr>
        <p:txBody>
          <a:bodyPr/>
          <a:lstStyle/>
          <a:p>
            <a:pPr/>
          </a:p>
        </p:txBody>
      </p:sp>
      <p:sp>
        <p:nvSpPr>
          <p:cNvPr id="793" name="Shape 793"/>
          <p:cNvSpPr/>
          <p:nvPr>
            <p:ph type="body" sz="quarter" idx="1"/>
          </p:nvPr>
        </p:nvSpPr>
        <p:spPr>
          <a:prstGeom prst="rect">
            <a:avLst/>
          </a:prstGeom>
        </p:spPr>
        <p:txBody>
          <a:bodyPr/>
          <a:lstStyle/>
          <a:p>
            <a:pPr/>
            <a:r>
              <a:t>We have a single queue</a:t>
            </a:r>
          </a:p>
          <a:p>
            <a:pPr/>
            <a:r>
              <a:t>Similar to Oracle multithreaded programming guide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2" name="Shape 922"/>
          <p:cNvSpPr/>
          <p:nvPr>
            <p:ph type="sldImg"/>
          </p:nvPr>
        </p:nvSpPr>
        <p:spPr>
          <a:prstGeom prst="rect">
            <a:avLst/>
          </a:prstGeom>
        </p:spPr>
        <p:txBody>
          <a:bodyPr/>
          <a:lstStyle/>
          <a:p>
            <a:pPr/>
          </a:p>
        </p:txBody>
      </p:sp>
      <p:sp>
        <p:nvSpPr>
          <p:cNvPr id="923" name="Shape 923"/>
          <p:cNvSpPr/>
          <p:nvPr>
            <p:ph type="body" sz="quarter" idx="1"/>
          </p:nvPr>
        </p:nvSpPr>
        <p:spPr>
          <a:prstGeom prst="rect">
            <a:avLst/>
          </a:prstGeom>
        </p:spPr>
        <p:txBody>
          <a:bodyPr/>
          <a:lstStyle/>
          <a:p>
            <a:pPr/>
            <a:r>
              <a:t>K is about 56.</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5" name="Shape 955"/>
          <p:cNvSpPr/>
          <p:nvPr>
            <p:ph type="sldImg"/>
          </p:nvPr>
        </p:nvSpPr>
        <p:spPr>
          <a:prstGeom prst="rect">
            <a:avLst/>
          </a:prstGeom>
        </p:spPr>
        <p:txBody>
          <a:bodyPr/>
          <a:lstStyle/>
          <a:p>
            <a:pPr/>
          </a:p>
        </p:txBody>
      </p:sp>
      <p:sp>
        <p:nvSpPr>
          <p:cNvPr id="956" name="Shape 956"/>
          <p:cNvSpPr/>
          <p:nvPr>
            <p:ph type="body" sz="quarter" idx="1"/>
          </p:nvPr>
        </p:nvSpPr>
        <p:spPr>
          <a:prstGeom prst="rect">
            <a:avLst/>
          </a:prstGeom>
        </p:spPr>
        <p:txBody>
          <a:bodyPr/>
          <a:lstStyle>
            <a:lvl1pPr defTabSz="406400">
              <a:defRPr sz="1400">
                <a:uFillTx/>
                <a:latin typeface="Lucida Grande"/>
                <a:ea typeface="Lucida Grande"/>
                <a:cs typeface="Lucida Grande"/>
                <a:sym typeface="Lucida Grande"/>
              </a:defRPr>
            </a:lvl1pPr>
          </a:lstStyle>
          <a:p>
            <a:pPr/>
            <a:r>
              <a:t>Note use of bind and lambda to forward arguments so move only arguments can be correctly passed through.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5" name="Shape 995"/>
          <p:cNvSpPr/>
          <p:nvPr>
            <p:ph type="sldImg"/>
          </p:nvPr>
        </p:nvSpPr>
        <p:spPr>
          <a:prstGeom prst="rect">
            <a:avLst/>
          </a:prstGeom>
        </p:spPr>
        <p:txBody>
          <a:bodyPr/>
          <a:lstStyle/>
          <a:p>
            <a:pPr/>
          </a:p>
        </p:txBody>
      </p:sp>
      <p:sp>
        <p:nvSpPr>
          <p:cNvPr id="996" name="Shape 996"/>
          <p:cNvSpPr/>
          <p:nvPr>
            <p:ph type="body" sz="quarter" idx="1"/>
          </p:nvPr>
        </p:nvSpPr>
        <p:spPr>
          <a:prstGeom prst="rect">
            <a:avLst/>
          </a:prstGeom>
        </p:spPr>
        <p:txBody>
          <a:bodyPr/>
          <a:lstStyle>
            <a:lvl1pPr defTabSz="457200">
              <a:defRPr sz="2400">
                <a:uFillTx/>
                <a:latin typeface="Helvetica"/>
                <a:ea typeface="Helvetica"/>
                <a:cs typeface="Helvetica"/>
                <a:sym typeface="Helvetica"/>
              </a:defRPr>
            </a:lvl1pPr>
          </a:lstStyle>
          <a:p>
            <a:pPr/>
            <a:r>
              <a:t>This is a communicating sequential process model</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6" name="Shape 1006"/>
          <p:cNvSpPr/>
          <p:nvPr>
            <p:ph type="sldImg"/>
          </p:nvPr>
        </p:nvSpPr>
        <p:spPr>
          <a:prstGeom prst="rect">
            <a:avLst/>
          </a:prstGeom>
        </p:spPr>
        <p:txBody>
          <a:bodyPr/>
          <a:lstStyle/>
          <a:p>
            <a:pPr/>
          </a:p>
        </p:txBody>
      </p:sp>
      <p:sp>
        <p:nvSpPr>
          <p:cNvPr id="1007" name="Shape 1007"/>
          <p:cNvSpPr/>
          <p:nvPr>
            <p:ph type="body" sz="quarter" idx="1"/>
          </p:nvPr>
        </p:nvSpPr>
        <p:spPr>
          <a:prstGeom prst="rect">
            <a:avLst/>
          </a:prstGeom>
        </p:spPr>
        <p:txBody>
          <a:bodyPr/>
          <a:lstStyle/>
          <a:p>
            <a:pPr/>
            <a:r>
              <a:t>cpp_int is boost arbitrary precision integer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6" name="Shape 1026"/>
          <p:cNvSpPr/>
          <p:nvPr>
            <p:ph type="sldImg"/>
          </p:nvPr>
        </p:nvSpPr>
        <p:spPr>
          <a:prstGeom prst="rect">
            <a:avLst/>
          </a:prstGeom>
        </p:spPr>
        <p:txBody>
          <a:bodyPr/>
          <a:lstStyle/>
          <a:p>
            <a:pPr/>
          </a:p>
        </p:txBody>
      </p:sp>
      <p:sp>
        <p:nvSpPr>
          <p:cNvPr id="1027" name="Shape 1027"/>
          <p:cNvSpPr/>
          <p:nvPr>
            <p:ph type="body" sz="quarter" idx="1"/>
          </p:nvPr>
        </p:nvSpPr>
        <p:spPr>
          <a:prstGeom prst="rect">
            <a:avLst/>
          </a:prstGeom>
        </p:spPr>
        <p:txBody>
          <a:bodyPr/>
          <a:lstStyle/>
          <a:p>
            <a:pPr/>
            <a:r>
              <a:t>Fibonacci is a linear occurrence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6" name="Shape 1036"/>
          <p:cNvSpPr/>
          <p:nvPr>
            <p:ph type="sldImg"/>
          </p:nvPr>
        </p:nvSpPr>
        <p:spPr>
          <a:prstGeom prst="rect">
            <a:avLst/>
          </a:prstGeom>
        </p:spPr>
        <p:txBody>
          <a:bodyPr/>
          <a:lstStyle/>
          <a:p>
            <a:pPr/>
          </a:p>
        </p:txBody>
      </p:sp>
      <p:sp>
        <p:nvSpPr>
          <p:cNvPr id="1037" name="Shape 1037"/>
          <p:cNvSpPr/>
          <p:nvPr>
            <p:ph type="body" sz="quarter" idx="1"/>
          </p:nvPr>
        </p:nvSpPr>
        <p:spPr>
          <a:prstGeom prst="rect">
            <a:avLst/>
          </a:prstGeom>
        </p:spPr>
        <p:txBody>
          <a:bodyPr/>
          <a:lstStyle/>
          <a:p>
            <a:pPr/>
            <a:r>
              <a:t>cpp_int is boost arbitrary precision integer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7" name="Shape 1047"/>
          <p:cNvSpPr/>
          <p:nvPr>
            <p:ph type="sldImg"/>
          </p:nvPr>
        </p:nvSpPr>
        <p:spPr>
          <a:prstGeom prst="rect">
            <a:avLst/>
          </a:prstGeom>
        </p:spPr>
        <p:txBody>
          <a:bodyPr/>
          <a:lstStyle/>
          <a:p>
            <a:pPr/>
          </a:p>
        </p:txBody>
      </p:sp>
      <p:sp>
        <p:nvSpPr>
          <p:cNvPr id="1048" name="Shape 1048"/>
          <p:cNvSpPr/>
          <p:nvPr>
            <p:ph type="body" sz="quarter" idx="1"/>
          </p:nvPr>
        </p:nvSpPr>
        <p:spPr>
          <a:prstGeom prst="rect">
            <a:avLst/>
          </a:prstGeom>
        </p:spPr>
        <p:txBody>
          <a:bodyPr/>
          <a:lstStyle/>
          <a:p>
            <a:pPr/>
            <a:r>
              <a:t>3.5s to calculate</a:t>
            </a:r>
          </a:p>
          <a:p>
            <a:pPr/>
            <a:r>
              <a:t>208,988 digits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8" name="Shape 1068"/>
          <p:cNvSpPr/>
          <p:nvPr>
            <p:ph type="sldImg"/>
          </p:nvPr>
        </p:nvSpPr>
        <p:spPr>
          <a:prstGeom prst="rect">
            <a:avLst/>
          </a:prstGeom>
        </p:spPr>
        <p:txBody>
          <a:bodyPr/>
          <a:lstStyle/>
          <a:p>
            <a:pPr/>
          </a:p>
        </p:txBody>
      </p:sp>
      <p:sp>
        <p:nvSpPr>
          <p:cNvPr id="1069" name="Shape 1069"/>
          <p:cNvSpPr/>
          <p:nvPr>
            <p:ph type="body" sz="quarter" idx="1"/>
          </p:nvPr>
        </p:nvSpPr>
        <p:spPr>
          <a:prstGeom prst="rect">
            <a:avLst/>
          </a:prstGeom>
        </p:spPr>
        <p:txBody>
          <a:bodyPr/>
          <a:lstStyle/>
          <a:p>
            <a:pPr/>
            <a:r>
              <a:t>[ future vs. callback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0" name="Shape 1080"/>
          <p:cNvSpPr/>
          <p:nvPr>
            <p:ph type="sldImg"/>
          </p:nvPr>
        </p:nvSpPr>
        <p:spPr>
          <a:prstGeom prst="rect">
            <a:avLst/>
          </a:prstGeom>
        </p:spPr>
        <p:txBody>
          <a:bodyPr/>
          <a:lstStyle/>
          <a:p>
            <a:pPr/>
          </a:p>
        </p:txBody>
      </p:sp>
      <p:sp>
        <p:nvSpPr>
          <p:cNvPr id="1081" name="Shape 1081"/>
          <p:cNvSpPr/>
          <p:nvPr>
            <p:ph type="body" sz="quarter" idx="1"/>
          </p:nvPr>
        </p:nvSpPr>
        <p:spPr>
          <a:prstGeom prst="rect">
            <a:avLst/>
          </a:prstGeom>
        </p:spPr>
        <p:txBody>
          <a:bodyPr/>
          <a:lstStyle/>
          <a:p>
            <a:pPr/>
            <a:r>
              <a:t>Error type and value preserved</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7" name="Shape 1107"/>
          <p:cNvSpPr/>
          <p:nvPr>
            <p:ph type="sldImg"/>
          </p:nvPr>
        </p:nvSpPr>
        <p:spPr>
          <a:prstGeom prst="rect">
            <a:avLst/>
          </a:prstGeom>
        </p:spPr>
        <p:txBody>
          <a:bodyPr/>
          <a:lstStyle/>
          <a:p>
            <a:pPr/>
          </a:p>
        </p:txBody>
      </p:sp>
      <p:sp>
        <p:nvSpPr>
          <p:cNvPr id="1108" name="Shape 1108"/>
          <p:cNvSpPr/>
          <p:nvPr>
            <p:ph type="body" sz="quarter" idx="1"/>
          </p:nvPr>
        </p:nvSpPr>
        <p:spPr>
          <a:prstGeom prst="rect">
            <a:avLst/>
          </a:prstGeom>
        </p:spPr>
        <p:txBody>
          <a:bodyPr/>
          <a:lstStyle>
            <a:lvl1pPr defTabSz="457200">
              <a:defRPr sz="2400">
                <a:uFillTx/>
                <a:latin typeface="Helvetica"/>
                <a:ea typeface="Helvetica"/>
                <a:cs typeface="Helvetica"/>
                <a:sym typeface="Helvetica"/>
              </a:defRPr>
            </a:lvl1pPr>
          </a:lstStyle>
          <a:p>
            <a:pPr/>
            <a:r>
              <a:t>This is a communicating sequential process model</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7" name="Shape 1117"/>
          <p:cNvSpPr/>
          <p:nvPr>
            <p:ph type="sldImg"/>
          </p:nvPr>
        </p:nvSpPr>
        <p:spPr>
          <a:prstGeom prst="rect">
            <a:avLst/>
          </a:prstGeom>
        </p:spPr>
        <p:txBody>
          <a:bodyPr/>
          <a:lstStyle/>
          <a:p>
            <a:pPr/>
          </a:p>
        </p:txBody>
      </p:sp>
      <p:sp>
        <p:nvSpPr>
          <p:cNvPr id="1118" name="Shape 1118"/>
          <p:cNvSpPr/>
          <p:nvPr>
            <p:ph type="body" sz="quarter" idx="1"/>
          </p:nvPr>
        </p:nvSpPr>
        <p:spPr>
          <a:prstGeom prst="rect">
            <a:avLst/>
          </a:prstGeom>
        </p:spPr>
        <p:txBody>
          <a:bodyPr/>
          <a:lstStyle/>
          <a:p>
            <a:pPr/>
            <a:r>
              <a:t>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7" name="Shape 1177"/>
          <p:cNvSpPr/>
          <p:nvPr>
            <p:ph type="sldImg"/>
          </p:nvPr>
        </p:nvSpPr>
        <p:spPr>
          <a:prstGeom prst="rect">
            <a:avLst/>
          </a:prstGeom>
        </p:spPr>
        <p:txBody>
          <a:bodyPr/>
          <a:lstStyle/>
          <a:p>
            <a:pPr/>
          </a:p>
        </p:txBody>
      </p:sp>
      <p:sp>
        <p:nvSpPr>
          <p:cNvPr id="1178" name="Shape 1178"/>
          <p:cNvSpPr/>
          <p:nvPr>
            <p:ph type="body" sz="quarter" idx="1"/>
          </p:nvPr>
        </p:nvSpPr>
        <p:spPr>
          <a:prstGeom prst="rect">
            <a:avLst/>
          </a:prstGeom>
        </p:spPr>
        <p:txBody>
          <a:bodyPr/>
          <a:lstStyle/>
          <a:p>
            <a:pPr/>
            <a:r>
              <a:t>A low-level tasking system as we built can be adapted to either - see libdispatch slide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2" name="Shape 1212"/>
          <p:cNvSpPr/>
          <p:nvPr>
            <p:ph type="sldImg"/>
          </p:nvPr>
        </p:nvSpPr>
        <p:spPr>
          <a:prstGeom prst="rect">
            <a:avLst/>
          </a:prstGeom>
        </p:spPr>
        <p:txBody>
          <a:bodyPr/>
          <a:lstStyle/>
          <a:p>
            <a:pPr/>
          </a:p>
        </p:txBody>
      </p:sp>
      <p:sp>
        <p:nvSpPr>
          <p:cNvPr id="1213" name="Shape 1213"/>
          <p:cNvSpPr/>
          <p:nvPr>
            <p:ph type="body" sz="quarter" idx="1"/>
          </p:nvPr>
        </p:nvSpPr>
        <p:spPr>
          <a:prstGeom prst="rect">
            <a:avLst/>
          </a:prstGeom>
        </p:spPr>
        <p:txBody>
          <a:bodyPr/>
          <a:lstStyle/>
          <a:p>
            <a:pPr defTabSz="457200">
              <a:defRPr sz="2400">
                <a:uFillTx/>
                <a:latin typeface="Helvetica"/>
                <a:ea typeface="Helvetica"/>
                <a:cs typeface="Helvetica"/>
                <a:sym typeface="Helvetica"/>
              </a:defRPr>
            </a:pPr>
            <a:r>
              <a:t>Add seasoning slide with packaged task</a:t>
            </a:r>
          </a:p>
          <a:p>
            <a:pPr defTabSz="457200">
              <a:defRPr sz="2400">
                <a:uFillTx/>
                <a:latin typeface="Helvetica"/>
                <a:ea typeface="Helvetica"/>
                <a:cs typeface="Helvetica"/>
                <a:sym typeface="Helvetica"/>
              </a:defRPr>
            </a:pPr>
            <a:r>
              <a:t>	LIttle discussion on other items are too complex.</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4" name="Shape 1234"/>
          <p:cNvSpPr/>
          <p:nvPr>
            <p:ph type="sldImg"/>
          </p:nvPr>
        </p:nvSpPr>
        <p:spPr>
          <a:prstGeom prst="rect">
            <a:avLst/>
          </a:prstGeom>
        </p:spPr>
        <p:txBody>
          <a:bodyPr/>
          <a:lstStyle/>
          <a:p>
            <a:pPr/>
          </a:p>
        </p:txBody>
      </p:sp>
      <p:sp>
        <p:nvSpPr>
          <p:cNvPr id="1235" name="Shape 1235"/>
          <p:cNvSpPr/>
          <p:nvPr>
            <p:ph type="body" sz="quarter" idx="1"/>
          </p:nvPr>
        </p:nvSpPr>
        <p:spPr>
          <a:prstGeom prst="rect">
            <a:avLst/>
          </a:prstGeom>
        </p:spPr>
        <p:txBody>
          <a:bodyPr/>
          <a:lstStyle>
            <a:lvl1pPr defTabSz="406400">
              <a:defRPr sz="2800">
                <a:uFillTx/>
                <a:latin typeface="Lucida Grande"/>
                <a:ea typeface="Lucida Grande"/>
                <a:cs typeface="Lucida Grande"/>
                <a:sym typeface="Lucida Grande"/>
              </a:defRPr>
            </a:lvl1pPr>
          </a:lstStyle>
          <a:p>
            <a:pPr/>
            <a:r>
              <a:t>If I x is share() - it doesn’t crash but second then() overwrites the first.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3" name="Shape 1253"/>
          <p:cNvSpPr/>
          <p:nvPr>
            <p:ph type="sldImg"/>
          </p:nvPr>
        </p:nvSpPr>
        <p:spPr>
          <a:prstGeom prst="rect">
            <a:avLst/>
          </a:prstGeom>
        </p:spPr>
        <p:txBody>
          <a:bodyPr/>
          <a:lstStyle/>
          <a:p>
            <a:pPr/>
          </a:p>
        </p:txBody>
      </p:sp>
      <p:sp>
        <p:nvSpPr>
          <p:cNvPr id="1254" name="Shape 1254"/>
          <p:cNvSpPr/>
          <p:nvPr>
            <p:ph type="body" sz="quarter" idx="1"/>
          </p:nvPr>
        </p:nvSpPr>
        <p:spPr>
          <a:prstGeom prst="rect">
            <a:avLst/>
          </a:prstGeom>
        </p:spPr>
        <p:txBody>
          <a:bodyPr/>
          <a:lstStyle>
            <a:lvl1pPr defTabSz="457200">
              <a:lnSpc>
                <a:spcPct val="117999"/>
              </a:lnSpc>
              <a:defRPr sz="4400">
                <a:uFillTx/>
                <a:latin typeface="Helvetica Neue"/>
                <a:ea typeface="Helvetica Neue"/>
                <a:cs typeface="Helvetica Neue"/>
                <a:sym typeface="Helvetica Neue"/>
              </a:defRPr>
            </a:lvl1pPr>
          </a:lstStyle>
          <a:p>
            <a:pPr/>
            <a:r>
              <a:t>Kleisli Category</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2" name="Shape 1262"/>
          <p:cNvSpPr/>
          <p:nvPr>
            <p:ph type="sldImg"/>
          </p:nvPr>
        </p:nvSpPr>
        <p:spPr>
          <a:prstGeom prst="rect">
            <a:avLst/>
          </a:prstGeom>
        </p:spPr>
        <p:txBody>
          <a:bodyPr/>
          <a:lstStyle/>
          <a:p>
            <a:pPr/>
          </a:p>
        </p:txBody>
      </p:sp>
      <p:sp>
        <p:nvSpPr>
          <p:cNvPr id="1263" name="Shape 1263"/>
          <p:cNvSpPr/>
          <p:nvPr>
            <p:ph type="body" sz="quarter" idx="1"/>
          </p:nvPr>
        </p:nvSpPr>
        <p:spPr>
          <a:prstGeom prst="rect">
            <a:avLst/>
          </a:prstGeom>
        </p:spPr>
        <p:txBody>
          <a:bodyPr/>
          <a:lstStyle>
            <a:lvl1pPr defTabSz="406400">
              <a:defRPr sz="2800">
                <a:uFillTx/>
                <a:latin typeface="Lucida Grande"/>
                <a:ea typeface="Lucida Grande"/>
                <a:cs typeface="Lucida Grande"/>
                <a:sym typeface="Lucida Grande"/>
              </a:defRPr>
            </a:lvl1pPr>
          </a:lstStyle>
          <a:p>
            <a:pPr/>
            <a:r>
              <a:t>Split x</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7" name="Shape 1277"/>
          <p:cNvSpPr/>
          <p:nvPr>
            <p:ph type="sldImg"/>
          </p:nvPr>
        </p:nvSpPr>
        <p:spPr>
          <a:prstGeom prst="rect">
            <a:avLst/>
          </a:prstGeom>
        </p:spPr>
        <p:txBody>
          <a:bodyPr/>
          <a:lstStyle/>
          <a:p>
            <a:pPr/>
          </a:p>
        </p:txBody>
      </p:sp>
      <p:sp>
        <p:nvSpPr>
          <p:cNvPr id="1278" name="Shape 1278"/>
          <p:cNvSpPr/>
          <p:nvPr>
            <p:ph type="body" sz="quarter" idx="1"/>
          </p:nvPr>
        </p:nvSpPr>
        <p:spPr>
          <a:prstGeom prst="rect">
            <a:avLst/>
          </a:prstGeom>
        </p:spPr>
        <p:txBody>
          <a:bodyPr/>
          <a:lstStyle/>
          <a:p>
            <a:pPr defTabSz="406400">
              <a:defRPr sz="2800">
                <a:uFillTx/>
                <a:latin typeface="Lucida Grande"/>
                <a:ea typeface="Lucida Grande"/>
                <a:cs typeface="Lucida Grande"/>
                <a:sym typeface="Lucida Grande"/>
              </a:defRPr>
            </a:pPr>
            <a:r>
              <a:t>Use specialization to extract parts of function signature</a:t>
            </a:r>
          </a:p>
          <a:p>
            <a:pPr defTabSz="406400">
              <a:defRPr sz="2800">
                <a:uFillTx/>
                <a:latin typeface="Lucida Grande"/>
                <a:ea typeface="Lucida Grande"/>
                <a:cs typeface="Lucida Grande"/>
                <a:sym typeface="Lucida Grande"/>
              </a:defRPr>
            </a:pPr>
            <a:r>
              <a:t>Can use boost function traits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0" name="Shape 1290"/>
          <p:cNvSpPr/>
          <p:nvPr>
            <p:ph type="sldImg"/>
          </p:nvPr>
        </p:nvSpPr>
        <p:spPr>
          <a:prstGeom prst="rect">
            <a:avLst/>
          </a:prstGeom>
        </p:spPr>
        <p:txBody>
          <a:bodyPr/>
          <a:lstStyle/>
          <a:p>
            <a:pPr/>
          </a:p>
        </p:txBody>
      </p:sp>
      <p:sp>
        <p:nvSpPr>
          <p:cNvPr id="1291" name="Shape 1291"/>
          <p:cNvSpPr/>
          <p:nvPr>
            <p:ph type="body" sz="quarter" idx="1"/>
          </p:nvPr>
        </p:nvSpPr>
        <p:spPr>
          <a:prstGeom prst="rect">
            <a:avLst/>
          </a:prstGeom>
        </p:spPr>
        <p:txBody>
          <a:bodyPr/>
          <a:lstStyle/>
          <a:p>
            <a:pPr defTabSz="406400">
              <a:defRPr sz="2800">
                <a:uFillTx/>
                <a:latin typeface="Lucida Grande"/>
                <a:ea typeface="Lucida Grande"/>
                <a:cs typeface="Lucida Grande"/>
                <a:sym typeface="Lucida Grande"/>
              </a:defRPr>
            </a:pPr>
            <a:r>
              <a:t>Use specialization to extract parts of function signature</a:t>
            </a:r>
          </a:p>
          <a:p>
            <a:pPr defTabSz="406400">
              <a:defRPr sz="2800">
                <a:uFillTx/>
                <a:latin typeface="Lucida Grande"/>
                <a:ea typeface="Lucida Grande"/>
                <a:cs typeface="Lucida Grande"/>
                <a:sym typeface="Lucida Grande"/>
              </a:defRPr>
            </a:pPr>
            <a:r>
              <a:t>Can use boost function traits</a:t>
            </a:r>
          </a:p>
          <a:p>
            <a:pPr defTabSz="406400">
              <a:defRPr sz="2800">
                <a:uFillTx/>
                <a:latin typeface="Lucida Grande"/>
                <a:ea typeface="Lucida Grande"/>
                <a:cs typeface="Lucida Grande"/>
                <a:sym typeface="Lucida Grande"/>
              </a:defRPr>
            </a:pPr>
          </a:p>
          <a:p>
            <a:pPr defTabSz="406400">
              <a:defRPr sz="2800">
                <a:uFillTx/>
                <a:latin typeface="Lucida Grande"/>
                <a:ea typeface="Lucida Grande"/>
                <a:cs typeface="Lucida Grande"/>
                <a:sym typeface="Lucida Grande"/>
              </a:defRPr>
            </a:pPr>
            <a:r>
              <a:t>[*] Animate (build in) - diagram? circle for promise with arrow to future.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7" name="Shape 1297"/>
          <p:cNvSpPr/>
          <p:nvPr>
            <p:ph type="sldImg"/>
          </p:nvPr>
        </p:nvSpPr>
        <p:spPr>
          <a:prstGeom prst="rect">
            <a:avLst/>
          </a:prstGeom>
        </p:spPr>
        <p:txBody>
          <a:bodyPr/>
          <a:lstStyle/>
          <a:p>
            <a:pPr/>
          </a:p>
        </p:txBody>
      </p:sp>
      <p:sp>
        <p:nvSpPr>
          <p:cNvPr id="1298" name="Shape 1298"/>
          <p:cNvSpPr/>
          <p:nvPr>
            <p:ph type="body" sz="quarter" idx="1"/>
          </p:nvPr>
        </p:nvSpPr>
        <p:spPr>
          <a:prstGeom prst="rect">
            <a:avLst/>
          </a:prstGeom>
        </p:spPr>
        <p:txBody>
          <a:bodyPr/>
          <a:lstStyle/>
          <a:p>
            <a:pPr defTabSz="406400">
              <a:defRPr sz="2800">
                <a:uFillTx/>
                <a:latin typeface="Lucida Grande"/>
                <a:ea typeface="Lucida Grande"/>
                <a:cs typeface="Lucida Grande"/>
                <a:sym typeface="Lucida Grande"/>
              </a:defRPr>
            </a:pPr>
            <a:r>
              <a:t>Use specialization to extract parts of function signature</a:t>
            </a:r>
          </a:p>
          <a:p>
            <a:pPr defTabSz="406400">
              <a:defRPr sz="2800">
                <a:uFillTx/>
                <a:latin typeface="Lucida Grande"/>
                <a:ea typeface="Lucida Grande"/>
                <a:cs typeface="Lucida Grande"/>
                <a:sym typeface="Lucida Grande"/>
              </a:defRPr>
            </a:pPr>
            <a:r>
              <a:t>Can use boost function traits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4" name="Shape 1304"/>
          <p:cNvSpPr/>
          <p:nvPr>
            <p:ph type="sldImg"/>
          </p:nvPr>
        </p:nvSpPr>
        <p:spPr>
          <a:prstGeom prst="rect">
            <a:avLst/>
          </a:prstGeom>
        </p:spPr>
        <p:txBody>
          <a:bodyPr/>
          <a:lstStyle/>
          <a:p>
            <a:pPr/>
          </a:p>
        </p:txBody>
      </p:sp>
      <p:sp>
        <p:nvSpPr>
          <p:cNvPr id="1305" name="Shape 1305"/>
          <p:cNvSpPr/>
          <p:nvPr>
            <p:ph type="body" sz="quarter" idx="1"/>
          </p:nvPr>
        </p:nvSpPr>
        <p:spPr>
          <a:prstGeom prst="rect">
            <a:avLst/>
          </a:prstGeom>
        </p:spPr>
        <p:txBody>
          <a:bodyPr/>
          <a:lstStyle>
            <a:lvl1pPr defTabSz="406400">
              <a:defRPr sz="2800">
                <a:uFillTx/>
                <a:latin typeface="Lucida Grande"/>
                <a:ea typeface="Lucida Grande"/>
                <a:cs typeface="Lucida Grande"/>
                <a:sym typeface="Lucida Grande"/>
              </a:defRPr>
            </a:lvl1pPr>
          </a:lstStyle>
          <a:p>
            <a:pPr/>
            <a:r>
              <a:t>Split x</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4" name="Shape 1314"/>
          <p:cNvSpPr/>
          <p:nvPr>
            <p:ph type="sldImg"/>
          </p:nvPr>
        </p:nvSpPr>
        <p:spPr>
          <a:prstGeom prst="rect">
            <a:avLst/>
          </a:prstGeom>
        </p:spPr>
        <p:txBody>
          <a:bodyPr/>
          <a:lstStyle/>
          <a:p>
            <a:pPr/>
          </a:p>
        </p:txBody>
      </p:sp>
      <p:sp>
        <p:nvSpPr>
          <p:cNvPr id="1315" name="Shape 1315"/>
          <p:cNvSpPr/>
          <p:nvPr>
            <p:ph type="body" sz="quarter" idx="1"/>
          </p:nvPr>
        </p:nvSpPr>
        <p:spPr>
          <a:prstGeom prst="rect">
            <a:avLst/>
          </a:prstGeom>
        </p:spPr>
        <p:txBody>
          <a:bodyPr/>
          <a:lstStyle/>
          <a:p>
            <a:pPr/>
            <a:r>
              <a:t>For shared futures, otherwise when “the future”</a:t>
            </a:r>
          </a:p>
          <a:p>
            <a:pPr/>
            <a:r>
              <a:t>[*] Reference stlab/libraries? PPL cancelation?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3" name="Shape 1363"/>
          <p:cNvSpPr/>
          <p:nvPr>
            <p:ph type="sldImg"/>
          </p:nvPr>
        </p:nvSpPr>
        <p:spPr>
          <a:prstGeom prst="rect">
            <a:avLst/>
          </a:prstGeom>
        </p:spPr>
        <p:txBody>
          <a:bodyPr/>
          <a:lstStyle/>
          <a:p>
            <a:pPr/>
          </a:p>
        </p:txBody>
      </p:sp>
      <p:sp>
        <p:nvSpPr>
          <p:cNvPr id="1364" name="Shape 1364"/>
          <p:cNvSpPr/>
          <p:nvPr>
            <p:ph type="body" sz="quarter" idx="1"/>
          </p:nvPr>
        </p:nvSpPr>
        <p:spPr>
          <a:prstGeom prst="rect">
            <a:avLst/>
          </a:prstGeom>
        </p:spPr>
        <p:txBody>
          <a:bodyPr/>
          <a:lstStyle/>
          <a:p>
            <a:pPr defTabSz="406400">
              <a:defRPr sz="2800">
                <a:uFillTx/>
                <a:latin typeface="Lucida Grande"/>
                <a:ea typeface="Lucida Grande"/>
                <a:cs typeface="Lucida Grande"/>
                <a:sym typeface="Lucida Grande"/>
              </a:defRPr>
            </a:pPr>
            <a:r>
              <a:t>Use specialization to extract parts of function signature</a:t>
            </a:r>
          </a:p>
          <a:p>
            <a:pPr defTabSz="406400">
              <a:defRPr sz="2800">
                <a:uFillTx/>
                <a:latin typeface="Lucida Grande"/>
                <a:ea typeface="Lucida Grande"/>
                <a:cs typeface="Lucida Grande"/>
                <a:sym typeface="Lucida Grande"/>
              </a:defRPr>
            </a:pPr>
            <a:r>
              <a:t>Can use boost function traits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3" name="Shape 1373"/>
          <p:cNvSpPr/>
          <p:nvPr>
            <p:ph type="sldImg"/>
          </p:nvPr>
        </p:nvSpPr>
        <p:spPr>
          <a:prstGeom prst="rect">
            <a:avLst/>
          </a:prstGeom>
        </p:spPr>
        <p:txBody>
          <a:bodyPr/>
          <a:lstStyle/>
          <a:p>
            <a:pPr/>
          </a:p>
        </p:txBody>
      </p:sp>
      <p:sp>
        <p:nvSpPr>
          <p:cNvPr id="1374" name="Shape 1374"/>
          <p:cNvSpPr/>
          <p:nvPr>
            <p:ph type="body" sz="quarter" idx="1"/>
          </p:nvPr>
        </p:nvSpPr>
        <p:spPr>
          <a:prstGeom prst="rect">
            <a:avLst/>
          </a:prstGeom>
        </p:spPr>
        <p:txBody>
          <a:bodyPr/>
          <a:lstStyle/>
          <a:p>
            <a:pPr/>
            <a:r>
              <a:t>Can’t create packaged_task and then call get_future() - need a factory function</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2" name="Shape 1382"/>
          <p:cNvSpPr/>
          <p:nvPr>
            <p:ph type="sldImg"/>
          </p:nvPr>
        </p:nvSpPr>
        <p:spPr>
          <a:prstGeom prst="rect">
            <a:avLst/>
          </a:prstGeom>
        </p:spPr>
        <p:txBody>
          <a:bodyPr/>
          <a:lstStyle/>
          <a:p>
            <a:pPr/>
          </a:p>
        </p:txBody>
      </p:sp>
      <p:sp>
        <p:nvSpPr>
          <p:cNvPr id="1383" name="Shape 1383"/>
          <p:cNvSpPr/>
          <p:nvPr>
            <p:ph type="body" sz="quarter" idx="1"/>
          </p:nvPr>
        </p:nvSpPr>
        <p:spPr>
          <a:prstGeom prst="rect">
            <a:avLst/>
          </a:prstGeom>
        </p:spPr>
        <p:txBody>
          <a:bodyPr/>
          <a:lstStyle/>
          <a:p>
            <a:pPr/>
            <a:r>
              <a:t>Can’t create packaged_task and then call get_future() - need a factory function</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9" name="Shape 1389"/>
          <p:cNvSpPr/>
          <p:nvPr>
            <p:ph type="sldImg"/>
          </p:nvPr>
        </p:nvSpPr>
        <p:spPr>
          <a:prstGeom prst="rect">
            <a:avLst/>
          </a:prstGeom>
        </p:spPr>
        <p:txBody>
          <a:bodyPr/>
          <a:lstStyle/>
          <a:p>
            <a:pPr/>
          </a:p>
        </p:txBody>
      </p:sp>
      <p:sp>
        <p:nvSpPr>
          <p:cNvPr id="1390" name="Shape 1390"/>
          <p:cNvSpPr/>
          <p:nvPr>
            <p:ph type="body" sz="quarter" idx="1"/>
          </p:nvPr>
        </p:nvSpPr>
        <p:spPr>
          <a:prstGeom prst="rect">
            <a:avLst/>
          </a:prstGeom>
        </p:spPr>
        <p:txBody>
          <a:bodyPr/>
          <a:lstStyle/>
          <a:p>
            <a:pPr/>
            <a:r>
              <a:t>Can’t create packaged_task and then call get_future() - need a factory function</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7" name="Shape 1397"/>
          <p:cNvSpPr/>
          <p:nvPr>
            <p:ph type="sldImg"/>
          </p:nvPr>
        </p:nvSpPr>
        <p:spPr>
          <a:prstGeom prst="rect">
            <a:avLst/>
          </a:prstGeom>
        </p:spPr>
        <p:txBody>
          <a:bodyPr/>
          <a:lstStyle/>
          <a:p>
            <a:pPr/>
          </a:p>
        </p:txBody>
      </p:sp>
      <p:sp>
        <p:nvSpPr>
          <p:cNvPr id="1398" name="Shape 1398"/>
          <p:cNvSpPr/>
          <p:nvPr>
            <p:ph type="body" sz="quarter" idx="1"/>
          </p:nvPr>
        </p:nvSpPr>
        <p:spPr>
          <a:prstGeom prst="rect">
            <a:avLst/>
          </a:prstGeom>
        </p:spPr>
        <p:txBody>
          <a:bodyPr/>
          <a:lstStyle/>
          <a:p>
            <a:pPr/>
            <a:r>
              <a:t>Can’t create packaged_task and then call get_future() - need a factory function</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6" name="Shape 1406"/>
          <p:cNvSpPr/>
          <p:nvPr>
            <p:ph type="sldImg"/>
          </p:nvPr>
        </p:nvSpPr>
        <p:spPr>
          <a:prstGeom prst="rect">
            <a:avLst/>
          </a:prstGeom>
        </p:spPr>
        <p:txBody>
          <a:bodyPr/>
          <a:lstStyle/>
          <a:p>
            <a:pPr/>
          </a:p>
        </p:txBody>
      </p:sp>
      <p:sp>
        <p:nvSpPr>
          <p:cNvPr id="1407" name="Shape 1407"/>
          <p:cNvSpPr/>
          <p:nvPr>
            <p:ph type="body" sz="quarter" idx="1"/>
          </p:nvPr>
        </p:nvSpPr>
        <p:spPr>
          <a:prstGeom prst="rect">
            <a:avLst/>
          </a:prstGeom>
        </p:spPr>
        <p:txBody>
          <a:bodyPr/>
          <a:lstStyle/>
          <a:p>
            <a:pPr/>
            <a:r>
              <a:t>This weak pointer is what handles our cancelation</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3" name="Shape 1413"/>
          <p:cNvSpPr/>
          <p:nvPr>
            <p:ph type="sldImg"/>
          </p:nvPr>
        </p:nvSpPr>
        <p:spPr>
          <a:prstGeom prst="rect">
            <a:avLst/>
          </a:prstGeom>
        </p:spPr>
        <p:txBody>
          <a:bodyPr/>
          <a:lstStyle/>
          <a:p>
            <a:pPr/>
          </a:p>
        </p:txBody>
      </p:sp>
      <p:sp>
        <p:nvSpPr>
          <p:cNvPr id="1414" name="Shape 1414"/>
          <p:cNvSpPr/>
          <p:nvPr>
            <p:ph type="body" sz="quarter" idx="1"/>
          </p:nvPr>
        </p:nvSpPr>
        <p:spPr>
          <a:prstGeom prst="rect">
            <a:avLst/>
          </a:prstGeom>
        </p:spPr>
        <p:txBody>
          <a:bodyPr/>
          <a:lstStyle/>
          <a:p>
            <a:pPr/>
            <a:r>
              <a:t>This weak pointer is what handles our cancelation</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0" name="Shape 1420"/>
          <p:cNvSpPr/>
          <p:nvPr>
            <p:ph type="sldImg"/>
          </p:nvPr>
        </p:nvSpPr>
        <p:spPr>
          <a:prstGeom prst="rect">
            <a:avLst/>
          </a:prstGeom>
        </p:spPr>
        <p:txBody>
          <a:bodyPr/>
          <a:lstStyle/>
          <a:p>
            <a:pPr/>
          </a:p>
        </p:txBody>
      </p:sp>
      <p:sp>
        <p:nvSpPr>
          <p:cNvPr id="1421" name="Shape 1421"/>
          <p:cNvSpPr/>
          <p:nvPr>
            <p:ph type="body" sz="quarter" idx="1"/>
          </p:nvPr>
        </p:nvSpPr>
        <p:spPr>
          <a:prstGeom prst="rect">
            <a:avLst/>
          </a:prstGeom>
        </p:spPr>
        <p:txBody>
          <a:bodyPr/>
          <a:lstStyle/>
          <a:p>
            <a:pPr/>
            <a:r>
              <a:t>This weak pointer is what handles our cancelation</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0" name="Shape 1430"/>
          <p:cNvSpPr/>
          <p:nvPr>
            <p:ph type="sldImg"/>
          </p:nvPr>
        </p:nvSpPr>
        <p:spPr>
          <a:prstGeom prst="rect">
            <a:avLst/>
          </a:prstGeom>
        </p:spPr>
        <p:txBody>
          <a:bodyPr/>
          <a:lstStyle/>
          <a:p>
            <a:pPr/>
          </a:p>
        </p:txBody>
      </p:sp>
      <p:sp>
        <p:nvSpPr>
          <p:cNvPr id="1431" name="Shape 1431"/>
          <p:cNvSpPr/>
          <p:nvPr>
            <p:ph type="body" sz="quarter" idx="1"/>
          </p:nvPr>
        </p:nvSpPr>
        <p:spPr>
          <a:prstGeom prst="rect">
            <a:avLst/>
          </a:prstGeom>
        </p:spPr>
        <p:txBody>
          <a:bodyPr/>
          <a:lstStyle/>
          <a:p>
            <a:pPr/>
            <a:r>
              <a:t>This weak pointer is what handles our cancelation</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9" name="Shape 1439"/>
          <p:cNvSpPr/>
          <p:nvPr>
            <p:ph type="sldImg"/>
          </p:nvPr>
        </p:nvSpPr>
        <p:spPr>
          <a:prstGeom prst="rect">
            <a:avLst/>
          </a:prstGeom>
        </p:spPr>
        <p:txBody>
          <a:bodyPr/>
          <a:lstStyle/>
          <a:p>
            <a:pPr/>
          </a:p>
        </p:txBody>
      </p:sp>
      <p:sp>
        <p:nvSpPr>
          <p:cNvPr id="1440" name="Shape 1440"/>
          <p:cNvSpPr/>
          <p:nvPr>
            <p:ph type="body" sz="quarter" idx="1"/>
          </p:nvPr>
        </p:nvSpPr>
        <p:spPr>
          <a:prstGeom prst="rect">
            <a:avLst/>
          </a:prstGeom>
        </p:spPr>
        <p:txBody>
          <a:bodyPr/>
          <a:lstStyle/>
          <a:p>
            <a:pPr/>
            <a:r>
              <a:t>This weak pointer is what handles our cancelation</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4" name="Shape 1454"/>
          <p:cNvSpPr/>
          <p:nvPr>
            <p:ph type="sldImg"/>
          </p:nvPr>
        </p:nvSpPr>
        <p:spPr>
          <a:prstGeom prst="rect">
            <a:avLst/>
          </a:prstGeom>
        </p:spPr>
        <p:txBody>
          <a:bodyPr/>
          <a:lstStyle/>
          <a:p>
            <a:pPr/>
          </a:p>
        </p:txBody>
      </p:sp>
      <p:sp>
        <p:nvSpPr>
          <p:cNvPr id="1455" name="Shape 1455"/>
          <p:cNvSpPr/>
          <p:nvPr>
            <p:ph type="body" sz="quarter" idx="1"/>
          </p:nvPr>
        </p:nvSpPr>
        <p:spPr>
          <a:prstGeom prst="rect">
            <a:avLst/>
          </a:prstGeom>
        </p:spPr>
        <p:txBody>
          <a:bodyPr/>
          <a:lstStyle/>
          <a:p>
            <a:pPr/>
            <a:r>
              <a:t>This weak pointer is what handles our cancelation</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0" name="Shape 1460"/>
          <p:cNvSpPr/>
          <p:nvPr>
            <p:ph type="sldImg"/>
          </p:nvPr>
        </p:nvSpPr>
        <p:spPr>
          <a:prstGeom prst="rect">
            <a:avLst/>
          </a:prstGeom>
        </p:spPr>
        <p:txBody>
          <a:bodyPr/>
          <a:lstStyle/>
          <a:p>
            <a:pPr/>
          </a:p>
        </p:txBody>
      </p:sp>
      <p:sp>
        <p:nvSpPr>
          <p:cNvPr id="1461" name="Shape 1461"/>
          <p:cNvSpPr/>
          <p:nvPr>
            <p:ph type="body" sz="quarter" idx="1"/>
          </p:nvPr>
        </p:nvSpPr>
        <p:spPr>
          <a:prstGeom prst="rect">
            <a:avLst/>
          </a:prstGeom>
        </p:spPr>
        <p:txBody>
          <a:bodyPr/>
          <a:lstStyle/>
          <a:p>
            <a:pPr/>
            <a:r>
              <a:t>This weak pointer is what handles our cancelation</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5" name="Shape 1495"/>
          <p:cNvSpPr/>
          <p:nvPr>
            <p:ph type="sldImg"/>
          </p:nvPr>
        </p:nvSpPr>
        <p:spPr>
          <a:prstGeom prst="rect">
            <a:avLst/>
          </a:prstGeom>
        </p:spPr>
        <p:txBody>
          <a:bodyPr/>
          <a:lstStyle/>
          <a:p>
            <a:pPr/>
          </a:p>
        </p:txBody>
      </p:sp>
      <p:sp>
        <p:nvSpPr>
          <p:cNvPr id="1496" name="Shape 1496"/>
          <p:cNvSpPr/>
          <p:nvPr>
            <p:ph type="body" sz="quarter" idx="1"/>
          </p:nvPr>
        </p:nvSpPr>
        <p:spPr>
          <a:prstGeom prst="rect">
            <a:avLst/>
          </a:prstGeom>
        </p:spPr>
        <p:txBody>
          <a:bodyPr/>
          <a:lstStyle>
            <a:lvl1pPr defTabSz="406400">
              <a:defRPr sz="2800">
                <a:uFillTx/>
                <a:latin typeface="Lucida Grande"/>
                <a:ea typeface="Lucida Grande"/>
                <a:cs typeface="Lucida Grande"/>
                <a:sym typeface="Lucida Grande"/>
              </a:defRPr>
            </a:lvl1pPr>
          </a:lstStyle>
          <a:p>
            <a:pPr/>
            <a:r>
              <a:t>[ insert slide here on flow control ]</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1" name="Shape 1501"/>
          <p:cNvSpPr/>
          <p:nvPr>
            <p:ph type="sldImg"/>
          </p:nvPr>
        </p:nvSpPr>
        <p:spPr>
          <a:prstGeom prst="rect">
            <a:avLst/>
          </a:prstGeom>
        </p:spPr>
        <p:txBody>
          <a:bodyPr/>
          <a:lstStyle/>
          <a:p>
            <a:pPr/>
          </a:p>
        </p:txBody>
      </p:sp>
      <p:sp>
        <p:nvSpPr>
          <p:cNvPr id="1502" name="Shape 1502"/>
          <p:cNvSpPr/>
          <p:nvPr>
            <p:ph type="body" sz="quarter" idx="1"/>
          </p:nvPr>
        </p:nvSpPr>
        <p:spPr>
          <a:prstGeom prst="rect">
            <a:avLst/>
          </a:prstGeom>
        </p:spPr>
        <p:txBody>
          <a:bodyPr/>
          <a:lstStyle>
            <a:lvl1pPr defTabSz="406400">
              <a:defRPr sz="2800">
                <a:uFillTx/>
                <a:latin typeface="Lucida Grande"/>
                <a:ea typeface="Lucida Grande"/>
                <a:cs typeface="Lucida Grande"/>
                <a:sym typeface="Lucida Grande"/>
              </a:defRPr>
            </a:lvl1pPr>
          </a:lstStyle>
          <a:p>
            <a:pPr/>
            <a:r>
              <a:t>[ insert slide here on flow control ]</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2" name="Shape 1532"/>
          <p:cNvSpPr/>
          <p:nvPr>
            <p:ph type="sldImg"/>
          </p:nvPr>
        </p:nvSpPr>
        <p:spPr>
          <a:prstGeom prst="rect">
            <a:avLst/>
          </a:prstGeom>
        </p:spPr>
        <p:txBody>
          <a:bodyPr/>
          <a:lstStyle/>
          <a:p>
            <a:pPr/>
          </a:p>
        </p:txBody>
      </p:sp>
      <p:sp>
        <p:nvSpPr>
          <p:cNvPr id="1533" name="Shape 1533"/>
          <p:cNvSpPr/>
          <p:nvPr>
            <p:ph type="body" sz="quarter" idx="1"/>
          </p:nvPr>
        </p:nvSpPr>
        <p:spPr>
          <a:prstGeom prst="rect">
            <a:avLst/>
          </a:prstGeom>
        </p:spPr>
        <p:txBody>
          <a:bodyPr/>
          <a:lstStyle/>
          <a:p>
            <a:pPr/>
            <a:r>
              <a:t>Lr Web</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8" name="Shape 1538"/>
          <p:cNvSpPr/>
          <p:nvPr>
            <p:ph type="sldImg"/>
          </p:nvPr>
        </p:nvSpPr>
        <p:spPr>
          <a:prstGeom prst="rect">
            <a:avLst/>
          </a:prstGeom>
        </p:spPr>
        <p:txBody>
          <a:bodyPr/>
          <a:lstStyle/>
          <a:p>
            <a:pPr/>
          </a:p>
        </p:txBody>
      </p:sp>
      <p:sp>
        <p:nvSpPr>
          <p:cNvPr id="1539" name="Shape 1539"/>
          <p:cNvSpPr/>
          <p:nvPr>
            <p:ph type="body" sz="quarter" idx="1"/>
          </p:nvPr>
        </p:nvSpPr>
        <p:spPr>
          <a:prstGeom prst="rect">
            <a:avLst/>
          </a:prstGeom>
        </p:spPr>
        <p:txBody>
          <a:bodyPr/>
          <a:lstStyle>
            <a:lvl1pPr defTabSz="406400">
              <a:defRPr sz="2800">
                <a:uFillTx/>
                <a:latin typeface="Lucida Grande"/>
                <a:ea typeface="Lucida Grande"/>
                <a:cs typeface="Lucida Grande"/>
                <a:sym typeface="Lucida Grande"/>
              </a:defRPr>
            </a:lvl1pPr>
          </a:lstStyle>
          <a:p>
            <a:pPr/>
            <a:r>
              <a:t>[ insert slide here on flow control ]</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4" name="Shape 1544"/>
          <p:cNvSpPr/>
          <p:nvPr>
            <p:ph type="sldImg"/>
          </p:nvPr>
        </p:nvSpPr>
        <p:spPr>
          <a:prstGeom prst="rect">
            <a:avLst/>
          </a:prstGeom>
        </p:spPr>
        <p:txBody>
          <a:bodyPr/>
          <a:lstStyle/>
          <a:p>
            <a:pPr/>
          </a:p>
        </p:txBody>
      </p:sp>
      <p:sp>
        <p:nvSpPr>
          <p:cNvPr id="1545" name="Shape 1545"/>
          <p:cNvSpPr/>
          <p:nvPr>
            <p:ph type="body" sz="quarter" idx="1"/>
          </p:nvPr>
        </p:nvSpPr>
        <p:spPr>
          <a:prstGeom prst="rect">
            <a:avLst/>
          </a:prstGeom>
        </p:spPr>
        <p:txBody>
          <a:bodyPr/>
          <a:lstStyle>
            <a:lvl1pPr defTabSz="406400">
              <a:defRPr sz="2800">
                <a:uFillTx/>
                <a:latin typeface="Lucida Grande"/>
                <a:ea typeface="Lucida Grande"/>
                <a:cs typeface="Lucida Grande"/>
                <a:sym typeface="Lucida Grande"/>
              </a:defRPr>
            </a:lvl1pPr>
          </a:lstStyle>
          <a:p>
            <a:pPr/>
            <a:r>
              <a:t>[ insert slide here on flow control ]</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8" name="Shape 1598"/>
          <p:cNvSpPr/>
          <p:nvPr>
            <p:ph type="sldImg"/>
          </p:nvPr>
        </p:nvSpPr>
        <p:spPr>
          <a:prstGeom prst="rect">
            <a:avLst/>
          </a:prstGeom>
        </p:spPr>
        <p:txBody>
          <a:bodyPr/>
          <a:lstStyle/>
          <a:p>
            <a:pPr/>
          </a:p>
        </p:txBody>
      </p:sp>
      <p:sp>
        <p:nvSpPr>
          <p:cNvPr id="1599" name="Shape 1599"/>
          <p:cNvSpPr/>
          <p:nvPr>
            <p:ph type="body" sz="quarter" idx="1"/>
          </p:nvPr>
        </p:nvSpPr>
        <p:spPr>
          <a:prstGeom prst="rect">
            <a:avLst/>
          </a:prstGeom>
        </p:spPr>
        <p:txBody>
          <a:bodyPr/>
          <a:lstStyle>
            <a:lvl1pPr defTabSz="406400">
              <a:defRPr sz="2800">
                <a:uFillTx/>
                <a:latin typeface="Lucida Grande"/>
                <a:ea typeface="Lucida Grande"/>
                <a:cs typeface="Lucida Grande"/>
                <a:sym typeface="Lucida Grande"/>
              </a:defRPr>
            </a:lvl1pPr>
          </a:lstStyle>
          <a:p>
            <a:pPr/>
            <a:r>
              <a:t>Property Model Demo</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2.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2.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2.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2.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2.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2.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2.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2.pn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2.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pic>
        <p:nvPicPr>
          <p:cNvPr id="23" name="Title-Slides-16x9_v02_Alex.jpg" descr="Title-Slides-16x9_v02_Alex.jpg"/>
          <p:cNvPicPr>
            <a:picLocks noChangeAspect="1"/>
          </p:cNvPicPr>
          <p:nvPr/>
        </p:nvPicPr>
        <p:blipFill>
          <a:blip r:embed="rId2">
            <a:extLst/>
          </a:blip>
          <a:stretch>
            <a:fillRect/>
          </a:stretch>
        </p:blipFill>
        <p:spPr>
          <a:xfrm>
            <a:off x="1585" y="891"/>
            <a:ext cx="24380830" cy="13714218"/>
          </a:xfrm>
          <a:prstGeom prst="rect">
            <a:avLst/>
          </a:prstGeom>
          <a:ln w="12700">
            <a:miter lim="400000"/>
          </a:ln>
        </p:spPr>
      </p:pic>
      <p:sp>
        <p:nvSpPr>
          <p:cNvPr id="24" name="Rectangle"/>
          <p:cNvSpPr/>
          <p:nvPr/>
        </p:nvSpPr>
        <p:spPr>
          <a:xfrm>
            <a:off x="0" y="2606039"/>
            <a:ext cx="24377650" cy="2331722"/>
          </a:xfrm>
          <a:prstGeom prst="rect">
            <a:avLst/>
          </a:prstGeom>
          <a:solidFill>
            <a:srgbClr val="FFFFFF">
              <a:alpha val="80000"/>
            </a:srgbClr>
          </a:solidFill>
          <a:ln w="12700">
            <a:miter lim="400000"/>
          </a:ln>
        </p:spPr>
        <p:txBody>
          <a:bodyPr tIns="91439" bIns="91439" anchor="ctr"/>
          <a:lstStyle/>
          <a:p>
            <a:pPr algn="ctr" defTabSz="914400">
              <a:buClrTx/>
              <a:defRPr>
                <a:solidFill>
                  <a:srgbClr val="FFFFFF"/>
                </a:solidFill>
                <a:uFillTx/>
              </a:defRPr>
            </a:pPr>
          </a:p>
        </p:txBody>
      </p:sp>
      <p:sp>
        <p:nvSpPr>
          <p:cNvPr id="25" name="Title Text"/>
          <p:cNvSpPr txBox="1"/>
          <p:nvPr>
            <p:ph type="title"/>
          </p:nvPr>
        </p:nvSpPr>
        <p:spPr>
          <a:xfrm>
            <a:off x="1295063" y="2974115"/>
            <a:ext cx="21836442" cy="892553"/>
          </a:xfrm>
          <a:prstGeom prst="rect">
            <a:avLst/>
          </a:prstGeom>
          <a:ln>
            <a:miter lim="400000"/>
          </a:ln>
        </p:spPr>
        <p:txBody>
          <a:bodyPr lIns="0" tIns="0" rIns="0" bIns="0"/>
          <a:lstStyle>
            <a:lvl1pPr>
              <a:defRPr>
                <a:solidFill>
                  <a:srgbClr val="000000"/>
                </a:solidFill>
                <a:uFillTx/>
              </a:defRPr>
            </a:lvl1pPr>
          </a:lstStyle>
          <a:p>
            <a:pPr/>
            <a:r>
              <a:t>Title Text</a:t>
            </a:r>
          </a:p>
        </p:txBody>
      </p:sp>
      <p:sp>
        <p:nvSpPr>
          <p:cNvPr id="26" name="Body Level One…"/>
          <p:cNvSpPr txBox="1"/>
          <p:nvPr>
            <p:ph type="body" sz="quarter" idx="1"/>
          </p:nvPr>
        </p:nvSpPr>
        <p:spPr>
          <a:xfrm>
            <a:off x="1295063" y="3780021"/>
            <a:ext cx="21836442" cy="656591"/>
          </a:xfrm>
          <a:prstGeom prst="rect">
            <a:avLst/>
          </a:prstGeom>
          <a:ln>
            <a:miter lim="400000"/>
          </a:ln>
        </p:spPr>
        <p:txBody>
          <a:bodyPr lIns="0" tIns="0" rIns="0" bIns="0"/>
          <a:lstStyle>
            <a:lvl1pPr marL="0" indent="0">
              <a:buClrTx/>
              <a:buSzTx/>
              <a:buNone/>
              <a:defRPr sz="4200">
                <a:solidFill>
                  <a:srgbClr val="888888"/>
                </a:solidFill>
                <a:uFillTx/>
              </a:defRPr>
            </a:lvl1pPr>
            <a:lvl2pPr marL="0" indent="544144">
              <a:buClrTx/>
              <a:buSzTx/>
              <a:buNone/>
              <a:defRPr sz="4200">
                <a:solidFill>
                  <a:srgbClr val="888888"/>
                </a:solidFill>
                <a:uFillTx/>
              </a:defRPr>
            </a:lvl2pPr>
            <a:lvl3pPr marL="0" indent="1088291">
              <a:buClrTx/>
              <a:buSzTx/>
              <a:buNone/>
              <a:defRPr sz="4200">
                <a:solidFill>
                  <a:srgbClr val="888888"/>
                </a:solidFill>
                <a:uFillTx/>
              </a:defRPr>
            </a:lvl3pPr>
            <a:lvl4pPr marL="0" indent="1632436">
              <a:buClrTx/>
              <a:buSzTx/>
              <a:buNone/>
              <a:defRPr sz="4200">
                <a:solidFill>
                  <a:srgbClr val="888888"/>
                </a:solidFill>
                <a:uFillTx/>
              </a:defRPr>
            </a:lvl4pPr>
            <a:lvl5pPr marL="0" indent="2176580">
              <a:buClrTx/>
              <a:buSzTx/>
              <a:buNone/>
              <a:defRPr sz="4200">
                <a:solidFill>
                  <a:srgbClr val="888888"/>
                </a:solidFill>
                <a:uFillTx/>
              </a:defRPr>
            </a:lvl5pPr>
          </a:lstStyle>
          <a:p>
            <a:pPr/>
            <a:r>
              <a:t>Body Level One</a:t>
            </a:r>
          </a:p>
          <a:p>
            <a:pPr lvl="1"/>
            <a:r>
              <a:t>Body Level Two</a:t>
            </a:r>
          </a:p>
          <a:p>
            <a:pPr lvl="2"/>
            <a:r>
              <a:t>Body Level Three</a:t>
            </a:r>
          </a:p>
          <a:p>
            <a:pPr lvl="3"/>
            <a:r>
              <a:t>Body Level Four</a:t>
            </a:r>
          </a:p>
          <a:p>
            <a:pPr lvl="4"/>
            <a:r>
              <a:t>Body Level Five</a:t>
            </a:r>
          </a:p>
        </p:txBody>
      </p:sp>
      <p:sp>
        <p:nvSpPr>
          <p:cNvPr id="27" name="© 2014 Adobe Systems Incorporated.  All Rights Reserved.  Adobe Confidential."/>
          <p:cNvSpPr txBox="1"/>
          <p:nvPr/>
        </p:nvSpPr>
        <p:spPr>
          <a:xfrm>
            <a:off x="622139" y="12974022"/>
            <a:ext cx="1036336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Tx/>
              <a:defRPr sz="1400">
                <a:solidFill>
                  <a:srgbClr val="FFFFFF"/>
                </a:solidFill>
                <a:uFillTx/>
              </a:defRPr>
            </a:lvl1pPr>
          </a:lstStyle>
          <a:p>
            <a:pPr>
              <a:defRPr sz="3600">
                <a:solidFill>
                  <a:srgbClr val="000000"/>
                </a:solidFill>
              </a:defRPr>
            </a:pPr>
            <a:r>
              <a:rPr sz="1400">
                <a:solidFill>
                  <a:srgbClr val="FFFFFF"/>
                </a:solidFill>
              </a:rPr>
              <a:t>© 2014 Adobe Systems Incorporated.  All Rights Reserved.  Adobe Confidential.</a:t>
            </a:r>
          </a:p>
        </p:txBody>
      </p:sp>
      <p:pic>
        <p:nvPicPr>
          <p:cNvPr id="28" name="image3.png" descr="image3.png"/>
          <p:cNvPicPr>
            <a:picLocks noChangeAspect="1"/>
          </p:cNvPicPr>
          <p:nvPr/>
        </p:nvPicPr>
        <p:blipFill>
          <a:blip r:embed="rId3">
            <a:extLst/>
          </a:blip>
          <a:stretch>
            <a:fillRect/>
          </a:stretch>
        </p:blipFill>
        <p:spPr>
          <a:xfrm>
            <a:off x="1296515" y="-2383"/>
            <a:ext cx="743762" cy="1220531"/>
          </a:xfrm>
          <a:prstGeom prst="rect">
            <a:avLst/>
          </a:prstGeom>
          <a:ln w="12700">
            <a:miter lim="400000"/>
          </a:ln>
        </p:spPr>
      </p:pic>
      <p:sp>
        <p:nvSpPr>
          <p:cNvPr id="29" name="Slide Number"/>
          <p:cNvSpPr txBox="1"/>
          <p:nvPr>
            <p:ph type="sldNum" sz="quarter" idx="2"/>
          </p:nvPr>
        </p:nvSpPr>
        <p:spPr>
          <a:xfrm>
            <a:off x="11185790" y="12886445"/>
            <a:ext cx="2031471" cy="471657"/>
          </a:xfrm>
          <a:prstGeom prst="rect">
            <a:avLst/>
          </a:prstGeom>
          <a:ln>
            <a:miter lim="400000"/>
          </a:ln>
        </p:spPr>
        <p:txBody>
          <a:bodyPr wrap="square" lIns="108827" tIns="108827" rIns="108827" bIns="108827"/>
          <a:lstStyle>
            <a:lvl1pPr>
              <a:defRPr>
                <a:uFillTx/>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 Natalie">
    <p:spTree>
      <p:nvGrpSpPr>
        <p:cNvPr id="1" name=""/>
        <p:cNvGrpSpPr/>
        <p:nvPr/>
      </p:nvGrpSpPr>
      <p:grpSpPr>
        <a:xfrm>
          <a:off x="0" y="0"/>
          <a:ext cx="0" cy="0"/>
          <a:chOff x="0" y="0"/>
          <a:chExt cx="0" cy="0"/>
        </a:xfrm>
      </p:grpSpPr>
      <p:pic>
        <p:nvPicPr>
          <p:cNvPr id="36" name="Title-Slides-16x9_v02_NatalieShaw.jpg" descr="Title-Slides-16x9_v02_NatalieShaw.jpg"/>
          <p:cNvPicPr>
            <a:picLocks noChangeAspect="1"/>
          </p:cNvPicPr>
          <p:nvPr/>
        </p:nvPicPr>
        <p:blipFill>
          <a:blip r:embed="rId2">
            <a:extLst/>
          </a:blip>
          <a:stretch>
            <a:fillRect/>
          </a:stretch>
        </p:blipFill>
        <p:spPr>
          <a:xfrm>
            <a:off x="0" y="1784"/>
            <a:ext cx="24384000" cy="13716001"/>
          </a:xfrm>
          <a:prstGeom prst="rect">
            <a:avLst/>
          </a:prstGeom>
          <a:ln w="12700">
            <a:miter lim="400000"/>
          </a:ln>
        </p:spPr>
      </p:pic>
      <p:sp>
        <p:nvSpPr>
          <p:cNvPr id="37" name="Rectangle"/>
          <p:cNvSpPr/>
          <p:nvPr/>
        </p:nvSpPr>
        <p:spPr>
          <a:xfrm>
            <a:off x="0" y="2606039"/>
            <a:ext cx="24377650" cy="2331722"/>
          </a:xfrm>
          <a:prstGeom prst="rect">
            <a:avLst/>
          </a:prstGeom>
          <a:solidFill>
            <a:srgbClr val="FFFFFF">
              <a:alpha val="80000"/>
            </a:srgbClr>
          </a:solidFill>
          <a:ln w="12700">
            <a:miter lim="400000"/>
          </a:ln>
        </p:spPr>
        <p:txBody>
          <a:bodyPr tIns="91439" bIns="91439" anchor="ctr"/>
          <a:lstStyle/>
          <a:p>
            <a:pPr algn="ctr" defTabSz="914400">
              <a:buClrTx/>
              <a:defRPr>
                <a:solidFill>
                  <a:srgbClr val="FFFFFF"/>
                </a:solidFill>
                <a:uFillTx/>
              </a:defRPr>
            </a:pPr>
          </a:p>
        </p:txBody>
      </p:sp>
      <p:sp>
        <p:nvSpPr>
          <p:cNvPr id="38" name="Title Text"/>
          <p:cNvSpPr txBox="1"/>
          <p:nvPr>
            <p:ph type="title"/>
          </p:nvPr>
        </p:nvSpPr>
        <p:spPr>
          <a:xfrm>
            <a:off x="1295063" y="2974115"/>
            <a:ext cx="21836442" cy="892553"/>
          </a:xfrm>
          <a:prstGeom prst="rect">
            <a:avLst/>
          </a:prstGeom>
          <a:ln>
            <a:miter lim="400000"/>
          </a:ln>
        </p:spPr>
        <p:txBody>
          <a:bodyPr lIns="0" tIns="0" rIns="0" bIns="0"/>
          <a:lstStyle>
            <a:lvl1pPr>
              <a:defRPr>
                <a:solidFill>
                  <a:srgbClr val="000000"/>
                </a:solidFill>
                <a:uFillTx/>
              </a:defRPr>
            </a:lvl1pPr>
          </a:lstStyle>
          <a:p>
            <a:pPr/>
            <a:r>
              <a:t>Title Text</a:t>
            </a:r>
          </a:p>
        </p:txBody>
      </p:sp>
      <p:sp>
        <p:nvSpPr>
          <p:cNvPr id="39" name="Body Level One…"/>
          <p:cNvSpPr txBox="1"/>
          <p:nvPr>
            <p:ph type="body" sz="quarter" idx="1"/>
          </p:nvPr>
        </p:nvSpPr>
        <p:spPr>
          <a:xfrm>
            <a:off x="1295063" y="3780021"/>
            <a:ext cx="21836442" cy="656591"/>
          </a:xfrm>
          <a:prstGeom prst="rect">
            <a:avLst/>
          </a:prstGeom>
          <a:ln>
            <a:miter lim="400000"/>
          </a:ln>
        </p:spPr>
        <p:txBody>
          <a:bodyPr lIns="0" tIns="0" rIns="0" bIns="0"/>
          <a:lstStyle>
            <a:lvl1pPr marL="0" indent="0">
              <a:buClrTx/>
              <a:buSzTx/>
              <a:buNone/>
              <a:defRPr sz="4200">
                <a:solidFill>
                  <a:srgbClr val="888888"/>
                </a:solidFill>
                <a:uFillTx/>
              </a:defRPr>
            </a:lvl1pPr>
            <a:lvl2pPr marL="0" indent="544144">
              <a:buClrTx/>
              <a:buSzTx/>
              <a:buNone/>
              <a:defRPr sz="4200">
                <a:solidFill>
                  <a:srgbClr val="888888"/>
                </a:solidFill>
                <a:uFillTx/>
              </a:defRPr>
            </a:lvl2pPr>
            <a:lvl3pPr marL="0" indent="1088291">
              <a:buClrTx/>
              <a:buSzTx/>
              <a:buNone/>
              <a:defRPr sz="4200">
                <a:solidFill>
                  <a:srgbClr val="888888"/>
                </a:solidFill>
                <a:uFillTx/>
              </a:defRPr>
            </a:lvl3pPr>
            <a:lvl4pPr marL="0" indent="1632436">
              <a:buClrTx/>
              <a:buSzTx/>
              <a:buNone/>
              <a:defRPr sz="4200">
                <a:solidFill>
                  <a:srgbClr val="888888"/>
                </a:solidFill>
                <a:uFillTx/>
              </a:defRPr>
            </a:lvl4pPr>
            <a:lvl5pPr marL="0" indent="2176580">
              <a:buClrTx/>
              <a:buSzTx/>
              <a:buNone/>
              <a:defRPr sz="4200">
                <a:solidFill>
                  <a:srgbClr val="888888"/>
                </a:solidFill>
                <a:uFillTx/>
              </a:defRPr>
            </a:lvl5pPr>
          </a:lstStyle>
          <a:p>
            <a:pPr/>
            <a:r>
              <a:t>Body Level One</a:t>
            </a:r>
          </a:p>
          <a:p>
            <a:pPr lvl="1"/>
            <a:r>
              <a:t>Body Level Two</a:t>
            </a:r>
          </a:p>
          <a:p>
            <a:pPr lvl="2"/>
            <a:r>
              <a:t>Body Level Three</a:t>
            </a:r>
          </a:p>
          <a:p>
            <a:pPr lvl="3"/>
            <a:r>
              <a:t>Body Level Four</a:t>
            </a:r>
          </a:p>
          <a:p>
            <a:pPr lvl="4"/>
            <a:r>
              <a:t>Body Level Five</a:t>
            </a:r>
          </a:p>
        </p:txBody>
      </p:sp>
      <p:sp>
        <p:nvSpPr>
          <p:cNvPr id="40" name="© 2014 Adobe Systems Incorporated.  All Rights Reserved.  Adobe Confidential."/>
          <p:cNvSpPr txBox="1"/>
          <p:nvPr/>
        </p:nvSpPr>
        <p:spPr>
          <a:xfrm>
            <a:off x="622139" y="12974022"/>
            <a:ext cx="1036336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Tx/>
              <a:defRPr sz="1400">
                <a:solidFill>
                  <a:srgbClr val="FFFFFF"/>
                </a:solidFill>
                <a:uFillTx/>
              </a:defRPr>
            </a:lvl1pPr>
          </a:lstStyle>
          <a:p>
            <a:pPr>
              <a:defRPr sz="3600">
                <a:solidFill>
                  <a:srgbClr val="000000"/>
                </a:solidFill>
              </a:defRPr>
            </a:pPr>
            <a:r>
              <a:rPr sz="1400">
                <a:solidFill>
                  <a:srgbClr val="FFFFFF"/>
                </a:solidFill>
              </a:rPr>
              <a:t>© 2014 Adobe Systems Incorporated.  All Rights Reserved.  Adobe Confidential.</a:t>
            </a:r>
          </a:p>
        </p:txBody>
      </p:sp>
      <p:pic>
        <p:nvPicPr>
          <p:cNvPr id="41" name="image3.png" descr="image3.png"/>
          <p:cNvPicPr>
            <a:picLocks noChangeAspect="1"/>
          </p:cNvPicPr>
          <p:nvPr/>
        </p:nvPicPr>
        <p:blipFill>
          <a:blip r:embed="rId3">
            <a:extLst/>
          </a:blip>
          <a:stretch>
            <a:fillRect/>
          </a:stretch>
        </p:blipFill>
        <p:spPr>
          <a:xfrm>
            <a:off x="1296515" y="-2383"/>
            <a:ext cx="743762" cy="1220531"/>
          </a:xfrm>
          <a:prstGeom prst="rect">
            <a:avLst/>
          </a:prstGeom>
          <a:ln w="12700">
            <a:miter lim="400000"/>
          </a:ln>
        </p:spPr>
      </p:pic>
      <p:sp>
        <p:nvSpPr>
          <p:cNvPr id="42" name="Slide Number"/>
          <p:cNvSpPr txBox="1"/>
          <p:nvPr>
            <p:ph type="sldNum" sz="quarter" idx="2"/>
          </p:nvPr>
        </p:nvSpPr>
        <p:spPr>
          <a:xfrm>
            <a:off x="11185790" y="12886445"/>
            <a:ext cx="2031471" cy="471657"/>
          </a:xfrm>
          <a:prstGeom prst="rect">
            <a:avLst/>
          </a:prstGeom>
          <a:ln>
            <a:miter lim="400000"/>
          </a:ln>
        </p:spPr>
        <p:txBody>
          <a:bodyPr wrap="square" lIns="108827" tIns="108827" rIns="108827" bIns="108827"/>
          <a:lstStyle>
            <a:lvl1pPr>
              <a:defRPr>
                <a:uFillTx/>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 EB">
    <p:spTree>
      <p:nvGrpSpPr>
        <p:cNvPr id="1" name=""/>
        <p:cNvGrpSpPr/>
        <p:nvPr/>
      </p:nvGrpSpPr>
      <p:grpSpPr>
        <a:xfrm>
          <a:off x="0" y="0"/>
          <a:ext cx="0" cy="0"/>
          <a:chOff x="0" y="0"/>
          <a:chExt cx="0" cy="0"/>
        </a:xfrm>
      </p:grpSpPr>
      <p:pic>
        <p:nvPicPr>
          <p:cNvPr id="49" name="Title-Slides-16x9_v02_EvolutionBureau.jpg" descr="Title-Slides-16x9_v02_EvolutionBureau.jpg"/>
          <p:cNvPicPr>
            <a:picLocks noChangeAspect="1"/>
          </p:cNvPicPr>
          <p:nvPr/>
        </p:nvPicPr>
        <p:blipFill>
          <a:blip r:embed="rId2">
            <a:extLst/>
          </a:blip>
          <a:stretch>
            <a:fillRect/>
          </a:stretch>
        </p:blipFill>
        <p:spPr>
          <a:xfrm>
            <a:off x="0" y="1783"/>
            <a:ext cx="24377899" cy="13712568"/>
          </a:xfrm>
          <a:prstGeom prst="rect">
            <a:avLst/>
          </a:prstGeom>
          <a:ln w="12700">
            <a:miter lim="400000"/>
          </a:ln>
        </p:spPr>
      </p:pic>
      <p:sp>
        <p:nvSpPr>
          <p:cNvPr id="50" name="Rectangle"/>
          <p:cNvSpPr/>
          <p:nvPr/>
        </p:nvSpPr>
        <p:spPr>
          <a:xfrm>
            <a:off x="0" y="2606039"/>
            <a:ext cx="24377650" cy="2331722"/>
          </a:xfrm>
          <a:prstGeom prst="rect">
            <a:avLst/>
          </a:prstGeom>
          <a:solidFill>
            <a:srgbClr val="FFFFFF">
              <a:alpha val="80000"/>
            </a:srgbClr>
          </a:solidFill>
          <a:ln w="12700">
            <a:miter lim="400000"/>
          </a:ln>
        </p:spPr>
        <p:txBody>
          <a:bodyPr tIns="91439" bIns="91439" anchor="ctr"/>
          <a:lstStyle/>
          <a:p>
            <a:pPr algn="ctr" defTabSz="914400">
              <a:buClrTx/>
              <a:defRPr>
                <a:solidFill>
                  <a:srgbClr val="FFFFFF"/>
                </a:solidFill>
                <a:uFillTx/>
              </a:defRPr>
            </a:pPr>
          </a:p>
        </p:txBody>
      </p:sp>
      <p:sp>
        <p:nvSpPr>
          <p:cNvPr id="51" name="Title Text"/>
          <p:cNvSpPr txBox="1"/>
          <p:nvPr>
            <p:ph type="title"/>
          </p:nvPr>
        </p:nvSpPr>
        <p:spPr>
          <a:xfrm>
            <a:off x="1295063" y="2974115"/>
            <a:ext cx="21836442" cy="892553"/>
          </a:xfrm>
          <a:prstGeom prst="rect">
            <a:avLst/>
          </a:prstGeom>
          <a:ln>
            <a:miter lim="400000"/>
          </a:ln>
        </p:spPr>
        <p:txBody>
          <a:bodyPr lIns="0" tIns="0" rIns="0" bIns="0"/>
          <a:lstStyle>
            <a:lvl1pPr>
              <a:defRPr>
                <a:solidFill>
                  <a:srgbClr val="000000"/>
                </a:solidFill>
                <a:uFillTx/>
              </a:defRPr>
            </a:lvl1pPr>
          </a:lstStyle>
          <a:p>
            <a:pPr/>
            <a:r>
              <a:t>Title Text</a:t>
            </a:r>
          </a:p>
        </p:txBody>
      </p:sp>
      <p:sp>
        <p:nvSpPr>
          <p:cNvPr id="52" name="Body Level One…"/>
          <p:cNvSpPr txBox="1"/>
          <p:nvPr>
            <p:ph type="body" sz="quarter" idx="1"/>
          </p:nvPr>
        </p:nvSpPr>
        <p:spPr>
          <a:xfrm>
            <a:off x="1295063" y="3780021"/>
            <a:ext cx="21836442" cy="656591"/>
          </a:xfrm>
          <a:prstGeom prst="rect">
            <a:avLst/>
          </a:prstGeom>
          <a:ln>
            <a:miter lim="400000"/>
          </a:ln>
        </p:spPr>
        <p:txBody>
          <a:bodyPr lIns="0" tIns="0" rIns="0" bIns="0"/>
          <a:lstStyle>
            <a:lvl1pPr marL="0" indent="0">
              <a:buClrTx/>
              <a:buSzTx/>
              <a:buNone/>
              <a:defRPr sz="4200">
                <a:solidFill>
                  <a:srgbClr val="595959"/>
                </a:solidFill>
                <a:uFillTx/>
              </a:defRPr>
            </a:lvl1pPr>
            <a:lvl2pPr marL="0" indent="544144">
              <a:buClrTx/>
              <a:buSzTx/>
              <a:buNone/>
              <a:defRPr sz="4200">
                <a:solidFill>
                  <a:srgbClr val="595959"/>
                </a:solidFill>
                <a:uFillTx/>
              </a:defRPr>
            </a:lvl2pPr>
            <a:lvl3pPr marL="0" indent="1088291">
              <a:buClrTx/>
              <a:buSzTx/>
              <a:buNone/>
              <a:defRPr sz="4200">
                <a:solidFill>
                  <a:srgbClr val="595959"/>
                </a:solidFill>
                <a:uFillTx/>
              </a:defRPr>
            </a:lvl3pPr>
            <a:lvl4pPr marL="0" indent="1632436">
              <a:buClrTx/>
              <a:buSzTx/>
              <a:buNone/>
              <a:defRPr sz="4200">
                <a:solidFill>
                  <a:srgbClr val="595959"/>
                </a:solidFill>
                <a:uFillTx/>
              </a:defRPr>
            </a:lvl4pPr>
            <a:lvl5pPr marL="0" indent="2176580">
              <a:buClrTx/>
              <a:buSzTx/>
              <a:buNone/>
              <a:defRPr sz="4200">
                <a:solidFill>
                  <a:srgbClr val="595959"/>
                </a:solidFill>
                <a:uFillTx/>
              </a:defRPr>
            </a:lvl5pPr>
          </a:lstStyle>
          <a:p>
            <a:pPr/>
            <a:r>
              <a:t>Body Level One</a:t>
            </a:r>
          </a:p>
          <a:p>
            <a:pPr lvl="1"/>
            <a:r>
              <a:t>Body Level Two</a:t>
            </a:r>
          </a:p>
          <a:p>
            <a:pPr lvl="2"/>
            <a:r>
              <a:t>Body Level Three</a:t>
            </a:r>
          </a:p>
          <a:p>
            <a:pPr lvl="3"/>
            <a:r>
              <a:t>Body Level Four</a:t>
            </a:r>
          </a:p>
          <a:p>
            <a:pPr lvl="4"/>
            <a:r>
              <a:t>Body Level Five</a:t>
            </a:r>
          </a:p>
        </p:txBody>
      </p:sp>
      <p:sp>
        <p:nvSpPr>
          <p:cNvPr id="53" name="© 2014 Adobe Systems Incorporated.  All Rights Reserved."/>
          <p:cNvSpPr txBox="1"/>
          <p:nvPr/>
        </p:nvSpPr>
        <p:spPr>
          <a:xfrm>
            <a:off x="622139" y="12974022"/>
            <a:ext cx="1036336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Tx/>
              <a:defRPr sz="1400">
                <a:solidFill>
                  <a:srgbClr val="FFFFFF"/>
                </a:solidFill>
                <a:uFillTx/>
              </a:defRPr>
            </a:lvl1pPr>
          </a:lstStyle>
          <a:p>
            <a:pPr>
              <a:defRPr sz="3600">
                <a:solidFill>
                  <a:srgbClr val="000000"/>
                </a:solidFill>
              </a:defRPr>
            </a:pPr>
            <a:r>
              <a:rPr sz="1400">
                <a:solidFill>
                  <a:srgbClr val="FFFFFF"/>
                </a:solidFill>
              </a:rPr>
              <a:t>© 2014 Adobe Systems Incorporated.  All Rights Reserved.</a:t>
            </a:r>
          </a:p>
        </p:txBody>
      </p:sp>
      <p:pic>
        <p:nvPicPr>
          <p:cNvPr id="54" name="image3.png" descr="image3.png"/>
          <p:cNvPicPr>
            <a:picLocks noChangeAspect="1"/>
          </p:cNvPicPr>
          <p:nvPr/>
        </p:nvPicPr>
        <p:blipFill>
          <a:blip r:embed="rId3">
            <a:extLst/>
          </a:blip>
          <a:stretch>
            <a:fillRect/>
          </a:stretch>
        </p:blipFill>
        <p:spPr>
          <a:xfrm>
            <a:off x="1296515" y="-2383"/>
            <a:ext cx="743762" cy="1220531"/>
          </a:xfrm>
          <a:prstGeom prst="rect">
            <a:avLst/>
          </a:prstGeom>
          <a:ln w="12700">
            <a:miter lim="400000"/>
          </a:ln>
        </p:spPr>
      </p:pic>
      <p:sp>
        <p:nvSpPr>
          <p:cNvPr id="55" name="Slide Number"/>
          <p:cNvSpPr txBox="1"/>
          <p:nvPr>
            <p:ph type="sldNum" sz="quarter" idx="2"/>
          </p:nvPr>
        </p:nvSpPr>
        <p:spPr>
          <a:xfrm>
            <a:off x="11185790" y="12886445"/>
            <a:ext cx="2031471" cy="471657"/>
          </a:xfrm>
          <a:prstGeom prst="rect">
            <a:avLst/>
          </a:prstGeom>
          <a:ln>
            <a:miter lim="400000"/>
          </a:ln>
        </p:spPr>
        <p:txBody>
          <a:bodyPr wrap="square" lIns="108827" tIns="108827" rIns="108827" bIns="108827"/>
          <a:lstStyle>
            <a:lvl1pPr>
              <a:defRPr>
                <a:uFillTx/>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 GSP">
    <p:spTree>
      <p:nvGrpSpPr>
        <p:cNvPr id="1" name=""/>
        <p:cNvGrpSpPr/>
        <p:nvPr/>
      </p:nvGrpSpPr>
      <p:grpSpPr>
        <a:xfrm>
          <a:off x="0" y="0"/>
          <a:ext cx="0" cy="0"/>
          <a:chOff x="0" y="0"/>
          <a:chExt cx="0" cy="0"/>
        </a:xfrm>
      </p:grpSpPr>
      <p:pic>
        <p:nvPicPr>
          <p:cNvPr id="62" name="Title-Slides-16x9_v02GS&amp;P.jpg" descr="Title-Slides-16x9_v02GS&amp;P.jpg"/>
          <p:cNvPicPr>
            <a:picLocks noChangeAspect="1"/>
          </p:cNvPicPr>
          <p:nvPr/>
        </p:nvPicPr>
        <p:blipFill>
          <a:blip r:embed="rId2">
            <a:extLst/>
          </a:blip>
          <a:stretch>
            <a:fillRect/>
          </a:stretch>
        </p:blipFill>
        <p:spPr>
          <a:xfrm>
            <a:off x="-1" y="1784"/>
            <a:ext cx="24377896" cy="13712567"/>
          </a:xfrm>
          <a:prstGeom prst="rect">
            <a:avLst/>
          </a:prstGeom>
          <a:ln w="12700">
            <a:miter lim="400000"/>
          </a:ln>
        </p:spPr>
      </p:pic>
      <p:sp>
        <p:nvSpPr>
          <p:cNvPr id="63" name="Rectangle"/>
          <p:cNvSpPr/>
          <p:nvPr/>
        </p:nvSpPr>
        <p:spPr>
          <a:xfrm>
            <a:off x="0" y="2606039"/>
            <a:ext cx="24377650" cy="2331722"/>
          </a:xfrm>
          <a:prstGeom prst="rect">
            <a:avLst/>
          </a:prstGeom>
          <a:solidFill>
            <a:srgbClr val="FFFFFF">
              <a:alpha val="80000"/>
            </a:srgbClr>
          </a:solidFill>
          <a:ln w="12700">
            <a:miter lim="400000"/>
          </a:ln>
        </p:spPr>
        <p:txBody>
          <a:bodyPr tIns="91439" bIns="91439" anchor="ctr"/>
          <a:lstStyle/>
          <a:p>
            <a:pPr algn="ctr" defTabSz="914400">
              <a:buClrTx/>
              <a:defRPr>
                <a:solidFill>
                  <a:srgbClr val="FFFFFF"/>
                </a:solidFill>
                <a:uFillTx/>
              </a:defRPr>
            </a:pPr>
          </a:p>
        </p:txBody>
      </p:sp>
      <p:sp>
        <p:nvSpPr>
          <p:cNvPr id="64" name="Title Text"/>
          <p:cNvSpPr txBox="1"/>
          <p:nvPr>
            <p:ph type="title"/>
          </p:nvPr>
        </p:nvSpPr>
        <p:spPr>
          <a:xfrm>
            <a:off x="1295063" y="2974115"/>
            <a:ext cx="21836442" cy="892553"/>
          </a:xfrm>
          <a:prstGeom prst="rect">
            <a:avLst/>
          </a:prstGeom>
          <a:ln>
            <a:miter lim="400000"/>
          </a:ln>
        </p:spPr>
        <p:txBody>
          <a:bodyPr lIns="0" tIns="0" rIns="0" bIns="0"/>
          <a:lstStyle>
            <a:lvl1pPr>
              <a:defRPr>
                <a:solidFill>
                  <a:srgbClr val="000000"/>
                </a:solidFill>
                <a:uFillTx/>
              </a:defRPr>
            </a:lvl1pPr>
          </a:lstStyle>
          <a:p>
            <a:pPr/>
            <a:r>
              <a:t>Title Text</a:t>
            </a:r>
          </a:p>
        </p:txBody>
      </p:sp>
      <p:sp>
        <p:nvSpPr>
          <p:cNvPr id="65" name="Body Level One…"/>
          <p:cNvSpPr txBox="1"/>
          <p:nvPr>
            <p:ph type="body" sz="quarter" idx="1"/>
          </p:nvPr>
        </p:nvSpPr>
        <p:spPr>
          <a:xfrm>
            <a:off x="1295063" y="3780021"/>
            <a:ext cx="21836442" cy="656591"/>
          </a:xfrm>
          <a:prstGeom prst="rect">
            <a:avLst/>
          </a:prstGeom>
          <a:ln>
            <a:miter lim="400000"/>
          </a:ln>
        </p:spPr>
        <p:txBody>
          <a:bodyPr lIns="0" tIns="0" rIns="0" bIns="0"/>
          <a:lstStyle>
            <a:lvl1pPr marL="0" indent="0">
              <a:buClrTx/>
              <a:buSzTx/>
              <a:buNone/>
              <a:defRPr sz="4200">
                <a:solidFill>
                  <a:srgbClr val="595959"/>
                </a:solidFill>
                <a:uFillTx/>
              </a:defRPr>
            </a:lvl1pPr>
            <a:lvl2pPr marL="0" indent="544144">
              <a:buClrTx/>
              <a:buSzTx/>
              <a:buNone/>
              <a:defRPr sz="4200">
                <a:solidFill>
                  <a:srgbClr val="595959"/>
                </a:solidFill>
                <a:uFillTx/>
              </a:defRPr>
            </a:lvl2pPr>
            <a:lvl3pPr marL="0" indent="1088291">
              <a:buClrTx/>
              <a:buSzTx/>
              <a:buNone/>
              <a:defRPr sz="4200">
                <a:solidFill>
                  <a:srgbClr val="595959"/>
                </a:solidFill>
                <a:uFillTx/>
              </a:defRPr>
            </a:lvl3pPr>
            <a:lvl4pPr marL="0" indent="1632436">
              <a:buClrTx/>
              <a:buSzTx/>
              <a:buNone/>
              <a:defRPr sz="4200">
                <a:solidFill>
                  <a:srgbClr val="595959"/>
                </a:solidFill>
                <a:uFillTx/>
              </a:defRPr>
            </a:lvl4pPr>
            <a:lvl5pPr marL="0" indent="2176580">
              <a:buClrTx/>
              <a:buSzTx/>
              <a:buNone/>
              <a:defRPr sz="4200">
                <a:solidFill>
                  <a:srgbClr val="595959"/>
                </a:solidFill>
                <a:uFillTx/>
              </a:defRPr>
            </a:lvl5pPr>
          </a:lstStyle>
          <a:p>
            <a:pPr/>
            <a:r>
              <a:t>Body Level One</a:t>
            </a:r>
          </a:p>
          <a:p>
            <a:pPr lvl="1"/>
            <a:r>
              <a:t>Body Level Two</a:t>
            </a:r>
          </a:p>
          <a:p>
            <a:pPr lvl="2"/>
            <a:r>
              <a:t>Body Level Three</a:t>
            </a:r>
          </a:p>
          <a:p>
            <a:pPr lvl="3"/>
            <a:r>
              <a:t>Body Level Four</a:t>
            </a:r>
          </a:p>
          <a:p>
            <a:pPr lvl="4"/>
            <a:r>
              <a:t>Body Level Five</a:t>
            </a:r>
          </a:p>
        </p:txBody>
      </p:sp>
      <p:sp>
        <p:nvSpPr>
          <p:cNvPr id="66" name="© 2014 Adobe Systems Incorporated.  All Rights Reserved.  Adobe Confidential."/>
          <p:cNvSpPr txBox="1"/>
          <p:nvPr/>
        </p:nvSpPr>
        <p:spPr>
          <a:xfrm>
            <a:off x="622139" y="12974022"/>
            <a:ext cx="1036336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Tx/>
              <a:defRPr sz="1400">
                <a:solidFill>
                  <a:srgbClr val="FFFFFF"/>
                </a:solidFill>
                <a:uFillTx/>
              </a:defRPr>
            </a:lvl1pPr>
          </a:lstStyle>
          <a:p>
            <a:pPr>
              <a:defRPr sz="3600">
                <a:solidFill>
                  <a:srgbClr val="000000"/>
                </a:solidFill>
              </a:defRPr>
            </a:pPr>
            <a:r>
              <a:rPr sz="1400">
                <a:solidFill>
                  <a:srgbClr val="FFFFFF"/>
                </a:solidFill>
              </a:rPr>
              <a:t>© 2014 Adobe Systems Incorporated.  All Rights Reserved.  Adobe Confidential.</a:t>
            </a:r>
          </a:p>
        </p:txBody>
      </p:sp>
      <p:pic>
        <p:nvPicPr>
          <p:cNvPr id="67" name="image3.png" descr="image3.png"/>
          <p:cNvPicPr>
            <a:picLocks noChangeAspect="1"/>
          </p:cNvPicPr>
          <p:nvPr/>
        </p:nvPicPr>
        <p:blipFill>
          <a:blip r:embed="rId3">
            <a:extLst/>
          </a:blip>
          <a:stretch>
            <a:fillRect/>
          </a:stretch>
        </p:blipFill>
        <p:spPr>
          <a:xfrm>
            <a:off x="1296515" y="-2383"/>
            <a:ext cx="743762" cy="1220531"/>
          </a:xfrm>
          <a:prstGeom prst="rect">
            <a:avLst/>
          </a:prstGeom>
          <a:ln w="12700">
            <a:miter lim="400000"/>
          </a:ln>
        </p:spPr>
      </p:pic>
      <p:sp>
        <p:nvSpPr>
          <p:cNvPr id="68" name="Slide Number"/>
          <p:cNvSpPr txBox="1"/>
          <p:nvPr>
            <p:ph type="sldNum" sz="quarter" idx="2"/>
          </p:nvPr>
        </p:nvSpPr>
        <p:spPr>
          <a:xfrm>
            <a:off x="11185790" y="12886445"/>
            <a:ext cx="2031471" cy="471657"/>
          </a:xfrm>
          <a:prstGeom prst="rect">
            <a:avLst/>
          </a:prstGeom>
          <a:ln>
            <a:miter lim="400000"/>
          </a:ln>
        </p:spPr>
        <p:txBody>
          <a:bodyPr wrap="square" lIns="108827" tIns="108827" rIns="108827" bIns="108827"/>
          <a:lstStyle>
            <a:lvl1pPr>
              <a:defRPr>
                <a:uFillTx/>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 TMS1">
    <p:spTree>
      <p:nvGrpSpPr>
        <p:cNvPr id="1" name=""/>
        <p:cNvGrpSpPr/>
        <p:nvPr/>
      </p:nvGrpSpPr>
      <p:grpSpPr>
        <a:xfrm>
          <a:off x="0" y="0"/>
          <a:ext cx="0" cy="0"/>
          <a:chOff x="0" y="0"/>
          <a:chExt cx="0" cy="0"/>
        </a:xfrm>
      </p:grpSpPr>
      <p:pic>
        <p:nvPicPr>
          <p:cNvPr id="75" name="Title-Slides-16x9_v02_MadeCubes.jpg" descr="Title-Slides-16x9_v02_MadeCubes.jpg"/>
          <p:cNvPicPr>
            <a:picLocks noChangeAspect="1"/>
          </p:cNvPicPr>
          <p:nvPr/>
        </p:nvPicPr>
        <p:blipFill>
          <a:blip r:embed="rId2">
            <a:extLst/>
          </a:blip>
          <a:stretch>
            <a:fillRect/>
          </a:stretch>
        </p:blipFill>
        <p:spPr>
          <a:xfrm>
            <a:off x="0" y="1784"/>
            <a:ext cx="24377894" cy="13712565"/>
          </a:xfrm>
          <a:prstGeom prst="rect">
            <a:avLst/>
          </a:prstGeom>
          <a:ln w="12700">
            <a:miter lim="400000"/>
          </a:ln>
        </p:spPr>
      </p:pic>
      <p:sp>
        <p:nvSpPr>
          <p:cNvPr id="76" name="Rectangle"/>
          <p:cNvSpPr/>
          <p:nvPr/>
        </p:nvSpPr>
        <p:spPr>
          <a:xfrm>
            <a:off x="0" y="2606039"/>
            <a:ext cx="24377650" cy="2331722"/>
          </a:xfrm>
          <a:prstGeom prst="rect">
            <a:avLst/>
          </a:prstGeom>
          <a:solidFill>
            <a:srgbClr val="37434D">
              <a:alpha val="14902"/>
            </a:srgbClr>
          </a:solidFill>
          <a:ln w="12700">
            <a:miter lim="400000"/>
          </a:ln>
        </p:spPr>
        <p:txBody>
          <a:bodyPr tIns="91439" bIns="91439" anchor="ctr"/>
          <a:lstStyle/>
          <a:p>
            <a:pPr algn="ctr" defTabSz="914400">
              <a:buClrTx/>
              <a:defRPr>
                <a:solidFill>
                  <a:srgbClr val="FFFFFF"/>
                </a:solidFill>
                <a:uFillTx/>
              </a:defRPr>
            </a:pPr>
          </a:p>
        </p:txBody>
      </p:sp>
      <p:sp>
        <p:nvSpPr>
          <p:cNvPr id="77" name="Title Text"/>
          <p:cNvSpPr txBox="1"/>
          <p:nvPr>
            <p:ph type="title"/>
          </p:nvPr>
        </p:nvSpPr>
        <p:spPr>
          <a:xfrm>
            <a:off x="1295063" y="2974115"/>
            <a:ext cx="21836442" cy="892553"/>
          </a:xfrm>
          <a:prstGeom prst="rect">
            <a:avLst/>
          </a:prstGeom>
          <a:ln>
            <a:miter lim="400000"/>
          </a:ln>
        </p:spPr>
        <p:txBody>
          <a:bodyPr lIns="0" tIns="0" rIns="0" bIns="0"/>
          <a:lstStyle>
            <a:lvl1pPr>
              <a:defRPr>
                <a:solidFill>
                  <a:srgbClr val="000000"/>
                </a:solidFill>
                <a:uFillTx/>
              </a:defRPr>
            </a:lvl1pPr>
          </a:lstStyle>
          <a:p>
            <a:pPr/>
            <a:r>
              <a:t>Title Text</a:t>
            </a:r>
          </a:p>
        </p:txBody>
      </p:sp>
      <p:sp>
        <p:nvSpPr>
          <p:cNvPr id="78" name="Body Level One…"/>
          <p:cNvSpPr txBox="1"/>
          <p:nvPr>
            <p:ph type="body" sz="quarter" idx="1"/>
          </p:nvPr>
        </p:nvSpPr>
        <p:spPr>
          <a:xfrm>
            <a:off x="1295063" y="3780021"/>
            <a:ext cx="21836442" cy="656591"/>
          </a:xfrm>
          <a:prstGeom prst="rect">
            <a:avLst/>
          </a:prstGeom>
          <a:ln>
            <a:miter lim="400000"/>
          </a:ln>
        </p:spPr>
        <p:txBody>
          <a:bodyPr lIns="0" tIns="0" rIns="0" bIns="0"/>
          <a:lstStyle>
            <a:lvl1pPr marL="0" indent="0">
              <a:buClrTx/>
              <a:buSzTx/>
              <a:buNone/>
              <a:defRPr sz="4200">
                <a:solidFill>
                  <a:srgbClr val="888888"/>
                </a:solidFill>
                <a:uFillTx/>
              </a:defRPr>
            </a:lvl1pPr>
            <a:lvl2pPr marL="0" indent="544144">
              <a:buClrTx/>
              <a:buSzTx/>
              <a:buNone/>
              <a:defRPr sz="4200">
                <a:solidFill>
                  <a:srgbClr val="888888"/>
                </a:solidFill>
                <a:uFillTx/>
              </a:defRPr>
            </a:lvl2pPr>
            <a:lvl3pPr marL="0" indent="1088291">
              <a:buClrTx/>
              <a:buSzTx/>
              <a:buNone/>
              <a:defRPr sz="4200">
                <a:solidFill>
                  <a:srgbClr val="888888"/>
                </a:solidFill>
                <a:uFillTx/>
              </a:defRPr>
            </a:lvl3pPr>
            <a:lvl4pPr marL="0" indent="1632436">
              <a:buClrTx/>
              <a:buSzTx/>
              <a:buNone/>
              <a:defRPr sz="4200">
                <a:solidFill>
                  <a:srgbClr val="888888"/>
                </a:solidFill>
                <a:uFillTx/>
              </a:defRPr>
            </a:lvl4pPr>
            <a:lvl5pPr marL="0" indent="2176580">
              <a:buClrTx/>
              <a:buSzTx/>
              <a:buNone/>
              <a:defRPr sz="4200">
                <a:solidFill>
                  <a:srgbClr val="888888"/>
                </a:solidFill>
                <a:uFillTx/>
              </a:defRPr>
            </a:lvl5pPr>
          </a:lstStyle>
          <a:p>
            <a:pPr/>
            <a:r>
              <a:t>Body Level One</a:t>
            </a:r>
          </a:p>
          <a:p>
            <a:pPr lvl="1"/>
            <a:r>
              <a:t>Body Level Two</a:t>
            </a:r>
          </a:p>
          <a:p>
            <a:pPr lvl="2"/>
            <a:r>
              <a:t>Body Level Three</a:t>
            </a:r>
          </a:p>
          <a:p>
            <a:pPr lvl="3"/>
            <a:r>
              <a:t>Body Level Four</a:t>
            </a:r>
          </a:p>
          <a:p>
            <a:pPr lvl="4"/>
            <a:r>
              <a:t>Body Level Five</a:t>
            </a:r>
          </a:p>
        </p:txBody>
      </p:sp>
      <p:sp>
        <p:nvSpPr>
          <p:cNvPr id="79" name="© 2014 Adobe Systems Incorporated.  All Rights Reserved.  Adobe Confidential."/>
          <p:cNvSpPr txBox="1"/>
          <p:nvPr/>
        </p:nvSpPr>
        <p:spPr>
          <a:xfrm>
            <a:off x="622139" y="12974022"/>
            <a:ext cx="1036336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Tx/>
              <a:defRPr sz="1400">
                <a:solidFill>
                  <a:srgbClr val="595959"/>
                </a:solidFill>
                <a:uFillTx/>
              </a:defRPr>
            </a:lvl1pPr>
          </a:lstStyle>
          <a:p>
            <a:pPr>
              <a:defRPr sz="3600">
                <a:solidFill>
                  <a:srgbClr val="000000"/>
                </a:solidFill>
              </a:defRPr>
            </a:pPr>
            <a:r>
              <a:rPr sz="1400">
                <a:solidFill>
                  <a:srgbClr val="595959"/>
                </a:solidFill>
              </a:rPr>
              <a:t>© 2014 Adobe Systems Incorporated.  All Rights Reserved.  Adobe Confidential.</a:t>
            </a:r>
          </a:p>
        </p:txBody>
      </p:sp>
      <p:pic>
        <p:nvPicPr>
          <p:cNvPr id="80" name="image3.png" descr="image3.png"/>
          <p:cNvPicPr>
            <a:picLocks noChangeAspect="1"/>
          </p:cNvPicPr>
          <p:nvPr/>
        </p:nvPicPr>
        <p:blipFill>
          <a:blip r:embed="rId3">
            <a:extLst/>
          </a:blip>
          <a:stretch>
            <a:fillRect/>
          </a:stretch>
        </p:blipFill>
        <p:spPr>
          <a:xfrm>
            <a:off x="1296515" y="-2383"/>
            <a:ext cx="743762" cy="1220531"/>
          </a:xfrm>
          <a:prstGeom prst="rect">
            <a:avLst/>
          </a:prstGeom>
          <a:ln w="12700">
            <a:miter lim="400000"/>
          </a:ln>
        </p:spPr>
      </p:pic>
      <p:sp>
        <p:nvSpPr>
          <p:cNvPr id="81" name="Slide Number"/>
          <p:cNvSpPr txBox="1"/>
          <p:nvPr>
            <p:ph type="sldNum" sz="quarter" idx="2"/>
          </p:nvPr>
        </p:nvSpPr>
        <p:spPr>
          <a:xfrm>
            <a:off x="11185790" y="12886445"/>
            <a:ext cx="2031471" cy="471657"/>
          </a:xfrm>
          <a:prstGeom prst="rect">
            <a:avLst/>
          </a:prstGeom>
          <a:ln>
            <a:miter lim="400000"/>
          </a:ln>
        </p:spPr>
        <p:txBody>
          <a:bodyPr wrap="square" lIns="108827" tIns="108827" rIns="108827" bIns="108827"/>
          <a:lstStyle>
            <a:lvl1pPr>
              <a:defRPr>
                <a:solidFill>
                  <a:srgbClr val="595959"/>
                </a:solidFill>
                <a:uFillTx/>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 TMS2">
    <p:spTree>
      <p:nvGrpSpPr>
        <p:cNvPr id="1" name=""/>
        <p:cNvGrpSpPr/>
        <p:nvPr/>
      </p:nvGrpSpPr>
      <p:grpSpPr>
        <a:xfrm>
          <a:off x="0" y="0"/>
          <a:ext cx="0" cy="0"/>
          <a:chOff x="0" y="0"/>
          <a:chExt cx="0" cy="0"/>
        </a:xfrm>
      </p:grpSpPr>
      <p:pic>
        <p:nvPicPr>
          <p:cNvPr id="88" name="Title-Slides-16x9_v02_MadeSmoke.jpg" descr="Title-Slides-16x9_v02_MadeSmoke.jpg"/>
          <p:cNvPicPr>
            <a:picLocks noChangeAspect="1"/>
          </p:cNvPicPr>
          <p:nvPr/>
        </p:nvPicPr>
        <p:blipFill>
          <a:blip r:embed="rId2">
            <a:extLst/>
          </a:blip>
          <a:stretch>
            <a:fillRect/>
          </a:stretch>
        </p:blipFill>
        <p:spPr>
          <a:xfrm>
            <a:off x="-1" y="1784"/>
            <a:ext cx="24377893" cy="13712565"/>
          </a:xfrm>
          <a:prstGeom prst="rect">
            <a:avLst/>
          </a:prstGeom>
          <a:ln w="12700">
            <a:miter lim="400000"/>
          </a:ln>
        </p:spPr>
      </p:pic>
      <p:sp>
        <p:nvSpPr>
          <p:cNvPr id="89" name="Rectangle"/>
          <p:cNvSpPr/>
          <p:nvPr/>
        </p:nvSpPr>
        <p:spPr>
          <a:xfrm>
            <a:off x="0" y="2606039"/>
            <a:ext cx="24377650" cy="2331722"/>
          </a:xfrm>
          <a:prstGeom prst="rect">
            <a:avLst/>
          </a:prstGeom>
          <a:solidFill>
            <a:srgbClr val="FFFFFF">
              <a:alpha val="70000"/>
            </a:srgbClr>
          </a:solidFill>
          <a:ln w="12700">
            <a:miter lim="400000"/>
          </a:ln>
        </p:spPr>
        <p:txBody>
          <a:bodyPr tIns="91439" bIns="91439" anchor="ctr"/>
          <a:lstStyle/>
          <a:p>
            <a:pPr algn="ctr" defTabSz="914400">
              <a:buClrTx/>
              <a:defRPr>
                <a:solidFill>
                  <a:srgbClr val="FFFFFF"/>
                </a:solidFill>
                <a:uFillTx/>
              </a:defRPr>
            </a:pPr>
          </a:p>
        </p:txBody>
      </p:sp>
      <p:sp>
        <p:nvSpPr>
          <p:cNvPr id="90" name="Title Text"/>
          <p:cNvSpPr txBox="1"/>
          <p:nvPr>
            <p:ph type="title"/>
          </p:nvPr>
        </p:nvSpPr>
        <p:spPr>
          <a:xfrm>
            <a:off x="1295063" y="2974115"/>
            <a:ext cx="21836442" cy="892553"/>
          </a:xfrm>
          <a:prstGeom prst="rect">
            <a:avLst/>
          </a:prstGeom>
          <a:ln>
            <a:miter lim="400000"/>
          </a:ln>
        </p:spPr>
        <p:txBody>
          <a:bodyPr lIns="0" tIns="0" rIns="0" bIns="0"/>
          <a:lstStyle>
            <a:lvl1pPr>
              <a:defRPr>
                <a:solidFill>
                  <a:srgbClr val="000000"/>
                </a:solidFill>
                <a:uFillTx/>
              </a:defRPr>
            </a:lvl1pPr>
          </a:lstStyle>
          <a:p>
            <a:pPr/>
            <a:r>
              <a:t>Title Text</a:t>
            </a:r>
          </a:p>
        </p:txBody>
      </p:sp>
      <p:sp>
        <p:nvSpPr>
          <p:cNvPr id="91" name="Body Level One…"/>
          <p:cNvSpPr txBox="1"/>
          <p:nvPr>
            <p:ph type="body" sz="quarter" idx="1"/>
          </p:nvPr>
        </p:nvSpPr>
        <p:spPr>
          <a:xfrm>
            <a:off x="1295063" y="3780021"/>
            <a:ext cx="21836442" cy="656591"/>
          </a:xfrm>
          <a:prstGeom prst="rect">
            <a:avLst/>
          </a:prstGeom>
          <a:ln>
            <a:miter lim="400000"/>
          </a:ln>
        </p:spPr>
        <p:txBody>
          <a:bodyPr lIns="0" tIns="0" rIns="0" bIns="0"/>
          <a:lstStyle>
            <a:lvl1pPr marL="0" indent="0">
              <a:buClrTx/>
              <a:buSzTx/>
              <a:buNone/>
              <a:defRPr sz="4200">
                <a:solidFill>
                  <a:srgbClr val="888888"/>
                </a:solidFill>
                <a:uFillTx/>
              </a:defRPr>
            </a:lvl1pPr>
            <a:lvl2pPr marL="0" indent="544144">
              <a:buClrTx/>
              <a:buSzTx/>
              <a:buNone/>
              <a:defRPr sz="4200">
                <a:solidFill>
                  <a:srgbClr val="888888"/>
                </a:solidFill>
                <a:uFillTx/>
              </a:defRPr>
            </a:lvl2pPr>
            <a:lvl3pPr marL="0" indent="1088291">
              <a:buClrTx/>
              <a:buSzTx/>
              <a:buNone/>
              <a:defRPr sz="4200">
                <a:solidFill>
                  <a:srgbClr val="888888"/>
                </a:solidFill>
                <a:uFillTx/>
              </a:defRPr>
            </a:lvl3pPr>
            <a:lvl4pPr marL="0" indent="1632436">
              <a:buClrTx/>
              <a:buSzTx/>
              <a:buNone/>
              <a:defRPr sz="4200">
                <a:solidFill>
                  <a:srgbClr val="888888"/>
                </a:solidFill>
                <a:uFillTx/>
              </a:defRPr>
            </a:lvl4pPr>
            <a:lvl5pPr marL="0" indent="2176580">
              <a:buClrTx/>
              <a:buSzTx/>
              <a:buNone/>
              <a:defRPr sz="4200">
                <a:solidFill>
                  <a:srgbClr val="888888"/>
                </a:solidFill>
                <a:uFillTx/>
              </a:defRPr>
            </a:lvl5pPr>
          </a:lstStyle>
          <a:p>
            <a:pPr/>
            <a:r>
              <a:t>Body Level One</a:t>
            </a:r>
          </a:p>
          <a:p>
            <a:pPr lvl="1"/>
            <a:r>
              <a:t>Body Level Two</a:t>
            </a:r>
          </a:p>
          <a:p>
            <a:pPr lvl="2"/>
            <a:r>
              <a:t>Body Level Three</a:t>
            </a:r>
          </a:p>
          <a:p>
            <a:pPr lvl="3"/>
            <a:r>
              <a:t>Body Level Four</a:t>
            </a:r>
          </a:p>
          <a:p>
            <a:pPr lvl="4"/>
            <a:r>
              <a:t>Body Level Five</a:t>
            </a:r>
          </a:p>
        </p:txBody>
      </p:sp>
      <p:sp>
        <p:nvSpPr>
          <p:cNvPr id="92" name="© 2014 Adobe Systems Incorporated.  All Rights Reserved.  Adobe Confidential."/>
          <p:cNvSpPr txBox="1"/>
          <p:nvPr/>
        </p:nvSpPr>
        <p:spPr>
          <a:xfrm>
            <a:off x="622139" y="12974022"/>
            <a:ext cx="1036336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Tx/>
              <a:defRPr sz="1400">
                <a:solidFill>
                  <a:srgbClr val="595959"/>
                </a:solidFill>
                <a:uFillTx/>
              </a:defRPr>
            </a:lvl1pPr>
          </a:lstStyle>
          <a:p>
            <a:pPr>
              <a:defRPr sz="3600">
                <a:solidFill>
                  <a:srgbClr val="000000"/>
                </a:solidFill>
              </a:defRPr>
            </a:pPr>
            <a:r>
              <a:rPr sz="1400">
                <a:solidFill>
                  <a:srgbClr val="595959"/>
                </a:solidFill>
              </a:rPr>
              <a:t>© 2014 Adobe Systems Incorporated.  All Rights Reserved.  Adobe Confidential.</a:t>
            </a:r>
          </a:p>
        </p:txBody>
      </p:sp>
      <p:pic>
        <p:nvPicPr>
          <p:cNvPr id="93" name="image3.png" descr="image3.png"/>
          <p:cNvPicPr>
            <a:picLocks noChangeAspect="1"/>
          </p:cNvPicPr>
          <p:nvPr/>
        </p:nvPicPr>
        <p:blipFill>
          <a:blip r:embed="rId3">
            <a:extLst/>
          </a:blip>
          <a:stretch>
            <a:fillRect/>
          </a:stretch>
        </p:blipFill>
        <p:spPr>
          <a:xfrm>
            <a:off x="1296515" y="-2383"/>
            <a:ext cx="743762" cy="1220531"/>
          </a:xfrm>
          <a:prstGeom prst="rect">
            <a:avLst/>
          </a:prstGeom>
          <a:ln w="12700">
            <a:miter lim="400000"/>
          </a:ln>
        </p:spPr>
      </p:pic>
      <p:sp>
        <p:nvSpPr>
          <p:cNvPr id="94" name="Slide Number"/>
          <p:cNvSpPr txBox="1"/>
          <p:nvPr>
            <p:ph type="sldNum" sz="quarter" idx="2"/>
          </p:nvPr>
        </p:nvSpPr>
        <p:spPr>
          <a:xfrm>
            <a:off x="11185790" y="12886445"/>
            <a:ext cx="2031471" cy="471657"/>
          </a:xfrm>
          <a:prstGeom prst="rect">
            <a:avLst/>
          </a:prstGeom>
          <a:ln>
            <a:miter lim="400000"/>
          </a:ln>
        </p:spPr>
        <p:txBody>
          <a:bodyPr wrap="square" lIns="108827" tIns="108827" rIns="108827" bIns="108827"/>
          <a:lstStyle>
            <a:lvl1pPr>
              <a:defRPr>
                <a:solidFill>
                  <a:srgbClr val="595959"/>
                </a:solidFill>
                <a:uFillTx/>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 TMS3">
    <p:spTree>
      <p:nvGrpSpPr>
        <p:cNvPr id="1" name=""/>
        <p:cNvGrpSpPr/>
        <p:nvPr/>
      </p:nvGrpSpPr>
      <p:grpSpPr>
        <a:xfrm>
          <a:off x="0" y="0"/>
          <a:ext cx="0" cy="0"/>
          <a:chOff x="0" y="0"/>
          <a:chExt cx="0" cy="0"/>
        </a:xfrm>
      </p:grpSpPr>
      <p:pic>
        <p:nvPicPr>
          <p:cNvPr id="101" name="Title-Slides-16x9_v02_MadeGum.jpg" descr="Title-Slides-16x9_v02_MadeGum.jpg"/>
          <p:cNvPicPr>
            <a:picLocks noChangeAspect="1"/>
          </p:cNvPicPr>
          <p:nvPr/>
        </p:nvPicPr>
        <p:blipFill>
          <a:blip r:embed="rId2">
            <a:extLst/>
          </a:blip>
          <a:stretch>
            <a:fillRect/>
          </a:stretch>
        </p:blipFill>
        <p:spPr>
          <a:xfrm>
            <a:off x="0" y="1783"/>
            <a:ext cx="24377891" cy="13712564"/>
          </a:xfrm>
          <a:prstGeom prst="rect">
            <a:avLst/>
          </a:prstGeom>
          <a:ln w="12700">
            <a:miter lim="400000"/>
          </a:ln>
        </p:spPr>
      </p:pic>
      <p:sp>
        <p:nvSpPr>
          <p:cNvPr id="102" name="Rectangle"/>
          <p:cNvSpPr/>
          <p:nvPr/>
        </p:nvSpPr>
        <p:spPr>
          <a:xfrm>
            <a:off x="0" y="2606039"/>
            <a:ext cx="24377650" cy="2331722"/>
          </a:xfrm>
          <a:prstGeom prst="rect">
            <a:avLst/>
          </a:prstGeom>
          <a:solidFill>
            <a:srgbClr val="FFFFFF">
              <a:alpha val="70000"/>
            </a:srgbClr>
          </a:solidFill>
          <a:ln w="12700">
            <a:miter lim="400000"/>
          </a:ln>
        </p:spPr>
        <p:txBody>
          <a:bodyPr tIns="91439" bIns="91439" anchor="ctr"/>
          <a:lstStyle/>
          <a:p>
            <a:pPr algn="ctr" defTabSz="914400">
              <a:buClrTx/>
              <a:defRPr>
                <a:solidFill>
                  <a:srgbClr val="FFFFFF"/>
                </a:solidFill>
                <a:uFillTx/>
              </a:defRPr>
            </a:pPr>
          </a:p>
        </p:txBody>
      </p:sp>
      <p:sp>
        <p:nvSpPr>
          <p:cNvPr id="103" name="Title Text"/>
          <p:cNvSpPr txBox="1"/>
          <p:nvPr>
            <p:ph type="title"/>
          </p:nvPr>
        </p:nvSpPr>
        <p:spPr>
          <a:xfrm>
            <a:off x="1295063" y="2974115"/>
            <a:ext cx="21836442" cy="892553"/>
          </a:xfrm>
          <a:prstGeom prst="rect">
            <a:avLst/>
          </a:prstGeom>
          <a:ln>
            <a:miter lim="400000"/>
          </a:ln>
        </p:spPr>
        <p:txBody>
          <a:bodyPr lIns="0" tIns="0" rIns="0" bIns="0"/>
          <a:lstStyle>
            <a:lvl1pPr>
              <a:defRPr>
                <a:solidFill>
                  <a:srgbClr val="000000"/>
                </a:solidFill>
                <a:uFillTx/>
              </a:defRPr>
            </a:lvl1pPr>
          </a:lstStyle>
          <a:p>
            <a:pPr/>
            <a:r>
              <a:t>Title Text</a:t>
            </a:r>
          </a:p>
        </p:txBody>
      </p:sp>
      <p:sp>
        <p:nvSpPr>
          <p:cNvPr id="104" name="Body Level One…"/>
          <p:cNvSpPr txBox="1"/>
          <p:nvPr>
            <p:ph type="body" sz="quarter" idx="1"/>
          </p:nvPr>
        </p:nvSpPr>
        <p:spPr>
          <a:xfrm>
            <a:off x="1295063" y="3780021"/>
            <a:ext cx="21836442" cy="656591"/>
          </a:xfrm>
          <a:prstGeom prst="rect">
            <a:avLst/>
          </a:prstGeom>
          <a:ln>
            <a:miter lim="400000"/>
          </a:ln>
        </p:spPr>
        <p:txBody>
          <a:bodyPr lIns="0" tIns="0" rIns="0" bIns="0"/>
          <a:lstStyle>
            <a:lvl1pPr marL="0" indent="0">
              <a:buClrTx/>
              <a:buSzTx/>
              <a:buNone/>
              <a:defRPr sz="4200">
                <a:solidFill>
                  <a:srgbClr val="888888"/>
                </a:solidFill>
                <a:uFillTx/>
              </a:defRPr>
            </a:lvl1pPr>
            <a:lvl2pPr marL="0" indent="544144">
              <a:buClrTx/>
              <a:buSzTx/>
              <a:buNone/>
              <a:defRPr sz="4200">
                <a:solidFill>
                  <a:srgbClr val="888888"/>
                </a:solidFill>
                <a:uFillTx/>
              </a:defRPr>
            </a:lvl2pPr>
            <a:lvl3pPr marL="0" indent="1088291">
              <a:buClrTx/>
              <a:buSzTx/>
              <a:buNone/>
              <a:defRPr sz="4200">
                <a:solidFill>
                  <a:srgbClr val="888888"/>
                </a:solidFill>
                <a:uFillTx/>
              </a:defRPr>
            </a:lvl3pPr>
            <a:lvl4pPr marL="0" indent="1632436">
              <a:buClrTx/>
              <a:buSzTx/>
              <a:buNone/>
              <a:defRPr sz="4200">
                <a:solidFill>
                  <a:srgbClr val="888888"/>
                </a:solidFill>
                <a:uFillTx/>
              </a:defRPr>
            </a:lvl4pPr>
            <a:lvl5pPr marL="0" indent="2176580">
              <a:buClrTx/>
              <a:buSzTx/>
              <a:buNone/>
              <a:defRPr sz="4200">
                <a:solidFill>
                  <a:srgbClr val="888888"/>
                </a:solidFill>
                <a:uFillTx/>
              </a:defRPr>
            </a:lvl5pPr>
          </a:lstStyle>
          <a:p>
            <a:pPr/>
            <a:r>
              <a:t>Body Level One</a:t>
            </a:r>
          </a:p>
          <a:p>
            <a:pPr lvl="1"/>
            <a:r>
              <a:t>Body Level Two</a:t>
            </a:r>
          </a:p>
          <a:p>
            <a:pPr lvl="2"/>
            <a:r>
              <a:t>Body Level Three</a:t>
            </a:r>
          </a:p>
          <a:p>
            <a:pPr lvl="3"/>
            <a:r>
              <a:t>Body Level Four</a:t>
            </a:r>
          </a:p>
          <a:p>
            <a:pPr lvl="4"/>
            <a:r>
              <a:t>Body Level Five</a:t>
            </a:r>
          </a:p>
        </p:txBody>
      </p:sp>
      <p:sp>
        <p:nvSpPr>
          <p:cNvPr id="105" name="© 2014 Adobe Systems Incorporated.  All Rights Reserved.  Adobe Confidential."/>
          <p:cNvSpPr txBox="1"/>
          <p:nvPr/>
        </p:nvSpPr>
        <p:spPr>
          <a:xfrm>
            <a:off x="622139" y="12974022"/>
            <a:ext cx="1036336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Tx/>
              <a:defRPr sz="1400">
                <a:solidFill>
                  <a:srgbClr val="595959"/>
                </a:solidFill>
                <a:uFillTx/>
              </a:defRPr>
            </a:lvl1pPr>
          </a:lstStyle>
          <a:p>
            <a:pPr>
              <a:defRPr sz="3600">
                <a:solidFill>
                  <a:srgbClr val="000000"/>
                </a:solidFill>
              </a:defRPr>
            </a:pPr>
            <a:r>
              <a:rPr sz="1400">
                <a:solidFill>
                  <a:srgbClr val="595959"/>
                </a:solidFill>
              </a:rPr>
              <a:t>© 2014 Adobe Systems Incorporated.  All Rights Reserved.  Adobe Confidential.</a:t>
            </a:r>
          </a:p>
        </p:txBody>
      </p:sp>
      <p:pic>
        <p:nvPicPr>
          <p:cNvPr id="106" name="image3.png" descr="image3.png"/>
          <p:cNvPicPr>
            <a:picLocks noChangeAspect="1"/>
          </p:cNvPicPr>
          <p:nvPr/>
        </p:nvPicPr>
        <p:blipFill>
          <a:blip r:embed="rId3">
            <a:extLst/>
          </a:blip>
          <a:stretch>
            <a:fillRect/>
          </a:stretch>
        </p:blipFill>
        <p:spPr>
          <a:xfrm>
            <a:off x="1296515" y="-2383"/>
            <a:ext cx="743762" cy="1220531"/>
          </a:xfrm>
          <a:prstGeom prst="rect">
            <a:avLst/>
          </a:prstGeom>
          <a:ln w="12700">
            <a:miter lim="400000"/>
          </a:ln>
        </p:spPr>
      </p:pic>
      <p:sp>
        <p:nvSpPr>
          <p:cNvPr id="107" name="Slide Number"/>
          <p:cNvSpPr txBox="1"/>
          <p:nvPr>
            <p:ph type="sldNum" sz="quarter" idx="2"/>
          </p:nvPr>
        </p:nvSpPr>
        <p:spPr>
          <a:xfrm>
            <a:off x="11185790" y="12886445"/>
            <a:ext cx="2031471" cy="471657"/>
          </a:xfrm>
          <a:prstGeom prst="rect">
            <a:avLst/>
          </a:prstGeom>
          <a:ln>
            <a:miter lim="400000"/>
          </a:ln>
        </p:spPr>
        <p:txBody>
          <a:bodyPr wrap="square" lIns="108827" tIns="108827" rIns="108827" bIns="108827"/>
          <a:lstStyle>
            <a:lvl1pPr>
              <a:defRPr>
                <a:solidFill>
                  <a:srgbClr val="595959"/>
                </a:solidFill>
                <a:uFillTx/>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 TMS4">
    <p:spTree>
      <p:nvGrpSpPr>
        <p:cNvPr id="1" name=""/>
        <p:cNvGrpSpPr/>
        <p:nvPr/>
      </p:nvGrpSpPr>
      <p:grpSpPr>
        <a:xfrm>
          <a:off x="0" y="0"/>
          <a:ext cx="0" cy="0"/>
          <a:chOff x="0" y="0"/>
          <a:chExt cx="0" cy="0"/>
        </a:xfrm>
      </p:grpSpPr>
      <p:pic>
        <p:nvPicPr>
          <p:cNvPr id="114" name="Title-Slides-16x9_v02_MadeFlower.jpg" descr="Title-Slides-16x9_v02_MadeFlower.jpg"/>
          <p:cNvPicPr>
            <a:picLocks noChangeAspect="1"/>
          </p:cNvPicPr>
          <p:nvPr/>
        </p:nvPicPr>
        <p:blipFill>
          <a:blip r:embed="rId2">
            <a:extLst/>
          </a:blip>
          <a:stretch>
            <a:fillRect/>
          </a:stretch>
        </p:blipFill>
        <p:spPr>
          <a:xfrm>
            <a:off x="0" y="1783"/>
            <a:ext cx="24377889" cy="13712564"/>
          </a:xfrm>
          <a:prstGeom prst="rect">
            <a:avLst/>
          </a:prstGeom>
          <a:ln w="12700">
            <a:miter lim="400000"/>
          </a:ln>
        </p:spPr>
      </p:pic>
      <p:sp>
        <p:nvSpPr>
          <p:cNvPr id="115" name="Rectangle"/>
          <p:cNvSpPr/>
          <p:nvPr/>
        </p:nvSpPr>
        <p:spPr>
          <a:xfrm>
            <a:off x="0" y="2606039"/>
            <a:ext cx="24377650" cy="2331722"/>
          </a:xfrm>
          <a:prstGeom prst="rect">
            <a:avLst/>
          </a:prstGeom>
          <a:solidFill>
            <a:srgbClr val="37434D">
              <a:alpha val="14902"/>
            </a:srgbClr>
          </a:solidFill>
          <a:ln w="12700">
            <a:miter lim="400000"/>
          </a:ln>
        </p:spPr>
        <p:txBody>
          <a:bodyPr tIns="91439" bIns="91439" anchor="ctr"/>
          <a:lstStyle/>
          <a:p>
            <a:pPr algn="ctr" defTabSz="914400">
              <a:buClrTx/>
              <a:defRPr>
                <a:solidFill>
                  <a:srgbClr val="FFFFFF"/>
                </a:solidFill>
                <a:uFillTx/>
              </a:defRPr>
            </a:pPr>
          </a:p>
        </p:txBody>
      </p:sp>
      <p:sp>
        <p:nvSpPr>
          <p:cNvPr id="116" name="Title Text"/>
          <p:cNvSpPr txBox="1"/>
          <p:nvPr>
            <p:ph type="title"/>
          </p:nvPr>
        </p:nvSpPr>
        <p:spPr>
          <a:xfrm>
            <a:off x="1295063" y="2974115"/>
            <a:ext cx="21836442" cy="892553"/>
          </a:xfrm>
          <a:prstGeom prst="rect">
            <a:avLst/>
          </a:prstGeom>
          <a:ln>
            <a:miter lim="400000"/>
          </a:ln>
        </p:spPr>
        <p:txBody>
          <a:bodyPr lIns="0" tIns="0" rIns="0" bIns="0"/>
          <a:lstStyle>
            <a:lvl1pPr>
              <a:defRPr>
                <a:solidFill>
                  <a:srgbClr val="000000"/>
                </a:solidFill>
                <a:uFillTx/>
              </a:defRPr>
            </a:lvl1pPr>
          </a:lstStyle>
          <a:p>
            <a:pPr/>
            <a:r>
              <a:t>Title Text</a:t>
            </a:r>
          </a:p>
        </p:txBody>
      </p:sp>
      <p:sp>
        <p:nvSpPr>
          <p:cNvPr id="117" name="Body Level One…"/>
          <p:cNvSpPr txBox="1"/>
          <p:nvPr>
            <p:ph type="body" sz="quarter" idx="1"/>
          </p:nvPr>
        </p:nvSpPr>
        <p:spPr>
          <a:xfrm>
            <a:off x="1295063" y="3780021"/>
            <a:ext cx="21836442" cy="656591"/>
          </a:xfrm>
          <a:prstGeom prst="rect">
            <a:avLst/>
          </a:prstGeom>
          <a:ln>
            <a:miter lim="400000"/>
          </a:ln>
        </p:spPr>
        <p:txBody>
          <a:bodyPr lIns="0" tIns="0" rIns="0" bIns="0"/>
          <a:lstStyle>
            <a:lvl1pPr marL="0" indent="0">
              <a:buClrTx/>
              <a:buSzTx/>
              <a:buNone/>
              <a:defRPr sz="4200">
                <a:solidFill>
                  <a:srgbClr val="888888"/>
                </a:solidFill>
                <a:uFillTx/>
              </a:defRPr>
            </a:lvl1pPr>
            <a:lvl2pPr marL="0" indent="544144">
              <a:buClrTx/>
              <a:buSzTx/>
              <a:buNone/>
              <a:defRPr sz="4200">
                <a:solidFill>
                  <a:srgbClr val="888888"/>
                </a:solidFill>
                <a:uFillTx/>
              </a:defRPr>
            </a:lvl2pPr>
            <a:lvl3pPr marL="0" indent="1088291">
              <a:buClrTx/>
              <a:buSzTx/>
              <a:buNone/>
              <a:defRPr sz="4200">
                <a:solidFill>
                  <a:srgbClr val="888888"/>
                </a:solidFill>
                <a:uFillTx/>
              </a:defRPr>
            </a:lvl3pPr>
            <a:lvl4pPr marL="0" indent="1632436">
              <a:buClrTx/>
              <a:buSzTx/>
              <a:buNone/>
              <a:defRPr sz="4200">
                <a:solidFill>
                  <a:srgbClr val="888888"/>
                </a:solidFill>
                <a:uFillTx/>
              </a:defRPr>
            </a:lvl4pPr>
            <a:lvl5pPr marL="0" indent="2176580">
              <a:buClrTx/>
              <a:buSzTx/>
              <a:buNone/>
              <a:defRPr sz="4200">
                <a:solidFill>
                  <a:srgbClr val="888888"/>
                </a:solidFill>
                <a:uFillTx/>
              </a:defRPr>
            </a:lvl5pPr>
          </a:lstStyle>
          <a:p>
            <a:pPr/>
            <a:r>
              <a:t>Body Level One</a:t>
            </a:r>
          </a:p>
          <a:p>
            <a:pPr lvl="1"/>
            <a:r>
              <a:t>Body Level Two</a:t>
            </a:r>
          </a:p>
          <a:p>
            <a:pPr lvl="2"/>
            <a:r>
              <a:t>Body Level Three</a:t>
            </a:r>
          </a:p>
          <a:p>
            <a:pPr lvl="3"/>
            <a:r>
              <a:t>Body Level Four</a:t>
            </a:r>
          </a:p>
          <a:p>
            <a:pPr lvl="4"/>
            <a:r>
              <a:t>Body Level Five</a:t>
            </a:r>
          </a:p>
        </p:txBody>
      </p:sp>
      <p:sp>
        <p:nvSpPr>
          <p:cNvPr id="118" name="© 2014 Adobe Systems Incorporated.  All Rights Reserved.  Adobe Confidential."/>
          <p:cNvSpPr txBox="1"/>
          <p:nvPr/>
        </p:nvSpPr>
        <p:spPr>
          <a:xfrm>
            <a:off x="622139" y="12974022"/>
            <a:ext cx="1036336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Tx/>
              <a:defRPr sz="1400">
                <a:solidFill>
                  <a:srgbClr val="595959"/>
                </a:solidFill>
                <a:uFillTx/>
              </a:defRPr>
            </a:lvl1pPr>
          </a:lstStyle>
          <a:p>
            <a:pPr>
              <a:defRPr sz="3600">
                <a:solidFill>
                  <a:srgbClr val="000000"/>
                </a:solidFill>
              </a:defRPr>
            </a:pPr>
            <a:r>
              <a:rPr sz="1400">
                <a:solidFill>
                  <a:srgbClr val="595959"/>
                </a:solidFill>
              </a:rPr>
              <a:t>© 2014 Adobe Systems Incorporated.  All Rights Reserved.  Adobe Confidential.</a:t>
            </a:r>
          </a:p>
        </p:txBody>
      </p:sp>
      <p:pic>
        <p:nvPicPr>
          <p:cNvPr id="119" name="image3.png" descr="image3.png"/>
          <p:cNvPicPr>
            <a:picLocks noChangeAspect="1"/>
          </p:cNvPicPr>
          <p:nvPr/>
        </p:nvPicPr>
        <p:blipFill>
          <a:blip r:embed="rId3">
            <a:extLst/>
          </a:blip>
          <a:stretch>
            <a:fillRect/>
          </a:stretch>
        </p:blipFill>
        <p:spPr>
          <a:xfrm>
            <a:off x="1296515" y="-2383"/>
            <a:ext cx="743762" cy="1220531"/>
          </a:xfrm>
          <a:prstGeom prst="rect">
            <a:avLst/>
          </a:prstGeom>
          <a:ln w="12700">
            <a:miter lim="400000"/>
          </a:ln>
        </p:spPr>
      </p:pic>
      <p:sp>
        <p:nvSpPr>
          <p:cNvPr id="120" name="Slide Number"/>
          <p:cNvSpPr txBox="1"/>
          <p:nvPr>
            <p:ph type="sldNum" sz="quarter" idx="2"/>
          </p:nvPr>
        </p:nvSpPr>
        <p:spPr>
          <a:xfrm>
            <a:off x="11185790" y="12886445"/>
            <a:ext cx="2031471" cy="471657"/>
          </a:xfrm>
          <a:prstGeom prst="rect">
            <a:avLst/>
          </a:prstGeom>
          <a:ln>
            <a:miter lim="400000"/>
          </a:ln>
        </p:spPr>
        <p:txBody>
          <a:bodyPr wrap="square" lIns="108827" tIns="108827" rIns="108827" bIns="108827"/>
          <a:lstStyle>
            <a:lvl1pPr>
              <a:defRPr>
                <a:solidFill>
                  <a:srgbClr val="595959"/>
                </a:solidFill>
                <a:uFillTx/>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 SnW1">
    <p:spTree>
      <p:nvGrpSpPr>
        <p:cNvPr id="1" name=""/>
        <p:cNvGrpSpPr/>
        <p:nvPr/>
      </p:nvGrpSpPr>
      <p:grpSpPr>
        <a:xfrm>
          <a:off x="0" y="0"/>
          <a:ext cx="0" cy="0"/>
          <a:chOff x="0" y="0"/>
          <a:chExt cx="0" cy="0"/>
        </a:xfrm>
      </p:grpSpPr>
      <p:pic>
        <p:nvPicPr>
          <p:cNvPr id="127" name="Title-Slides-16x9_v02_SAGConfetti.jpg" descr="Title-Slides-16x9_v02_SAGConfetti.jpg"/>
          <p:cNvPicPr>
            <a:picLocks noChangeAspect="1"/>
          </p:cNvPicPr>
          <p:nvPr/>
        </p:nvPicPr>
        <p:blipFill>
          <a:blip r:embed="rId2">
            <a:extLst/>
          </a:blip>
          <a:stretch>
            <a:fillRect/>
          </a:stretch>
        </p:blipFill>
        <p:spPr>
          <a:xfrm>
            <a:off x="0" y="0"/>
            <a:ext cx="24384000" cy="13716000"/>
          </a:xfrm>
          <a:prstGeom prst="rect">
            <a:avLst/>
          </a:prstGeom>
          <a:ln w="12700">
            <a:miter lim="400000"/>
          </a:ln>
        </p:spPr>
      </p:pic>
      <p:sp>
        <p:nvSpPr>
          <p:cNvPr id="128" name="Rectangle"/>
          <p:cNvSpPr/>
          <p:nvPr/>
        </p:nvSpPr>
        <p:spPr>
          <a:xfrm>
            <a:off x="0" y="2606039"/>
            <a:ext cx="24377650" cy="2331722"/>
          </a:xfrm>
          <a:prstGeom prst="rect">
            <a:avLst/>
          </a:prstGeom>
          <a:solidFill>
            <a:srgbClr val="FFFFFF">
              <a:alpha val="70000"/>
            </a:srgbClr>
          </a:solidFill>
          <a:ln w="12700">
            <a:miter lim="400000"/>
          </a:ln>
        </p:spPr>
        <p:txBody>
          <a:bodyPr tIns="91439" bIns="91439" anchor="ctr"/>
          <a:lstStyle/>
          <a:p>
            <a:pPr algn="ctr" defTabSz="914400">
              <a:buClrTx/>
              <a:defRPr>
                <a:solidFill>
                  <a:srgbClr val="FFFFFF"/>
                </a:solidFill>
                <a:uFillTx/>
              </a:defRPr>
            </a:pPr>
          </a:p>
        </p:txBody>
      </p:sp>
      <p:sp>
        <p:nvSpPr>
          <p:cNvPr id="129" name="Title Text"/>
          <p:cNvSpPr txBox="1"/>
          <p:nvPr>
            <p:ph type="title"/>
          </p:nvPr>
        </p:nvSpPr>
        <p:spPr>
          <a:xfrm>
            <a:off x="1295063" y="2974115"/>
            <a:ext cx="21836442" cy="892553"/>
          </a:xfrm>
          <a:prstGeom prst="rect">
            <a:avLst/>
          </a:prstGeom>
          <a:ln>
            <a:miter lim="400000"/>
          </a:ln>
        </p:spPr>
        <p:txBody>
          <a:bodyPr lIns="0" tIns="0" rIns="0" bIns="0"/>
          <a:lstStyle>
            <a:lvl1pPr>
              <a:defRPr>
                <a:solidFill>
                  <a:srgbClr val="000000"/>
                </a:solidFill>
                <a:uFillTx/>
              </a:defRPr>
            </a:lvl1pPr>
          </a:lstStyle>
          <a:p>
            <a:pPr/>
            <a:r>
              <a:t>Title Text</a:t>
            </a:r>
          </a:p>
        </p:txBody>
      </p:sp>
      <p:sp>
        <p:nvSpPr>
          <p:cNvPr id="130" name="Body Level One…"/>
          <p:cNvSpPr txBox="1"/>
          <p:nvPr>
            <p:ph type="body" sz="quarter" idx="1"/>
          </p:nvPr>
        </p:nvSpPr>
        <p:spPr>
          <a:xfrm>
            <a:off x="1295063" y="3780021"/>
            <a:ext cx="21836442" cy="656591"/>
          </a:xfrm>
          <a:prstGeom prst="rect">
            <a:avLst/>
          </a:prstGeom>
          <a:ln>
            <a:miter lim="400000"/>
          </a:ln>
        </p:spPr>
        <p:txBody>
          <a:bodyPr lIns="0" tIns="0" rIns="0" bIns="0"/>
          <a:lstStyle>
            <a:lvl1pPr marL="0" indent="0">
              <a:buClrTx/>
              <a:buSzTx/>
              <a:buNone/>
              <a:defRPr sz="4200">
                <a:solidFill>
                  <a:srgbClr val="888888"/>
                </a:solidFill>
                <a:uFillTx/>
              </a:defRPr>
            </a:lvl1pPr>
            <a:lvl2pPr marL="0" indent="544144">
              <a:buClrTx/>
              <a:buSzTx/>
              <a:buNone/>
              <a:defRPr sz="4200">
                <a:solidFill>
                  <a:srgbClr val="888888"/>
                </a:solidFill>
                <a:uFillTx/>
              </a:defRPr>
            </a:lvl2pPr>
            <a:lvl3pPr marL="0" indent="1088291">
              <a:buClrTx/>
              <a:buSzTx/>
              <a:buNone/>
              <a:defRPr sz="4200">
                <a:solidFill>
                  <a:srgbClr val="888888"/>
                </a:solidFill>
                <a:uFillTx/>
              </a:defRPr>
            </a:lvl3pPr>
            <a:lvl4pPr marL="0" indent="1632436">
              <a:buClrTx/>
              <a:buSzTx/>
              <a:buNone/>
              <a:defRPr sz="4200">
                <a:solidFill>
                  <a:srgbClr val="888888"/>
                </a:solidFill>
                <a:uFillTx/>
              </a:defRPr>
            </a:lvl4pPr>
            <a:lvl5pPr marL="0" indent="2176580">
              <a:buClrTx/>
              <a:buSzTx/>
              <a:buNone/>
              <a:defRPr sz="4200">
                <a:solidFill>
                  <a:srgbClr val="888888"/>
                </a:solidFill>
                <a:uFillTx/>
              </a:defRPr>
            </a:lvl5pPr>
          </a:lstStyle>
          <a:p>
            <a:pPr/>
            <a:r>
              <a:t>Body Level One</a:t>
            </a:r>
          </a:p>
          <a:p>
            <a:pPr lvl="1"/>
            <a:r>
              <a:t>Body Level Two</a:t>
            </a:r>
          </a:p>
          <a:p>
            <a:pPr lvl="2"/>
            <a:r>
              <a:t>Body Level Three</a:t>
            </a:r>
          </a:p>
          <a:p>
            <a:pPr lvl="3"/>
            <a:r>
              <a:t>Body Level Four</a:t>
            </a:r>
          </a:p>
          <a:p>
            <a:pPr lvl="4"/>
            <a:r>
              <a:t>Body Level Five</a:t>
            </a:r>
          </a:p>
        </p:txBody>
      </p:sp>
      <p:sp>
        <p:nvSpPr>
          <p:cNvPr id="131" name="© 2014 Adobe Systems Incorporated.  All Rights Reserved.  Adobe Confidential."/>
          <p:cNvSpPr txBox="1"/>
          <p:nvPr/>
        </p:nvSpPr>
        <p:spPr>
          <a:xfrm>
            <a:off x="622139" y="12974022"/>
            <a:ext cx="1036336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Tx/>
              <a:defRPr sz="1400">
                <a:solidFill>
                  <a:srgbClr val="595959"/>
                </a:solidFill>
                <a:uFillTx/>
              </a:defRPr>
            </a:lvl1pPr>
          </a:lstStyle>
          <a:p>
            <a:pPr>
              <a:defRPr sz="3600">
                <a:solidFill>
                  <a:srgbClr val="000000"/>
                </a:solidFill>
              </a:defRPr>
            </a:pPr>
            <a:r>
              <a:rPr sz="1400">
                <a:solidFill>
                  <a:srgbClr val="595959"/>
                </a:solidFill>
              </a:rPr>
              <a:t>© 2014 Adobe Systems Incorporated.  All Rights Reserved.  Adobe Confidential.</a:t>
            </a:r>
          </a:p>
        </p:txBody>
      </p:sp>
      <p:pic>
        <p:nvPicPr>
          <p:cNvPr id="132" name="image3.png" descr="image3.png"/>
          <p:cNvPicPr>
            <a:picLocks noChangeAspect="1"/>
          </p:cNvPicPr>
          <p:nvPr/>
        </p:nvPicPr>
        <p:blipFill>
          <a:blip r:embed="rId3">
            <a:extLst/>
          </a:blip>
          <a:stretch>
            <a:fillRect/>
          </a:stretch>
        </p:blipFill>
        <p:spPr>
          <a:xfrm>
            <a:off x="1296515" y="-2383"/>
            <a:ext cx="743762" cy="1220531"/>
          </a:xfrm>
          <a:prstGeom prst="rect">
            <a:avLst/>
          </a:prstGeom>
          <a:ln w="12700">
            <a:miter lim="400000"/>
          </a:ln>
        </p:spPr>
      </p:pic>
      <p:sp>
        <p:nvSpPr>
          <p:cNvPr id="133" name="Slide Number"/>
          <p:cNvSpPr txBox="1"/>
          <p:nvPr>
            <p:ph type="sldNum" sz="quarter" idx="2"/>
          </p:nvPr>
        </p:nvSpPr>
        <p:spPr>
          <a:xfrm>
            <a:off x="11185790" y="12886445"/>
            <a:ext cx="2031471" cy="471657"/>
          </a:xfrm>
          <a:prstGeom prst="rect">
            <a:avLst/>
          </a:prstGeom>
          <a:ln>
            <a:miter lim="400000"/>
          </a:ln>
        </p:spPr>
        <p:txBody>
          <a:bodyPr wrap="square" lIns="108827" tIns="108827" rIns="108827" bIns="108827"/>
          <a:lstStyle>
            <a:lvl1pPr>
              <a:defRPr>
                <a:solidFill>
                  <a:srgbClr val="595959"/>
                </a:solidFill>
                <a:uFillTx/>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 SnW2">
    <p:spTree>
      <p:nvGrpSpPr>
        <p:cNvPr id="1" name=""/>
        <p:cNvGrpSpPr/>
        <p:nvPr/>
      </p:nvGrpSpPr>
      <p:grpSpPr>
        <a:xfrm>
          <a:off x="0" y="0"/>
          <a:ext cx="0" cy="0"/>
          <a:chOff x="0" y="0"/>
          <a:chExt cx="0" cy="0"/>
        </a:xfrm>
      </p:grpSpPr>
      <p:pic>
        <p:nvPicPr>
          <p:cNvPr id="140" name="Title-Slides-16x9_v02_SAGFlowers.jpg" descr="Title-Slides-16x9_v02_SAGFlowers.jpg"/>
          <p:cNvPicPr>
            <a:picLocks noChangeAspect="1"/>
          </p:cNvPicPr>
          <p:nvPr/>
        </p:nvPicPr>
        <p:blipFill>
          <a:blip r:embed="rId2">
            <a:extLst/>
          </a:blip>
          <a:stretch>
            <a:fillRect/>
          </a:stretch>
        </p:blipFill>
        <p:spPr>
          <a:xfrm>
            <a:off x="0" y="1783"/>
            <a:ext cx="24377889" cy="13712564"/>
          </a:xfrm>
          <a:prstGeom prst="rect">
            <a:avLst/>
          </a:prstGeom>
          <a:ln w="12700">
            <a:miter lim="400000"/>
          </a:ln>
        </p:spPr>
      </p:pic>
      <p:sp>
        <p:nvSpPr>
          <p:cNvPr id="141" name="Rectangle"/>
          <p:cNvSpPr/>
          <p:nvPr/>
        </p:nvSpPr>
        <p:spPr>
          <a:xfrm>
            <a:off x="0" y="2606039"/>
            <a:ext cx="24377650" cy="2331722"/>
          </a:xfrm>
          <a:prstGeom prst="rect">
            <a:avLst/>
          </a:prstGeom>
          <a:solidFill>
            <a:srgbClr val="FFFFFF">
              <a:alpha val="70000"/>
            </a:srgbClr>
          </a:solidFill>
          <a:ln w="12700">
            <a:miter lim="400000"/>
          </a:ln>
        </p:spPr>
        <p:txBody>
          <a:bodyPr tIns="91439" bIns="91439" anchor="ctr"/>
          <a:lstStyle/>
          <a:p>
            <a:pPr algn="ctr" defTabSz="914400">
              <a:buClrTx/>
              <a:defRPr>
                <a:solidFill>
                  <a:srgbClr val="FFFFFF"/>
                </a:solidFill>
                <a:uFillTx/>
              </a:defRPr>
            </a:pPr>
          </a:p>
        </p:txBody>
      </p:sp>
      <p:sp>
        <p:nvSpPr>
          <p:cNvPr id="142" name="Title Text"/>
          <p:cNvSpPr txBox="1"/>
          <p:nvPr>
            <p:ph type="title"/>
          </p:nvPr>
        </p:nvSpPr>
        <p:spPr>
          <a:xfrm>
            <a:off x="1295063" y="2974115"/>
            <a:ext cx="21836442" cy="892553"/>
          </a:xfrm>
          <a:prstGeom prst="rect">
            <a:avLst/>
          </a:prstGeom>
          <a:ln>
            <a:miter lim="400000"/>
          </a:ln>
        </p:spPr>
        <p:txBody>
          <a:bodyPr lIns="0" tIns="0" rIns="0" bIns="0"/>
          <a:lstStyle>
            <a:lvl1pPr>
              <a:defRPr>
                <a:solidFill>
                  <a:srgbClr val="000000"/>
                </a:solidFill>
                <a:uFillTx/>
              </a:defRPr>
            </a:lvl1pPr>
          </a:lstStyle>
          <a:p>
            <a:pPr/>
            <a:r>
              <a:t>Title Text</a:t>
            </a:r>
          </a:p>
        </p:txBody>
      </p:sp>
      <p:sp>
        <p:nvSpPr>
          <p:cNvPr id="143" name="Body Level One…"/>
          <p:cNvSpPr txBox="1"/>
          <p:nvPr>
            <p:ph type="body" sz="quarter" idx="1"/>
          </p:nvPr>
        </p:nvSpPr>
        <p:spPr>
          <a:xfrm>
            <a:off x="1295063" y="3780021"/>
            <a:ext cx="21836442" cy="656591"/>
          </a:xfrm>
          <a:prstGeom prst="rect">
            <a:avLst/>
          </a:prstGeom>
          <a:ln>
            <a:miter lim="400000"/>
          </a:ln>
        </p:spPr>
        <p:txBody>
          <a:bodyPr lIns="0" tIns="0" rIns="0" bIns="0"/>
          <a:lstStyle>
            <a:lvl1pPr marL="0" indent="0">
              <a:buClrTx/>
              <a:buSzTx/>
              <a:buNone/>
              <a:defRPr sz="4200">
                <a:solidFill>
                  <a:srgbClr val="888888"/>
                </a:solidFill>
                <a:uFillTx/>
              </a:defRPr>
            </a:lvl1pPr>
            <a:lvl2pPr marL="0" indent="544144">
              <a:buClrTx/>
              <a:buSzTx/>
              <a:buNone/>
              <a:defRPr sz="4200">
                <a:solidFill>
                  <a:srgbClr val="888888"/>
                </a:solidFill>
                <a:uFillTx/>
              </a:defRPr>
            </a:lvl2pPr>
            <a:lvl3pPr marL="0" indent="1088291">
              <a:buClrTx/>
              <a:buSzTx/>
              <a:buNone/>
              <a:defRPr sz="4200">
                <a:solidFill>
                  <a:srgbClr val="888888"/>
                </a:solidFill>
                <a:uFillTx/>
              </a:defRPr>
            </a:lvl3pPr>
            <a:lvl4pPr marL="0" indent="1632436">
              <a:buClrTx/>
              <a:buSzTx/>
              <a:buNone/>
              <a:defRPr sz="4200">
                <a:solidFill>
                  <a:srgbClr val="888888"/>
                </a:solidFill>
                <a:uFillTx/>
              </a:defRPr>
            </a:lvl4pPr>
            <a:lvl5pPr marL="0" indent="2176580">
              <a:buClrTx/>
              <a:buSzTx/>
              <a:buNone/>
              <a:defRPr sz="4200">
                <a:solidFill>
                  <a:srgbClr val="888888"/>
                </a:solidFill>
                <a:uFillTx/>
              </a:defRPr>
            </a:lvl5pPr>
          </a:lstStyle>
          <a:p>
            <a:pPr/>
            <a:r>
              <a:t>Body Level One</a:t>
            </a:r>
          </a:p>
          <a:p>
            <a:pPr lvl="1"/>
            <a:r>
              <a:t>Body Level Two</a:t>
            </a:r>
          </a:p>
          <a:p>
            <a:pPr lvl="2"/>
            <a:r>
              <a:t>Body Level Three</a:t>
            </a:r>
          </a:p>
          <a:p>
            <a:pPr lvl="3"/>
            <a:r>
              <a:t>Body Level Four</a:t>
            </a:r>
          </a:p>
          <a:p>
            <a:pPr lvl="4"/>
            <a:r>
              <a:t>Body Level Five</a:t>
            </a:r>
          </a:p>
        </p:txBody>
      </p:sp>
      <p:sp>
        <p:nvSpPr>
          <p:cNvPr id="144" name="© 2014 Adobe Systems Incorporated.  All Rights Reserved.  Adobe Confidential."/>
          <p:cNvSpPr txBox="1"/>
          <p:nvPr/>
        </p:nvSpPr>
        <p:spPr>
          <a:xfrm>
            <a:off x="622139" y="12974022"/>
            <a:ext cx="1036336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Tx/>
              <a:defRPr sz="1400">
                <a:solidFill>
                  <a:srgbClr val="595959"/>
                </a:solidFill>
                <a:uFillTx/>
              </a:defRPr>
            </a:lvl1pPr>
          </a:lstStyle>
          <a:p>
            <a:pPr>
              <a:defRPr sz="3600">
                <a:solidFill>
                  <a:srgbClr val="000000"/>
                </a:solidFill>
              </a:defRPr>
            </a:pPr>
            <a:r>
              <a:rPr sz="1400">
                <a:solidFill>
                  <a:srgbClr val="595959"/>
                </a:solidFill>
              </a:rPr>
              <a:t>© 2014 Adobe Systems Incorporated.  All Rights Reserved.  Adobe Confidential.</a:t>
            </a:r>
          </a:p>
        </p:txBody>
      </p:sp>
      <p:pic>
        <p:nvPicPr>
          <p:cNvPr id="145" name="image3.png" descr="image3.png"/>
          <p:cNvPicPr>
            <a:picLocks noChangeAspect="1"/>
          </p:cNvPicPr>
          <p:nvPr/>
        </p:nvPicPr>
        <p:blipFill>
          <a:blip r:embed="rId3">
            <a:extLst/>
          </a:blip>
          <a:stretch>
            <a:fillRect/>
          </a:stretch>
        </p:blipFill>
        <p:spPr>
          <a:xfrm>
            <a:off x="1296515" y="-2383"/>
            <a:ext cx="743762" cy="1220531"/>
          </a:xfrm>
          <a:prstGeom prst="rect">
            <a:avLst/>
          </a:prstGeom>
          <a:ln w="12700">
            <a:miter lim="400000"/>
          </a:ln>
        </p:spPr>
      </p:pic>
      <p:sp>
        <p:nvSpPr>
          <p:cNvPr id="146" name="Slide Number"/>
          <p:cNvSpPr txBox="1"/>
          <p:nvPr>
            <p:ph type="sldNum" sz="quarter" idx="2"/>
          </p:nvPr>
        </p:nvSpPr>
        <p:spPr>
          <a:xfrm>
            <a:off x="11185790" y="12886445"/>
            <a:ext cx="2031471" cy="471657"/>
          </a:xfrm>
          <a:prstGeom prst="rect">
            <a:avLst/>
          </a:prstGeom>
          <a:ln>
            <a:miter lim="400000"/>
          </a:ln>
        </p:spPr>
        <p:txBody>
          <a:bodyPr wrap="square" lIns="108827" tIns="108827" rIns="108827" bIns="108827"/>
          <a:lstStyle>
            <a:lvl1pPr>
              <a:defRPr>
                <a:solidFill>
                  <a:srgbClr val="595959"/>
                </a:solidFill>
                <a:uFillTx/>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 SnW3">
    <p:spTree>
      <p:nvGrpSpPr>
        <p:cNvPr id="1" name=""/>
        <p:cNvGrpSpPr/>
        <p:nvPr/>
      </p:nvGrpSpPr>
      <p:grpSpPr>
        <a:xfrm>
          <a:off x="0" y="0"/>
          <a:ext cx="0" cy="0"/>
          <a:chOff x="0" y="0"/>
          <a:chExt cx="0" cy="0"/>
        </a:xfrm>
      </p:grpSpPr>
      <p:pic>
        <p:nvPicPr>
          <p:cNvPr id="153" name="Title-Slides-16x9_v02_SAGPink.jpg" descr="Title-Slides-16x9_v02_SAGPink.jpg"/>
          <p:cNvPicPr>
            <a:picLocks noChangeAspect="1"/>
          </p:cNvPicPr>
          <p:nvPr/>
        </p:nvPicPr>
        <p:blipFill>
          <a:blip r:embed="rId2">
            <a:extLst/>
          </a:blip>
          <a:stretch>
            <a:fillRect/>
          </a:stretch>
        </p:blipFill>
        <p:spPr>
          <a:xfrm>
            <a:off x="0" y="1783"/>
            <a:ext cx="24377889" cy="13712564"/>
          </a:xfrm>
          <a:prstGeom prst="rect">
            <a:avLst/>
          </a:prstGeom>
          <a:ln w="12700">
            <a:miter lim="400000"/>
          </a:ln>
        </p:spPr>
      </p:pic>
      <p:sp>
        <p:nvSpPr>
          <p:cNvPr id="154" name="Rectangle"/>
          <p:cNvSpPr/>
          <p:nvPr/>
        </p:nvSpPr>
        <p:spPr>
          <a:xfrm>
            <a:off x="0" y="2606039"/>
            <a:ext cx="24377650" cy="2331722"/>
          </a:xfrm>
          <a:prstGeom prst="rect">
            <a:avLst/>
          </a:prstGeom>
          <a:solidFill>
            <a:srgbClr val="FFFFFF">
              <a:alpha val="70000"/>
            </a:srgbClr>
          </a:solidFill>
          <a:ln w="12700">
            <a:miter lim="400000"/>
          </a:ln>
        </p:spPr>
        <p:txBody>
          <a:bodyPr tIns="91439" bIns="91439" anchor="ctr"/>
          <a:lstStyle/>
          <a:p>
            <a:pPr algn="ctr" defTabSz="914400">
              <a:buClrTx/>
              <a:defRPr>
                <a:solidFill>
                  <a:srgbClr val="FFFFFF"/>
                </a:solidFill>
                <a:uFillTx/>
              </a:defRPr>
            </a:pPr>
          </a:p>
        </p:txBody>
      </p:sp>
      <p:sp>
        <p:nvSpPr>
          <p:cNvPr id="155" name="Title Text"/>
          <p:cNvSpPr txBox="1"/>
          <p:nvPr>
            <p:ph type="title"/>
          </p:nvPr>
        </p:nvSpPr>
        <p:spPr>
          <a:xfrm>
            <a:off x="1295063" y="2974115"/>
            <a:ext cx="21836442" cy="892553"/>
          </a:xfrm>
          <a:prstGeom prst="rect">
            <a:avLst/>
          </a:prstGeom>
          <a:ln>
            <a:miter lim="400000"/>
          </a:ln>
        </p:spPr>
        <p:txBody>
          <a:bodyPr lIns="0" tIns="0" rIns="0" bIns="0"/>
          <a:lstStyle>
            <a:lvl1pPr>
              <a:defRPr>
                <a:solidFill>
                  <a:srgbClr val="000000"/>
                </a:solidFill>
                <a:uFillTx/>
              </a:defRPr>
            </a:lvl1pPr>
          </a:lstStyle>
          <a:p>
            <a:pPr/>
            <a:r>
              <a:t>Title Text</a:t>
            </a:r>
          </a:p>
        </p:txBody>
      </p:sp>
      <p:sp>
        <p:nvSpPr>
          <p:cNvPr id="156" name="Body Level One…"/>
          <p:cNvSpPr txBox="1"/>
          <p:nvPr>
            <p:ph type="body" sz="quarter" idx="1"/>
          </p:nvPr>
        </p:nvSpPr>
        <p:spPr>
          <a:xfrm>
            <a:off x="1295063" y="3780021"/>
            <a:ext cx="21836442" cy="656591"/>
          </a:xfrm>
          <a:prstGeom prst="rect">
            <a:avLst/>
          </a:prstGeom>
          <a:ln>
            <a:miter lim="400000"/>
          </a:ln>
        </p:spPr>
        <p:txBody>
          <a:bodyPr lIns="0" tIns="0" rIns="0" bIns="0"/>
          <a:lstStyle>
            <a:lvl1pPr marL="0" indent="0">
              <a:buClrTx/>
              <a:buSzTx/>
              <a:buNone/>
              <a:defRPr sz="4200">
                <a:solidFill>
                  <a:srgbClr val="888888"/>
                </a:solidFill>
                <a:uFillTx/>
              </a:defRPr>
            </a:lvl1pPr>
            <a:lvl2pPr marL="0" indent="544144">
              <a:buClrTx/>
              <a:buSzTx/>
              <a:buNone/>
              <a:defRPr sz="4200">
                <a:solidFill>
                  <a:srgbClr val="888888"/>
                </a:solidFill>
                <a:uFillTx/>
              </a:defRPr>
            </a:lvl2pPr>
            <a:lvl3pPr marL="0" indent="1088291">
              <a:buClrTx/>
              <a:buSzTx/>
              <a:buNone/>
              <a:defRPr sz="4200">
                <a:solidFill>
                  <a:srgbClr val="888888"/>
                </a:solidFill>
                <a:uFillTx/>
              </a:defRPr>
            </a:lvl3pPr>
            <a:lvl4pPr marL="0" indent="1632436">
              <a:buClrTx/>
              <a:buSzTx/>
              <a:buNone/>
              <a:defRPr sz="4200">
                <a:solidFill>
                  <a:srgbClr val="888888"/>
                </a:solidFill>
                <a:uFillTx/>
              </a:defRPr>
            </a:lvl4pPr>
            <a:lvl5pPr marL="0" indent="2176580">
              <a:buClrTx/>
              <a:buSzTx/>
              <a:buNone/>
              <a:defRPr sz="4200">
                <a:solidFill>
                  <a:srgbClr val="888888"/>
                </a:solidFill>
                <a:uFillTx/>
              </a:defRPr>
            </a:lvl5pPr>
          </a:lstStyle>
          <a:p>
            <a:pPr/>
            <a:r>
              <a:t>Body Level One</a:t>
            </a:r>
          </a:p>
          <a:p>
            <a:pPr lvl="1"/>
            <a:r>
              <a:t>Body Level Two</a:t>
            </a:r>
          </a:p>
          <a:p>
            <a:pPr lvl="2"/>
            <a:r>
              <a:t>Body Level Three</a:t>
            </a:r>
          </a:p>
          <a:p>
            <a:pPr lvl="3"/>
            <a:r>
              <a:t>Body Level Four</a:t>
            </a:r>
          </a:p>
          <a:p>
            <a:pPr lvl="4"/>
            <a:r>
              <a:t>Body Level Five</a:t>
            </a:r>
          </a:p>
        </p:txBody>
      </p:sp>
      <p:sp>
        <p:nvSpPr>
          <p:cNvPr id="157" name="© 2014 Adobe Systems Incorporated.  All Rights Reserved.  Adobe Confidential."/>
          <p:cNvSpPr txBox="1"/>
          <p:nvPr/>
        </p:nvSpPr>
        <p:spPr>
          <a:xfrm>
            <a:off x="622139" y="12974022"/>
            <a:ext cx="1036336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Tx/>
              <a:defRPr sz="1400">
                <a:solidFill>
                  <a:srgbClr val="595959"/>
                </a:solidFill>
                <a:uFillTx/>
              </a:defRPr>
            </a:lvl1pPr>
          </a:lstStyle>
          <a:p>
            <a:pPr>
              <a:defRPr sz="3600">
                <a:solidFill>
                  <a:srgbClr val="000000"/>
                </a:solidFill>
              </a:defRPr>
            </a:pPr>
            <a:r>
              <a:rPr sz="1400">
                <a:solidFill>
                  <a:srgbClr val="595959"/>
                </a:solidFill>
              </a:rPr>
              <a:t>© 2014 Adobe Systems Incorporated.  All Rights Reserved.  Adobe Confidential.</a:t>
            </a:r>
          </a:p>
        </p:txBody>
      </p:sp>
      <p:pic>
        <p:nvPicPr>
          <p:cNvPr id="158" name="image3.png" descr="image3.png"/>
          <p:cNvPicPr>
            <a:picLocks noChangeAspect="1"/>
          </p:cNvPicPr>
          <p:nvPr/>
        </p:nvPicPr>
        <p:blipFill>
          <a:blip r:embed="rId3">
            <a:extLst/>
          </a:blip>
          <a:stretch>
            <a:fillRect/>
          </a:stretch>
        </p:blipFill>
        <p:spPr>
          <a:xfrm>
            <a:off x="1296515" y="-2383"/>
            <a:ext cx="743762" cy="1220531"/>
          </a:xfrm>
          <a:prstGeom prst="rect">
            <a:avLst/>
          </a:prstGeom>
          <a:ln w="12700">
            <a:miter lim="400000"/>
          </a:ln>
        </p:spPr>
      </p:pic>
      <p:sp>
        <p:nvSpPr>
          <p:cNvPr id="159" name="Slide Number"/>
          <p:cNvSpPr txBox="1"/>
          <p:nvPr>
            <p:ph type="sldNum" sz="quarter" idx="2"/>
          </p:nvPr>
        </p:nvSpPr>
        <p:spPr>
          <a:xfrm>
            <a:off x="11185790" y="12886445"/>
            <a:ext cx="2031471" cy="471657"/>
          </a:xfrm>
          <a:prstGeom prst="rect">
            <a:avLst/>
          </a:prstGeom>
          <a:ln>
            <a:miter lim="400000"/>
          </a:ln>
        </p:spPr>
        <p:txBody>
          <a:bodyPr wrap="square" lIns="108827" tIns="108827" rIns="108827" bIns="108827"/>
          <a:lstStyle>
            <a:lvl1pPr>
              <a:defRPr>
                <a:solidFill>
                  <a:srgbClr val="595959"/>
                </a:solidFill>
                <a:uFillTx/>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 GMUNK1">
    <p:spTree>
      <p:nvGrpSpPr>
        <p:cNvPr id="1" name=""/>
        <p:cNvGrpSpPr/>
        <p:nvPr/>
      </p:nvGrpSpPr>
      <p:grpSpPr>
        <a:xfrm>
          <a:off x="0" y="0"/>
          <a:ext cx="0" cy="0"/>
          <a:chOff x="0" y="0"/>
          <a:chExt cx="0" cy="0"/>
        </a:xfrm>
      </p:grpSpPr>
      <p:pic>
        <p:nvPicPr>
          <p:cNvPr id="166" name="Title-Slides-16x9_v02_GMUNK1.jpg" descr="Title-Slides-16x9_v02_GMUNK1.jpg"/>
          <p:cNvPicPr>
            <a:picLocks noChangeAspect="1"/>
          </p:cNvPicPr>
          <p:nvPr/>
        </p:nvPicPr>
        <p:blipFill>
          <a:blip r:embed="rId2">
            <a:extLst/>
          </a:blip>
          <a:stretch>
            <a:fillRect/>
          </a:stretch>
        </p:blipFill>
        <p:spPr>
          <a:xfrm>
            <a:off x="0" y="0"/>
            <a:ext cx="24384000" cy="13716000"/>
          </a:xfrm>
          <a:prstGeom prst="rect">
            <a:avLst/>
          </a:prstGeom>
          <a:ln w="12700">
            <a:miter lim="400000"/>
          </a:ln>
        </p:spPr>
      </p:pic>
      <p:sp>
        <p:nvSpPr>
          <p:cNvPr id="167" name="Rectangle"/>
          <p:cNvSpPr/>
          <p:nvPr/>
        </p:nvSpPr>
        <p:spPr>
          <a:xfrm>
            <a:off x="0" y="2606039"/>
            <a:ext cx="24377650" cy="2331722"/>
          </a:xfrm>
          <a:prstGeom prst="rect">
            <a:avLst/>
          </a:prstGeom>
          <a:solidFill>
            <a:srgbClr val="FFFFFF">
              <a:alpha val="90000"/>
            </a:srgbClr>
          </a:solidFill>
          <a:ln w="12700">
            <a:miter lim="400000"/>
          </a:ln>
        </p:spPr>
        <p:txBody>
          <a:bodyPr tIns="91439" bIns="91439" anchor="ctr"/>
          <a:lstStyle/>
          <a:p>
            <a:pPr algn="ctr" defTabSz="914400">
              <a:buClrTx/>
              <a:defRPr>
                <a:solidFill>
                  <a:srgbClr val="FFFFFF"/>
                </a:solidFill>
                <a:uFillTx/>
              </a:defRPr>
            </a:pPr>
          </a:p>
        </p:txBody>
      </p:sp>
      <p:sp>
        <p:nvSpPr>
          <p:cNvPr id="168" name="Title Text"/>
          <p:cNvSpPr txBox="1"/>
          <p:nvPr>
            <p:ph type="title"/>
          </p:nvPr>
        </p:nvSpPr>
        <p:spPr>
          <a:xfrm>
            <a:off x="1295063" y="2974115"/>
            <a:ext cx="21836442" cy="892553"/>
          </a:xfrm>
          <a:prstGeom prst="rect">
            <a:avLst/>
          </a:prstGeom>
          <a:ln>
            <a:miter lim="400000"/>
          </a:ln>
        </p:spPr>
        <p:txBody>
          <a:bodyPr lIns="0" tIns="0" rIns="0" bIns="0"/>
          <a:lstStyle>
            <a:lvl1pPr>
              <a:defRPr>
                <a:solidFill>
                  <a:srgbClr val="000000"/>
                </a:solidFill>
                <a:uFillTx/>
              </a:defRPr>
            </a:lvl1pPr>
          </a:lstStyle>
          <a:p>
            <a:pPr/>
            <a:r>
              <a:t>Title Text</a:t>
            </a:r>
          </a:p>
        </p:txBody>
      </p:sp>
      <p:sp>
        <p:nvSpPr>
          <p:cNvPr id="169" name="Body Level One…"/>
          <p:cNvSpPr txBox="1"/>
          <p:nvPr>
            <p:ph type="body" sz="quarter" idx="1"/>
          </p:nvPr>
        </p:nvSpPr>
        <p:spPr>
          <a:xfrm>
            <a:off x="1295063" y="3780021"/>
            <a:ext cx="21836442" cy="656591"/>
          </a:xfrm>
          <a:prstGeom prst="rect">
            <a:avLst/>
          </a:prstGeom>
          <a:ln>
            <a:miter lim="400000"/>
          </a:ln>
        </p:spPr>
        <p:txBody>
          <a:bodyPr lIns="0" tIns="0" rIns="0" bIns="0"/>
          <a:lstStyle>
            <a:lvl1pPr marL="0" indent="0">
              <a:buClrTx/>
              <a:buSzTx/>
              <a:buNone/>
              <a:defRPr sz="4200">
                <a:solidFill>
                  <a:srgbClr val="888888"/>
                </a:solidFill>
                <a:uFillTx/>
              </a:defRPr>
            </a:lvl1pPr>
            <a:lvl2pPr marL="0" indent="544144">
              <a:buClrTx/>
              <a:buSzTx/>
              <a:buNone/>
              <a:defRPr sz="4200">
                <a:solidFill>
                  <a:srgbClr val="888888"/>
                </a:solidFill>
                <a:uFillTx/>
              </a:defRPr>
            </a:lvl2pPr>
            <a:lvl3pPr marL="0" indent="1088291">
              <a:buClrTx/>
              <a:buSzTx/>
              <a:buNone/>
              <a:defRPr sz="4200">
                <a:solidFill>
                  <a:srgbClr val="888888"/>
                </a:solidFill>
                <a:uFillTx/>
              </a:defRPr>
            </a:lvl3pPr>
            <a:lvl4pPr marL="0" indent="1632436">
              <a:buClrTx/>
              <a:buSzTx/>
              <a:buNone/>
              <a:defRPr sz="4200">
                <a:solidFill>
                  <a:srgbClr val="888888"/>
                </a:solidFill>
                <a:uFillTx/>
              </a:defRPr>
            </a:lvl4pPr>
            <a:lvl5pPr marL="0" indent="2176580">
              <a:buClrTx/>
              <a:buSzTx/>
              <a:buNone/>
              <a:defRPr sz="4200">
                <a:solidFill>
                  <a:srgbClr val="888888"/>
                </a:solidFill>
                <a:uFillTx/>
              </a:defRPr>
            </a:lvl5pPr>
          </a:lstStyle>
          <a:p>
            <a:pPr/>
            <a:r>
              <a:t>Body Level One</a:t>
            </a:r>
          </a:p>
          <a:p>
            <a:pPr lvl="1"/>
            <a:r>
              <a:t>Body Level Two</a:t>
            </a:r>
          </a:p>
          <a:p>
            <a:pPr lvl="2"/>
            <a:r>
              <a:t>Body Level Three</a:t>
            </a:r>
          </a:p>
          <a:p>
            <a:pPr lvl="3"/>
            <a:r>
              <a:t>Body Level Four</a:t>
            </a:r>
          </a:p>
          <a:p>
            <a:pPr lvl="4"/>
            <a:r>
              <a:t>Body Level Five</a:t>
            </a:r>
          </a:p>
        </p:txBody>
      </p:sp>
      <p:sp>
        <p:nvSpPr>
          <p:cNvPr id="170" name="© 2014 Adobe Systems Incorporated.  All Rights Reserved.  Adobe Confidential."/>
          <p:cNvSpPr txBox="1"/>
          <p:nvPr/>
        </p:nvSpPr>
        <p:spPr>
          <a:xfrm>
            <a:off x="622139" y="12974022"/>
            <a:ext cx="1036336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Tx/>
              <a:defRPr sz="1400">
                <a:solidFill>
                  <a:srgbClr val="FFFFFF"/>
                </a:solidFill>
                <a:uFillTx/>
              </a:defRPr>
            </a:lvl1pPr>
          </a:lstStyle>
          <a:p>
            <a:pPr>
              <a:defRPr sz="3600"/>
            </a:pPr>
            <a:r>
              <a:rPr sz="1400"/>
              <a:t>© 2014 Adobe Systems Incorporated.  All Rights Reserved.  Adobe Confidential.</a:t>
            </a:r>
          </a:p>
        </p:txBody>
      </p:sp>
      <p:pic>
        <p:nvPicPr>
          <p:cNvPr id="171" name="image3.png" descr="image3.png"/>
          <p:cNvPicPr>
            <a:picLocks noChangeAspect="1"/>
          </p:cNvPicPr>
          <p:nvPr/>
        </p:nvPicPr>
        <p:blipFill>
          <a:blip r:embed="rId3">
            <a:extLst/>
          </a:blip>
          <a:stretch>
            <a:fillRect/>
          </a:stretch>
        </p:blipFill>
        <p:spPr>
          <a:xfrm>
            <a:off x="1296515" y="-2383"/>
            <a:ext cx="743762" cy="1220531"/>
          </a:xfrm>
          <a:prstGeom prst="rect">
            <a:avLst/>
          </a:prstGeom>
          <a:ln w="12700">
            <a:miter lim="400000"/>
          </a:ln>
        </p:spPr>
      </p:pic>
      <p:sp>
        <p:nvSpPr>
          <p:cNvPr id="172" name="Slide Number"/>
          <p:cNvSpPr txBox="1"/>
          <p:nvPr>
            <p:ph type="sldNum" sz="quarter" idx="2"/>
          </p:nvPr>
        </p:nvSpPr>
        <p:spPr>
          <a:xfrm>
            <a:off x="11185790" y="12886445"/>
            <a:ext cx="2031471" cy="471657"/>
          </a:xfrm>
          <a:prstGeom prst="rect">
            <a:avLst/>
          </a:prstGeom>
          <a:ln>
            <a:miter lim="400000"/>
          </a:ln>
        </p:spPr>
        <p:txBody>
          <a:bodyPr wrap="square" lIns="108827" tIns="108827" rIns="108827" bIns="108827"/>
          <a:lstStyle>
            <a:lvl1pPr>
              <a:defRPr>
                <a:solidFill>
                  <a:srgbClr val="595959"/>
                </a:solidFill>
                <a:uFillTx/>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 GMUNK2">
    <p:spTree>
      <p:nvGrpSpPr>
        <p:cNvPr id="1" name=""/>
        <p:cNvGrpSpPr/>
        <p:nvPr/>
      </p:nvGrpSpPr>
      <p:grpSpPr>
        <a:xfrm>
          <a:off x="0" y="0"/>
          <a:ext cx="0" cy="0"/>
          <a:chOff x="0" y="0"/>
          <a:chExt cx="0" cy="0"/>
        </a:xfrm>
      </p:grpSpPr>
      <p:pic>
        <p:nvPicPr>
          <p:cNvPr id="179" name="Title-Slides-16x9_v02_GMUNK2.jpg" descr="Title-Slides-16x9_v02_GMUNK2.jpg"/>
          <p:cNvPicPr>
            <a:picLocks noChangeAspect="1"/>
          </p:cNvPicPr>
          <p:nvPr/>
        </p:nvPicPr>
        <p:blipFill>
          <a:blip r:embed="rId2">
            <a:extLst/>
          </a:blip>
          <a:stretch>
            <a:fillRect/>
          </a:stretch>
        </p:blipFill>
        <p:spPr>
          <a:xfrm>
            <a:off x="0" y="0"/>
            <a:ext cx="24384000" cy="13716000"/>
          </a:xfrm>
          <a:prstGeom prst="rect">
            <a:avLst/>
          </a:prstGeom>
          <a:ln w="12700">
            <a:miter lim="400000"/>
          </a:ln>
        </p:spPr>
      </p:pic>
      <p:sp>
        <p:nvSpPr>
          <p:cNvPr id="180" name="Rectangle"/>
          <p:cNvSpPr/>
          <p:nvPr/>
        </p:nvSpPr>
        <p:spPr>
          <a:xfrm>
            <a:off x="0" y="2606039"/>
            <a:ext cx="24377650" cy="2331722"/>
          </a:xfrm>
          <a:prstGeom prst="rect">
            <a:avLst/>
          </a:prstGeom>
          <a:solidFill>
            <a:srgbClr val="FFFFFF">
              <a:alpha val="70000"/>
            </a:srgbClr>
          </a:solidFill>
          <a:ln w="12700">
            <a:miter lim="400000"/>
          </a:ln>
        </p:spPr>
        <p:txBody>
          <a:bodyPr tIns="91439" bIns="91439" anchor="ctr"/>
          <a:lstStyle/>
          <a:p>
            <a:pPr algn="ctr" defTabSz="914400">
              <a:buClrTx/>
              <a:defRPr>
                <a:solidFill>
                  <a:srgbClr val="FFFFFF"/>
                </a:solidFill>
                <a:uFillTx/>
              </a:defRPr>
            </a:pPr>
          </a:p>
        </p:txBody>
      </p:sp>
      <p:sp>
        <p:nvSpPr>
          <p:cNvPr id="181" name="Title Text"/>
          <p:cNvSpPr txBox="1"/>
          <p:nvPr>
            <p:ph type="title"/>
          </p:nvPr>
        </p:nvSpPr>
        <p:spPr>
          <a:xfrm>
            <a:off x="1295063" y="2974115"/>
            <a:ext cx="21836442" cy="892553"/>
          </a:xfrm>
          <a:prstGeom prst="rect">
            <a:avLst/>
          </a:prstGeom>
          <a:ln>
            <a:miter lim="400000"/>
          </a:ln>
        </p:spPr>
        <p:txBody>
          <a:bodyPr lIns="0" tIns="0" rIns="0" bIns="0"/>
          <a:lstStyle>
            <a:lvl1pPr>
              <a:defRPr>
                <a:solidFill>
                  <a:srgbClr val="000000"/>
                </a:solidFill>
                <a:uFillTx/>
              </a:defRPr>
            </a:lvl1pPr>
          </a:lstStyle>
          <a:p>
            <a:pPr/>
            <a:r>
              <a:t>Title Text</a:t>
            </a:r>
          </a:p>
        </p:txBody>
      </p:sp>
      <p:sp>
        <p:nvSpPr>
          <p:cNvPr id="182" name="Body Level One…"/>
          <p:cNvSpPr txBox="1"/>
          <p:nvPr>
            <p:ph type="body" sz="quarter" idx="1"/>
          </p:nvPr>
        </p:nvSpPr>
        <p:spPr>
          <a:xfrm>
            <a:off x="1295063" y="3780021"/>
            <a:ext cx="21836442" cy="656591"/>
          </a:xfrm>
          <a:prstGeom prst="rect">
            <a:avLst/>
          </a:prstGeom>
          <a:ln>
            <a:miter lim="400000"/>
          </a:ln>
        </p:spPr>
        <p:txBody>
          <a:bodyPr lIns="0" tIns="0" rIns="0" bIns="0"/>
          <a:lstStyle>
            <a:lvl1pPr marL="0" indent="0">
              <a:buClrTx/>
              <a:buSzTx/>
              <a:buNone/>
              <a:defRPr sz="4200">
                <a:solidFill>
                  <a:srgbClr val="888888"/>
                </a:solidFill>
                <a:uFillTx/>
              </a:defRPr>
            </a:lvl1pPr>
            <a:lvl2pPr marL="0" indent="544144">
              <a:buClrTx/>
              <a:buSzTx/>
              <a:buNone/>
              <a:defRPr sz="4200">
                <a:solidFill>
                  <a:srgbClr val="888888"/>
                </a:solidFill>
                <a:uFillTx/>
              </a:defRPr>
            </a:lvl2pPr>
            <a:lvl3pPr marL="0" indent="1088291">
              <a:buClrTx/>
              <a:buSzTx/>
              <a:buNone/>
              <a:defRPr sz="4200">
                <a:solidFill>
                  <a:srgbClr val="888888"/>
                </a:solidFill>
                <a:uFillTx/>
              </a:defRPr>
            </a:lvl3pPr>
            <a:lvl4pPr marL="0" indent="1632436">
              <a:buClrTx/>
              <a:buSzTx/>
              <a:buNone/>
              <a:defRPr sz="4200">
                <a:solidFill>
                  <a:srgbClr val="888888"/>
                </a:solidFill>
                <a:uFillTx/>
              </a:defRPr>
            </a:lvl4pPr>
            <a:lvl5pPr marL="0" indent="2176580">
              <a:buClrTx/>
              <a:buSzTx/>
              <a:buNone/>
              <a:defRPr sz="4200">
                <a:solidFill>
                  <a:srgbClr val="888888"/>
                </a:solidFill>
                <a:uFillTx/>
              </a:defRPr>
            </a:lvl5pPr>
          </a:lstStyle>
          <a:p>
            <a:pPr/>
            <a:r>
              <a:t>Body Level One</a:t>
            </a:r>
          </a:p>
          <a:p>
            <a:pPr lvl="1"/>
            <a:r>
              <a:t>Body Level Two</a:t>
            </a:r>
          </a:p>
          <a:p>
            <a:pPr lvl="2"/>
            <a:r>
              <a:t>Body Level Three</a:t>
            </a:r>
          </a:p>
          <a:p>
            <a:pPr lvl="3"/>
            <a:r>
              <a:t>Body Level Four</a:t>
            </a:r>
          </a:p>
          <a:p>
            <a:pPr lvl="4"/>
            <a:r>
              <a:t>Body Level Five</a:t>
            </a:r>
          </a:p>
        </p:txBody>
      </p:sp>
      <p:sp>
        <p:nvSpPr>
          <p:cNvPr id="183" name="© 2014 Adobe Systems Incorporated.  All Rights Reserved.  Adobe Confidential."/>
          <p:cNvSpPr txBox="1"/>
          <p:nvPr/>
        </p:nvSpPr>
        <p:spPr>
          <a:xfrm>
            <a:off x="622139" y="12974022"/>
            <a:ext cx="1036336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Tx/>
              <a:defRPr sz="1400">
                <a:solidFill>
                  <a:srgbClr val="595959"/>
                </a:solidFill>
                <a:uFillTx/>
              </a:defRPr>
            </a:lvl1pPr>
          </a:lstStyle>
          <a:p>
            <a:pPr>
              <a:defRPr sz="3600">
                <a:solidFill>
                  <a:srgbClr val="000000"/>
                </a:solidFill>
              </a:defRPr>
            </a:pPr>
            <a:r>
              <a:rPr sz="1400">
                <a:solidFill>
                  <a:srgbClr val="595959"/>
                </a:solidFill>
              </a:rPr>
              <a:t>© 2014 Adobe Systems Incorporated.  All Rights Reserved.  Adobe Confidential.</a:t>
            </a:r>
          </a:p>
        </p:txBody>
      </p:sp>
      <p:pic>
        <p:nvPicPr>
          <p:cNvPr id="184" name="image3.png" descr="image3.png"/>
          <p:cNvPicPr>
            <a:picLocks noChangeAspect="1"/>
          </p:cNvPicPr>
          <p:nvPr/>
        </p:nvPicPr>
        <p:blipFill>
          <a:blip r:embed="rId3">
            <a:extLst/>
          </a:blip>
          <a:stretch>
            <a:fillRect/>
          </a:stretch>
        </p:blipFill>
        <p:spPr>
          <a:xfrm>
            <a:off x="1296515" y="-2383"/>
            <a:ext cx="743762" cy="1220531"/>
          </a:xfrm>
          <a:prstGeom prst="rect">
            <a:avLst/>
          </a:prstGeom>
          <a:ln w="12700">
            <a:miter lim="400000"/>
          </a:ln>
        </p:spPr>
      </p:pic>
      <p:sp>
        <p:nvSpPr>
          <p:cNvPr id="185" name="Slide Number"/>
          <p:cNvSpPr txBox="1"/>
          <p:nvPr>
            <p:ph type="sldNum" sz="quarter" idx="2"/>
          </p:nvPr>
        </p:nvSpPr>
        <p:spPr>
          <a:xfrm>
            <a:off x="11185790" y="12886445"/>
            <a:ext cx="2031471" cy="471657"/>
          </a:xfrm>
          <a:prstGeom prst="rect">
            <a:avLst/>
          </a:prstGeom>
          <a:ln>
            <a:miter lim="400000"/>
          </a:ln>
        </p:spPr>
        <p:txBody>
          <a:bodyPr wrap="square" lIns="108827" tIns="108827" rIns="108827" bIns="108827"/>
          <a:lstStyle>
            <a:lvl1pPr>
              <a:defRPr>
                <a:solidFill>
                  <a:srgbClr val="595959"/>
                </a:solidFill>
                <a:uFillTx/>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Title and Content">
    <p:spTree>
      <p:nvGrpSpPr>
        <p:cNvPr id="1" name=""/>
        <p:cNvGrpSpPr/>
        <p:nvPr/>
      </p:nvGrpSpPr>
      <p:grpSpPr>
        <a:xfrm>
          <a:off x="0" y="0"/>
          <a:ext cx="0" cy="0"/>
          <a:chOff x="0" y="0"/>
          <a:chExt cx="0" cy="0"/>
        </a:xfrm>
      </p:grpSpPr>
      <p:sp>
        <p:nvSpPr>
          <p:cNvPr id="192"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93"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94"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95" name="Title Text"/>
          <p:cNvSpPr txBox="1"/>
          <p:nvPr>
            <p:ph type="title"/>
          </p:nvPr>
        </p:nvSpPr>
        <p:spPr>
          <a:xfrm>
            <a:off x="609600" y="0"/>
            <a:ext cx="23182917" cy="1558925"/>
          </a:xfrm>
          <a:prstGeom prst="rect">
            <a:avLst/>
          </a:prstGeom>
        </p:spPr>
        <p:txBody>
          <a:bodyPr lIns="50800" tIns="50800" rIns="50800" bIns="50800"/>
          <a:lstStyle>
            <a:lvl1pPr defTabSz="2176581"/>
          </a:lstStyle>
          <a:p>
            <a:pPr/>
            <a:r>
              <a:t>Title Text</a:t>
            </a:r>
          </a:p>
        </p:txBody>
      </p:sp>
      <p:sp>
        <p:nvSpPr>
          <p:cNvPr id="196" name="Body Level One…"/>
          <p:cNvSpPr txBox="1"/>
          <p:nvPr>
            <p:ph type="body" idx="1"/>
          </p:nvPr>
        </p:nvSpPr>
        <p:spPr>
          <a:xfrm>
            <a:off x="609600" y="1981200"/>
            <a:ext cx="23182917" cy="10363200"/>
          </a:xfrm>
          <a:prstGeom prst="rect">
            <a:avLst/>
          </a:prstGeom>
        </p:spPr>
        <p:txBody>
          <a:bodyPr lIns="50800" tIns="50800" rIns="50800" bIns="50800"/>
          <a:lstStyle>
            <a:lvl1pPr marL="275852" indent="-275852" defTabSz="2176581">
              <a:spcBef>
                <a:spcPts val="1400"/>
              </a:spcBef>
            </a:lvl1pPr>
            <a:lvl2pPr marL="551703" indent="-275852" defTabSz="2176581">
              <a:spcBef>
                <a:spcPts val="1400"/>
              </a:spcBef>
            </a:lvl2pPr>
            <a:lvl3pPr marL="751978" indent="-200275" defTabSz="2176581">
              <a:spcBef>
                <a:spcPts val="1400"/>
              </a:spcBef>
            </a:lvl3pPr>
            <a:lvl4pPr marL="950366" indent="-198387" defTabSz="2176581">
              <a:spcBef>
                <a:spcPts val="1400"/>
              </a:spcBef>
            </a:lvl4pPr>
            <a:lvl5pPr marL="1088290" indent="-137925" defTabSz="2176581">
              <a:spcBef>
                <a:spcPts val="1400"/>
              </a:spcBef>
            </a:lvl5pPr>
          </a:lstStyle>
          <a:p>
            <a:pPr/>
            <a:r>
              <a:t>Body Level One</a:t>
            </a:r>
          </a:p>
          <a:p>
            <a:pPr lvl="1"/>
            <a:r>
              <a:t>Body Level Two</a:t>
            </a:r>
          </a:p>
          <a:p>
            <a:pPr lvl="2"/>
            <a:r>
              <a:t>Body Level Three</a:t>
            </a:r>
          </a:p>
          <a:p>
            <a:pPr lvl="3"/>
            <a:r>
              <a:t>Body Level Four</a:t>
            </a:r>
          </a:p>
          <a:p>
            <a:pPr lvl="4"/>
            <a:r>
              <a:t>Body Level Five</a:t>
            </a:r>
          </a:p>
        </p:txBody>
      </p:sp>
      <p:sp>
        <p:nvSpPr>
          <p:cNvPr id="197" name="Slide Number"/>
          <p:cNvSpPr txBox="1"/>
          <p:nvPr>
            <p:ph type="sldNum" sz="quarter" idx="2"/>
          </p:nvPr>
        </p:nvSpPr>
        <p:spPr>
          <a:xfrm>
            <a:off x="12058329" y="12934946"/>
            <a:ext cx="286411" cy="355601"/>
          </a:xfrm>
          <a:prstGeom prst="rect">
            <a:avLst/>
          </a:prstGeom>
        </p:spPr>
        <p:txBody>
          <a:bodyPr lIns="50800" tIns="50800" rIns="50800" bIns="50800"/>
          <a:lstStyle>
            <a:lvl1pPr defTabSz="1828800"/>
          </a:lstStyle>
          <a:p>
            <a:pPr/>
            <a:fld id="{86CB4B4D-7CA3-9044-876B-883B54F8677D}" type="slidenum"/>
          </a:p>
        </p:txBody>
      </p:sp>
      <p:pic>
        <p:nvPicPr>
          <p:cNvPr id="198"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Title">
    <p:spTree>
      <p:nvGrpSpPr>
        <p:cNvPr id="1" name=""/>
        <p:cNvGrpSpPr/>
        <p:nvPr/>
      </p:nvGrpSpPr>
      <p:grpSpPr>
        <a:xfrm>
          <a:off x="0" y="0"/>
          <a:ext cx="0" cy="0"/>
          <a:chOff x="0" y="0"/>
          <a:chExt cx="0" cy="0"/>
        </a:xfrm>
      </p:grpSpPr>
      <p:sp>
        <p:nvSpPr>
          <p:cNvPr id="205"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206"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207" name="© 2014 Adobe Systems Incorporated.  All Rights Reserved.  Adobe Confidential."/>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  Adobe Confidential.</a:t>
            </a:r>
          </a:p>
        </p:txBody>
      </p:sp>
      <p:sp>
        <p:nvSpPr>
          <p:cNvPr id="208" name="Title Text"/>
          <p:cNvSpPr txBox="1"/>
          <p:nvPr>
            <p:ph type="title"/>
          </p:nvPr>
        </p:nvSpPr>
        <p:spPr>
          <a:xfrm>
            <a:off x="609600" y="0"/>
            <a:ext cx="23182917" cy="1558925"/>
          </a:xfrm>
          <a:prstGeom prst="rect">
            <a:avLst/>
          </a:prstGeom>
        </p:spPr>
        <p:txBody>
          <a:bodyPr lIns="50800" tIns="50800" rIns="50800" bIns="50800"/>
          <a:lstStyle>
            <a:lvl1pPr defTabSz="2176581"/>
          </a:lstStyle>
          <a:p>
            <a:pPr/>
            <a:r>
              <a:t>Title Text</a:t>
            </a:r>
          </a:p>
        </p:txBody>
      </p:sp>
      <p:sp>
        <p:nvSpPr>
          <p:cNvPr id="209" name="Slide Number"/>
          <p:cNvSpPr txBox="1"/>
          <p:nvPr>
            <p:ph type="sldNum" sz="quarter" idx="2"/>
          </p:nvPr>
        </p:nvSpPr>
        <p:spPr>
          <a:xfrm>
            <a:off x="12058329" y="12934946"/>
            <a:ext cx="286411" cy="355601"/>
          </a:xfrm>
          <a:prstGeom prst="rect">
            <a:avLst/>
          </a:prstGeom>
        </p:spPr>
        <p:txBody>
          <a:bodyPr lIns="50800" tIns="50800" rIns="50800" bIns="50800"/>
          <a:lstStyle>
            <a:lvl1pPr defTabSz="1828800"/>
          </a:lstStyle>
          <a:p>
            <a:pPr/>
            <a:fld id="{86CB4B4D-7CA3-9044-876B-883B54F8677D}" type="slidenum"/>
          </a:p>
        </p:txBody>
      </p:sp>
      <p:pic>
        <p:nvPicPr>
          <p:cNvPr id="210"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Gray">
    <p:spTree>
      <p:nvGrpSpPr>
        <p:cNvPr id="1" name=""/>
        <p:cNvGrpSpPr/>
        <p:nvPr/>
      </p:nvGrpSpPr>
      <p:grpSpPr>
        <a:xfrm>
          <a:off x="0" y="0"/>
          <a:ext cx="0" cy="0"/>
          <a:chOff x="0" y="0"/>
          <a:chExt cx="0" cy="0"/>
        </a:xfrm>
      </p:grpSpPr>
      <p:sp>
        <p:nvSpPr>
          <p:cNvPr id="217"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218"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219"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220" name="Rectangle"/>
          <p:cNvSpPr/>
          <p:nvPr/>
        </p:nvSpPr>
        <p:spPr>
          <a:xfrm>
            <a:off x="0" y="1485901"/>
            <a:ext cx="24428495" cy="11398249"/>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221" name="Title Text"/>
          <p:cNvSpPr txBox="1"/>
          <p:nvPr>
            <p:ph type="title"/>
          </p:nvPr>
        </p:nvSpPr>
        <p:spPr>
          <a:xfrm>
            <a:off x="609600" y="0"/>
            <a:ext cx="23182917" cy="1558925"/>
          </a:xfrm>
          <a:prstGeom prst="rect">
            <a:avLst/>
          </a:prstGeom>
        </p:spPr>
        <p:txBody>
          <a:bodyPr lIns="50800" tIns="50800" rIns="50800" bIns="50800"/>
          <a:lstStyle>
            <a:lvl1pPr defTabSz="2176581"/>
          </a:lstStyle>
          <a:p>
            <a:pPr/>
            <a:r>
              <a:t>Title Text</a:t>
            </a:r>
          </a:p>
        </p:txBody>
      </p:sp>
      <p:sp>
        <p:nvSpPr>
          <p:cNvPr id="222" name="Slide Number"/>
          <p:cNvSpPr txBox="1"/>
          <p:nvPr>
            <p:ph type="sldNum" sz="quarter" idx="2"/>
          </p:nvPr>
        </p:nvSpPr>
        <p:spPr>
          <a:xfrm>
            <a:off x="12058329" y="12934946"/>
            <a:ext cx="286411" cy="355601"/>
          </a:xfrm>
          <a:prstGeom prst="rect">
            <a:avLst/>
          </a:prstGeom>
        </p:spPr>
        <p:txBody>
          <a:bodyPr lIns="50800" tIns="50800" rIns="50800" bIns="50800"/>
          <a:lstStyle>
            <a:lvl1pPr defTabSz="1828800"/>
          </a:lstStyle>
          <a:p>
            <a:pPr/>
            <a:fld id="{86CB4B4D-7CA3-9044-876B-883B54F8677D}" type="slidenum"/>
          </a:p>
        </p:txBody>
      </p:sp>
      <p:pic>
        <p:nvPicPr>
          <p:cNvPr id="223"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Black">
    <p:spTree>
      <p:nvGrpSpPr>
        <p:cNvPr id="1" name=""/>
        <p:cNvGrpSpPr/>
        <p:nvPr/>
      </p:nvGrpSpPr>
      <p:grpSpPr>
        <a:xfrm>
          <a:off x="0" y="0"/>
          <a:ext cx="0" cy="0"/>
          <a:chOff x="0" y="0"/>
          <a:chExt cx="0" cy="0"/>
        </a:xfrm>
      </p:grpSpPr>
      <p:sp>
        <p:nvSpPr>
          <p:cNvPr id="230"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231"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232" name="© 2014 Adobe Systems Incorporated.  All Rights Reserved.  Adobe Confidential."/>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  Adobe Confidential.</a:t>
            </a:r>
          </a:p>
        </p:txBody>
      </p:sp>
      <p:sp>
        <p:nvSpPr>
          <p:cNvPr id="233" name="Rectangle"/>
          <p:cNvSpPr/>
          <p:nvPr/>
        </p:nvSpPr>
        <p:spPr>
          <a:xfrm>
            <a:off x="0" y="1485901"/>
            <a:ext cx="24428495" cy="11398249"/>
          </a:xfrm>
          <a:prstGeom prst="rect">
            <a:avLst/>
          </a:prstGeom>
          <a:solidFill>
            <a:srgbClr val="00000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234" name="Title Text"/>
          <p:cNvSpPr txBox="1"/>
          <p:nvPr>
            <p:ph type="title"/>
          </p:nvPr>
        </p:nvSpPr>
        <p:spPr>
          <a:xfrm>
            <a:off x="609600" y="0"/>
            <a:ext cx="23182917" cy="1558925"/>
          </a:xfrm>
          <a:prstGeom prst="rect">
            <a:avLst/>
          </a:prstGeom>
        </p:spPr>
        <p:txBody>
          <a:bodyPr lIns="50800" tIns="50800" rIns="50800" bIns="50800"/>
          <a:lstStyle>
            <a:lvl1pPr defTabSz="2176581"/>
          </a:lstStyle>
          <a:p>
            <a:pPr/>
            <a:r>
              <a:t>Title Text</a:t>
            </a:r>
          </a:p>
        </p:txBody>
      </p:sp>
      <p:sp>
        <p:nvSpPr>
          <p:cNvPr id="235" name="Slide Number"/>
          <p:cNvSpPr txBox="1"/>
          <p:nvPr>
            <p:ph type="sldNum" sz="quarter" idx="2"/>
          </p:nvPr>
        </p:nvSpPr>
        <p:spPr>
          <a:xfrm>
            <a:off x="12058329" y="12934946"/>
            <a:ext cx="286411" cy="355601"/>
          </a:xfrm>
          <a:prstGeom prst="rect">
            <a:avLst/>
          </a:prstGeom>
        </p:spPr>
        <p:txBody>
          <a:bodyPr lIns="50800" tIns="50800" rIns="50800" bIns="50800"/>
          <a:lstStyle>
            <a:lvl1pPr defTabSz="1828800"/>
          </a:lstStyle>
          <a:p>
            <a:pPr/>
            <a:fld id="{86CB4B4D-7CA3-9044-876B-883B54F8677D}" type="slidenum"/>
          </a:p>
        </p:txBody>
      </p:sp>
      <p:pic>
        <p:nvPicPr>
          <p:cNvPr id="236"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PRINT ONLY Title and Content">
    <p:spTree>
      <p:nvGrpSpPr>
        <p:cNvPr id="1" name=""/>
        <p:cNvGrpSpPr/>
        <p:nvPr/>
      </p:nvGrpSpPr>
      <p:grpSpPr>
        <a:xfrm>
          <a:off x="0" y="0"/>
          <a:ext cx="0" cy="0"/>
          <a:chOff x="0" y="0"/>
          <a:chExt cx="0" cy="0"/>
        </a:xfrm>
      </p:grpSpPr>
      <p:sp>
        <p:nvSpPr>
          <p:cNvPr id="243" name="© 2014 Adobe Systems Incorporated.  All Rights Reserved.  Adobe Confidential."/>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lvl1pPr>
          </a:lstStyle>
          <a:p>
            <a:pPr>
              <a:defRPr sz="3600"/>
            </a:pPr>
            <a:r>
              <a:rPr sz="1400"/>
              <a:t>© 2014 Adobe Systems Incorporated.  All Rights Reserved.  Adobe Confidential.</a:t>
            </a:r>
          </a:p>
        </p:txBody>
      </p:sp>
      <p:sp>
        <p:nvSpPr>
          <p:cNvPr id="244" name="Title Text"/>
          <p:cNvSpPr txBox="1"/>
          <p:nvPr>
            <p:ph type="title"/>
          </p:nvPr>
        </p:nvSpPr>
        <p:spPr>
          <a:xfrm>
            <a:off x="609600" y="0"/>
            <a:ext cx="23182917" cy="1558925"/>
          </a:xfrm>
          <a:prstGeom prst="rect">
            <a:avLst/>
          </a:prstGeom>
        </p:spPr>
        <p:txBody>
          <a:bodyPr lIns="50800" tIns="50800" rIns="50800" bIns="50800"/>
          <a:lstStyle>
            <a:lvl1pPr defTabSz="2176581">
              <a:defRPr>
                <a:solidFill>
                  <a:srgbClr val="000000"/>
                </a:solidFill>
                <a:uFill>
                  <a:solidFill>
                    <a:srgbClr val="000000"/>
                  </a:solidFill>
                </a:uFill>
              </a:defRPr>
            </a:lvl1pPr>
          </a:lstStyle>
          <a:p>
            <a:pPr/>
            <a:r>
              <a:t>Title Text</a:t>
            </a:r>
          </a:p>
        </p:txBody>
      </p:sp>
      <p:sp>
        <p:nvSpPr>
          <p:cNvPr id="245" name="Body Level One…"/>
          <p:cNvSpPr txBox="1"/>
          <p:nvPr>
            <p:ph type="body" idx="1"/>
          </p:nvPr>
        </p:nvSpPr>
        <p:spPr>
          <a:xfrm>
            <a:off x="609600" y="1981200"/>
            <a:ext cx="23182917" cy="10363200"/>
          </a:xfrm>
          <a:prstGeom prst="rect">
            <a:avLst/>
          </a:prstGeom>
        </p:spPr>
        <p:txBody>
          <a:bodyPr lIns="50800" tIns="50800" rIns="50800" bIns="50800"/>
          <a:lstStyle>
            <a:lvl1pPr marL="275852" indent="-275852" defTabSz="2176581">
              <a:spcBef>
                <a:spcPts val="1400"/>
              </a:spcBef>
              <a:buClr>
                <a:srgbClr val="929292"/>
              </a:buClr>
            </a:lvl1pPr>
            <a:lvl2pPr marL="551703" indent="-275852" defTabSz="2176581">
              <a:spcBef>
                <a:spcPts val="1400"/>
              </a:spcBef>
              <a:buClr>
                <a:srgbClr val="929292"/>
              </a:buClr>
            </a:lvl2pPr>
            <a:lvl3pPr marL="751978" indent="-200275" defTabSz="2176581">
              <a:spcBef>
                <a:spcPts val="1400"/>
              </a:spcBef>
              <a:buClr>
                <a:srgbClr val="929292"/>
              </a:buClr>
            </a:lvl3pPr>
            <a:lvl4pPr marL="950366" indent="-198387" defTabSz="2176581">
              <a:spcBef>
                <a:spcPts val="1400"/>
              </a:spcBef>
              <a:buClr>
                <a:srgbClr val="929292"/>
              </a:buClr>
            </a:lvl4pPr>
            <a:lvl5pPr marL="1088290" indent="-137925" defTabSz="2176581">
              <a:spcBef>
                <a:spcPts val="1400"/>
              </a:spcBef>
              <a:buClr>
                <a:srgbClr val="929292"/>
              </a:buClr>
            </a:lvl5pPr>
          </a:lstStyle>
          <a:p>
            <a:pPr/>
            <a:r>
              <a:t>Body Level One</a:t>
            </a:r>
          </a:p>
          <a:p>
            <a:pPr lvl="1"/>
            <a:r>
              <a:t>Body Level Two</a:t>
            </a:r>
          </a:p>
          <a:p>
            <a:pPr lvl="2"/>
            <a:r>
              <a:t>Body Level Three</a:t>
            </a:r>
          </a:p>
          <a:p>
            <a:pPr lvl="3"/>
            <a:r>
              <a:t>Body Level Four</a:t>
            </a:r>
          </a:p>
          <a:p>
            <a:pPr lvl="4"/>
            <a:r>
              <a:t>Body Level Five</a:t>
            </a:r>
          </a:p>
        </p:txBody>
      </p:sp>
      <p:sp>
        <p:nvSpPr>
          <p:cNvPr id="246" name="Slide Number"/>
          <p:cNvSpPr txBox="1"/>
          <p:nvPr>
            <p:ph type="sldNum" sz="quarter" idx="2"/>
          </p:nvPr>
        </p:nvSpPr>
        <p:spPr>
          <a:xfrm>
            <a:off x="12058329" y="12934946"/>
            <a:ext cx="286411" cy="355601"/>
          </a:xfrm>
          <a:prstGeom prst="rect">
            <a:avLst/>
          </a:prstGeom>
        </p:spPr>
        <p:txBody>
          <a:bodyPr lIns="50800" tIns="50800" rIns="50800" bIns="50800"/>
          <a:lstStyle>
            <a:lvl1pPr defTabSz="1828800">
              <a:defRPr>
                <a:solidFill>
                  <a:srgbClr val="000000"/>
                </a:solidFill>
              </a:defRPr>
            </a:lvl1pPr>
          </a:lstStyle>
          <a:p>
            <a:pPr/>
            <a:fld id="{86CB4B4D-7CA3-9044-876B-883B54F8677D}" type="slidenum"/>
          </a:p>
        </p:txBody>
      </p:sp>
      <p:pic>
        <p:nvPicPr>
          <p:cNvPr id="247" name="Adobe_standard_logo_red.png" descr="Adobe_standard_logo_red.png"/>
          <p:cNvPicPr>
            <a:picLocks noChangeAspect="1"/>
          </p:cNvPicPr>
          <p:nvPr/>
        </p:nvPicPr>
        <p:blipFill>
          <a:blip r:embed="rId2">
            <a:extLst/>
          </a:blip>
          <a:stretch>
            <a:fillRect/>
          </a:stretch>
        </p:blipFill>
        <p:spPr>
          <a:xfrm>
            <a:off x="23758943" y="13055600"/>
            <a:ext cx="356321" cy="482600"/>
          </a:xfrm>
          <a:prstGeom prst="rect">
            <a:avLst/>
          </a:prstGeom>
          <a:ln w="12700">
            <a:miter lim="400000"/>
          </a:ln>
        </p:spPr>
      </p:pic>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PRINT ONLY Title">
    <p:spTree>
      <p:nvGrpSpPr>
        <p:cNvPr id="1" name=""/>
        <p:cNvGrpSpPr/>
        <p:nvPr/>
      </p:nvGrpSpPr>
      <p:grpSpPr>
        <a:xfrm>
          <a:off x="0" y="0"/>
          <a:ext cx="0" cy="0"/>
          <a:chOff x="0" y="0"/>
          <a:chExt cx="0" cy="0"/>
        </a:xfrm>
      </p:grpSpPr>
      <p:sp>
        <p:nvSpPr>
          <p:cNvPr id="254" name="© 2014 Adobe Systems Incorporated.  All Rights Reserved.  Adobe Confidential."/>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lvl1pPr>
          </a:lstStyle>
          <a:p>
            <a:pPr>
              <a:defRPr sz="3600"/>
            </a:pPr>
            <a:r>
              <a:rPr sz="1400"/>
              <a:t>© 2014 Adobe Systems Incorporated.  All Rights Reserved.  Adobe Confidential.</a:t>
            </a:r>
          </a:p>
        </p:txBody>
      </p:sp>
      <p:sp>
        <p:nvSpPr>
          <p:cNvPr id="255" name="Title Text"/>
          <p:cNvSpPr txBox="1"/>
          <p:nvPr>
            <p:ph type="title"/>
          </p:nvPr>
        </p:nvSpPr>
        <p:spPr>
          <a:xfrm>
            <a:off x="609600" y="0"/>
            <a:ext cx="23182917" cy="1558925"/>
          </a:xfrm>
          <a:prstGeom prst="rect">
            <a:avLst/>
          </a:prstGeom>
        </p:spPr>
        <p:txBody>
          <a:bodyPr lIns="50800" tIns="50800" rIns="50800" bIns="50800"/>
          <a:lstStyle>
            <a:lvl1pPr defTabSz="2176581">
              <a:defRPr>
                <a:solidFill>
                  <a:srgbClr val="000000"/>
                </a:solidFill>
                <a:uFill>
                  <a:solidFill>
                    <a:srgbClr val="000000"/>
                  </a:solidFill>
                </a:uFill>
              </a:defRPr>
            </a:lvl1pPr>
          </a:lstStyle>
          <a:p>
            <a:pPr/>
            <a:r>
              <a:t>Title Text</a:t>
            </a:r>
          </a:p>
        </p:txBody>
      </p:sp>
      <p:sp>
        <p:nvSpPr>
          <p:cNvPr id="256" name="Slide Number"/>
          <p:cNvSpPr txBox="1"/>
          <p:nvPr>
            <p:ph type="sldNum" sz="quarter" idx="2"/>
          </p:nvPr>
        </p:nvSpPr>
        <p:spPr>
          <a:xfrm>
            <a:off x="12058329" y="12934946"/>
            <a:ext cx="286411" cy="355601"/>
          </a:xfrm>
          <a:prstGeom prst="rect">
            <a:avLst/>
          </a:prstGeom>
        </p:spPr>
        <p:txBody>
          <a:bodyPr lIns="50800" tIns="50800" rIns="50800" bIns="50800"/>
          <a:lstStyle>
            <a:lvl1pPr defTabSz="1828800">
              <a:defRPr>
                <a:solidFill>
                  <a:srgbClr val="000000"/>
                </a:solidFill>
              </a:defRPr>
            </a:lvl1pPr>
          </a:lstStyle>
          <a:p>
            <a:pPr/>
            <a:fld id="{86CB4B4D-7CA3-9044-876B-883B54F8677D}" type="slidenum"/>
          </a:p>
        </p:txBody>
      </p:sp>
      <p:pic>
        <p:nvPicPr>
          <p:cNvPr id="257" name="Adobe_standard_logo_red.png" descr="Adobe_standard_logo_red.png"/>
          <p:cNvPicPr>
            <a:picLocks noChangeAspect="1"/>
          </p:cNvPicPr>
          <p:nvPr/>
        </p:nvPicPr>
        <p:blipFill>
          <a:blip r:embed="rId2">
            <a:extLst/>
          </a:blip>
          <a:stretch>
            <a:fillRect/>
          </a:stretch>
        </p:blipFill>
        <p:spPr>
          <a:xfrm>
            <a:off x="23758943" y="13055600"/>
            <a:ext cx="356321" cy="482600"/>
          </a:xfrm>
          <a:prstGeom prst="rect">
            <a:avLst/>
          </a:prstGeom>
          <a:ln w="12700">
            <a:miter lim="400000"/>
          </a:ln>
        </p:spPr>
      </p:pic>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Gray">
    <p:spTree>
      <p:nvGrpSpPr>
        <p:cNvPr id="1" name=""/>
        <p:cNvGrpSpPr/>
        <p:nvPr/>
      </p:nvGrpSpPr>
      <p:grpSpPr>
        <a:xfrm>
          <a:off x="0" y="0"/>
          <a:ext cx="0" cy="0"/>
          <a:chOff x="0" y="0"/>
          <a:chExt cx="0" cy="0"/>
        </a:xfrm>
      </p:grpSpPr>
      <p:sp>
        <p:nvSpPr>
          <p:cNvPr id="264" name="Rectangle"/>
          <p:cNvSpPr/>
          <p:nvPr/>
        </p:nvSpPr>
        <p:spPr>
          <a:xfrm>
            <a:off x="3048000" y="-1"/>
            <a:ext cx="18313400" cy="1558928"/>
          </a:xfrm>
          <a:prstGeom prst="rect">
            <a:avLst/>
          </a:prstGeom>
          <a:solidFill>
            <a:srgbClr val="475560"/>
          </a:solidFill>
          <a:ln w="50800"/>
        </p:spPr>
        <p:txBody>
          <a:bodyPr lIns="76200" tIns="76200" rIns="76200" bIns="76200" anchor="ctr"/>
          <a:lstStyle/>
          <a:p>
            <a:pPr algn="ctr" defTabSz="914400">
              <a:buClr>
                <a:srgbClr val="FFFFFF"/>
              </a:buClr>
              <a:defRPr>
                <a:solidFill>
                  <a:srgbClr val="FFFFFF"/>
                </a:solidFill>
                <a:uFill>
                  <a:solidFill>
                    <a:srgbClr val="FFFFFF"/>
                  </a:solidFill>
                </a:uFill>
              </a:defRPr>
            </a:pPr>
          </a:p>
        </p:txBody>
      </p:sp>
      <p:sp>
        <p:nvSpPr>
          <p:cNvPr id="265" name="Rectangle"/>
          <p:cNvSpPr/>
          <p:nvPr/>
        </p:nvSpPr>
        <p:spPr>
          <a:xfrm>
            <a:off x="3048000" y="12884150"/>
            <a:ext cx="18313400" cy="831850"/>
          </a:xfrm>
          <a:prstGeom prst="rect">
            <a:avLst/>
          </a:prstGeom>
          <a:solidFill>
            <a:srgbClr val="475560"/>
          </a:solidFill>
          <a:ln w="50800"/>
        </p:spPr>
        <p:txBody>
          <a:bodyPr lIns="76200" tIns="76200" rIns="76200" bIns="76200" anchor="ctr"/>
          <a:lstStyle/>
          <a:p>
            <a:pPr algn="ctr" defTabSz="914400">
              <a:buClr>
                <a:srgbClr val="FFFFFF"/>
              </a:buClr>
              <a:defRPr>
                <a:solidFill>
                  <a:srgbClr val="FFFFFF"/>
                </a:solidFill>
                <a:uFill>
                  <a:solidFill>
                    <a:srgbClr val="FFFFFF"/>
                  </a:solidFill>
                </a:uFill>
              </a:defRPr>
            </a:pPr>
          </a:p>
        </p:txBody>
      </p:sp>
      <p:sp>
        <p:nvSpPr>
          <p:cNvPr id="266" name="© 2012 Adobe Systems Incorporated.  All Rights Reserved."/>
          <p:cNvSpPr txBox="1"/>
          <p:nvPr/>
        </p:nvSpPr>
        <p:spPr>
          <a:xfrm>
            <a:off x="3505200" y="13004799"/>
            <a:ext cx="77978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2012 Adobe Systems Incorporated.  All Rights Reserved.</a:t>
            </a:r>
          </a:p>
        </p:txBody>
      </p:sp>
      <p:grpSp>
        <p:nvGrpSpPr>
          <p:cNvPr id="276" name="Group"/>
          <p:cNvGrpSpPr/>
          <p:nvPr/>
        </p:nvGrpSpPr>
        <p:grpSpPr>
          <a:xfrm>
            <a:off x="20620600" y="13057748"/>
            <a:ext cx="408450" cy="513231"/>
            <a:chOff x="0" y="0"/>
            <a:chExt cx="408449" cy="513230"/>
          </a:xfrm>
        </p:grpSpPr>
        <p:sp>
          <p:nvSpPr>
            <p:cNvPr id="267" name="Shape"/>
            <p:cNvSpPr/>
            <p:nvPr/>
          </p:nvSpPr>
          <p:spPr>
            <a:xfrm>
              <a:off x="4300" y="392976"/>
              <a:ext cx="73091" cy="1202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9525" cap="flat">
              <a:noFill/>
              <a:round/>
            </a:ln>
            <a:effectLst/>
          </p:spPr>
          <p:txBody>
            <a:bodyPr wrap="square" lIns="0" tIns="0" rIns="0" bIns="0" numCol="1" anchor="t">
              <a:noAutofit/>
            </a:bodyPr>
            <a:lstStyle/>
            <a:p>
              <a:pPr defTabSz="914400">
                <a:buClrTx/>
              </a:pPr>
            </a:p>
          </p:txBody>
        </p:sp>
        <p:sp>
          <p:nvSpPr>
            <p:cNvPr id="268" name="Shape"/>
            <p:cNvSpPr/>
            <p:nvPr/>
          </p:nvSpPr>
          <p:spPr>
            <a:xfrm>
              <a:off x="83839" y="390827"/>
              <a:ext cx="64493" cy="1224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9525" cap="flat">
              <a:noFill/>
              <a:round/>
            </a:ln>
            <a:effectLst/>
          </p:spPr>
          <p:txBody>
            <a:bodyPr wrap="square" lIns="0" tIns="0" rIns="0" bIns="0" numCol="1" anchor="t">
              <a:noAutofit/>
            </a:bodyPr>
            <a:lstStyle/>
            <a:p>
              <a:pPr defTabSz="914400">
                <a:buClrTx/>
              </a:pPr>
            </a:p>
          </p:txBody>
        </p:sp>
        <p:sp>
          <p:nvSpPr>
            <p:cNvPr id="269" name="Shape"/>
            <p:cNvSpPr/>
            <p:nvPr/>
          </p:nvSpPr>
          <p:spPr>
            <a:xfrm>
              <a:off x="159080" y="425184"/>
              <a:ext cx="62343" cy="880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9525" cap="flat">
              <a:noFill/>
              <a:round/>
            </a:ln>
            <a:effectLst/>
          </p:spPr>
          <p:txBody>
            <a:bodyPr wrap="square" lIns="0" tIns="0" rIns="0" bIns="0" numCol="1" anchor="t">
              <a:noAutofit/>
            </a:bodyPr>
            <a:lstStyle/>
            <a:p>
              <a:pPr defTabSz="914400">
                <a:buClrTx/>
              </a:pPr>
            </a:p>
          </p:txBody>
        </p:sp>
        <p:sp>
          <p:nvSpPr>
            <p:cNvPr id="270" name="Shape"/>
            <p:cNvSpPr/>
            <p:nvPr/>
          </p:nvSpPr>
          <p:spPr>
            <a:xfrm>
              <a:off x="236469" y="390827"/>
              <a:ext cx="62343" cy="1224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9525" cap="flat">
              <a:noFill/>
              <a:round/>
            </a:ln>
            <a:effectLst/>
          </p:spPr>
          <p:txBody>
            <a:bodyPr wrap="square" lIns="0" tIns="0" rIns="0" bIns="0" numCol="1" anchor="t">
              <a:noAutofit/>
            </a:bodyPr>
            <a:lstStyle/>
            <a:p>
              <a:pPr defTabSz="914400">
                <a:buClrTx/>
              </a:pPr>
            </a:p>
          </p:txBody>
        </p:sp>
        <p:sp>
          <p:nvSpPr>
            <p:cNvPr id="271" name="Shape"/>
            <p:cNvSpPr/>
            <p:nvPr/>
          </p:nvSpPr>
          <p:spPr>
            <a:xfrm>
              <a:off x="311711" y="425184"/>
              <a:ext cx="62343" cy="880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9525" cap="flat">
              <a:noFill/>
              <a:round/>
            </a:ln>
            <a:effectLst/>
          </p:spPr>
          <p:txBody>
            <a:bodyPr wrap="square" lIns="0" tIns="0" rIns="0" bIns="0" numCol="1" anchor="t">
              <a:noAutofit/>
            </a:bodyPr>
            <a:lstStyle/>
            <a:p>
              <a:pPr defTabSz="914400">
                <a:buClrTx/>
              </a:pPr>
            </a:p>
          </p:txBody>
        </p:sp>
        <p:sp>
          <p:nvSpPr>
            <p:cNvPr id="272" name="Triangle"/>
            <p:cNvSpPr/>
            <p:nvPr/>
          </p:nvSpPr>
          <p:spPr>
            <a:xfrm>
              <a:off x="236469" y="0"/>
              <a:ext cx="137583" cy="330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9525" cap="flat">
              <a:noFill/>
              <a:round/>
            </a:ln>
            <a:effectLst/>
          </p:spPr>
          <p:txBody>
            <a:bodyPr wrap="square" lIns="0" tIns="0" rIns="0" bIns="0" numCol="1" anchor="t">
              <a:noAutofit/>
            </a:bodyPr>
            <a:lstStyle/>
            <a:p>
              <a:pPr defTabSz="914400">
                <a:buClrTx/>
              </a:pPr>
            </a:p>
          </p:txBody>
        </p:sp>
        <p:sp>
          <p:nvSpPr>
            <p:cNvPr id="273" name="Triangle"/>
            <p:cNvSpPr/>
            <p:nvPr/>
          </p:nvSpPr>
          <p:spPr>
            <a:xfrm>
              <a:off x="0" y="0"/>
              <a:ext cx="137582" cy="330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9525" cap="flat">
              <a:noFill/>
              <a:round/>
            </a:ln>
            <a:effectLst/>
          </p:spPr>
          <p:txBody>
            <a:bodyPr wrap="square" lIns="0" tIns="0" rIns="0" bIns="0" numCol="1" anchor="t">
              <a:noAutofit/>
            </a:bodyPr>
            <a:lstStyle/>
            <a:p>
              <a:pPr defTabSz="914400">
                <a:buClrTx/>
              </a:pPr>
            </a:p>
          </p:txBody>
        </p:sp>
        <p:sp>
          <p:nvSpPr>
            <p:cNvPr id="274" name="Shape"/>
            <p:cNvSpPr/>
            <p:nvPr/>
          </p:nvSpPr>
          <p:spPr>
            <a:xfrm>
              <a:off x="126834" y="120253"/>
              <a:ext cx="148333" cy="2104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9525" cap="flat">
              <a:noFill/>
              <a:round/>
            </a:ln>
            <a:effectLst/>
          </p:spPr>
          <p:txBody>
            <a:bodyPr wrap="square" lIns="0" tIns="0" rIns="0" bIns="0" numCol="1" anchor="t">
              <a:noAutofit/>
            </a:bodyPr>
            <a:lstStyle/>
            <a:p>
              <a:pPr defTabSz="914400">
                <a:buClrTx/>
              </a:pPr>
            </a:p>
          </p:txBody>
        </p:sp>
        <p:sp>
          <p:nvSpPr>
            <p:cNvPr id="275" name="Shape"/>
            <p:cNvSpPr/>
            <p:nvPr/>
          </p:nvSpPr>
          <p:spPr>
            <a:xfrm>
              <a:off x="382651" y="0"/>
              <a:ext cx="25799" cy="257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10800" y="0"/>
                  </a:lnTo>
                  <a:lnTo>
                    <a:pt x="13200" y="0"/>
                  </a:lnTo>
                  <a:lnTo>
                    <a:pt x="15000" y="600"/>
                  </a:lnTo>
                  <a:lnTo>
                    <a:pt x="16800" y="1800"/>
                  </a:lnTo>
                  <a:lnTo>
                    <a:pt x="18600" y="3000"/>
                  </a:lnTo>
                  <a:lnTo>
                    <a:pt x="19800" y="4800"/>
                  </a:lnTo>
                  <a:lnTo>
                    <a:pt x="21000" y="6600"/>
                  </a:lnTo>
                  <a:lnTo>
                    <a:pt x="21600" y="8400"/>
                  </a:lnTo>
                  <a:lnTo>
                    <a:pt x="21600" y="10800"/>
                  </a:lnTo>
                  <a:lnTo>
                    <a:pt x="21600" y="12600"/>
                  </a:lnTo>
                  <a:lnTo>
                    <a:pt x="21000" y="15000"/>
                  </a:lnTo>
                  <a:lnTo>
                    <a:pt x="19800" y="16800"/>
                  </a:lnTo>
                  <a:lnTo>
                    <a:pt x="18600" y="18600"/>
                  </a:lnTo>
                  <a:lnTo>
                    <a:pt x="16800" y="19800"/>
                  </a:lnTo>
                  <a:lnTo>
                    <a:pt x="15000" y="20400"/>
                  </a:lnTo>
                  <a:lnTo>
                    <a:pt x="13200" y="21000"/>
                  </a:lnTo>
                  <a:lnTo>
                    <a:pt x="10800" y="21600"/>
                  </a:lnTo>
                  <a:lnTo>
                    <a:pt x="8400" y="21000"/>
                  </a:lnTo>
                  <a:lnTo>
                    <a:pt x="6600" y="20400"/>
                  </a:lnTo>
                  <a:lnTo>
                    <a:pt x="4800" y="19800"/>
                  </a:lnTo>
                  <a:lnTo>
                    <a:pt x="3000" y="18600"/>
                  </a:lnTo>
                  <a:lnTo>
                    <a:pt x="1800" y="16800"/>
                  </a:lnTo>
                  <a:lnTo>
                    <a:pt x="600" y="15000"/>
                  </a:lnTo>
                  <a:lnTo>
                    <a:pt x="0" y="12600"/>
                  </a:lnTo>
                  <a:lnTo>
                    <a:pt x="0" y="10800"/>
                  </a:lnTo>
                  <a:lnTo>
                    <a:pt x="0" y="8400"/>
                  </a:lnTo>
                  <a:lnTo>
                    <a:pt x="600" y="6600"/>
                  </a:lnTo>
                  <a:lnTo>
                    <a:pt x="1800" y="4800"/>
                  </a:lnTo>
                  <a:lnTo>
                    <a:pt x="3000" y="3000"/>
                  </a:lnTo>
                  <a:lnTo>
                    <a:pt x="4800" y="1800"/>
                  </a:lnTo>
                  <a:lnTo>
                    <a:pt x="6600" y="600"/>
                  </a:lnTo>
                  <a:lnTo>
                    <a:pt x="8400" y="0"/>
                  </a:lnTo>
                  <a:lnTo>
                    <a:pt x="10800" y="0"/>
                  </a:lnTo>
                  <a:close/>
                  <a:moveTo>
                    <a:pt x="10800" y="1800"/>
                  </a:moveTo>
                  <a:lnTo>
                    <a:pt x="10800" y="1800"/>
                  </a:lnTo>
                  <a:lnTo>
                    <a:pt x="9000" y="1800"/>
                  </a:lnTo>
                  <a:lnTo>
                    <a:pt x="7800" y="2400"/>
                  </a:lnTo>
                  <a:lnTo>
                    <a:pt x="4800" y="4200"/>
                  </a:lnTo>
                  <a:lnTo>
                    <a:pt x="3000" y="7200"/>
                  </a:lnTo>
                  <a:lnTo>
                    <a:pt x="2400" y="10800"/>
                  </a:lnTo>
                  <a:lnTo>
                    <a:pt x="3000" y="14400"/>
                  </a:lnTo>
                  <a:lnTo>
                    <a:pt x="4800" y="16800"/>
                  </a:lnTo>
                  <a:lnTo>
                    <a:pt x="7800" y="19200"/>
                  </a:lnTo>
                  <a:lnTo>
                    <a:pt x="9000" y="19200"/>
                  </a:lnTo>
                  <a:lnTo>
                    <a:pt x="10800" y="19800"/>
                  </a:lnTo>
                  <a:lnTo>
                    <a:pt x="12600" y="19800"/>
                  </a:lnTo>
                  <a:lnTo>
                    <a:pt x="14400" y="19200"/>
                  </a:lnTo>
                  <a:lnTo>
                    <a:pt x="16800" y="16800"/>
                  </a:lnTo>
                  <a:lnTo>
                    <a:pt x="18600" y="14400"/>
                  </a:lnTo>
                  <a:lnTo>
                    <a:pt x="19200" y="10800"/>
                  </a:lnTo>
                  <a:lnTo>
                    <a:pt x="18600" y="7200"/>
                  </a:lnTo>
                  <a:lnTo>
                    <a:pt x="16800" y="4200"/>
                  </a:lnTo>
                  <a:lnTo>
                    <a:pt x="14400" y="2400"/>
                  </a:lnTo>
                  <a:lnTo>
                    <a:pt x="12600" y="1800"/>
                  </a:lnTo>
                  <a:lnTo>
                    <a:pt x="10800" y="1800"/>
                  </a:lnTo>
                  <a:close/>
                  <a:moveTo>
                    <a:pt x="9000" y="16800"/>
                  </a:moveTo>
                  <a:lnTo>
                    <a:pt x="6600" y="16800"/>
                  </a:lnTo>
                  <a:lnTo>
                    <a:pt x="6600" y="4800"/>
                  </a:lnTo>
                  <a:lnTo>
                    <a:pt x="10200" y="4800"/>
                  </a:lnTo>
                  <a:lnTo>
                    <a:pt x="12600" y="4800"/>
                  </a:lnTo>
                  <a:lnTo>
                    <a:pt x="14400" y="5400"/>
                  </a:lnTo>
                  <a:lnTo>
                    <a:pt x="15000" y="6600"/>
                  </a:lnTo>
                  <a:lnTo>
                    <a:pt x="15000" y="8400"/>
                  </a:lnTo>
                  <a:lnTo>
                    <a:pt x="15000" y="9000"/>
                  </a:lnTo>
                  <a:lnTo>
                    <a:pt x="14400" y="10200"/>
                  </a:lnTo>
                  <a:lnTo>
                    <a:pt x="13200" y="10800"/>
                  </a:lnTo>
                  <a:lnTo>
                    <a:pt x="14400" y="12000"/>
                  </a:lnTo>
                  <a:lnTo>
                    <a:pt x="15000" y="13800"/>
                  </a:lnTo>
                  <a:lnTo>
                    <a:pt x="15600" y="16800"/>
                  </a:lnTo>
                  <a:lnTo>
                    <a:pt x="13200" y="16800"/>
                  </a:lnTo>
                  <a:lnTo>
                    <a:pt x="12600" y="13800"/>
                  </a:lnTo>
                  <a:lnTo>
                    <a:pt x="12000" y="12600"/>
                  </a:lnTo>
                  <a:lnTo>
                    <a:pt x="10200" y="12000"/>
                  </a:lnTo>
                  <a:lnTo>
                    <a:pt x="9000" y="12000"/>
                  </a:lnTo>
                  <a:lnTo>
                    <a:pt x="9000" y="16800"/>
                  </a:lnTo>
                  <a:close/>
                  <a:moveTo>
                    <a:pt x="9000" y="10200"/>
                  </a:moveTo>
                  <a:lnTo>
                    <a:pt x="10200" y="10200"/>
                  </a:lnTo>
                  <a:lnTo>
                    <a:pt x="12000" y="9600"/>
                  </a:lnTo>
                  <a:lnTo>
                    <a:pt x="12600" y="9000"/>
                  </a:lnTo>
                  <a:lnTo>
                    <a:pt x="13200" y="8400"/>
                  </a:lnTo>
                  <a:lnTo>
                    <a:pt x="13200" y="7800"/>
                  </a:lnTo>
                  <a:lnTo>
                    <a:pt x="12600" y="6600"/>
                  </a:lnTo>
                  <a:lnTo>
                    <a:pt x="11400" y="6600"/>
                  </a:lnTo>
                  <a:lnTo>
                    <a:pt x="10200" y="6000"/>
                  </a:lnTo>
                  <a:lnTo>
                    <a:pt x="9000" y="6600"/>
                  </a:lnTo>
                  <a:lnTo>
                    <a:pt x="9000" y="10200"/>
                  </a:lnTo>
                  <a:close/>
                </a:path>
              </a:pathLst>
            </a:custGeom>
            <a:solidFill>
              <a:srgbClr val="FFFFFF"/>
            </a:solidFill>
            <a:ln w="9525" cap="flat">
              <a:noFill/>
              <a:round/>
            </a:ln>
            <a:effectLst/>
          </p:spPr>
          <p:txBody>
            <a:bodyPr wrap="square" lIns="0" tIns="0" rIns="0" bIns="0" numCol="1" anchor="t">
              <a:noAutofit/>
            </a:bodyPr>
            <a:lstStyle/>
            <a:p>
              <a:pPr defTabSz="914400">
                <a:buClrTx/>
              </a:pPr>
            </a:p>
          </p:txBody>
        </p:sp>
      </p:grpSp>
      <p:sp>
        <p:nvSpPr>
          <p:cNvPr id="277" name="Rectangle"/>
          <p:cNvSpPr/>
          <p:nvPr/>
        </p:nvSpPr>
        <p:spPr>
          <a:xfrm>
            <a:off x="3048000" y="1"/>
            <a:ext cx="18313400" cy="12954001"/>
          </a:xfrm>
          <a:prstGeom prst="rect">
            <a:avLst/>
          </a:prstGeom>
          <a:solidFill>
            <a:srgbClr val="475560"/>
          </a:solidFill>
          <a:ln w="50800"/>
        </p:spPr>
        <p:txBody>
          <a:bodyPr lIns="76200" tIns="76200" rIns="76200" bIns="76200" anchor="ctr"/>
          <a:lstStyle/>
          <a:p>
            <a:pPr algn="ctr" defTabSz="914400">
              <a:buClr>
                <a:srgbClr val="FFFFFF"/>
              </a:buClr>
              <a:defRPr>
                <a:solidFill>
                  <a:srgbClr val="FFFFFF"/>
                </a:solidFill>
                <a:uFill>
                  <a:solidFill>
                    <a:srgbClr val="FFFFFF"/>
                  </a:solidFill>
                </a:uFill>
              </a:defRPr>
            </a:pPr>
          </a:p>
        </p:txBody>
      </p:sp>
      <p:sp>
        <p:nvSpPr>
          <p:cNvPr id="278" name="Title Text"/>
          <p:cNvSpPr txBox="1"/>
          <p:nvPr>
            <p:ph type="title"/>
          </p:nvPr>
        </p:nvSpPr>
        <p:spPr>
          <a:xfrm>
            <a:off x="3505200" y="368300"/>
            <a:ext cx="17373600" cy="822325"/>
          </a:xfrm>
          <a:prstGeom prst="rect">
            <a:avLst/>
          </a:prstGeom>
          <a:ln w="25400" cap="rnd"/>
        </p:spPr>
        <p:txBody>
          <a:bodyPr lIns="76200" tIns="76200" rIns="76200" bIns="76200"/>
          <a:lstStyle>
            <a:lvl1pPr defTabSz="914400"/>
          </a:lstStyle>
          <a:p>
            <a:pPr/>
            <a:r>
              <a:t>Title Text</a:t>
            </a:r>
          </a:p>
        </p:txBody>
      </p:sp>
      <p:sp>
        <p:nvSpPr>
          <p:cNvPr id="279" name="Slide Number"/>
          <p:cNvSpPr txBox="1"/>
          <p:nvPr>
            <p:ph type="sldNum" sz="quarter" idx="2"/>
          </p:nvPr>
        </p:nvSpPr>
        <p:spPr>
          <a:xfrm>
            <a:off x="12023394" y="12909546"/>
            <a:ext cx="337212" cy="406401"/>
          </a:xfrm>
          <a:prstGeom prst="rect">
            <a:avLst/>
          </a:prstGeom>
          <a:ln w="25400" cap="rnd"/>
        </p:spPr>
        <p:txBody>
          <a:bodyPr lIns="76200" tIns="76200" rIns="76200" bIns="76200"/>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dobe Wide Title and Content">
    <p:spTree>
      <p:nvGrpSpPr>
        <p:cNvPr id="1" name=""/>
        <p:cNvGrpSpPr/>
        <p:nvPr/>
      </p:nvGrpSpPr>
      <p:grpSpPr>
        <a:xfrm>
          <a:off x="0" y="0"/>
          <a:ext cx="0" cy="0"/>
          <a:chOff x="0" y="0"/>
          <a:chExt cx="0" cy="0"/>
        </a:xfrm>
      </p:grpSpPr>
      <p:sp>
        <p:nvSpPr>
          <p:cNvPr id="286" name="Title Text"/>
          <p:cNvSpPr txBox="1"/>
          <p:nvPr>
            <p:ph type="title"/>
          </p:nvPr>
        </p:nvSpPr>
        <p:spPr>
          <a:prstGeom prst="rect">
            <a:avLst/>
          </a:prstGeom>
        </p:spPr>
        <p:txBody>
          <a:bodyPr/>
          <a:lstStyle/>
          <a:p>
            <a:pPr/>
            <a:r>
              <a:t>Title Text</a:t>
            </a:r>
          </a:p>
        </p:txBody>
      </p:sp>
      <p:sp>
        <p:nvSpPr>
          <p:cNvPr id="287"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Title and Content">
    <p:spTree>
      <p:nvGrpSpPr>
        <p:cNvPr id="1" name=""/>
        <p:cNvGrpSpPr/>
        <p:nvPr/>
      </p:nvGrpSpPr>
      <p:grpSpPr>
        <a:xfrm>
          <a:off x="0" y="0"/>
          <a:ext cx="0" cy="0"/>
          <a:chOff x="0" y="0"/>
          <a:chExt cx="0" cy="0"/>
        </a:xfrm>
      </p:grpSpPr>
      <p:sp>
        <p:nvSpPr>
          <p:cNvPr id="295" name="Rectangle"/>
          <p:cNvSpPr/>
          <p:nvPr/>
        </p:nvSpPr>
        <p:spPr>
          <a:xfrm>
            <a:off x="12700" y="1"/>
            <a:ext cx="24403050"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296" name="Rectangle"/>
          <p:cNvSpPr/>
          <p:nvPr/>
        </p:nvSpPr>
        <p:spPr>
          <a:xfrm>
            <a:off x="12700" y="12884153"/>
            <a:ext cx="24403050"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297"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306" name="Group"/>
          <p:cNvGrpSpPr/>
          <p:nvPr/>
        </p:nvGrpSpPr>
        <p:grpSpPr>
          <a:xfrm>
            <a:off x="23430479" y="13063804"/>
            <a:ext cx="356816" cy="489706"/>
            <a:chOff x="0" y="0"/>
            <a:chExt cx="356815" cy="489704"/>
          </a:xfrm>
        </p:grpSpPr>
        <p:sp>
          <p:nvSpPr>
            <p:cNvPr id="298"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299"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00"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01"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02"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03"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04"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05"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307" name="Title Text"/>
          <p:cNvSpPr txBox="1"/>
          <p:nvPr>
            <p:ph type="title"/>
          </p:nvPr>
        </p:nvSpPr>
        <p:spPr>
          <a:prstGeom prst="rect">
            <a:avLst/>
          </a:prstGeom>
        </p:spPr>
        <p:txBody>
          <a:bodyPr/>
          <a:lstStyle/>
          <a:p>
            <a:pPr/>
            <a:r>
              <a:t>Title Text</a:t>
            </a:r>
          </a:p>
        </p:txBody>
      </p:sp>
      <p:sp>
        <p:nvSpPr>
          <p:cNvPr id="308"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0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Title and Content">
    <p:spTree>
      <p:nvGrpSpPr>
        <p:cNvPr id="1" name=""/>
        <p:cNvGrpSpPr/>
        <p:nvPr/>
      </p:nvGrpSpPr>
      <p:grpSpPr>
        <a:xfrm>
          <a:off x="0" y="0"/>
          <a:ext cx="0" cy="0"/>
          <a:chOff x="0" y="0"/>
          <a:chExt cx="0" cy="0"/>
        </a:xfrm>
      </p:grpSpPr>
      <p:sp>
        <p:nvSpPr>
          <p:cNvPr id="316" name="Rectangle"/>
          <p:cNvSpPr/>
          <p:nvPr/>
        </p:nvSpPr>
        <p:spPr>
          <a:xfrm>
            <a:off x="12700" y="1"/>
            <a:ext cx="24403050"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317" name="Rectangle"/>
          <p:cNvSpPr/>
          <p:nvPr/>
        </p:nvSpPr>
        <p:spPr>
          <a:xfrm>
            <a:off x="12700" y="12884153"/>
            <a:ext cx="24403050"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318"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327" name="Group"/>
          <p:cNvGrpSpPr/>
          <p:nvPr/>
        </p:nvGrpSpPr>
        <p:grpSpPr>
          <a:xfrm>
            <a:off x="23430479" y="13063804"/>
            <a:ext cx="356816" cy="489706"/>
            <a:chOff x="0" y="0"/>
            <a:chExt cx="356815" cy="489704"/>
          </a:xfrm>
        </p:grpSpPr>
        <p:sp>
          <p:nvSpPr>
            <p:cNvPr id="319"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20"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21"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22"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23"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24"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25"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26"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328" name="Title Text"/>
          <p:cNvSpPr txBox="1"/>
          <p:nvPr>
            <p:ph type="title"/>
          </p:nvPr>
        </p:nvSpPr>
        <p:spPr>
          <a:prstGeom prst="rect">
            <a:avLst/>
          </a:prstGeom>
        </p:spPr>
        <p:txBody>
          <a:bodyPr/>
          <a:lstStyle/>
          <a:p>
            <a:pPr/>
            <a:r>
              <a:t>Title Text</a:t>
            </a:r>
          </a:p>
        </p:txBody>
      </p:sp>
      <p:sp>
        <p:nvSpPr>
          <p:cNvPr id="329"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Title and Content">
    <p:spTree>
      <p:nvGrpSpPr>
        <p:cNvPr id="1" name=""/>
        <p:cNvGrpSpPr/>
        <p:nvPr/>
      </p:nvGrpSpPr>
      <p:grpSpPr>
        <a:xfrm>
          <a:off x="0" y="0"/>
          <a:ext cx="0" cy="0"/>
          <a:chOff x="0" y="0"/>
          <a:chExt cx="0" cy="0"/>
        </a:xfrm>
      </p:grpSpPr>
      <p:sp>
        <p:nvSpPr>
          <p:cNvPr id="337" name="Rectangle"/>
          <p:cNvSpPr/>
          <p:nvPr/>
        </p:nvSpPr>
        <p:spPr>
          <a:xfrm>
            <a:off x="12700" y="1"/>
            <a:ext cx="24403050"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338" name="Rectangle"/>
          <p:cNvSpPr/>
          <p:nvPr/>
        </p:nvSpPr>
        <p:spPr>
          <a:xfrm>
            <a:off x="12700" y="12884153"/>
            <a:ext cx="24403050"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339"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348" name="Group"/>
          <p:cNvGrpSpPr/>
          <p:nvPr/>
        </p:nvGrpSpPr>
        <p:grpSpPr>
          <a:xfrm>
            <a:off x="23430479" y="13063804"/>
            <a:ext cx="356816" cy="489706"/>
            <a:chOff x="0" y="0"/>
            <a:chExt cx="356815" cy="489704"/>
          </a:xfrm>
        </p:grpSpPr>
        <p:sp>
          <p:nvSpPr>
            <p:cNvPr id="340"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41"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42"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43"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44"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45"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46"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47"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349" name="Title Text"/>
          <p:cNvSpPr txBox="1"/>
          <p:nvPr>
            <p:ph type="title"/>
          </p:nvPr>
        </p:nvSpPr>
        <p:spPr>
          <a:prstGeom prst="rect">
            <a:avLst/>
          </a:prstGeom>
        </p:spPr>
        <p:txBody>
          <a:bodyPr/>
          <a:lstStyle/>
          <a:p>
            <a:pPr/>
            <a:r>
              <a:t>Title Text</a:t>
            </a:r>
          </a:p>
        </p:txBody>
      </p:sp>
      <p:sp>
        <p:nvSpPr>
          <p:cNvPr id="350"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Title and Content">
    <p:spTree>
      <p:nvGrpSpPr>
        <p:cNvPr id="1" name=""/>
        <p:cNvGrpSpPr/>
        <p:nvPr/>
      </p:nvGrpSpPr>
      <p:grpSpPr>
        <a:xfrm>
          <a:off x="0" y="0"/>
          <a:ext cx="0" cy="0"/>
          <a:chOff x="0" y="0"/>
          <a:chExt cx="0" cy="0"/>
        </a:xfrm>
      </p:grpSpPr>
      <p:sp>
        <p:nvSpPr>
          <p:cNvPr id="358" name="Rectangle"/>
          <p:cNvSpPr/>
          <p:nvPr/>
        </p:nvSpPr>
        <p:spPr>
          <a:xfrm>
            <a:off x="12700" y="1"/>
            <a:ext cx="24403050"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359" name="Rectangle"/>
          <p:cNvSpPr/>
          <p:nvPr/>
        </p:nvSpPr>
        <p:spPr>
          <a:xfrm>
            <a:off x="12700" y="12884153"/>
            <a:ext cx="24403050"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360"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369" name="Group"/>
          <p:cNvGrpSpPr/>
          <p:nvPr/>
        </p:nvGrpSpPr>
        <p:grpSpPr>
          <a:xfrm>
            <a:off x="23430479" y="13063804"/>
            <a:ext cx="356816" cy="489706"/>
            <a:chOff x="0" y="0"/>
            <a:chExt cx="356815" cy="489704"/>
          </a:xfrm>
        </p:grpSpPr>
        <p:sp>
          <p:nvSpPr>
            <p:cNvPr id="361"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62"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63"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64"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65"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66"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67"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68"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370" name="Title Text"/>
          <p:cNvSpPr txBox="1"/>
          <p:nvPr>
            <p:ph type="title"/>
          </p:nvPr>
        </p:nvSpPr>
        <p:spPr>
          <a:prstGeom prst="rect">
            <a:avLst/>
          </a:prstGeom>
        </p:spPr>
        <p:txBody>
          <a:bodyPr/>
          <a:lstStyle/>
          <a:p>
            <a:pPr/>
            <a:r>
              <a:t>Title Text</a:t>
            </a:r>
          </a:p>
        </p:txBody>
      </p:sp>
      <p:sp>
        <p:nvSpPr>
          <p:cNvPr id="37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7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dobe Wide Title and Content">
    <p:spTree>
      <p:nvGrpSpPr>
        <p:cNvPr id="1" name=""/>
        <p:cNvGrpSpPr/>
        <p:nvPr/>
      </p:nvGrpSpPr>
      <p:grpSpPr>
        <a:xfrm>
          <a:off x="0" y="0"/>
          <a:ext cx="0" cy="0"/>
          <a:chOff x="0" y="0"/>
          <a:chExt cx="0" cy="0"/>
        </a:xfrm>
      </p:grpSpPr>
      <p:sp>
        <p:nvSpPr>
          <p:cNvPr id="379" name="Title Text"/>
          <p:cNvSpPr txBox="1"/>
          <p:nvPr>
            <p:ph type="title"/>
          </p:nvPr>
        </p:nvSpPr>
        <p:spPr>
          <a:prstGeom prst="rect">
            <a:avLst/>
          </a:prstGeom>
        </p:spPr>
        <p:txBody>
          <a:bodyPr/>
          <a:lstStyle/>
          <a:p>
            <a:pPr/>
            <a:r>
              <a:t>Title Text</a:t>
            </a:r>
          </a:p>
        </p:txBody>
      </p:sp>
      <p:sp>
        <p:nvSpPr>
          <p:cNvPr id="380"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81" name="Slide Number"/>
          <p:cNvSpPr txBox="1"/>
          <p:nvPr>
            <p:ph type="sldNum" sz="quarter" idx="2"/>
          </p:nvPr>
        </p:nvSpPr>
        <p:spPr>
          <a:xfrm>
            <a:off x="12007521" y="12871152"/>
            <a:ext cx="388011" cy="4572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Title and Content">
    <p:spTree>
      <p:nvGrpSpPr>
        <p:cNvPr id="1" name=""/>
        <p:cNvGrpSpPr/>
        <p:nvPr/>
      </p:nvGrpSpPr>
      <p:grpSpPr>
        <a:xfrm>
          <a:off x="0" y="0"/>
          <a:ext cx="0" cy="0"/>
          <a:chOff x="0" y="0"/>
          <a:chExt cx="0" cy="0"/>
        </a:xfrm>
      </p:grpSpPr>
      <p:sp>
        <p:nvSpPr>
          <p:cNvPr id="388" name="Rectangle"/>
          <p:cNvSpPr/>
          <p:nvPr/>
        </p:nvSpPr>
        <p:spPr>
          <a:xfrm>
            <a:off x="12700" y="1"/>
            <a:ext cx="24403050"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389" name="Rectangle"/>
          <p:cNvSpPr/>
          <p:nvPr/>
        </p:nvSpPr>
        <p:spPr>
          <a:xfrm>
            <a:off x="12700" y="12884153"/>
            <a:ext cx="24403050"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390"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399" name="Group"/>
          <p:cNvGrpSpPr/>
          <p:nvPr/>
        </p:nvGrpSpPr>
        <p:grpSpPr>
          <a:xfrm>
            <a:off x="23430479" y="13063804"/>
            <a:ext cx="356816" cy="489706"/>
            <a:chOff x="0" y="0"/>
            <a:chExt cx="356815" cy="489704"/>
          </a:xfrm>
        </p:grpSpPr>
        <p:sp>
          <p:nvSpPr>
            <p:cNvPr id="391"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92"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93"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94"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95"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96"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97"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398"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400" name="Title Text"/>
          <p:cNvSpPr txBox="1"/>
          <p:nvPr>
            <p:ph type="title"/>
          </p:nvPr>
        </p:nvSpPr>
        <p:spPr>
          <a:prstGeom prst="rect">
            <a:avLst/>
          </a:prstGeom>
        </p:spPr>
        <p:txBody>
          <a:bodyPr/>
          <a:lstStyle/>
          <a:p>
            <a:pPr/>
            <a:r>
              <a:t>Title Text</a:t>
            </a:r>
          </a:p>
        </p:txBody>
      </p:sp>
      <p:sp>
        <p:nvSpPr>
          <p:cNvPr id="40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Title and Content">
    <p:spTree>
      <p:nvGrpSpPr>
        <p:cNvPr id="1" name=""/>
        <p:cNvGrpSpPr/>
        <p:nvPr/>
      </p:nvGrpSpPr>
      <p:grpSpPr>
        <a:xfrm>
          <a:off x="0" y="0"/>
          <a:ext cx="0" cy="0"/>
          <a:chOff x="0" y="0"/>
          <a:chExt cx="0" cy="0"/>
        </a:xfrm>
      </p:grpSpPr>
      <p:sp>
        <p:nvSpPr>
          <p:cNvPr id="409" name="Rectangle"/>
          <p:cNvSpPr/>
          <p:nvPr/>
        </p:nvSpPr>
        <p:spPr>
          <a:xfrm>
            <a:off x="12700" y="1"/>
            <a:ext cx="24403050"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410" name="Rectangle"/>
          <p:cNvSpPr/>
          <p:nvPr/>
        </p:nvSpPr>
        <p:spPr>
          <a:xfrm>
            <a:off x="12700" y="12884153"/>
            <a:ext cx="24403050"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411"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420" name="Group"/>
          <p:cNvGrpSpPr/>
          <p:nvPr/>
        </p:nvGrpSpPr>
        <p:grpSpPr>
          <a:xfrm>
            <a:off x="23430479" y="13063804"/>
            <a:ext cx="356816" cy="489706"/>
            <a:chOff x="0" y="0"/>
            <a:chExt cx="356815" cy="489704"/>
          </a:xfrm>
        </p:grpSpPr>
        <p:sp>
          <p:nvSpPr>
            <p:cNvPr id="412"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413"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414"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415"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416"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417"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418"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419"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421" name="Title Text"/>
          <p:cNvSpPr txBox="1"/>
          <p:nvPr>
            <p:ph type="title"/>
          </p:nvPr>
        </p:nvSpPr>
        <p:spPr>
          <a:prstGeom prst="rect">
            <a:avLst/>
          </a:prstGeom>
        </p:spPr>
        <p:txBody>
          <a:bodyPr/>
          <a:lstStyle/>
          <a:p>
            <a:pPr/>
            <a:r>
              <a:t>Title Text</a:t>
            </a:r>
          </a:p>
        </p:txBody>
      </p:sp>
      <p:sp>
        <p:nvSpPr>
          <p:cNvPr id="422"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Title and Content">
    <p:spTree>
      <p:nvGrpSpPr>
        <p:cNvPr id="1" name=""/>
        <p:cNvGrpSpPr/>
        <p:nvPr/>
      </p:nvGrpSpPr>
      <p:grpSpPr>
        <a:xfrm>
          <a:off x="0" y="0"/>
          <a:ext cx="0" cy="0"/>
          <a:chOff x="0" y="0"/>
          <a:chExt cx="0" cy="0"/>
        </a:xfrm>
      </p:grpSpPr>
      <p:sp>
        <p:nvSpPr>
          <p:cNvPr id="430" name="Rectangle"/>
          <p:cNvSpPr/>
          <p:nvPr/>
        </p:nvSpPr>
        <p:spPr>
          <a:xfrm>
            <a:off x="12700" y="1"/>
            <a:ext cx="24403050"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431" name="Rectangle"/>
          <p:cNvSpPr/>
          <p:nvPr/>
        </p:nvSpPr>
        <p:spPr>
          <a:xfrm>
            <a:off x="12700" y="12884153"/>
            <a:ext cx="24403050"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432"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441" name="Group"/>
          <p:cNvGrpSpPr/>
          <p:nvPr/>
        </p:nvGrpSpPr>
        <p:grpSpPr>
          <a:xfrm>
            <a:off x="23430479" y="13063804"/>
            <a:ext cx="356816" cy="489706"/>
            <a:chOff x="0" y="0"/>
            <a:chExt cx="356815" cy="489704"/>
          </a:xfrm>
        </p:grpSpPr>
        <p:sp>
          <p:nvSpPr>
            <p:cNvPr id="433"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434"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435"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436"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437"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438"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439"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440"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442" name="Title Text"/>
          <p:cNvSpPr txBox="1"/>
          <p:nvPr>
            <p:ph type="title"/>
          </p:nvPr>
        </p:nvSpPr>
        <p:spPr>
          <a:prstGeom prst="rect">
            <a:avLst/>
          </a:prstGeom>
        </p:spPr>
        <p:txBody>
          <a:bodyPr/>
          <a:lstStyle/>
          <a:p>
            <a:pPr/>
            <a:r>
              <a:t>Title Text</a:t>
            </a:r>
          </a:p>
        </p:txBody>
      </p:sp>
      <p:sp>
        <p:nvSpPr>
          <p:cNvPr id="443"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4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451" name="Slide Number"/>
          <p:cNvSpPr txBox="1"/>
          <p:nvPr>
            <p:ph type="sldNum" sz="quarter" idx="2"/>
          </p:nvPr>
        </p:nvSpPr>
        <p:spPr>
          <a:xfrm>
            <a:off x="12058329" y="12934946"/>
            <a:ext cx="286411" cy="355601"/>
          </a:xfrm>
          <a:prstGeom prst="rect">
            <a:avLst/>
          </a:prstGeom>
        </p:spPr>
        <p:txBody>
          <a:bodyPr lIns="50800" tIns="50800" rIns="50800" bIns="50800"/>
          <a:lstStyle>
            <a:lvl1pPr defTabSz="1828800">
              <a:defRPr>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Title and Content">
    <p:spTree>
      <p:nvGrpSpPr>
        <p:cNvPr id="1" name=""/>
        <p:cNvGrpSpPr/>
        <p:nvPr/>
      </p:nvGrpSpPr>
      <p:grpSpPr>
        <a:xfrm>
          <a:off x="0" y="0"/>
          <a:ext cx="0" cy="0"/>
          <a:chOff x="0" y="0"/>
          <a:chExt cx="0" cy="0"/>
        </a:xfrm>
      </p:grpSpPr>
      <p:sp>
        <p:nvSpPr>
          <p:cNvPr id="458"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459"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460" name="© 2015 Adobe Systems Incorporat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2015 Adobe Systems Incorporated.</a:t>
            </a:r>
          </a:p>
        </p:txBody>
      </p:sp>
      <p:sp>
        <p:nvSpPr>
          <p:cNvPr id="461" name="Title Text"/>
          <p:cNvSpPr txBox="1"/>
          <p:nvPr>
            <p:ph type="title"/>
          </p:nvPr>
        </p:nvSpPr>
        <p:spPr>
          <a:xfrm>
            <a:off x="609600" y="0"/>
            <a:ext cx="23182917" cy="1558925"/>
          </a:xfrm>
          <a:prstGeom prst="rect">
            <a:avLst/>
          </a:prstGeom>
        </p:spPr>
        <p:txBody>
          <a:bodyPr lIns="50800" tIns="50800" rIns="50800" bIns="50800"/>
          <a:lstStyle>
            <a:lvl1pPr defTabSz="2176581"/>
          </a:lstStyle>
          <a:p>
            <a:pPr/>
            <a:r>
              <a:t>Title Text</a:t>
            </a:r>
          </a:p>
        </p:txBody>
      </p:sp>
      <p:sp>
        <p:nvSpPr>
          <p:cNvPr id="462" name="Body Level One…"/>
          <p:cNvSpPr txBox="1"/>
          <p:nvPr>
            <p:ph type="body" idx="1"/>
          </p:nvPr>
        </p:nvSpPr>
        <p:spPr>
          <a:xfrm>
            <a:off x="609600" y="1981200"/>
            <a:ext cx="23182917" cy="10363200"/>
          </a:xfrm>
          <a:prstGeom prst="rect">
            <a:avLst/>
          </a:prstGeom>
        </p:spPr>
        <p:txBody>
          <a:bodyPr lIns="50800" tIns="50800" rIns="50800" bIns="50800"/>
          <a:lstStyle>
            <a:lvl1pPr marL="275852" indent="-275852" defTabSz="2176581">
              <a:spcBef>
                <a:spcPts val="1400"/>
              </a:spcBef>
            </a:lvl1pPr>
            <a:lvl2pPr marL="551703" indent="-275852" defTabSz="2176581">
              <a:spcBef>
                <a:spcPts val="1400"/>
              </a:spcBef>
            </a:lvl2pPr>
            <a:lvl3pPr marL="751978" indent="-200275" defTabSz="2176581">
              <a:spcBef>
                <a:spcPts val="1400"/>
              </a:spcBef>
            </a:lvl3pPr>
            <a:lvl4pPr marL="950366" indent="-198387" defTabSz="2176581">
              <a:spcBef>
                <a:spcPts val="1400"/>
              </a:spcBef>
            </a:lvl4pPr>
            <a:lvl5pPr marL="1088290" indent="-137925" defTabSz="2176581">
              <a:spcBef>
                <a:spcPts val="1400"/>
              </a:spcBef>
            </a:lvl5pPr>
          </a:lstStyle>
          <a:p>
            <a:pPr/>
            <a:r>
              <a:t>Body Level One</a:t>
            </a:r>
          </a:p>
          <a:p>
            <a:pPr lvl="1"/>
            <a:r>
              <a:t>Body Level Two</a:t>
            </a:r>
          </a:p>
          <a:p>
            <a:pPr lvl="2"/>
            <a:r>
              <a:t>Body Level Three</a:t>
            </a:r>
          </a:p>
          <a:p>
            <a:pPr lvl="3"/>
            <a:r>
              <a:t>Body Level Four</a:t>
            </a:r>
          </a:p>
          <a:p>
            <a:pPr lvl="4"/>
            <a:r>
              <a:t>Body Level Five</a:t>
            </a:r>
          </a:p>
        </p:txBody>
      </p:sp>
      <p:sp>
        <p:nvSpPr>
          <p:cNvPr id="463" name="Slide Number"/>
          <p:cNvSpPr txBox="1"/>
          <p:nvPr>
            <p:ph type="sldNum" sz="quarter" idx="2"/>
          </p:nvPr>
        </p:nvSpPr>
        <p:spPr>
          <a:xfrm>
            <a:off x="12058329" y="12934946"/>
            <a:ext cx="286411" cy="355601"/>
          </a:xfrm>
          <a:prstGeom prst="rect">
            <a:avLst/>
          </a:prstGeom>
        </p:spPr>
        <p:txBody>
          <a:bodyPr lIns="50800" tIns="50800" rIns="50800" bIns="50800"/>
          <a:lstStyle>
            <a:lvl1pPr defTabSz="1828800"/>
          </a:lstStyle>
          <a:p>
            <a:pPr/>
            <a:fld id="{86CB4B4D-7CA3-9044-876B-883B54F8677D}" type="slidenum"/>
          </a:p>
        </p:txBody>
      </p:sp>
      <p:pic>
        <p:nvPicPr>
          <p:cNvPr id="464"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dobe Wide Title and Content">
    <p:spTree>
      <p:nvGrpSpPr>
        <p:cNvPr id="1" name=""/>
        <p:cNvGrpSpPr/>
        <p:nvPr/>
      </p:nvGrpSpPr>
      <p:grpSpPr>
        <a:xfrm>
          <a:off x="0" y="0"/>
          <a:ext cx="0" cy="0"/>
          <a:chOff x="0" y="0"/>
          <a:chExt cx="0" cy="0"/>
        </a:xfrm>
      </p:grpSpPr>
      <p:sp>
        <p:nvSpPr>
          <p:cNvPr id="471" name="Rectangle"/>
          <p:cNvSpPr/>
          <p:nvPr/>
        </p:nvSpPr>
        <p:spPr>
          <a:xfrm>
            <a:off x="12700" y="1"/>
            <a:ext cx="24403050" cy="1558928"/>
          </a:xfrm>
          <a:prstGeom prst="rect">
            <a:avLst/>
          </a:prstGeom>
          <a:solidFill>
            <a:srgbClr val="475560"/>
          </a:solidFill>
          <a:ln w="50800"/>
        </p:spPr>
        <p:txBody>
          <a:bodyPr lIns="101600" tIns="101600" rIns="101600" bIns="101600" anchor="ctr"/>
          <a:lstStyle/>
          <a:p>
            <a:pPr algn="ctr">
              <a:buClr>
                <a:srgbClr val="FFFFFF"/>
              </a:buClr>
              <a:defRPr>
                <a:solidFill>
                  <a:srgbClr val="FFFFFF"/>
                </a:solidFill>
                <a:uFill>
                  <a:solidFill>
                    <a:srgbClr val="FFFFFF"/>
                  </a:solidFill>
                </a:uFill>
              </a:defRPr>
            </a:pPr>
          </a:p>
        </p:txBody>
      </p:sp>
      <p:sp>
        <p:nvSpPr>
          <p:cNvPr id="472" name="Rectangle"/>
          <p:cNvSpPr/>
          <p:nvPr/>
        </p:nvSpPr>
        <p:spPr>
          <a:xfrm>
            <a:off x="12700" y="12884153"/>
            <a:ext cx="24403050" cy="831851"/>
          </a:xfrm>
          <a:prstGeom prst="rect">
            <a:avLst/>
          </a:prstGeom>
          <a:solidFill>
            <a:srgbClr val="475560"/>
          </a:solidFill>
          <a:ln w="50800"/>
        </p:spPr>
        <p:txBody>
          <a:bodyPr lIns="101600" tIns="101600" rIns="101600" bIns="101600" anchor="ctr"/>
          <a:lstStyle/>
          <a:p>
            <a:pPr algn="ctr">
              <a:buClr>
                <a:srgbClr val="FFFFFF"/>
              </a:buClr>
              <a:defRPr>
                <a:solidFill>
                  <a:srgbClr val="FFFFFF"/>
                </a:solidFill>
                <a:uFill>
                  <a:solidFill>
                    <a:srgbClr val="FFFFFF"/>
                  </a:solidFill>
                </a:uFill>
              </a:defRPr>
            </a:pPr>
          </a:p>
        </p:txBody>
      </p:sp>
      <p:sp>
        <p:nvSpPr>
          <p:cNvPr id="473"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482" name="Group"/>
          <p:cNvGrpSpPr/>
          <p:nvPr/>
        </p:nvGrpSpPr>
        <p:grpSpPr>
          <a:xfrm>
            <a:off x="23430479" y="13063804"/>
            <a:ext cx="356816" cy="489706"/>
            <a:chOff x="0" y="0"/>
            <a:chExt cx="356815" cy="489704"/>
          </a:xfrm>
        </p:grpSpPr>
        <p:sp>
          <p:nvSpPr>
            <p:cNvPr id="474"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a:buClrTx/>
              </a:pPr>
            </a:p>
          </p:txBody>
        </p:sp>
        <p:sp>
          <p:nvSpPr>
            <p:cNvPr id="475"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a:buClrTx/>
              </a:pPr>
            </a:p>
          </p:txBody>
        </p:sp>
        <p:sp>
          <p:nvSpPr>
            <p:cNvPr id="476"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a:buClrTx/>
              </a:pPr>
            </a:p>
          </p:txBody>
        </p:sp>
        <p:sp>
          <p:nvSpPr>
            <p:cNvPr id="477"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a:buClrTx/>
              </a:pPr>
            </a:p>
          </p:txBody>
        </p:sp>
        <p:sp>
          <p:nvSpPr>
            <p:cNvPr id="478"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a:buClrTx/>
              </a:pPr>
            </a:p>
          </p:txBody>
        </p:sp>
        <p:sp>
          <p:nvSpPr>
            <p:cNvPr id="479"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a:buClrTx/>
              </a:pPr>
            </a:p>
          </p:txBody>
        </p:sp>
        <p:sp>
          <p:nvSpPr>
            <p:cNvPr id="480"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a:buClrTx/>
              </a:pPr>
            </a:p>
          </p:txBody>
        </p:sp>
        <p:sp>
          <p:nvSpPr>
            <p:cNvPr id="481"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a:buClrTx/>
              </a:pPr>
            </a:p>
          </p:txBody>
        </p:sp>
      </p:grpSp>
      <p:sp>
        <p:nvSpPr>
          <p:cNvPr id="483" name="Title Text"/>
          <p:cNvSpPr txBox="1"/>
          <p:nvPr>
            <p:ph type="title"/>
          </p:nvPr>
        </p:nvSpPr>
        <p:spPr>
          <a:prstGeom prst="rect">
            <a:avLst/>
          </a:prstGeom>
        </p:spPr>
        <p:txBody>
          <a:bodyPr/>
          <a:lstStyle>
            <a:lvl1pPr defTabSz="2176582"/>
          </a:lstStyle>
          <a:p>
            <a:pPr/>
            <a:r>
              <a:t>Title Text</a:t>
            </a:r>
          </a:p>
        </p:txBody>
      </p:sp>
      <p:sp>
        <p:nvSpPr>
          <p:cNvPr id="484" name="Body Level One…"/>
          <p:cNvSpPr txBox="1"/>
          <p:nvPr>
            <p:ph type="body" idx="1"/>
          </p:nvPr>
        </p:nvSpPr>
        <p:spPr>
          <a:prstGeom prst="rect">
            <a:avLst/>
          </a:prstGeom>
        </p:spPr>
        <p:txBody>
          <a:bodyPr/>
          <a:lstStyle>
            <a:lvl1pPr defTabSz="2176582">
              <a:spcBef>
                <a:spcPts val="1400"/>
              </a:spcBef>
            </a:lvl1pPr>
            <a:lvl2pPr defTabSz="2176582">
              <a:spcBef>
                <a:spcPts val="1400"/>
              </a:spcBef>
            </a:lvl2pPr>
            <a:lvl3pPr defTabSz="2176582">
              <a:spcBef>
                <a:spcPts val="1400"/>
              </a:spcBef>
            </a:lvl3pPr>
            <a:lvl4pPr defTabSz="2176582">
              <a:spcBef>
                <a:spcPts val="1400"/>
              </a:spcBef>
            </a:lvl4pPr>
            <a:lvl5pPr defTabSz="2176582">
              <a:spcBef>
                <a:spcPts val="1400"/>
              </a:spcBef>
            </a:lvl5pPr>
          </a:lstStyle>
          <a:p>
            <a:pPr/>
            <a:r>
              <a:t>Body Level One</a:t>
            </a:r>
          </a:p>
          <a:p>
            <a:pPr lvl="1"/>
            <a:r>
              <a:t>Body Level Two</a:t>
            </a:r>
          </a:p>
          <a:p>
            <a:pPr lvl="2"/>
            <a:r>
              <a:t>Body Level Three</a:t>
            </a:r>
          </a:p>
          <a:p>
            <a:pPr lvl="3"/>
            <a:r>
              <a:t>Body Level Four</a:t>
            </a:r>
          </a:p>
          <a:p>
            <a:pPr lvl="4"/>
            <a:r>
              <a:t>Body Level Five</a:t>
            </a:r>
          </a:p>
        </p:txBody>
      </p:sp>
      <p:sp>
        <p:nvSpPr>
          <p:cNvPr id="485" name="Slide Number"/>
          <p:cNvSpPr txBox="1"/>
          <p:nvPr>
            <p:ph type="sldNum" sz="quarter" idx="2"/>
          </p:nvPr>
        </p:nvSpPr>
        <p:spPr>
          <a:xfrm>
            <a:off x="12007519" y="12833346"/>
            <a:ext cx="388012" cy="457201"/>
          </a:xfrm>
          <a:prstGeom prst="rect">
            <a:avLst/>
          </a:prstGeom>
        </p:spPr>
        <p:txBody>
          <a:bodyPr anchor="b"/>
          <a:lstStyle>
            <a:lvl1pPr defTabSz="1828800"/>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Rectangle"/>
          <p:cNvSpPr/>
          <p:nvPr/>
        </p:nvSpPr>
        <p:spPr>
          <a:xfrm>
            <a:off x="-12697" y="1"/>
            <a:ext cx="24428447"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3" name="Rectangle"/>
          <p:cNvSpPr/>
          <p:nvPr/>
        </p:nvSpPr>
        <p:spPr>
          <a:xfrm>
            <a:off x="-31749" y="12884153"/>
            <a:ext cx="24447499"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4"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13" name="Group"/>
          <p:cNvGrpSpPr/>
          <p:nvPr/>
        </p:nvGrpSpPr>
        <p:grpSpPr>
          <a:xfrm>
            <a:off x="23430479" y="13063804"/>
            <a:ext cx="356816" cy="489706"/>
            <a:chOff x="0" y="0"/>
            <a:chExt cx="356815" cy="489704"/>
          </a:xfrm>
        </p:grpSpPr>
        <p:sp>
          <p:nvSpPr>
            <p:cNvPr id="5"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6"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7"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8"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9"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0"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1"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2"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14" name="Title Text"/>
          <p:cNvSpPr txBox="1"/>
          <p:nvPr>
            <p:ph type="title"/>
          </p:nvPr>
        </p:nvSpPr>
        <p:spPr>
          <a:xfrm>
            <a:off x="622141" y="0"/>
            <a:ext cx="23158769" cy="1558925"/>
          </a:xfrm>
          <a:prstGeom prst="rect">
            <a:avLst/>
          </a:prstGeom>
          <a:ln w="12700"/>
          <a:extLst>
            <a:ext uri="{C572A759-6A51-4108-AA02-DFA0A04FC94B}">
              <ma14:wrappingTextBoxFlag xmlns:ma14="http://schemas.microsoft.com/office/mac/drawingml/2011/main" val="1"/>
            </a:ext>
          </a:extLst>
        </p:spPr>
        <p:txBody>
          <a:bodyPr lIns="101600" tIns="101600" rIns="101600" bIns="101600" anchor="ctr"/>
          <a:lstStyle/>
          <a:p>
            <a:pPr/>
            <a:r>
              <a:t>Title Text</a:t>
            </a:r>
          </a:p>
        </p:txBody>
      </p:sp>
      <p:sp>
        <p:nvSpPr>
          <p:cNvPr id="15" name="Body Level One…"/>
          <p:cNvSpPr txBox="1"/>
          <p:nvPr>
            <p:ph type="body" idx="1"/>
          </p:nvPr>
        </p:nvSpPr>
        <p:spPr>
          <a:xfrm>
            <a:off x="622141" y="1981200"/>
            <a:ext cx="23158769" cy="10363200"/>
          </a:xfrm>
          <a:prstGeom prst="rect">
            <a:avLst/>
          </a:prstGeom>
          <a:ln w="12700"/>
          <a:extLst>
            <a:ext uri="{C572A759-6A51-4108-AA02-DFA0A04FC94B}">
              <ma14:wrappingTextBoxFlag xmlns:ma14="http://schemas.microsoft.com/office/mac/drawingml/2011/main" val="1"/>
            </a:ext>
          </a:extLst>
        </p:spPr>
        <p:txBody>
          <a:bodyPr lIns="101600" tIns="101600" rIns="101600" bIns="101600"/>
          <a:lstStyle>
            <a:lvl3pPr marL="952254" indent="-400551">
              <a:defRPr sz="3600"/>
            </a:lvl3pPr>
            <a:lvl4pPr marL="1148753" indent="-396774">
              <a:defRPr sz="3600"/>
            </a:lvl4pPr>
            <a:lvl5pPr marL="1226216" indent="-275851">
              <a:defRPr sz="2800"/>
            </a:lvl5pPr>
          </a:lstStyle>
          <a:p>
            <a:pPr/>
            <a:r>
              <a:t>Body Level One</a:t>
            </a:r>
          </a:p>
          <a:p>
            <a:pPr lvl="1"/>
            <a:r>
              <a:t>Body Level Two</a:t>
            </a:r>
          </a:p>
          <a:p>
            <a:pPr lvl="2"/>
            <a:r>
              <a:t>Body Level Three</a:t>
            </a:r>
          </a:p>
          <a:p>
            <a:pPr lvl="3"/>
            <a:r>
              <a:t>Body Level Four</a:t>
            </a:r>
          </a:p>
          <a:p>
            <a:pPr lvl="4"/>
            <a:r>
              <a:t>Body Level Five</a:t>
            </a:r>
          </a:p>
        </p:txBody>
      </p:sp>
      <p:sp>
        <p:nvSpPr>
          <p:cNvPr id="16" name="Slide Number"/>
          <p:cNvSpPr txBox="1"/>
          <p:nvPr>
            <p:ph type="sldNum" sz="quarter" idx="2"/>
          </p:nvPr>
        </p:nvSpPr>
        <p:spPr>
          <a:xfrm>
            <a:off x="12007519" y="12858746"/>
            <a:ext cx="388012" cy="457201"/>
          </a:xfrm>
          <a:prstGeom prst="rect">
            <a:avLst/>
          </a:prstGeom>
          <a:ln w="12700"/>
        </p:spPr>
        <p:txBody>
          <a:bodyPr wrap="none" lIns="101600" tIns="101600" rIns="101600" bIns="101600" anchor="ctr">
            <a:spAutoFit/>
          </a:bodyPr>
          <a:lstStyle>
            <a:lvl1pPr algn="ctr" defTabSz="914400">
              <a:buClrTx/>
              <a:defRPr sz="1600">
                <a:solidFill>
                  <a:srgbClr val="FFFFFF"/>
                </a:solidFill>
                <a:uFill>
                  <a:solidFill>
                    <a:srgbClr val="FFFFFF"/>
                  </a:solidFill>
                </a:u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transition xmlns:p14="http://schemas.microsoft.com/office/powerpoint/2010/main" spd="med" advClick="1"/>
  <p:txStyles>
    <p:titleStyle>
      <a:lvl1pPr marL="0" marR="0" indent="0" algn="l" defTabSz="1088291" latinLnBrk="0">
        <a:lnSpc>
          <a:spcPct val="100000"/>
        </a:lnSpc>
        <a:spcBef>
          <a:spcPts val="0"/>
        </a:spcBef>
        <a:spcAft>
          <a:spcPts val="0"/>
        </a:spcAft>
        <a:buClrTx/>
        <a:buSzTx/>
        <a:buFontTx/>
        <a:buNone/>
        <a:tabLst/>
        <a:defRPr b="0" baseline="0" cap="none" i="0" spc="0" strike="noStrike" sz="4800" u="none">
          <a:solidFill>
            <a:srgbClr val="E1E4E6"/>
          </a:solidFill>
          <a:uFill>
            <a:solidFill>
              <a:srgbClr val="E1E4E6"/>
            </a:solidFill>
          </a:uFill>
          <a:latin typeface="+mn-lt"/>
          <a:ea typeface="+mn-ea"/>
          <a:cs typeface="+mn-cs"/>
          <a:sym typeface="Adobe Clean"/>
        </a:defRPr>
      </a:lvl1pPr>
      <a:lvl2pPr marL="0" marR="0" indent="228600" algn="l" defTabSz="1088291" latinLnBrk="0">
        <a:lnSpc>
          <a:spcPct val="100000"/>
        </a:lnSpc>
        <a:spcBef>
          <a:spcPts val="0"/>
        </a:spcBef>
        <a:spcAft>
          <a:spcPts val="0"/>
        </a:spcAft>
        <a:buClrTx/>
        <a:buSzTx/>
        <a:buFontTx/>
        <a:buNone/>
        <a:tabLst/>
        <a:defRPr b="0" baseline="0" cap="none" i="0" spc="0" strike="noStrike" sz="4800" u="none">
          <a:solidFill>
            <a:srgbClr val="E1E4E6"/>
          </a:solidFill>
          <a:uFill>
            <a:solidFill>
              <a:srgbClr val="E1E4E6"/>
            </a:solidFill>
          </a:uFill>
          <a:latin typeface="+mn-lt"/>
          <a:ea typeface="+mn-ea"/>
          <a:cs typeface="+mn-cs"/>
          <a:sym typeface="Adobe Clean"/>
        </a:defRPr>
      </a:lvl2pPr>
      <a:lvl3pPr marL="0" marR="0" indent="457200" algn="l" defTabSz="1088291" latinLnBrk="0">
        <a:lnSpc>
          <a:spcPct val="100000"/>
        </a:lnSpc>
        <a:spcBef>
          <a:spcPts val="0"/>
        </a:spcBef>
        <a:spcAft>
          <a:spcPts val="0"/>
        </a:spcAft>
        <a:buClrTx/>
        <a:buSzTx/>
        <a:buFontTx/>
        <a:buNone/>
        <a:tabLst/>
        <a:defRPr b="0" baseline="0" cap="none" i="0" spc="0" strike="noStrike" sz="4800" u="none">
          <a:solidFill>
            <a:srgbClr val="E1E4E6"/>
          </a:solidFill>
          <a:uFill>
            <a:solidFill>
              <a:srgbClr val="E1E4E6"/>
            </a:solidFill>
          </a:uFill>
          <a:latin typeface="+mn-lt"/>
          <a:ea typeface="+mn-ea"/>
          <a:cs typeface="+mn-cs"/>
          <a:sym typeface="Adobe Clean"/>
        </a:defRPr>
      </a:lvl3pPr>
      <a:lvl4pPr marL="0" marR="0" indent="685800" algn="l" defTabSz="1088291" latinLnBrk="0">
        <a:lnSpc>
          <a:spcPct val="100000"/>
        </a:lnSpc>
        <a:spcBef>
          <a:spcPts val="0"/>
        </a:spcBef>
        <a:spcAft>
          <a:spcPts val="0"/>
        </a:spcAft>
        <a:buClrTx/>
        <a:buSzTx/>
        <a:buFontTx/>
        <a:buNone/>
        <a:tabLst/>
        <a:defRPr b="0" baseline="0" cap="none" i="0" spc="0" strike="noStrike" sz="4800" u="none">
          <a:solidFill>
            <a:srgbClr val="E1E4E6"/>
          </a:solidFill>
          <a:uFill>
            <a:solidFill>
              <a:srgbClr val="E1E4E6"/>
            </a:solidFill>
          </a:uFill>
          <a:latin typeface="+mn-lt"/>
          <a:ea typeface="+mn-ea"/>
          <a:cs typeface="+mn-cs"/>
          <a:sym typeface="Adobe Clean"/>
        </a:defRPr>
      </a:lvl4pPr>
      <a:lvl5pPr marL="0" marR="0" indent="914400" algn="l" defTabSz="1088291" latinLnBrk="0">
        <a:lnSpc>
          <a:spcPct val="100000"/>
        </a:lnSpc>
        <a:spcBef>
          <a:spcPts val="0"/>
        </a:spcBef>
        <a:spcAft>
          <a:spcPts val="0"/>
        </a:spcAft>
        <a:buClrTx/>
        <a:buSzTx/>
        <a:buFontTx/>
        <a:buNone/>
        <a:tabLst/>
        <a:defRPr b="0" baseline="0" cap="none" i="0" spc="0" strike="noStrike" sz="4800" u="none">
          <a:solidFill>
            <a:srgbClr val="E1E4E6"/>
          </a:solidFill>
          <a:uFill>
            <a:solidFill>
              <a:srgbClr val="E1E4E6"/>
            </a:solidFill>
          </a:uFill>
          <a:latin typeface="+mn-lt"/>
          <a:ea typeface="+mn-ea"/>
          <a:cs typeface="+mn-cs"/>
          <a:sym typeface="Adobe Clean"/>
        </a:defRPr>
      </a:lvl5pPr>
      <a:lvl6pPr marL="0" marR="0" indent="1143000" algn="l" defTabSz="1088291" latinLnBrk="0">
        <a:lnSpc>
          <a:spcPct val="100000"/>
        </a:lnSpc>
        <a:spcBef>
          <a:spcPts val="0"/>
        </a:spcBef>
        <a:spcAft>
          <a:spcPts val="0"/>
        </a:spcAft>
        <a:buClrTx/>
        <a:buSzTx/>
        <a:buFontTx/>
        <a:buNone/>
        <a:tabLst/>
        <a:defRPr b="0" baseline="0" cap="none" i="0" spc="0" strike="noStrike" sz="4800" u="none">
          <a:solidFill>
            <a:srgbClr val="E1E4E6"/>
          </a:solidFill>
          <a:uFill>
            <a:solidFill>
              <a:srgbClr val="E1E4E6"/>
            </a:solidFill>
          </a:uFill>
          <a:latin typeface="+mn-lt"/>
          <a:ea typeface="+mn-ea"/>
          <a:cs typeface="+mn-cs"/>
          <a:sym typeface="Adobe Clean"/>
        </a:defRPr>
      </a:lvl6pPr>
      <a:lvl7pPr marL="0" marR="0" indent="1371600" algn="l" defTabSz="1088291" latinLnBrk="0">
        <a:lnSpc>
          <a:spcPct val="100000"/>
        </a:lnSpc>
        <a:spcBef>
          <a:spcPts val="0"/>
        </a:spcBef>
        <a:spcAft>
          <a:spcPts val="0"/>
        </a:spcAft>
        <a:buClrTx/>
        <a:buSzTx/>
        <a:buFontTx/>
        <a:buNone/>
        <a:tabLst/>
        <a:defRPr b="0" baseline="0" cap="none" i="0" spc="0" strike="noStrike" sz="4800" u="none">
          <a:solidFill>
            <a:srgbClr val="E1E4E6"/>
          </a:solidFill>
          <a:uFill>
            <a:solidFill>
              <a:srgbClr val="E1E4E6"/>
            </a:solidFill>
          </a:uFill>
          <a:latin typeface="+mn-lt"/>
          <a:ea typeface="+mn-ea"/>
          <a:cs typeface="+mn-cs"/>
          <a:sym typeface="Adobe Clean"/>
        </a:defRPr>
      </a:lvl7pPr>
      <a:lvl8pPr marL="0" marR="0" indent="1600200" algn="l" defTabSz="1088291" latinLnBrk="0">
        <a:lnSpc>
          <a:spcPct val="100000"/>
        </a:lnSpc>
        <a:spcBef>
          <a:spcPts val="0"/>
        </a:spcBef>
        <a:spcAft>
          <a:spcPts val="0"/>
        </a:spcAft>
        <a:buClrTx/>
        <a:buSzTx/>
        <a:buFontTx/>
        <a:buNone/>
        <a:tabLst/>
        <a:defRPr b="0" baseline="0" cap="none" i="0" spc="0" strike="noStrike" sz="4800" u="none">
          <a:solidFill>
            <a:srgbClr val="E1E4E6"/>
          </a:solidFill>
          <a:uFill>
            <a:solidFill>
              <a:srgbClr val="E1E4E6"/>
            </a:solidFill>
          </a:uFill>
          <a:latin typeface="+mn-lt"/>
          <a:ea typeface="+mn-ea"/>
          <a:cs typeface="+mn-cs"/>
          <a:sym typeface="Adobe Clean"/>
        </a:defRPr>
      </a:lvl8pPr>
      <a:lvl9pPr marL="0" marR="0" indent="1828800" algn="l" defTabSz="1088291" latinLnBrk="0">
        <a:lnSpc>
          <a:spcPct val="100000"/>
        </a:lnSpc>
        <a:spcBef>
          <a:spcPts val="0"/>
        </a:spcBef>
        <a:spcAft>
          <a:spcPts val="0"/>
        </a:spcAft>
        <a:buClrTx/>
        <a:buSzTx/>
        <a:buFontTx/>
        <a:buNone/>
        <a:tabLst/>
        <a:defRPr b="0" baseline="0" cap="none" i="0" spc="0" strike="noStrike" sz="4800" u="none">
          <a:solidFill>
            <a:srgbClr val="E1E4E6"/>
          </a:solidFill>
          <a:uFill>
            <a:solidFill>
              <a:srgbClr val="E1E4E6"/>
            </a:solidFill>
          </a:uFill>
          <a:latin typeface="+mn-lt"/>
          <a:ea typeface="+mn-ea"/>
          <a:cs typeface="+mn-cs"/>
          <a:sym typeface="Adobe Clean"/>
        </a:defRPr>
      </a:lvl9pPr>
    </p:titleStyle>
    <p:bodyStyle>
      <a:lvl1pPr marL="551704" marR="0" indent="-551704" algn="l" defTabSz="1088291" latinLnBrk="0">
        <a:lnSpc>
          <a:spcPct val="100000"/>
        </a:lnSpc>
        <a:spcBef>
          <a:spcPts val="700"/>
        </a:spcBef>
        <a:spcAft>
          <a:spcPts val="0"/>
        </a:spcAft>
        <a:buClr>
          <a:srgbClr val="FDBD42"/>
        </a:buClr>
        <a:buSzPct val="70000"/>
        <a:buFontTx/>
        <a:buChar char=""/>
        <a:tabLst/>
        <a:defRPr b="0" baseline="0" cap="none" i="0" spc="0" strike="noStrike" sz="4000" u="none">
          <a:solidFill>
            <a:srgbClr val="000000"/>
          </a:solidFill>
          <a:uFill>
            <a:solidFill>
              <a:srgbClr val="000000"/>
            </a:solidFill>
          </a:uFill>
          <a:latin typeface="+mn-lt"/>
          <a:ea typeface="+mn-ea"/>
          <a:cs typeface="+mn-cs"/>
          <a:sym typeface="Adobe Clean"/>
        </a:defRPr>
      </a:lvl1pPr>
      <a:lvl2pPr marL="827555" marR="0" indent="-551704" algn="l" defTabSz="1088291" latinLnBrk="0">
        <a:lnSpc>
          <a:spcPct val="100000"/>
        </a:lnSpc>
        <a:spcBef>
          <a:spcPts val="700"/>
        </a:spcBef>
        <a:spcAft>
          <a:spcPts val="0"/>
        </a:spcAft>
        <a:buClr>
          <a:srgbClr val="FDBD42"/>
        </a:buClr>
        <a:buSzPct val="70000"/>
        <a:buFontTx/>
        <a:buChar char=""/>
        <a:tabLst/>
        <a:defRPr b="0" baseline="0" cap="none" i="0" spc="0" strike="noStrike" sz="4000" u="none">
          <a:solidFill>
            <a:srgbClr val="000000"/>
          </a:solidFill>
          <a:uFill>
            <a:solidFill>
              <a:srgbClr val="000000"/>
            </a:solidFill>
          </a:uFill>
          <a:latin typeface="+mn-lt"/>
          <a:ea typeface="+mn-ea"/>
          <a:cs typeface="+mn-cs"/>
          <a:sym typeface="Adobe Clean"/>
        </a:defRPr>
      </a:lvl2pPr>
      <a:lvl3pPr marL="996760" marR="0" indent="-445057" algn="l" defTabSz="1088291" latinLnBrk="0">
        <a:lnSpc>
          <a:spcPct val="100000"/>
        </a:lnSpc>
        <a:spcBef>
          <a:spcPts val="700"/>
        </a:spcBef>
        <a:spcAft>
          <a:spcPts val="0"/>
        </a:spcAft>
        <a:buClr>
          <a:srgbClr val="FDBD42"/>
        </a:buClr>
        <a:buSzPct val="70000"/>
        <a:buFontTx/>
        <a:buChar char=""/>
        <a:tabLst/>
        <a:defRPr b="0" baseline="0" cap="none" i="0" spc="0" strike="noStrike" sz="4000" u="none">
          <a:solidFill>
            <a:srgbClr val="000000"/>
          </a:solidFill>
          <a:uFill>
            <a:solidFill>
              <a:srgbClr val="000000"/>
            </a:solidFill>
          </a:uFill>
          <a:latin typeface="+mn-lt"/>
          <a:ea typeface="+mn-ea"/>
          <a:cs typeface="+mn-cs"/>
          <a:sym typeface="Adobe Clean"/>
        </a:defRPr>
      </a:lvl3pPr>
      <a:lvl4pPr marL="1192839" marR="0" indent="-440860" algn="l" defTabSz="1088291" latinLnBrk="0">
        <a:lnSpc>
          <a:spcPct val="100000"/>
        </a:lnSpc>
        <a:spcBef>
          <a:spcPts val="700"/>
        </a:spcBef>
        <a:spcAft>
          <a:spcPts val="0"/>
        </a:spcAft>
        <a:buClr>
          <a:srgbClr val="FDBD42"/>
        </a:buClr>
        <a:buSzPct val="70000"/>
        <a:buFontTx/>
        <a:buChar char=""/>
        <a:tabLst/>
        <a:defRPr b="0" baseline="0" cap="none" i="0" spc="0" strike="noStrike" sz="4000" u="none">
          <a:solidFill>
            <a:srgbClr val="000000"/>
          </a:solidFill>
          <a:uFill>
            <a:solidFill>
              <a:srgbClr val="000000"/>
            </a:solidFill>
          </a:uFill>
          <a:latin typeface="+mn-lt"/>
          <a:ea typeface="+mn-ea"/>
          <a:cs typeface="+mn-cs"/>
          <a:sym typeface="Adobe Clean"/>
        </a:defRPr>
      </a:lvl4pPr>
      <a:lvl5pPr marL="1344439" marR="0" indent="-394074" algn="l" defTabSz="1088291" latinLnBrk="0">
        <a:lnSpc>
          <a:spcPct val="100000"/>
        </a:lnSpc>
        <a:spcBef>
          <a:spcPts val="700"/>
        </a:spcBef>
        <a:spcAft>
          <a:spcPts val="0"/>
        </a:spcAft>
        <a:buClr>
          <a:srgbClr val="FDBD42"/>
        </a:buClr>
        <a:buSzPct val="70000"/>
        <a:buFontTx/>
        <a:buChar char=""/>
        <a:tabLst/>
        <a:defRPr b="0" baseline="0" cap="none" i="0" spc="0" strike="noStrike" sz="4000" u="none">
          <a:solidFill>
            <a:srgbClr val="000000"/>
          </a:solidFill>
          <a:uFill>
            <a:solidFill>
              <a:srgbClr val="000000"/>
            </a:solidFill>
          </a:uFill>
          <a:latin typeface="+mn-lt"/>
          <a:ea typeface="+mn-ea"/>
          <a:cs typeface="+mn-cs"/>
          <a:sym typeface="Adobe Clean"/>
        </a:defRPr>
      </a:lvl5pPr>
      <a:lvl6pPr marL="4083956" marR="0" indent="-1632856" algn="l" defTabSz="1088291" latinLnBrk="0">
        <a:lnSpc>
          <a:spcPct val="100000"/>
        </a:lnSpc>
        <a:spcBef>
          <a:spcPts val="700"/>
        </a:spcBef>
        <a:spcAft>
          <a:spcPts val="0"/>
        </a:spcAft>
        <a:buClr>
          <a:srgbClr val="FDBD42"/>
        </a:buClr>
        <a:buSzPct val="171000"/>
        <a:buFontTx/>
        <a:buChar char=""/>
        <a:tabLst/>
        <a:defRPr b="0" baseline="0" cap="none" i="0" spc="0" strike="noStrike" sz="4000" u="none">
          <a:solidFill>
            <a:srgbClr val="000000"/>
          </a:solidFill>
          <a:uFill>
            <a:solidFill>
              <a:srgbClr val="000000"/>
            </a:solidFill>
          </a:uFill>
          <a:latin typeface="+mn-lt"/>
          <a:ea typeface="+mn-ea"/>
          <a:cs typeface="+mn-cs"/>
          <a:sym typeface="Adobe Clean"/>
        </a:defRPr>
      </a:lvl6pPr>
      <a:lvl7pPr marL="4439556" marR="0" indent="-1632856" algn="l" defTabSz="1088291" latinLnBrk="0">
        <a:lnSpc>
          <a:spcPct val="100000"/>
        </a:lnSpc>
        <a:spcBef>
          <a:spcPts val="700"/>
        </a:spcBef>
        <a:spcAft>
          <a:spcPts val="0"/>
        </a:spcAft>
        <a:buClr>
          <a:srgbClr val="FDBD42"/>
        </a:buClr>
        <a:buSzPct val="171000"/>
        <a:buFontTx/>
        <a:buChar char=""/>
        <a:tabLst/>
        <a:defRPr b="0" baseline="0" cap="none" i="0" spc="0" strike="noStrike" sz="4000" u="none">
          <a:solidFill>
            <a:srgbClr val="000000"/>
          </a:solidFill>
          <a:uFill>
            <a:solidFill>
              <a:srgbClr val="000000"/>
            </a:solidFill>
          </a:uFill>
          <a:latin typeface="+mn-lt"/>
          <a:ea typeface="+mn-ea"/>
          <a:cs typeface="+mn-cs"/>
          <a:sym typeface="Adobe Clean"/>
        </a:defRPr>
      </a:lvl7pPr>
      <a:lvl8pPr marL="4795156" marR="0" indent="-1632856" algn="l" defTabSz="1088291" latinLnBrk="0">
        <a:lnSpc>
          <a:spcPct val="100000"/>
        </a:lnSpc>
        <a:spcBef>
          <a:spcPts val="700"/>
        </a:spcBef>
        <a:spcAft>
          <a:spcPts val="0"/>
        </a:spcAft>
        <a:buClr>
          <a:srgbClr val="FDBD42"/>
        </a:buClr>
        <a:buSzPct val="171000"/>
        <a:buFontTx/>
        <a:buChar char=""/>
        <a:tabLst/>
        <a:defRPr b="0" baseline="0" cap="none" i="0" spc="0" strike="noStrike" sz="4000" u="none">
          <a:solidFill>
            <a:srgbClr val="000000"/>
          </a:solidFill>
          <a:uFill>
            <a:solidFill>
              <a:srgbClr val="000000"/>
            </a:solidFill>
          </a:uFill>
          <a:latin typeface="+mn-lt"/>
          <a:ea typeface="+mn-ea"/>
          <a:cs typeface="+mn-cs"/>
          <a:sym typeface="Adobe Clean"/>
        </a:defRPr>
      </a:lvl8pPr>
      <a:lvl9pPr marL="5150756" marR="0" indent="-1632856" algn="l" defTabSz="1088291" latinLnBrk="0">
        <a:lnSpc>
          <a:spcPct val="100000"/>
        </a:lnSpc>
        <a:spcBef>
          <a:spcPts val="700"/>
        </a:spcBef>
        <a:spcAft>
          <a:spcPts val="0"/>
        </a:spcAft>
        <a:buClr>
          <a:srgbClr val="FDBD42"/>
        </a:buClr>
        <a:buSzPct val="171000"/>
        <a:buFontTx/>
        <a:buChar char=""/>
        <a:tabLst/>
        <a:defRPr b="0" baseline="0" cap="none" i="0" spc="0" strike="noStrike" sz="4000" u="none">
          <a:solidFill>
            <a:srgbClr val="000000"/>
          </a:solidFill>
          <a:uFill>
            <a:solidFill>
              <a:srgbClr val="000000"/>
            </a:solidFill>
          </a:uFill>
          <a:latin typeface="+mn-lt"/>
          <a:ea typeface="+mn-ea"/>
          <a:cs typeface="+mn-cs"/>
          <a:sym typeface="Adobe Clean"/>
        </a:defRPr>
      </a:lvl9pPr>
    </p:bodyStyle>
    <p:otherStyle>
      <a:lvl1pPr marL="0" marR="0" indent="0" algn="ctr" defTabSz="914400" latinLnBrk="0">
        <a:lnSpc>
          <a:spcPct val="100000"/>
        </a:lnSpc>
        <a:spcBef>
          <a:spcPts val="0"/>
        </a:spcBef>
        <a:spcAft>
          <a:spcPts val="0"/>
        </a:spcAft>
        <a:buClrTx/>
        <a:buSzTx/>
        <a:buFontTx/>
        <a:buNone/>
        <a:tabLst/>
        <a:defRPr b="0" baseline="0" cap="none" i="0" spc="0" strike="noStrike" sz="1600" u="none">
          <a:solidFill>
            <a:schemeClr val="tx1"/>
          </a:solidFill>
          <a:uFill>
            <a:solidFill>
              <a:srgbClr val="FFFFFF"/>
            </a:solidFill>
          </a:uFill>
          <a:latin typeface="+mn-lt"/>
          <a:ea typeface="+mn-ea"/>
          <a:cs typeface="+mn-cs"/>
          <a:sym typeface="Adobe Clean"/>
        </a:defRPr>
      </a:lvl1pPr>
      <a:lvl2pPr marL="0" marR="0" indent="0" algn="ctr" defTabSz="914400" latinLnBrk="0">
        <a:lnSpc>
          <a:spcPct val="100000"/>
        </a:lnSpc>
        <a:spcBef>
          <a:spcPts val="0"/>
        </a:spcBef>
        <a:spcAft>
          <a:spcPts val="0"/>
        </a:spcAft>
        <a:buClrTx/>
        <a:buSzTx/>
        <a:buFontTx/>
        <a:buNone/>
        <a:tabLst/>
        <a:defRPr b="0" baseline="0" cap="none" i="0" spc="0" strike="noStrike" sz="1600" u="none">
          <a:solidFill>
            <a:schemeClr val="tx1"/>
          </a:solidFill>
          <a:uFill>
            <a:solidFill>
              <a:srgbClr val="FFFFFF"/>
            </a:solidFill>
          </a:uFill>
          <a:latin typeface="+mn-lt"/>
          <a:ea typeface="+mn-ea"/>
          <a:cs typeface="+mn-cs"/>
          <a:sym typeface="Adobe Clean"/>
        </a:defRPr>
      </a:lvl2pPr>
      <a:lvl3pPr marL="0" marR="0" indent="0" algn="ctr" defTabSz="914400" latinLnBrk="0">
        <a:lnSpc>
          <a:spcPct val="100000"/>
        </a:lnSpc>
        <a:spcBef>
          <a:spcPts val="0"/>
        </a:spcBef>
        <a:spcAft>
          <a:spcPts val="0"/>
        </a:spcAft>
        <a:buClrTx/>
        <a:buSzTx/>
        <a:buFontTx/>
        <a:buNone/>
        <a:tabLst/>
        <a:defRPr b="0" baseline="0" cap="none" i="0" spc="0" strike="noStrike" sz="1600" u="none">
          <a:solidFill>
            <a:schemeClr val="tx1"/>
          </a:solidFill>
          <a:uFill>
            <a:solidFill>
              <a:srgbClr val="FFFFFF"/>
            </a:solidFill>
          </a:uFill>
          <a:latin typeface="+mn-lt"/>
          <a:ea typeface="+mn-ea"/>
          <a:cs typeface="+mn-cs"/>
          <a:sym typeface="Adobe Clean"/>
        </a:defRPr>
      </a:lvl3pPr>
      <a:lvl4pPr marL="0" marR="0" indent="0" algn="ctr" defTabSz="914400" latinLnBrk="0">
        <a:lnSpc>
          <a:spcPct val="100000"/>
        </a:lnSpc>
        <a:spcBef>
          <a:spcPts val="0"/>
        </a:spcBef>
        <a:spcAft>
          <a:spcPts val="0"/>
        </a:spcAft>
        <a:buClrTx/>
        <a:buSzTx/>
        <a:buFontTx/>
        <a:buNone/>
        <a:tabLst/>
        <a:defRPr b="0" baseline="0" cap="none" i="0" spc="0" strike="noStrike" sz="1600" u="none">
          <a:solidFill>
            <a:schemeClr val="tx1"/>
          </a:solidFill>
          <a:uFill>
            <a:solidFill>
              <a:srgbClr val="FFFFFF"/>
            </a:solidFill>
          </a:uFill>
          <a:latin typeface="+mn-lt"/>
          <a:ea typeface="+mn-ea"/>
          <a:cs typeface="+mn-cs"/>
          <a:sym typeface="Adobe Clean"/>
        </a:defRPr>
      </a:lvl4pPr>
      <a:lvl5pPr marL="0" marR="0" indent="0" algn="ctr" defTabSz="914400" latinLnBrk="0">
        <a:lnSpc>
          <a:spcPct val="100000"/>
        </a:lnSpc>
        <a:spcBef>
          <a:spcPts val="0"/>
        </a:spcBef>
        <a:spcAft>
          <a:spcPts val="0"/>
        </a:spcAft>
        <a:buClrTx/>
        <a:buSzTx/>
        <a:buFontTx/>
        <a:buNone/>
        <a:tabLst/>
        <a:defRPr b="0" baseline="0" cap="none" i="0" spc="0" strike="noStrike" sz="1600" u="none">
          <a:solidFill>
            <a:schemeClr val="tx1"/>
          </a:solidFill>
          <a:uFill>
            <a:solidFill>
              <a:srgbClr val="FFFFFF"/>
            </a:solidFill>
          </a:uFill>
          <a:latin typeface="+mn-lt"/>
          <a:ea typeface="+mn-ea"/>
          <a:cs typeface="+mn-cs"/>
          <a:sym typeface="Adobe Clean"/>
        </a:defRPr>
      </a:lvl5pPr>
      <a:lvl6pPr marL="0" marR="0" indent="0" algn="ctr" defTabSz="914400" latinLnBrk="0">
        <a:lnSpc>
          <a:spcPct val="100000"/>
        </a:lnSpc>
        <a:spcBef>
          <a:spcPts val="0"/>
        </a:spcBef>
        <a:spcAft>
          <a:spcPts val="0"/>
        </a:spcAft>
        <a:buClrTx/>
        <a:buSzTx/>
        <a:buFontTx/>
        <a:buNone/>
        <a:tabLst/>
        <a:defRPr b="0" baseline="0" cap="none" i="0" spc="0" strike="noStrike" sz="1600" u="none">
          <a:solidFill>
            <a:schemeClr val="tx1"/>
          </a:solidFill>
          <a:uFill>
            <a:solidFill>
              <a:srgbClr val="FFFFFF"/>
            </a:solidFill>
          </a:uFill>
          <a:latin typeface="+mn-lt"/>
          <a:ea typeface="+mn-ea"/>
          <a:cs typeface="+mn-cs"/>
          <a:sym typeface="Adobe Clean"/>
        </a:defRPr>
      </a:lvl6pPr>
      <a:lvl7pPr marL="0" marR="0" indent="0" algn="ctr" defTabSz="914400" latinLnBrk="0">
        <a:lnSpc>
          <a:spcPct val="100000"/>
        </a:lnSpc>
        <a:spcBef>
          <a:spcPts val="0"/>
        </a:spcBef>
        <a:spcAft>
          <a:spcPts val="0"/>
        </a:spcAft>
        <a:buClrTx/>
        <a:buSzTx/>
        <a:buFontTx/>
        <a:buNone/>
        <a:tabLst/>
        <a:defRPr b="0" baseline="0" cap="none" i="0" spc="0" strike="noStrike" sz="1600" u="none">
          <a:solidFill>
            <a:schemeClr val="tx1"/>
          </a:solidFill>
          <a:uFill>
            <a:solidFill>
              <a:srgbClr val="FFFFFF"/>
            </a:solidFill>
          </a:uFill>
          <a:latin typeface="+mn-lt"/>
          <a:ea typeface="+mn-ea"/>
          <a:cs typeface="+mn-cs"/>
          <a:sym typeface="Adobe Clean"/>
        </a:defRPr>
      </a:lvl7pPr>
      <a:lvl8pPr marL="0" marR="0" indent="0" algn="ctr" defTabSz="914400" latinLnBrk="0">
        <a:lnSpc>
          <a:spcPct val="100000"/>
        </a:lnSpc>
        <a:spcBef>
          <a:spcPts val="0"/>
        </a:spcBef>
        <a:spcAft>
          <a:spcPts val="0"/>
        </a:spcAft>
        <a:buClrTx/>
        <a:buSzTx/>
        <a:buFontTx/>
        <a:buNone/>
        <a:tabLst/>
        <a:defRPr b="0" baseline="0" cap="none" i="0" spc="0" strike="noStrike" sz="1600" u="none">
          <a:solidFill>
            <a:schemeClr val="tx1"/>
          </a:solidFill>
          <a:uFill>
            <a:solidFill>
              <a:srgbClr val="FFFFFF"/>
            </a:solidFill>
          </a:uFill>
          <a:latin typeface="+mn-lt"/>
          <a:ea typeface="+mn-ea"/>
          <a:cs typeface="+mn-cs"/>
          <a:sym typeface="Adobe Clean"/>
        </a:defRPr>
      </a:lvl8pPr>
      <a:lvl9pPr marL="0" marR="0" indent="0" algn="ctr" defTabSz="914400" latinLnBrk="0">
        <a:lnSpc>
          <a:spcPct val="100000"/>
        </a:lnSpc>
        <a:spcBef>
          <a:spcPts val="0"/>
        </a:spcBef>
        <a:spcAft>
          <a:spcPts val="0"/>
        </a:spcAft>
        <a:buClrTx/>
        <a:buSzTx/>
        <a:buFontTx/>
        <a:buNone/>
        <a:tabLst/>
        <a:defRPr b="0" baseline="0" cap="none" i="0" spc="0" strike="noStrike" sz="1600" u="none">
          <a:solidFill>
            <a:schemeClr val="tx1"/>
          </a:solidFill>
          <a:uFill>
            <a:solidFill>
              <a:srgbClr val="FFFFFF"/>
            </a:solidFill>
          </a:uFill>
          <a:latin typeface="+mn-lt"/>
          <a:ea typeface="+mn-ea"/>
          <a:cs typeface="+mn-cs"/>
          <a:sym typeface="Adobe Clean"/>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6.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chart" Target="../charts/chart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hyperlink" Target="http://en.wikipedia.org/wiki/Amdahl%27s_law" TargetMode="External"/><Relationship Id="rId6" Type="http://schemas.openxmlformats.org/officeDocument/2006/relationships/image" Target="../media/image10.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1.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3.png"/><Relationship Id="rId3" Type="http://schemas.openxmlformats.org/officeDocument/2006/relationships/image" Target="../media/image15.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6.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7.png"/><Relationship Id="rId3" Type="http://schemas.openxmlformats.org/officeDocument/2006/relationships/slide" Target="slide50.xml"/><Relationship Id="rId4" Type="http://schemas.openxmlformats.org/officeDocument/2006/relationships/image" Target="../media/image18.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hyperlink" Target="http://docs.oracle.com/cd/E19253-01/816-5137/ggedn/index.html" TargetMode="External"/><Relationship Id="rId5" Type="http://schemas.openxmlformats.org/officeDocument/2006/relationships/image" Target="../media/image19.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0.png"/><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19.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23.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24.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0.png"/><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25.png"/></Relationships>

</file>

<file path=ppt/slides/_rels/slide4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4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4.png"/></Relationships>

</file>

<file path=ppt/slides/_rels/slide45.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25.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46.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21.png"/></Relationships>

</file>

<file path=ppt/slides/_rels/slide47.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48.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49.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26.png"/><Relationship Id="rId3" Type="http://schemas.openxmlformats.org/officeDocument/2006/relationships/slide" Target="slide50.xml"/><Relationship Id="rId4" Type="http://schemas.openxmlformats.org/officeDocument/2006/relationships/image" Target="../media/image27.png"/></Relationships>

</file>

<file path=ppt/slides/_rels/slide50.xml.rels><?xml version="1.0" encoding="UTF-8"?>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s>

</file>

<file path=ppt/slides/_rels/slide51.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5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5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35.png"/></Relationships>

</file>

<file path=ppt/slides/_rels/slide5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55.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56.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3.png"/></Relationships>

</file>

<file path=ppt/slides/_rels/slide57.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58.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59.xml.rels><?xml version="1.0" encoding="UTF-8"?>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45.png"/><Relationship Id="rId9" Type="http://schemas.openxmlformats.org/officeDocument/2006/relationships/image" Target="../media/image46.png"/><Relationship Id="rId10" Type="http://schemas.openxmlformats.org/officeDocument/2006/relationships/image" Target="../media/image47.png"/><Relationship Id="rId11" Type="http://schemas.openxmlformats.org/officeDocument/2006/relationships/image" Target="../media/image48.png"/><Relationship Id="rId12" Type="http://schemas.openxmlformats.org/officeDocument/2006/relationships/image" Target="../media/image49.png"/></Relationships>

</file>

<file path=ppt/slides/_rels/slide60.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61.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50.png"/></Relationships>

</file>

<file path=ppt/slides/_rels/slide62.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6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49.png"/></Relationships>

</file>

<file path=ppt/slides/_rels/slide6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54.png"/><Relationship Id="rId3" Type="http://schemas.openxmlformats.org/officeDocument/2006/relationships/image" Target="../media/image3.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49.png"/></Relationships>

</file>

<file path=ppt/slides/_rels/slide65.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66.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55.png"/><Relationship Id="rId3" Type="http://schemas.openxmlformats.org/officeDocument/2006/relationships/hyperlink" Target="https://developer.apple.com/library/content/documentation/General/Conceptual/ConcurrencyProgrammingGuide/OperationQueues/OperationQueues.html" TargetMode="External"/></Relationships>

</file>

<file path=ppt/slides/_rels/slide67.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68.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s>

</file>

<file path=ppt/slides/_rels/slide69.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56.png"/></Relationships>

</file>

<file path=ppt/slides/_rels/slide70.xml.rels><?xml version="1.0" encoding="UTF-8"?>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0.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s>

</file>

<file path=ppt/slides/_rels/slide71.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7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64.png"/></Relationships>

</file>

<file path=ppt/slides/_rels/slide73.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 Id="rId3" Type="http://schemas.openxmlformats.org/officeDocument/2006/relationships/image" Target="../media/image65.png"/></Relationships>

</file>

<file path=ppt/slides/_rels/slide7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75.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3.png"/><Relationship Id="rId4" Type="http://schemas.openxmlformats.org/officeDocument/2006/relationships/image" Target="../media/image66.png"/></Relationships>

</file>

<file path=ppt/slides/_rels/slide76.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s>

</file>

<file path=ppt/slides/_rels/slide77.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78.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s>

</file>

<file path=ppt/slides/_rels/slide79.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image" Target="../media/image71.png"/><Relationship Id="rId8" Type="http://schemas.openxmlformats.org/officeDocument/2006/relationships/image" Target="../media/image72.png"/></Relationships>

</file>

<file path=ppt/slides/_rels/slide80.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6.xml"/></Relationships>

</file>

<file path=ppt/slides/_rels/slide81.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7.xml"/></Relationships>

</file>

<file path=ppt/slides/_rels/slide8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3.png"/></Relationships>

</file>

<file path=ppt/slides/_rels/slide8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s>

</file>

<file path=ppt/slides/_rels/slide8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hyperlink" Target="https://github.com/stlab/libraries/tree/develop" TargetMode="External"/><Relationship Id="rId3" Type="http://schemas.openxmlformats.org/officeDocument/2006/relationships/image" Target="../media/image3.png"/></Relationships>

</file>

<file path=ppt/slides/_rels/slide85.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77.png"/><Relationship Id="rId4" Type="http://schemas.openxmlformats.org/officeDocument/2006/relationships/image" Target="../media/image78.png"/></Relationships>

</file>

<file path=ppt/slides/_rels/slide86.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64.png"/><Relationship Id="rId3" Type="http://schemas.openxmlformats.org/officeDocument/2006/relationships/image" Target="../media/image3.png"/><Relationship Id="rId4" Type="http://schemas.openxmlformats.org/officeDocument/2006/relationships/image" Target="../media/image79.png"/></Relationships>

</file>

<file path=ppt/slides/_rels/slide87.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80.png"/><Relationship Id="rId3" Type="http://schemas.openxmlformats.org/officeDocument/2006/relationships/slide" Target="slide103.xml"/><Relationship Id="rId4" Type="http://schemas.openxmlformats.org/officeDocument/2006/relationships/image" Target="../media/image81.png"/></Relationships>

</file>

<file path=ppt/slides/_rels/slide88.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9.xml"/></Relationships>

</file>

<file path=ppt/slides/_rels/slide89.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0.xml"/></Relationships>

</file>

<file path=ppt/slides/_rels/slide90.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1.xml"/></Relationships>

</file>

<file path=ppt/slides/_rels/slide91.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2.xml"/></Relationships>

</file>

<file path=ppt/slides/_rels/slide92.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3.xml"/></Relationships>

</file>

<file path=ppt/slides/_rels/slide93.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4.xml"/></Relationships>

</file>

<file path=ppt/slides/_rels/slide94.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5.xml"/></Relationships>

</file>

<file path=ppt/slides/_rels/slide95.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6.xml"/></Relationships>

</file>

<file path=ppt/slides/_rels/slide96.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7.xml"/></Relationships>

</file>

<file path=ppt/slides/_rels/slide97.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8.xml"/><Relationship Id="rId3" Type="http://schemas.openxmlformats.org/officeDocument/2006/relationships/image" Target="../media/image24.png"/></Relationships>

</file>

<file path=ppt/slides/_rels/slide98.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64.png"/><Relationship Id="rId3" Type="http://schemas.openxmlformats.org/officeDocument/2006/relationships/image" Target="../media/image3.png"/><Relationship Id="rId4" Type="http://schemas.openxmlformats.org/officeDocument/2006/relationships/image" Target="../media/image79.png"/></Relationships>

</file>

<file path=ppt/slides/_rels/slide99.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9.xml"/></Relationships>

</file>

<file path=ppt/slides/_rels/slide100.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0.xml"/></Relationships>

</file>

<file path=ppt/slides/_rels/slide101.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102.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10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104.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82.png"/></Relationships>

</file>

<file path=ppt/slides/_rels/slide105.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106.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107.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1.xml"/></Relationships>

</file>

<file path=ppt/slides/_rels/slide108.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2.xml"/></Relationships>

</file>

<file path=ppt/slides/_rels/slide109.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83.png"/><Relationship Id="rId3" Type="http://schemas.openxmlformats.org/officeDocument/2006/relationships/image" Target="../media/image84.png"/></Relationships>

</file>

<file path=ppt/slides/_rels/slide110.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83.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s>

</file>

<file path=ppt/slides/_rels/slide111.xml.rels><?xml version="1.0" encoding="UTF-8"?>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3.xml"/><Relationship Id="rId3" Type="http://schemas.openxmlformats.org/officeDocument/2006/relationships/image" Target="../media/image7.png"/></Relationships>

</file>

<file path=ppt/slides/_rels/slide112.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4.xml"/></Relationships>

</file>

<file path=ppt/slides/_rels/slide113.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5.xml"/></Relationships>

</file>

<file path=ppt/slides/_rels/slide114.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115.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116.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117.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118.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89.png"/></Relationships>

</file>

<file path=ppt/slides/_rels/slide119.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120.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90.png"/></Relationships>

</file>

<file path=ppt/slides/_rels/slide121.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122.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91.png"/></Relationships>

</file>

<file path=ppt/slides/_rels/slide123.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92.png"/></Relationships>

</file>

<file path=ppt/slides/_rels/slide124.xml.rels><?xml version="1.0" encoding="UTF-8"?>
<Relationships xmlns="http://schemas.openxmlformats.org/package/2006/relationships"><Relationship Id="rId1" Type="http://schemas.openxmlformats.org/officeDocument/2006/relationships/slideLayout" Target="../slideLayouts/slideLayout21.xml"/></Relationships>

</file>

<file path=ppt/slides/_rels/slide125.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6.xml"/></Relationships>

</file>

<file path=ppt/slides/_rels/slide126.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hyperlink" Target="http://sean-parent.stlab.cc/papers-and-presentations.html" TargetMode="External"/><Relationship Id="rId3" Type="http://schemas.openxmlformats.org/officeDocument/2006/relationships/hyperlink" Target="https://github.com/stlab/libraries/tree/develop" TargetMode="External"/><Relationship Id="rId4" Type="http://schemas.openxmlformats.org/officeDocument/2006/relationships/hyperlink" Target="http://usingcsp.com/cspbook.pdf" TargetMode="External"/></Relationships>

</file>

<file path=ppt/slides/_rels/slide127.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4" name="Better Code: Concurrency"/>
          <p:cNvSpPr txBox="1"/>
          <p:nvPr>
            <p:ph type="title"/>
          </p:nvPr>
        </p:nvSpPr>
        <p:spPr>
          <a:prstGeom prst="rect">
            <a:avLst/>
          </a:prstGeom>
        </p:spPr>
        <p:txBody>
          <a:bodyPr/>
          <a:lstStyle/>
          <a:p>
            <a:pPr/>
            <a:r>
              <a:t>Better Code: Concurrency</a:t>
            </a:r>
          </a:p>
        </p:txBody>
      </p:sp>
      <p:sp>
        <p:nvSpPr>
          <p:cNvPr id="495" name="Sean Parent  |  Principal Scientist"/>
          <p:cNvSpPr txBox="1"/>
          <p:nvPr>
            <p:ph type="body" sz="quarter" idx="1"/>
          </p:nvPr>
        </p:nvSpPr>
        <p:spPr>
          <a:prstGeom prst="rect">
            <a:avLst/>
          </a:prstGeom>
        </p:spPr>
        <p:txBody>
          <a:bodyPr/>
          <a:lstStyle/>
          <a:p>
            <a:pPr/>
            <a:r>
              <a:t>Sean Parent  |  Principal Scientist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9"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500"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501"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502" name="Better Code"/>
          <p:cNvSpPr txBox="1"/>
          <p:nvPr>
            <p:ph type="title"/>
          </p:nvPr>
        </p:nvSpPr>
        <p:spPr>
          <a:xfrm>
            <a:off x="609600" y="368300"/>
            <a:ext cx="23182917" cy="822325"/>
          </a:xfrm>
          <a:prstGeom prst="rect">
            <a:avLst/>
          </a:prstGeom>
        </p:spPr>
        <p:txBody>
          <a:bodyPr/>
          <a:lstStyle>
            <a:lvl1pPr>
              <a:defRPr sz="4200"/>
            </a:lvl1pPr>
          </a:lstStyle>
          <a:p>
            <a:pPr/>
            <a:r>
              <a:t>Better Code</a:t>
            </a:r>
          </a:p>
        </p:txBody>
      </p:sp>
      <p:sp>
        <p:nvSpPr>
          <p:cNvPr id="503" name="Regular Type…"/>
          <p:cNvSpPr txBox="1"/>
          <p:nvPr>
            <p:ph type="body" idx="1"/>
          </p:nvPr>
        </p:nvSpPr>
        <p:spPr>
          <a:xfrm>
            <a:off x="553547" y="1900723"/>
            <a:ext cx="23182918" cy="10363201"/>
          </a:xfrm>
          <a:prstGeom prst="rect">
            <a:avLst/>
          </a:prstGeom>
        </p:spPr>
        <p:txBody>
          <a:bodyPr/>
          <a:lstStyle/>
          <a:p>
            <a:pPr/>
            <a:r>
              <a:t>Regular Type</a:t>
            </a:r>
          </a:p>
          <a:p>
            <a:pPr lvl="1"/>
            <a:r>
              <a:t>Goal: Implement Complete and Efficient Types </a:t>
            </a:r>
          </a:p>
          <a:p>
            <a:pPr/>
            <a:r>
              <a:t>Algorithms</a:t>
            </a:r>
          </a:p>
          <a:p>
            <a:pPr lvl="1"/>
            <a:r>
              <a:t>Goal: No Raw Loops</a:t>
            </a:r>
          </a:p>
          <a:p>
            <a:pPr/>
            <a:r>
              <a:t>Data Structures</a:t>
            </a:r>
          </a:p>
          <a:p>
            <a:pPr lvl="1"/>
            <a:r>
              <a:t>Goal: No Incidental Data Structures</a:t>
            </a:r>
          </a:p>
          <a:p>
            <a:pPr/>
            <a:r>
              <a:t>Runtime Polymorphism</a:t>
            </a:r>
          </a:p>
          <a:p>
            <a:pPr lvl="1"/>
            <a:r>
              <a:t>Goal: No Inheritance</a:t>
            </a:r>
          </a:p>
          <a:p>
            <a:pPr/>
            <a:r>
              <a:t>Concurrency</a:t>
            </a:r>
          </a:p>
          <a:p>
            <a:pPr lvl="1"/>
            <a:r>
              <a:t>Goal: No Raw Synchronization Primitives</a:t>
            </a:r>
          </a:p>
          <a:p>
            <a:pPr/>
            <a:r>
              <a:t>…</a:t>
            </a:r>
          </a:p>
        </p:txBody>
      </p:sp>
      <p:sp>
        <p:nvSpPr>
          <p:cNvPr id="504"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05"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
        <p:nvSpPr>
          <p:cNvPr id="506" name="Arrow"/>
          <p:cNvSpPr/>
          <p:nvPr/>
        </p:nvSpPr>
        <p:spPr>
          <a:xfrm rot="10800000">
            <a:off x="10211946" y="8143947"/>
            <a:ext cx="2701728" cy="1270001"/>
          </a:xfrm>
          <a:prstGeom prst="rightArrow">
            <a:avLst>
              <a:gd name="adj1" fmla="val 32000"/>
              <a:gd name="adj2" fmla="val 64000"/>
            </a:avLst>
          </a:prstGeom>
          <a:blipFill>
            <a:blip r:embed="rId4"/>
          </a:blipFill>
          <a:ln w="12700">
            <a:miter lim="400000"/>
          </a:ln>
          <a:effectLst>
            <a:outerShdw sx="100000" sy="100000" kx="0" ky="0" algn="b" rotWithShape="0" blurRad="38100" dist="25400" dir="5400000">
              <a:srgbClr val="000000">
                <a:alpha val="50000"/>
              </a:srgbClr>
            </a:outerShdw>
          </a:effectLst>
        </p:spPr>
        <p:txBody>
          <a:bodyPr lIns="50800" tIns="50800" rIns="50800" bIns="50800" anchor="ctr"/>
          <a:lstStyle/>
          <a:p>
            <a:pP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5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06" grpId="1"/>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0"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511"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512"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513" name="Common Themes"/>
          <p:cNvSpPr txBox="1"/>
          <p:nvPr>
            <p:ph type="title"/>
          </p:nvPr>
        </p:nvSpPr>
        <p:spPr>
          <a:xfrm>
            <a:off x="609600" y="368300"/>
            <a:ext cx="23182917" cy="822325"/>
          </a:xfrm>
          <a:prstGeom prst="rect">
            <a:avLst/>
          </a:prstGeom>
        </p:spPr>
        <p:txBody>
          <a:bodyPr/>
          <a:lstStyle>
            <a:lvl1pPr>
              <a:defRPr sz="4200"/>
            </a:lvl1pPr>
          </a:lstStyle>
          <a:p>
            <a:pPr/>
            <a:r>
              <a:t>Common Themes</a:t>
            </a:r>
          </a:p>
        </p:txBody>
      </p:sp>
      <p:sp>
        <p:nvSpPr>
          <p:cNvPr id="514" name="Manage Relationships…"/>
          <p:cNvSpPr txBox="1"/>
          <p:nvPr>
            <p:ph type="body" idx="1"/>
          </p:nvPr>
        </p:nvSpPr>
        <p:spPr>
          <a:prstGeom prst="rect">
            <a:avLst/>
          </a:prstGeom>
        </p:spPr>
        <p:txBody>
          <a:bodyPr/>
          <a:lstStyle/>
          <a:p>
            <a:pPr/>
            <a:r>
              <a:t>Manage Relationships</a:t>
            </a:r>
          </a:p>
          <a:p>
            <a:pPr/>
            <a:r>
              <a:t>Understand the Fundamentals</a:t>
            </a:r>
          </a:p>
          <a:p>
            <a:pPr/>
            <a:r>
              <a:t>Code Simply</a:t>
            </a:r>
          </a:p>
          <a:p>
            <a:pPr/>
            <a:r>
              <a:t>Local and Equational Reasoning</a:t>
            </a:r>
          </a:p>
        </p:txBody>
      </p:sp>
      <p:sp>
        <p:nvSpPr>
          <p:cNvPr id="515"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16"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20" name="Image" descr="Image"/>
          <p:cNvPicPr>
            <a:picLocks noChangeAspect="1"/>
          </p:cNvPicPr>
          <p:nvPr/>
        </p:nvPicPr>
        <p:blipFill>
          <a:blip r:embed="rId3">
            <a:extLst/>
          </a:blip>
          <a:stretch>
            <a:fillRect/>
          </a:stretch>
        </p:blipFill>
        <p:spPr>
          <a:xfrm>
            <a:off x="1804700" y="0"/>
            <a:ext cx="20774601" cy="13716000"/>
          </a:xfrm>
          <a:prstGeom prst="rect">
            <a:avLst/>
          </a:prstGeom>
          <a:ln w="12700">
            <a:miter lim="400000"/>
          </a:ln>
        </p:spPr>
      </p:pic>
    </p:spTree>
  </p:cSld>
  <p:clrMapOvr>
    <a:masterClrMapping/>
  </p:clrMapOvr>
  <p:transition xmlns:p14="http://schemas.microsoft.com/office/powerpoint/2010/main" spd="fast"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24" name="Image" descr="Image"/>
          <p:cNvPicPr>
            <a:picLocks noChangeAspect="1"/>
          </p:cNvPicPr>
          <p:nvPr/>
        </p:nvPicPr>
        <p:blipFill>
          <a:blip r:embed="rId3">
            <a:extLst/>
          </a:blip>
          <a:stretch>
            <a:fillRect/>
          </a:stretch>
        </p:blipFill>
        <p:spPr>
          <a:xfrm>
            <a:off x="1804700" y="0"/>
            <a:ext cx="20774601" cy="13716000"/>
          </a:xfrm>
          <a:prstGeom prst="rect">
            <a:avLst/>
          </a:prstGeom>
          <a:ln w="12700">
            <a:miter lim="400000"/>
          </a:ln>
        </p:spPr>
      </p:pic>
    </p:spTree>
  </p:cSld>
  <p:clrMapOvr>
    <a:masterClrMapping/>
  </p:clrMapOvr>
  <p:transition xmlns:p14="http://schemas.microsoft.com/office/powerpoint/2010/main" spd="slow"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8" name="Double-click to edit"/>
          <p:cNvSpPr txBox="1"/>
          <p:nvPr>
            <p:ph type="title"/>
          </p:nvPr>
        </p:nvSpPr>
        <p:spPr>
          <a:prstGeom prst="rect">
            <a:avLst/>
          </a:prstGeom>
        </p:spPr>
        <p:txBody>
          <a:bodyPr lIns="76200" tIns="76200" rIns="76200" bIns="76200"/>
          <a:lstStyle/>
          <a:p>
            <a:pPr>
              <a:defRPr sz="4000"/>
            </a:pPr>
          </a:p>
        </p:txBody>
      </p:sp>
      <p:sp>
        <p:nvSpPr>
          <p:cNvPr id="529" name="Demo"/>
          <p:cNvSpPr txBox="1"/>
          <p:nvPr>
            <p:ph type="body" idx="1"/>
          </p:nvPr>
        </p:nvSpPr>
        <p:spPr>
          <a:prstGeom prst="rect">
            <a:avLst/>
          </a:prstGeom>
        </p:spPr>
        <p:txBody>
          <a:bodyPr lIns="76200" tIns="76200" rIns="76200" bIns="76200"/>
          <a:lstStyle>
            <a:lvl1pPr marL="0" indent="0" algn="ctr" defTabSz="914400">
              <a:lnSpc>
                <a:spcPts val="12200"/>
              </a:lnSpc>
              <a:spcBef>
                <a:spcPts val="0"/>
              </a:spcBef>
              <a:buClr>
                <a:srgbClr val="E1E4E6"/>
              </a:buClr>
              <a:buSzTx/>
              <a:buFont typeface="Wingdings"/>
              <a:buNone/>
              <a:defRPr sz="7200"/>
            </a:lvl1pPr>
          </a:lstStyle>
          <a:p>
            <a:pPr/>
            <a:r>
              <a:t>Demo</a:t>
            </a:r>
          </a:p>
        </p:txBody>
      </p:sp>
      <p:sp>
        <p:nvSpPr>
          <p:cNvPr id="530"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slow"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4"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535"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536"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537" name="Concurrency"/>
          <p:cNvSpPr txBox="1"/>
          <p:nvPr>
            <p:ph type="title"/>
          </p:nvPr>
        </p:nvSpPr>
        <p:spPr>
          <a:xfrm>
            <a:off x="609600" y="368300"/>
            <a:ext cx="23182917" cy="822325"/>
          </a:xfrm>
          <a:prstGeom prst="rect">
            <a:avLst/>
          </a:prstGeom>
        </p:spPr>
        <p:txBody>
          <a:bodyPr/>
          <a:lstStyle>
            <a:lvl1pPr>
              <a:defRPr sz="4200"/>
            </a:lvl1pPr>
          </a:lstStyle>
          <a:p>
            <a:pPr/>
            <a:r>
              <a:t>Concurrency</a:t>
            </a:r>
          </a:p>
        </p:txBody>
      </p:sp>
      <p:sp>
        <p:nvSpPr>
          <p:cNvPr id="538" name="Concurrency: when tasks start, run, and complete in overlapping time periods…"/>
          <p:cNvSpPr txBox="1"/>
          <p:nvPr>
            <p:ph type="body" idx="1"/>
          </p:nvPr>
        </p:nvSpPr>
        <p:spPr>
          <a:prstGeom prst="rect">
            <a:avLst/>
          </a:prstGeom>
        </p:spPr>
        <p:txBody>
          <a:bodyPr/>
          <a:lstStyle/>
          <a:p>
            <a:pPr/>
            <a:r>
              <a:t>Concurrency: when tasks start, run, and complete in overlapping time periods</a:t>
            </a:r>
          </a:p>
          <a:p>
            <a:pPr/>
            <a:r>
              <a:t>Parallelism: when two or more tasks execute simultaneously</a:t>
            </a:r>
          </a:p>
          <a:p>
            <a:pPr/>
          </a:p>
          <a:p>
            <a:pPr/>
            <a:r>
              <a:t>Why?</a:t>
            </a:r>
          </a:p>
          <a:p>
            <a:pPr lvl="1"/>
            <a:r>
              <a:t>Enable performance through parallelism</a:t>
            </a:r>
          </a:p>
          <a:p>
            <a:pPr lvl="1"/>
            <a:r>
              <a:t>Improve interactivity by handling user actions concurrent with processing and IO</a:t>
            </a:r>
          </a:p>
        </p:txBody>
      </p:sp>
      <p:sp>
        <p:nvSpPr>
          <p:cNvPr id="539"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540"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
        <p:nvSpPr>
          <p:cNvPr id="541" name="http://docs.oracle.com/cd/E19455-01/806-5257/6je9h032b/index.html"/>
          <p:cNvSpPr txBox="1"/>
          <p:nvPr/>
        </p:nvSpPr>
        <p:spPr>
          <a:xfrm>
            <a:off x="19692859" y="12468226"/>
            <a:ext cx="4398875" cy="292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200"/>
            </a:lvl1pPr>
          </a:lstStyle>
          <a:p>
            <a:pPr/>
            <a:r>
              <a:t>http://docs.oracle.com/cd/E19455-01/806-5257/6je9h032b/index.html</a:t>
            </a:r>
          </a:p>
        </p:txBody>
      </p:sp>
    </p:spTree>
  </p:cSld>
  <p:clrMapOvr>
    <a:masterClrMapping/>
  </p:clrMapOvr>
  <p:transition xmlns:p14="http://schemas.microsoft.com/office/powerpoint/2010/main" spd="fast"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5" name="Goal: No Raw Synchronization Primitives"/>
          <p:cNvSpPr txBox="1"/>
          <p:nvPr>
            <p:ph type="body" idx="1"/>
          </p:nvPr>
        </p:nvSpPr>
        <p:spPr>
          <a:prstGeom prst="rect">
            <a:avLst/>
          </a:prstGeom>
        </p:spPr>
        <p:txBody>
          <a:bodyPr lIns="76200" tIns="76200" rIns="76200" bIns="76200"/>
          <a:lstStyle>
            <a:lvl1pPr marL="0" indent="0" algn="ctr" defTabSz="914400">
              <a:lnSpc>
                <a:spcPts val="12200"/>
              </a:lnSpc>
              <a:spcBef>
                <a:spcPts val="0"/>
              </a:spcBef>
              <a:buClr>
                <a:srgbClr val="E1E4E6"/>
              </a:buClr>
              <a:buSzTx/>
              <a:buFont typeface="Wingdings"/>
              <a:buNone/>
              <a:defRPr sz="7200"/>
            </a:lvl1pPr>
          </a:lstStyle>
          <a:p>
            <a:pPr/>
            <a:r>
              <a:t>Goal: No Raw Synchronization Primitives</a:t>
            </a:r>
          </a:p>
        </p:txBody>
      </p:sp>
      <p:sp>
        <p:nvSpPr>
          <p:cNvPr id="546"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8" name="What are raw synchronization primitives?"/>
          <p:cNvSpPr txBox="1"/>
          <p:nvPr>
            <p:ph type="title"/>
          </p:nvPr>
        </p:nvSpPr>
        <p:spPr>
          <a:prstGeom prst="rect">
            <a:avLst/>
          </a:prstGeom>
        </p:spPr>
        <p:txBody>
          <a:bodyPr lIns="76200" tIns="76200" rIns="76200" bIns="76200"/>
          <a:lstStyle>
            <a:lvl1pPr>
              <a:defRPr sz="4000"/>
            </a:lvl1pPr>
          </a:lstStyle>
          <a:p>
            <a:pPr/>
            <a:r>
              <a:t>What are raw synchronization primitives?</a:t>
            </a:r>
          </a:p>
        </p:txBody>
      </p:sp>
      <p:sp>
        <p:nvSpPr>
          <p:cNvPr id="549" name="Synchronization primitives are basic constructs such as:…"/>
          <p:cNvSpPr txBox="1"/>
          <p:nvPr>
            <p:ph type="body" idx="1"/>
          </p:nvPr>
        </p:nvSpPr>
        <p:spPr>
          <a:prstGeom prst="rect">
            <a:avLst/>
          </a:prstGeom>
        </p:spPr>
        <p:txBody>
          <a:bodyPr lIns="76200" tIns="76200" rIns="76200" bIns="76200"/>
          <a:lstStyle/>
          <a:p>
            <a:pPr>
              <a:spcBef>
                <a:spcPts val="1200"/>
              </a:spcBef>
            </a:pPr>
            <a:r>
              <a:t>Synchronization primitives are basic constructs such as:</a:t>
            </a:r>
          </a:p>
          <a:p>
            <a:pPr lvl="1">
              <a:spcBef>
                <a:spcPts val="1200"/>
              </a:spcBef>
            </a:pPr>
            <a:r>
              <a:t>Mutex</a:t>
            </a:r>
          </a:p>
          <a:p>
            <a:pPr lvl="1">
              <a:spcBef>
                <a:spcPts val="1200"/>
              </a:spcBef>
            </a:pPr>
            <a:r>
              <a:t>Atomic</a:t>
            </a:r>
          </a:p>
          <a:p>
            <a:pPr lvl="1">
              <a:spcBef>
                <a:spcPts val="1200"/>
              </a:spcBef>
            </a:pPr>
            <a:r>
              <a:t>Semaphore</a:t>
            </a:r>
          </a:p>
          <a:p>
            <a:pPr lvl="1">
              <a:spcBef>
                <a:spcPts val="1200"/>
              </a:spcBef>
            </a:pPr>
            <a:r>
              <a:t>Memory Fence</a:t>
            </a:r>
          </a:p>
          <a:p>
            <a:pPr lvl="1">
              <a:spcBef>
                <a:spcPts val="1200"/>
              </a:spcBef>
            </a:pPr>
            <a:r>
              <a:t>Condition Variable</a:t>
            </a:r>
          </a:p>
        </p:txBody>
      </p:sp>
      <p:sp>
        <p:nvSpPr>
          <p:cNvPr id="550"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2" name="Rectangle"/>
          <p:cNvSpPr/>
          <p:nvPr/>
        </p:nvSpPr>
        <p:spPr>
          <a:xfrm>
            <a:off x="-12697" y="1"/>
            <a:ext cx="24428447"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553" name="Rectangle"/>
          <p:cNvSpPr/>
          <p:nvPr/>
        </p:nvSpPr>
        <p:spPr>
          <a:xfrm>
            <a:off x="-31752" y="12884153"/>
            <a:ext cx="24447502"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554"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563" name="Group"/>
          <p:cNvGrpSpPr/>
          <p:nvPr/>
        </p:nvGrpSpPr>
        <p:grpSpPr>
          <a:xfrm>
            <a:off x="23430479" y="13063804"/>
            <a:ext cx="356816" cy="489706"/>
            <a:chOff x="0" y="0"/>
            <a:chExt cx="356815" cy="489704"/>
          </a:xfrm>
        </p:grpSpPr>
        <p:sp>
          <p:nvSpPr>
            <p:cNvPr id="555"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56"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57"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58"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59"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60"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61"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62"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564" name="Why No Raw Synchronization Primitives?"/>
          <p:cNvSpPr txBox="1"/>
          <p:nvPr>
            <p:ph type="title"/>
          </p:nvPr>
        </p:nvSpPr>
        <p:spPr>
          <a:prstGeom prst="rect">
            <a:avLst/>
          </a:prstGeom>
        </p:spPr>
        <p:txBody>
          <a:bodyPr lIns="76200" tIns="76200" rIns="76200" bIns="76200"/>
          <a:lstStyle>
            <a:lvl1pPr>
              <a:defRPr sz="4000"/>
            </a:lvl1pPr>
          </a:lstStyle>
          <a:p>
            <a:pPr/>
            <a:r>
              <a:t>Why No Raw Synchronization Primitives?</a:t>
            </a:r>
          </a:p>
        </p:txBody>
      </p:sp>
      <p:sp>
        <p:nvSpPr>
          <p:cNvPr id="565"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566" name="You Will Likely Get It Wrong"/>
          <p:cNvSpPr txBox="1"/>
          <p:nvPr/>
        </p:nvSpPr>
        <p:spPr>
          <a:xfrm>
            <a:off x="622300" y="1981200"/>
            <a:ext cx="23139400" cy="10363200"/>
          </a:xfrm>
          <a:prstGeom prst="rect">
            <a:avLst/>
          </a:prstGeom>
          <a:ln w="12700"/>
          <a:extLst>
            <a:ext uri="{C572A759-6A51-4108-AA02-DFA0A04FC94B}">
              <ma14:wrappingTextBoxFlag xmlns:ma14="http://schemas.microsoft.com/office/mac/drawingml/2011/main" val="1"/>
            </a:ext>
          </a:extLst>
        </p:spPr>
        <p:txBody>
          <a:bodyPr lIns="76200" tIns="76200" rIns="76200" bIns="76200"/>
          <a:lstStyle>
            <a:lvl1pPr algn="ctr" defTabSz="914400">
              <a:lnSpc>
                <a:spcPts val="12200"/>
              </a:lnSpc>
              <a:buClr>
                <a:srgbClr val="E1E4E6"/>
              </a:buClr>
              <a:defRPr sz="7200"/>
            </a:lvl1pPr>
          </a:lstStyle>
          <a:p>
            <a:pPr/>
            <a:r>
              <a:t>You Will Likely Get It Wrong</a:t>
            </a:r>
          </a:p>
        </p:txBody>
      </p:sp>
    </p:spTree>
  </p:cSld>
  <p:clrMapOvr>
    <a:masterClrMapping/>
  </p:clrMapOvr>
  <p:transition xmlns:p14="http://schemas.microsoft.com/office/powerpoint/2010/main" spd="fast"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0" name="Rectangle"/>
          <p:cNvSpPr/>
          <p:nvPr/>
        </p:nvSpPr>
        <p:spPr>
          <a:xfrm>
            <a:off x="-12697" y="1"/>
            <a:ext cx="24428447"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571" name="Rectangle"/>
          <p:cNvSpPr/>
          <p:nvPr/>
        </p:nvSpPr>
        <p:spPr>
          <a:xfrm>
            <a:off x="-31752" y="12884153"/>
            <a:ext cx="24447502"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572"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581" name="Group"/>
          <p:cNvGrpSpPr/>
          <p:nvPr/>
        </p:nvGrpSpPr>
        <p:grpSpPr>
          <a:xfrm>
            <a:off x="23430479" y="13063804"/>
            <a:ext cx="356816" cy="489706"/>
            <a:chOff x="0" y="0"/>
            <a:chExt cx="356815" cy="489704"/>
          </a:xfrm>
        </p:grpSpPr>
        <p:sp>
          <p:nvSpPr>
            <p:cNvPr id="573"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74"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75"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76"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77"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78"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79"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80"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582" name="Rounded Rectangle"/>
          <p:cNvSpPr/>
          <p:nvPr/>
        </p:nvSpPr>
        <p:spPr>
          <a:xfrm>
            <a:off x="520700" y="7797800"/>
            <a:ext cx="23266400" cy="584200"/>
          </a:xfrm>
          <a:prstGeom prst="roundRect">
            <a:avLst>
              <a:gd name="adj" fmla="val 13768"/>
            </a:avLst>
          </a:prstGeom>
          <a:solidFill>
            <a:srgbClr val="FCCACA"/>
          </a:solidFill>
          <a:ln w="25400">
            <a:solidFill>
              <a:srgbClr val="000000"/>
            </a:solidFill>
            <a:miter lim="400000"/>
          </a:ln>
        </p:spPr>
        <p:txBody>
          <a:bodyPr lIns="76200" tIns="76200" rIns="76200" bIns="76200"/>
          <a:lstStyle/>
          <a:p>
            <a:pPr lvl="1" indent="0" defTabSz="635000">
              <a:buClrTx/>
              <a:tabLst>
                <a:tab pos="508000" algn="l"/>
              </a:tabLst>
              <a:defRPr sz="2400">
                <a:latin typeface="Helvetica"/>
                <a:ea typeface="Helvetica"/>
                <a:cs typeface="Helvetica"/>
                <a:sym typeface="Helvetica"/>
              </a:defRPr>
            </a:pPr>
          </a:p>
        </p:txBody>
      </p:sp>
      <p:sp>
        <p:nvSpPr>
          <p:cNvPr id="583" name="Rounded Rectangle"/>
          <p:cNvSpPr/>
          <p:nvPr/>
        </p:nvSpPr>
        <p:spPr>
          <a:xfrm>
            <a:off x="520700" y="9042400"/>
            <a:ext cx="23266400" cy="584200"/>
          </a:xfrm>
          <a:prstGeom prst="roundRect">
            <a:avLst>
              <a:gd name="adj" fmla="val 13768"/>
            </a:avLst>
          </a:prstGeom>
          <a:solidFill>
            <a:srgbClr val="FCCACA"/>
          </a:solidFill>
          <a:ln w="25400">
            <a:solidFill>
              <a:srgbClr val="000000"/>
            </a:solidFill>
            <a:miter lim="400000"/>
          </a:ln>
        </p:spPr>
        <p:txBody>
          <a:bodyPr lIns="76200" tIns="76200" rIns="76200" bIns="76200"/>
          <a:lstStyle/>
          <a:p>
            <a:pPr lvl="1" indent="0" defTabSz="635000">
              <a:buClrTx/>
              <a:tabLst>
                <a:tab pos="508000" algn="l"/>
              </a:tabLst>
              <a:defRPr sz="2400">
                <a:latin typeface="Helvetica"/>
                <a:ea typeface="Helvetica"/>
                <a:cs typeface="Helvetica"/>
                <a:sym typeface="Helvetica"/>
              </a:defRPr>
            </a:pPr>
          </a:p>
        </p:txBody>
      </p:sp>
      <p:sp>
        <p:nvSpPr>
          <p:cNvPr id="584" name="Problems with Locks"/>
          <p:cNvSpPr txBox="1"/>
          <p:nvPr>
            <p:ph type="title"/>
          </p:nvPr>
        </p:nvSpPr>
        <p:spPr>
          <a:prstGeom prst="rect">
            <a:avLst/>
          </a:prstGeom>
        </p:spPr>
        <p:txBody>
          <a:bodyPr/>
          <a:lstStyle/>
          <a:p>
            <a:pPr/>
            <a:r>
              <a:t>Problems with Locks</a:t>
            </a:r>
          </a:p>
        </p:txBody>
      </p:sp>
      <p:sp>
        <p:nvSpPr>
          <p:cNvPr id="585" name="template &lt;typename T&gt;…"/>
          <p:cNvSpPr txBox="1"/>
          <p:nvPr/>
        </p:nvSpPr>
        <p:spPr>
          <a:xfrm>
            <a:off x="1181100" y="2438400"/>
            <a:ext cx="22428200" cy="922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914400">
              <a:buClrTx/>
              <a:tabLst>
                <a:tab pos="508000" algn="l"/>
              </a:tabLst>
              <a:defRPr sz="2800">
                <a:uFillTx/>
                <a:latin typeface="Menlo Regular"/>
                <a:ea typeface="Menlo Regular"/>
                <a:cs typeface="Menlo Regular"/>
                <a:sym typeface="Menlo Regular"/>
              </a:defRPr>
            </a:pPr>
            <a:r>
              <a:rPr>
                <a:solidFill>
                  <a:srgbClr val="BB2CA2"/>
                </a:solidFill>
              </a:rPr>
              <a:t>template</a:t>
            </a:r>
            <a:r>
              <a:t> &lt;</a:t>
            </a:r>
            <a:r>
              <a:rPr>
                <a:solidFill>
                  <a:srgbClr val="BB2CA2"/>
                </a:solidFill>
              </a:rPr>
              <a:t>typename</a:t>
            </a:r>
            <a:r>
              <a:t> </a:t>
            </a:r>
            <a:r>
              <a:rPr>
                <a:solidFill>
                  <a:srgbClr val="703DAA"/>
                </a:solidFill>
              </a:rPr>
              <a:t>T</a:t>
            </a:r>
            <a:r>
              <a:t>&gt;</a:t>
            </a:r>
          </a:p>
          <a:p>
            <a:pPr defTabSz="914400">
              <a:buClrTx/>
              <a:tabLst>
                <a:tab pos="508000" algn="l"/>
              </a:tabLst>
              <a:defRPr sz="2800">
                <a:uFillTx/>
                <a:latin typeface="Menlo Regular"/>
                <a:ea typeface="Menlo Regular"/>
                <a:cs typeface="Menlo Regular"/>
                <a:sym typeface="Menlo Regular"/>
              </a:defRPr>
            </a:pPr>
            <a:r>
              <a:rPr>
                <a:solidFill>
                  <a:srgbClr val="BB2CA2"/>
                </a:solidFill>
              </a:rPr>
              <a:t>class</a:t>
            </a:r>
            <a:r>
              <a:t> bad_cow {</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struct</a:t>
            </a:r>
            <a:r>
              <a:t> </a:t>
            </a:r>
            <a:r>
              <a:rPr>
                <a:solidFill>
                  <a:srgbClr val="31595D"/>
                </a:solidFill>
              </a:rPr>
              <a:t>object_t</a:t>
            </a:r>
            <a:r>
              <a:t> {</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explicit</a:t>
            </a:r>
            <a:r>
              <a:t> object_t(</a:t>
            </a:r>
            <a:r>
              <a:rPr>
                <a:solidFill>
                  <a:srgbClr val="BB2CA2"/>
                </a:solidFill>
              </a:rPr>
              <a:t>const</a:t>
            </a:r>
            <a:r>
              <a:t> </a:t>
            </a:r>
            <a:r>
              <a:rPr>
                <a:solidFill>
                  <a:srgbClr val="703DAA"/>
                </a:solidFill>
              </a:rPr>
              <a:t>T</a:t>
            </a:r>
            <a:r>
              <a:t>&amp; </a:t>
            </a:r>
            <a:r>
              <a:rPr>
                <a:solidFill>
                  <a:srgbClr val="703DAA"/>
                </a:solidFill>
              </a:rPr>
              <a:t>x</a:t>
            </a:r>
            <a:r>
              <a:t>) : data_m(</a:t>
            </a:r>
            <a:r>
              <a:rPr>
                <a:solidFill>
                  <a:srgbClr val="703DAA"/>
                </a:solidFill>
              </a:rPr>
              <a:t>x</a:t>
            </a:r>
            <a:r>
              <a:t>) {}</a:t>
            </a:r>
          </a:p>
          <a:p>
            <a:pPr defTabSz="914400">
              <a:buClrTx/>
              <a:tabLst>
                <a:tab pos="508000" algn="l"/>
              </a:tabLst>
              <a:defRPr sz="2800">
                <a:uFillTx/>
                <a:latin typeface="Menlo Regular"/>
                <a:ea typeface="Menlo Regular"/>
                <a:cs typeface="Menlo Regular"/>
                <a:sym typeface="Menlo Regular"/>
              </a:defRPr>
            </a:pPr>
            <a:r>
              <a:t>        </a:t>
            </a:r>
            <a:r>
              <a:rPr>
                <a:solidFill>
                  <a:srgbClr val="703DAA"/>
                </a:solidFill>
              </a:rPr>
              <a:t>atomic</a:t>
            </a:r>
            <a:r>
              <a:t>&lt;</a:t>
            </a:r>
            <a:r>
              <a:rPr>
                <a:solidFill>
                  <a:srgbClr val="BB2CA2"/>
                </a:solidFill>
              </a:rPr>
              <a:t>int</a:t>
            </a:r>
            <a:r>
              <a:t>&gt; count_m{1};</a:t>
            </a:r>
          </a:p>
          <a:p>
            <a:pPr defTabSz="914400">
              <a:buClrTx/>
              <a:tabLst>
                <a:tab pos="508000" algn="l"/>
              </a:tabLst>
              <a:defRPr sz="2800">
                <a:uFillTx/>
                <a:latin typeface="Menlo Regular"/>
                <a:ea typeface="Menlo Regular"/>
                <a:cs typeface="Menlo Regular"/>
                <a:sym typeface="Menlo Regular"/>
              </a:defRPr>
            </a:pPr>
            <a:r>
              <a:t>        </a:t>
            </a:r>
            <a:r>
              <a:rPr>
                <a:solidFill>
                  <a:srgbClr val="703DAA"/>
                </a:solidFill>
              </a:rPr>
              <a:t>T</a:t>
            </a:r>
            <a:r>
              <a:t>           data_m; };</a:t>
            </a:r>
          </a:p>
          <a:p>
            <a:pPr defTabSz="914400">
              <a:buClrTx/>
              <a:tabLst>
                <a:tab pos="508000" algn="l"/>
              </a:tabLst>
              <a:defRPr sz="2800">
                <a:uFillTx/>
                <a:latin typeface="Menlo Regular"/>
                <a:ea typeface="Menlo Regular"/>
                <a:cs typeface="Menlo Regular"/>
                <a:sym typeface="Menlo Regular"/>
              </a:defRPr>
            </a:pPr>
            <a:r>
              <a:t>    </a:t>
            </a:r>
            <a:r>
              <a:rPr>
                <a:solidFill>
                  <a:srgbClr val="31595D"/>
                </a:solidFill>
              </a:rPr>
              <a:t>object_t</a:t>
            </a:r>
            <a:r>
              <a:t>* </a:t>
            </a:r>
            <a:r>
              <a:rPr>
                <a:solidFill>
                  <a:srgbClr val="4F8187"/>
                </a:solidFill>
              </a:rPr>
              <a:t>object_m</a:t>
            </a:r>
            <a:r>
              <a:t>;</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public</a:t>
            </a:r>
            <a:r>
              <a:t>:</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explicit</a:t>
            </a:r>
            <a:r>
              <a:t> bad_cow(</a:t>
            </a:r>
            <a:r>
              <a:rPr>
                <a:solidFill>
                  <a:srgbClr val="BB2CA2"/>
                </a:solidFill>
              </a:rPr>
              <a:t>const</a:t>
            </a:r>
            <a:r>
              <a:t> </a:t>
            </a:r>
            <a:r>
              <a:rPr>
                <a:solidFill>
                  <a:srgbClr val="703DAA"/>
                </a:solidFill>
              </a:rPr>
              <a:t>T</a:t>
            </a:r>
            <a:r>
              <a:t>&amp; </a:t>
            </a:r>
            <a:r>
              <a:rPr>
                <a:solidFill>
                  <a:srgbClr val="703DAA"/>
                </a:solidFill>
              </a:rPr>
              <a:t>x</a:t>
            </a:r>
            <a:r>
              <a:t>) : object_m(</a:t>
            </a:r>
            <a:r>
              <a:rPr>
                <a:solidFill>
                  <a:srgbClr val="BB2CA2"/>
                </a:solidFill>
              </a:rPr>
              <a:t>new</a:t>
            </a:r>
            <a:r>
              <a:t> </a:t>
            </a:r>
            <a:r>
              <a:rPr>
                <a:solidFill>
                  <a:srgbClr val="31595D"/>
                </a:solidFill>
              </a:rPr>
              <a:t>object_t</a:t>
            </a:r>
            <a:r>
              <a:t>(</a:t>
            </a:r>
            <a:r>
              <a:rPr>
                <a:solidFill>
                  <a:srgbClr val="703DAA"/>
                </a:solidFill>
              </a:rPr>
              <a:t>x</a:t>
            </a:r>
            <a:r>
              <a:t>)) { }</a:t>
            </a:r>
          </a:p>
          <a:p>
            <a:pPr defTabSz="914400">
              <a:buClrTx/>
              <a:tabLst>
                <a:tab pos="508000" algn="l"/>
              </a:tabLst>
              <a:defRPr sz="2800">
                <a:uFillTx/>
                <a:latin typeface="Menlo Regular"/>
                <a:ea typeface="Menlo Regular"/>
                <a:cs typeface="Menlo Regular"/>
                <a:sym typeface="Menlo Regular"/>
              </a:defRPr>
            </a:pPr>
            <a:r>
              <a:t>    ~bad_cow() { </a:t>
            </a:r>
            <a:r>
              <a:rPr>
                <a:solidFill>
                  <a:srgbClr val="BB2CA2"/>
                </a:solidFill>
              </a:rPr>
              <a:t>if</a:t>
            </a:r>
            <a:r>
              <a:t> (</a:t>
            </a:r>
            <a:r>
              <a:rPr>
                <a:solidFill>
                  <a:srgbClr val="272AD8"/>
                </a:solidFill>
              </a:rPr>
              <a:t>0</a:t>
            </a:r>
            <a:r>
              <a:t> == </a:t>
            </a:r>
            <a:r>
              <a:rPr>
                <a:solidFill>
                  <a:srgbClr val="D12F1B"/>
                </a:solidFill>
              </a:rPr>
              <a:t>--object_m-&gt;count_m</a:t>
            </a:r>
            <a:r>
              <a:t>) </a:t>
            </a:r>
            <a:r>
              <a:rPr>
                <a:solidFill>
                  <a:srgbClr val="BB2CA2"/>
                </a:solidFill>
              </a:rPr>
              <a:t>delete</a:t>
            </a:r>
            <a:r>
              <a:t> </a:t>
            </a:r>
            <a:r>
              <a:rPr>
                <a:solidFill>
                  <a:srgbClr val="4F8187"/>
                </a:solidFill>
              </a:rPr>
              <a:t>object_m</a:t>
            </a:r>
            <a:r>
              <a:t>; }</a:t>
            </a:r>
          </a:p>
          <a:p>
            <a:pPr defTabSz="914400">
              <a:buClrTx/>
              <a:tabLst>
                <a:tab pos="508000" algn="l"/>
              </a:tabLst>
              <a:defRPr sz="2800">
                <a:uFillTx/>
                <a:latin typeface="Menlo Regular"/>
                <a:ea typeface="Menlo Regular"/>
                <a:cs typeface="Menlo Regular"/>
                <a:sym typeface="Menlo Regular"/>
              </a:defRPr>
            </a:pPr>
            <a:r>
              <a:t>    bad_cow(</a:t>
            </a:r>
            <a:r>
              <a:rPr>
                <a:solidFill>
                  <a:srgbClr val="BB2CA2"/>
                </a:solidFill>
              </a:rPr>
              <a:t>const</a:t>
            </a:r>
            <a:r>
              <a:t> bad_cow&amp; </a:t>
            </a:r>
            <a:r>
              <a:rPr>
                <a:solidFill>
                  <a:srgbClr val="703DAA"/>
                </a:solidFill>
              </a:rPr>
              <a:t>x</a:t>
            </a:r>
            <a:r>
              <a:t>) : object_m(</a:t>
            </a:r>
            <a:r>
              <a:rPr>
                <a:solidFill>
                  <a:srgbClr val="703DAA"/>
                </a:solidFill>
              </a:rPr>
              <a:t>x</a:t>
            </a:r>
            <a:r>
              <a:t>.</a:t>
            </a:r>
            <a:r>
              <a:rPr>
                <a:solidFill>
                  <a:srgbClr val="703DAA"/>
                </a:solidFill>
              </a:rPr>
              <a:t>object_m</a:t>
            </a:r>
            <a:r>
              <a:t>) { </a:t>
            </a:r>
            <a:r>
              <a:rPr>
                <a:solidFill>
                  <a:srgbClr val="D12F1B"/>
                </a:solidFill>
              </a:rPr>
              <a:t>++object_m-&gt;count_m</a:t>
            </a:r>
            <a:r>
              <a:t>; }</a:t>
            </a:r>
          </a:p>
          <a:p>
            <a:pPr defTabSz="914400">
              <a:buClrTx/>
              <a:tabLst>
                <a:tab pos="508000" algn="l"/>
              </a:tabLst>
              <a:defRPr sz="2800">
                <a:uFillTx/>
                <a:latin typeface="Menlo Regular"/>
                <a:ea typeface="Menlo Regular"/>
                <a:cs typeface="Menlo Regular"/>
                <a:sym typeface="Menlo Regular"/>
              </a:defRPr>
            </a:pPr>
          </a:p>
          <a:p>
            <a:pPr defTabSz="914400">
              <a:buClrTx/>
              <a:tabLst>
                <a:tab pos="508000" algn="l"/>
              </a:tabLst>
              <a:defRPr sz="2800">
                <a:uFillTx/>
                <a:latin typeface="Menlo Regular"/>
                <a:ea typeface="Menlo Regular"/>
                <a:cs typeface="Menlo Regular"/>
                <a:sym typeface="Menlo Regular"/>
              </a:defRPr>
            </a:pPr>
            <a:r>
              <a:t>    bad_cow&amp; </a:t>
            </a:r>
            <a:r>
              <a:rPr>
                <a:solidFill>
                  <a:srgbClr val="BB2CA2"/>
                </a:solidFill>
              </a:rPr>
              <a:t>operator</a:t>
            </a:r>
            <a:r>
              <a:t>=(</a:t>
            </a:r>
            <a:r>
              <a:rPr>
                <a:solidFill>
                  <a:srgbClr val="BB2CA2"/>
                </a:solidFill>
              </a:rPr>
              <a:t>const</a:t>
            </a:r>
            <a:r>
              <a:t> </a:t>
            </a:r>
            <a:r>
              <a:rPr>
                <a:solidFill>
                  <a:srgbClr val="703DAA"/>
                </a:solidFill>
              </a:rPr>
              <a:t>T</a:t>
            </a:r>
            <a:r>
              <a:t>&amp; </a:t>
            </a:r>
            <a:r>
              <a:rPr>
                <a:solidFill>
                  <a:srgbClr val="703DAA"/>
                </a:solidFill>
              </a:rPr>
              <a:t>x</a:t>
            </a:r>
            <a:r>
              <a:t>) {</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if</a:t>
            </a:r>
            <a:r>
              <a:t> (</a:t>
            </a:r>
            <a:r>
              <a:rPr>
                <a:solidFill>
                  <a:srgbClr val="D12F1B"/>
                </a:solidFill>
              </a:rPr>
              <a:t>object_m-&gt;count_m</a:t>
            </a:r>
            <a:r>
              <a:t> == </a:t>
            </a:r>
            <a:r>
              <a:rPr>
                <a:solidFill>
                  <a:srgbClr val="272AD8"/>
                </a:solidFill>
              </a:rPr>
              <a:t>1</a:t>
            </a:r>
            <a:r>
              <a:t>) </a:t>
            </a:r>
            <a:r>
              <a:rPr>
                <a:solidFill>
                  <a:srgbClr val="4F8187"/>
                </a:solidFill>
              </a:rPr>
              <a:t>object_m</a:t>
            </a:r>
            <a:r>
              <a:t>-&gt;</a:t>
            </a:r>
            <a:r>
              <a:rPr>
                <a:solidFill>
                  <a:srgbClr val="703DAA"/>
                </a:solidFill>
              </a:rPr>
              <a:t>data_m</a:t>
            </a:r>
            <a:r>
              <a:t> = </a:t>
            </a:r>
            <a:r>
              <a:rPr>
                <a:solidFill>
                  <a:srgbClr val="703DAA"/>
                </a:solidFill>
              </a:rPr>
              <a:t>x</a:t>
            </a:r>
            <a:r>
              <a:t>;</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else</a:t>
            </a:r>
            <a:r>
              <a:t> {</a:t>
            </a:r>
          </a:p>
          <a:p>
            <a:pPr defTabSz="914400">
              <a:buClrTx/>
              <a:tabLst>
                <a:tab pos="508000" algn="l"/>
              </a:tabLst>
              <a:defRPr sz="2800">
                <a:uFillTx/>
                <a:latin typeface="Menlo Regular"/>
                <a:ea typeface="Menlo Regular"/>
                <a:cs typeface="Menlo Regular"/>
                <a:sym typeface="Menlo Regular"/>
              </a:defRPr>
            </a:pPr>
            <a:r>
              <a:t>            </a:t>
            </a:r>
            <a:r>
              <a:rPr>
                <a:solidFill>
                  <a:srgbClr val="31595D"/>
                </a:solidFill>
              </a:rPr>
              <a:t>object_t</a:t>
            </a:r>
            <a:r>
              <a:t>* tmp = </a:t>
            </a:r>
            <a:r>
              <a:rPr>
                <a:solidFill>
                  <a:srgbClr val="BB2CA2"/>
                </a:solidFill>
              </a:rPr>
              <a:t>new</a:t>
            </a:r>
            <a:r>
              <a:t> </a:t>
            </a:r>
            <a:r>
              <a:rPr>
                <a:solidFill>
                  <a:srgbClr val="31595D"/>
                </a:solidFill>
              </a:rPr>
              <a:t>object_t</a:t>
            </a:r>
            <a:r>
              <a:t>(</a:t>
            </a:r>
            <a:r>
              <a:rPr>
                <a:solidFill>
                  <a:srgbClr val="703DAA"/>
                </a:solidFill>
              </a:rPr>
              <a:t>x</a:t>
            </a:r>
            <a:r>
              <a:t>);</a:t>
            </a:r>
          </a:p>
          <a:p>
            <a:pPr defTabSz="914400">
              <a:buClrTx/>
              <a:tabLst>
                <a:tab pos="508000" algn="l"/>
              </a:tabLst>
              <a:defRPr sz="2800">
                <a:uFillTx/>
                <a:latin typeface="Menlo Regular"/>
                <a:ea typeface="Menlo Regular"/>
                <a:cs typeface="Menlo Regular"/>
                <a:sym typeface="Menlo Regular"/>
              </a:defRPr>
            </a:pPr>
            <a:r>
              <a:t>            </a:t>
            </a:r>
            <a:r>
              <a:rPr>
                <a:solidFill>
                  <a:srgbClr val="D12F1B"/>
                </a:solidFill>
              </a:rPr>
              <a:t>--object_m-&gt;count_m</a:t>
            </a:r>
            <a:r>
              <a:t>;</a:t>
            </a:r>
          </a:p>
          <a:p>
            <a:pPr defTabSz="914400">
              <a:buClrTx/>
              <a:tabLst>
                <a:tab pos="508000" algn="l"/>
              </a:tabLst>
              <a:defRPr sz="2800">
                <a:uFillTx/>
                <a:latin typeface="Menlo Regular"/>
                <a:ea typeface="Menlo Regular"/>
                <a:cs typeface="Menlo Regular"/>
                <a:sym typeface="Menlo Regular"/>
              </a:defRPr>
            </a:pPr>
            <a:r>
              <a:t>            </a:t>
            </a:r>
            <a:r>
              <a:rPr>
                <a:solidFill>
                  <a:srgbClr val="4F8187"/>
                </a:solidFill>
              </a:rPr>
              <a:t>object_m</a:t>
            </a:r>
            <a:r>
              <a:t> = tmp;</a:t>
            </a:r>
          </a:p>
          <a:p>
            <a:pPr defTabSz="914400">
              <a:buClrTx/>
              <a:tabLst>
                <a:tab pos="508000" algn="l"/>
              </a:tabLst>
              <a:defRPr sz="2800">
                <a:uFillTx/>
                <a:latin typeface="Menlo Regular"/>
                <a:ea typeface="Menlo Regular"/>
                <a:cs typeface="Menlo Regular"/>
                <a:sym typeface="Menlo Regular"/>
              </a:defRPr>
            </a:pPr>
            <a:r>
              <a:t>        }</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return</a:t>
            </a:r>
            <a:r>
              <a:t> *</a:t>
            </a:r>
            <a:r>
              <a:rPr>
                <a:solidFill>
                  <a:srgbClr val="BB2CA2"/>
                </a:solidFill>
              </a:rPr>
              <a:t>this</a:t>
            </a:r>
            <a:r>
              <a:t>;</a:t>
            </a:r>
          </a:p>
          <a:p>
            <a:pPr defTabSz="914400">
              <a:buClrTx/>
              <a:tabLst>
                <a:tab pos="508000" algn="l"/>
              </a:tabLst>
              <a:defRPr sz="2800">
                <a:uFillTx/>
                <a:latin typeface="Menlo Regular"/>
                <a:ea typeface="Menlo Regular"/>
                <a:cs typeface="Menlo Regular"/>
                <a:sym typeface="Menlo Regular"/>
              </a:defRPr>
            </a:pPr>
            <a:r>
              <a:t>    }</a:t>
            </a:r>
          </a:p>
          <a:p>
            <a:pPr defTabSz="914400">
              <a:buClrTx/>
              <a:tabLst>
                <a:tab pos="508000" algn="l"/>
              </a:tabLst>
              <a:defRPr sz="2800">
                <a:uFillTx/>
                <a:latin typeface="Menlo Regular"/>
                <a:ea typeface="Menlo Regular"/>
                <a:cs typeface="Menlo Regular"/>
                <a:sym typeface="Menlo Regular"/>
              </a:defRPr>
            </a:pPr>
            <a:r>
              <a:t>};</a:t>
            </a:r>
          </a:p>
        </p:txBody>
      </p:sp>
      <p:sp>
        <p:nvSpPr>
          <p:cNvPr id="586" name="There is a subtle race condition here:…"/>
          <p:cNvSpPr txBox="1"/>
          <p:nvPr/>
        </p:nvSpPr>
        <p:spPr>
          <a:xfrm>
            <a:off x="8623300" y="9677400"/>
            <a:ext cx="12649200" cy="3098800"/>
          </a:xfrm>
          <a:prstGeom prst="rect">
            <a:avLst/>
          </a:prstGeom>
          <a:ln w="25400">
            <a:solidFill>
              <a:srgbClr val="000000"/>
            </a:solidFill>
            <a:miter lim="400000"/>
          </a:ln>
          <a:extLst>
            <a:ext uri="{C572A759-6A51-4108-AA02-DFA0A04FC94B}">
              <ma14:wrappingTextBoxFlag xmlns:ma14="http://schemas.microsoft.com/office/mac/drawingml/2011/main" val="1"/>
            </a:ext>
          </a:extLst>
        </p:spPr>
        <p:txBody>
          <a:bodyPr lIns="76200" tIns="76200" rIns="76200" bIns="76200">
            <a:spAutoFit/>
          </a:bodyPr>
          <a:lstStyle/>
          <a:p>
            <a:pPr lvl="1" marL="908804" indent="-508000" defTabSz="635000">
              <a:buClrTx/>
              <a:buSzPct val="125000"/>
              <a:buChar char="•"/>
              <a:defRPr sz="3200">
                <a:latin typeface="Gill Sans"/>
                <a:ea typeface="Gill Sans"/>
                <a:cs typeface="Gill Sans"/>
                <a:sym typeface="Gill Sans"/>
              </a:defRPr>
            </a:pPr>
            <a:r>
              <a:t>There is a subtle race condition here:</a:t>
            </a:r>
          </a:p>
          <a:p>
            <a:pPr lvl="2" marL="1162804" indent="-508000" defTabSz="635000">
              <a:buClrTx/>
              <a:buSzPct val="125000"/>
              <a:buChar char="•"/>
              <a:defRPr sz="3200">
                <a:latin typeface="Gill Sans"/>
                <a:ea typeface="Gill Sans"/>
                <a:cs typeface="Gill Sans"/>
                <a:sym typeface="Gill Sans"/>
              </a:defRPr>
            </a:pPr>
            <a:r>
              <a:t>if count != 1 then the bad_cow could also is owned by another thread(s)</a:t>
            </a:r>
          </a:p>
          <a:p>
            <a:pPr lvl="2" marL="1162804" indent="-508000" defTabSz="635000">
              <a:buClrTx/>
              <a:buSzPct val="125000"/>
              <a:buChar char="•"/>
              <a:defRPr sz="3200">
                <a:latin typeface="Gill Sans"/>
                <a:ea typeface="Gill Sans"/>
                <a:cs typeface="Gill Sans"/>
                <a:sym typeface="Gill Sans"/>
              </a:defRPr>
            </a:pPr>
            <a:r>
              <a:t>if the other thread(s) releases the bad_cow between these two atomic operations</a:t>
            </a:r>
          </a:p>
          <a:p>
            <a:pPr lvl="2" marL="1162804" indent="-508000" defTabSz="635000">
              <a:buClrTx/>
              <a:buSzPct val="125000"/>
              <a:buChar char="•"/>
              <a:defRPr sz="3200">
                <a:latin typeface="Gill Sans"/>
                <a:ea typeface="Gill Sans"/>
                <a:cs typeface="Gill Sans"/>
                <a:sym typeface="Gill Sans"/>
              </a:defRPr>
            </a:pPr>
            <a:r>
              <a:t>then our count will fall to zero and we will leak the object</a:t>
            </a:r>
          </a:p>
        </p:txBody>
      </p:sp>
      <p:sp>
        <p:nvSpPr>
          <p:cNvPr id="587" name="Slide Number"/>
          <p:cNvSpPr txBox="1"/>
          <p:nvPr>
            <p:ph type="sldNum" sz="quarter" idx="2"/>
          </p:nvPr>
        </p:nvSpPr>
        <p:spPr>
          <a:xfrm>
            <a:off x="12028552" y="12871152"/>
            <a:ext cx="345949" cy="457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583"/>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58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3" fill="hold">
                                  <p:stCondLst>
                                    <p:cond delay="0"/>
                                  </p:stCondLst>
                                  <p:iterate type="el" backwards="0">
                                    <p:tmAbs val="0"/>
                                  </p:iterate>
                                  <p:childTnLst>
                                    <p:set>
                                      <p:cBhvr>
                                        <p:cTn id="13" fill="hold"/>
                                        <p:tgtEl>
                                          <p:spTgt spid="5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82" grpId="2"/>
      <p:bldP build="whole" bldLvl="1" animBg="1" rev="0" advAuto="0" spid="586" grpId="3"/>
      <p:bldP build="whole" bldLvl="1" animBg="1" rev="0" advAuto="0" spid="583" grpId="1"/>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1" name="Rectangle"/>
          <p:cNvSpPr/>
          <p:nvPr/>
        </p:nvSpPr>
        <p:spPr>
          <a:xfrm>
            <a:off x="-12697" y="1"/>
            <a:ext cx="24428447"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592" name="Rectangle"/>
          <p:cNvSpPr/>
          <p:nvPr/>
        </p:nvSpPr>
        <p:spPr>
          <a:xfrm>
            <a:off x="-31752" y="12884153"/>
            <a:ext cx="24447502"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593"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602" name="Group"/>
          <p:cNvGrpSpPr/>
          <p:nvPr/>
        </p:nvGrpSpPr>
        <p:grpSpPr>
          <a:xfrm>
            <a:off x="23430479" y="13063804"/>
            <a:ext cx="356816" cy="489706"/>
            <a:chOff x="0" y="0"/>
            <a:chExt cx="356815" cy="489704"/>
          </a:xfrm>
        </p:grpSpPr>
        <p:sp>
          <p:nvSpPr>
            <p:cNvPr id="594"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95"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96"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97"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98"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599"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600"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601"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603" name="Rounded Rectangle"/>
          <p:cNvSpPr/>
          <p:nvPr/>
        </p:nvSpPr>
        <p:spPr>
          <a:xfrm>
            <a:off x="546100" y="9105900"/>
            <a:ext cx="23266400" cy="482600"/>
          </a:xfrm>
          <a:prstGeom prst="roundRect">
            <a:avLst>
              <a:gd name="adj" fmla="val 16667"/>
            </a:avLst>
          </a:prstGeom>
          <a:solidFill>
            <a:srgbClr val="94F795"/>
          </a:solidFill>
          <a:ln w="25400">
            <a:solidFill>
              <a:srgbClr val="000000"/>
            </a:solidFill>
            <a:miter lim="400000"/>
          </a:ln>
        </p:spPr>
        <p:txBody>
          <a:bodyPr lIns="76200" tIns="76200" rIns="76200" bIns="76200"/>
          <a:lstStyle/>
          <a:p>
            <a:pPr lvl="1" indent="0" defTabSz="635000">
              <a:buClrTx/>
              <a:tabLst>
                <a:tab pos="508000" algn="l"/>
              </a:tabLst>
              <a:defRPr sz="2400">
                <a:latin typeface="Helvetica"/>
                <a:ea typeface="Helvetica"/>
                <a:cs typeface="Helvetica"/>
                <a:sym typeface="Helvetica"/>
              </a:defRPr>
            </a:pPr>
          </a:p>
        </p:txBody>
      </p:sp>
      <p:sp>
        <p:nvSpPr>
          <p:cNvPr id="604" name="Problems with Locks"/>
          <p:cNvSpPr txBox="1"/>
          <p:nvPr>
            <p:ph type="title"/>
          </p:nvPr>
        </p:nvSpPr>
        <p:spPr>
          <a:prstGeom prst="rect">
            <a:avLst/>
          </a:prstGeom>
        </p:spPr>
        <p:txBody>
          <a:bodyPr/>
          <a:lstStyle/>
          <a:p>
            <a:pPr/>
            <a:r>
              <a:t>Problems with Locks</a:t>
            </a:r>
          </a:p>
        </p:txBody>
      </p:sp>
      <p:sp>
        <p:nvSpPr>
          <p:cNvPr id="605" name="template &lt;typename T&gt;…"/>
          <p:cNvSpPr txBox="1"/>
          <p:nvPr/>
        </p:nvSpPr>
        <p:spPr>
          <a:xfrm>
            <a:off x="1181100" y="2438400"/>
            <a:ext cx="22428200" cy="922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914400">
              <a:buClrTx/>
              <a:tabLst>
                <a:tab pos="508000" algn="l"/>
              </a:tabLst>
              <a:defRPr sz="2800">
                <a:uFillTx/>
                <a:latin typeface="Menlo Regular"/>
                <a:ea typeface="Menlo Regular"/>
                <a:cs typeface="Menlo Regular"/>
                <a:sym typeface="Menlo Regular"/>
              </a:defRPr>
            </a:pPr>
            <a:r>
              <a:rPr>
                <a:solidFill>
                  <a:srgbClr val="BB2CA2"/>
                </a:solidFill>
              </a:rPr>
              <a:t>template</a:t>
            </a:r>
            <a:r>
              <a:t> &lt;</a:t>
            </a:r>
            <a:r>
              <a:rPr>
                <a:solidFill>
                  <a:srgbClr val="BB2CA2"/>
                </a:solidFill>
              </a:rPr>
              <a:t>typename</a:t>
            </a:r>
            <a:r>
              <a:t> </a:t>
            </a:r>
            <a:r>
              <a:rPr>
                <a:solidFill>
                  <a:srgbClr val="703DAA"/>
                </a:solidFill>
              </a:rPr>
              <a:t>T</a:t>
            </a:r>
            <a:r>
              <a:t>&gt;</a:t>
            </a:r>
          </a:p>
          <a:p>
            <a:pPr defTabSz="914400">
              <a:buClrTx/>
              <a:tabLst>
                <a:tab pos="508000" algn="l"/>
              </a:tabLst>
              <a:defRPr sz="2800">
                <a:uFillTx/>
                <a:latin typeface="Menlo Regular"/>
                <a:ea typeface="Menlo Regular"/>
                <a:cs typeface="Menlo Regular"/>
                <a:sym typeface="Menlo Regular"/>
              </a:defRPr>
            </a:pPr>
            <a:r>
              <a:rPr>
                <a:solidFill>
                  <a:srgbClr val="BB2CA2"/>
                </a:solidFill>
              </a:rPr>
              <a:t>class</a:t>
            </a:r>
            <a:r>
              <a:t> bad_cow {</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struct</a:t>
            </a:r>
            <a:r>
              <a:t> </a:t>
            </a:r>
            <a:r>
              <a:rPr>
                <a:solidFill>
                  <a:srgbClr val="31595D"/>
                </a:solidFill>
              </a:rPr>
              <a:t>object_t</a:t>
            </a:r>
            <a:r>
              <a:t> {</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explicit</a:t>
            </a:r>
            <a:r>
              <a:t> object_t(</a:t>
            </a:r>
            <a:r>
              <a:rPr>
                <a:solidFill>
                  <a:srgbClr val="BB2CA2"/>
                </a:solidFill>
              </a:rPr>
              <a:t>const</a:t>
            </a:r>
            <a:r>
              <a:t> </a:t>
            </a:r>
            <a:r>
              <a:rPr>
                <a:solidFill>
                  <a:srgbClr val="703DAA"/>
                </a:solidFill>
              </a:rPr>
              <a:t>T</a:t>
            </a:r>
            <a:r>
              <a:t>&amp; </a:t>
            </a:r>
            <a:r>
              <a:rPr>
                <a:solidFill>
                  <a:srgbClr val="703DAA"/>
                </a:solidFill>
              </a:rPr>
              <a:t>x</a:t>
            </a:r>
            <a:r>
              <a:t>) : data_m(</a:t>
            </a:r>
            <a:r>
              <a:rPr>
                <a:solidFill>
                  <a:srgbClr val="703DAA"/>
                </a:solidFill>
              </a:rPr>
              <a:t>x</a:t>
            </a:r>
            <a:r>
              <a:t>) {}</a:t>
            </a:r>
          </a:p>
          <a:p>
            <a:pPr defTabSz="914400">
              <a:buClrTx/>
              <a:tabLst>
                <a:tab pos="508000" algn="l"/>
              </a:tabLst>
              <a:defRPr sz="2800">
                <a:uFillTx/>
                <a:latin typeface="Menlo Regular"/>
                <a:ea typeface="Menlo Regular"/>
                <a:cs typeface="Menlo Regular"/>
                <a:sym typeface="Menlo Regular"/>
              </a:defRPr>
            </a:pPr>
            <a:r>
              <a:t>        </a:t>
            </a:r>
            <a:r>
              <a:rPr>
                <a:solidFill>
                  <a:srgbClr val="703DAA"/>
                </a:solidFill>
              </a:rPr>
              <a:t>atomic</a:t>
            </a:r>
            <a:r>
              <a:t>&lt;</a:t>
            </a:r>
            <a:r>
              <a:rPr>
                <a:solidFill>
                  <a:srgbClr val="BB2CA2"/>
                </a:solidFill>
              </a:rPr>
              <a:t>int</a:t>
            </a:r>
            <a:r>
              <a:t>&gt; count_m{1};</a:t>
            </a:r>
          </a:p>
          <a:p>
            <a:pPr defTabSz="914400">
              <a:buClrTx/>
              <a:tabLst>
                <a:tab pos="508000" algn="l"/>
              </a:tabLst>
              <a:defRPr sz="2800">
                <a:uFillTx/>
                <a:latin typeface="Menlo Regular"/>
                <a:ea typeface="Menlo Regular"/>
                <a:cs typeface="Menlo Regular"/>
                <a:sym typeface="Menlo Regular"/>
              </a:defRPr>
            </a:pPr>
            <a:r>
              <a:t>        </a:t>
            </a:r>
            <a:r>
              <a:rPr>
                <a:solidFill>
                  <a:srgbClr val="703DAA"/>
                </a:solidFill>
              </a:rPr>
              <a:t>T</a:t>
            </a:r>
            <a:r>
              <a:t>           data_m; };</a:t>
            </a:r>
          </a:p>
          <a:p>
            <a:pPr defTabSz="914400">
              <a:buClrTx/>
              <a:tabLst>
                <a:tab pos="508000" algn="l"/>
              </a:tabLst>
              <a:defRPr sz="2800">
                <a:uFillTx/>
                <a:latin typeface="Menlo Regular"/>
                <a:ea typeface="Menlo Regular"/>
                <a:cs typeface="Menlo Regular"/>
                <a:sym typeface="Menlo Regular"/>
              </a:defRPr>
            </a:pPr>
            <a:r>
              <a:t>    </a:t>
            </a:r>
            <a:r>
              <a:rPr>
                <a:solidFill>
                  <a:srgbClr val="31595D"/>
                </a:solidFill>
              </a:rPr>
              <a:t>object_t</a:t>
            </a:r>
            <a:r>
              <a:t>* </a:t>
            </a:r>
            <a:r>
              <a:rPr>
                <a:solidFill>
                  <a:srgbClr val="4F8187"/>
                </a:solidFill>
              </a:rPr>
              <a:t>object_m</a:t>
            </a:r>
            <a:r>
              <a:t>;</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public</a:t>
            </a:r>
            <a:r>
              <a:t>:</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explicit</a:t>
            </a:r>
            <a:r>
              <a:t> bad_cow(</a:t>
            </a:r>
            <a:r>
              <a:rPr>
                <a:solidFill>
                  <a:srgbClr val="BB2CA2"/>
                </a:solidFill>
              </a:rPr>
              <a:t>const</a:t>
            </a:r>
            <a:r>
              <a:t> </a:t>
            </a:r>
            <a:r>
              <a:rPr>
                <a:solidFill>
                  <a:srgbClr val="703DAA"/>
                </a:solidFill>
              </a:rPr>
              <a:t>T</a:t>
            </a:r>
            <a:r>
              <a:t>&amp; </a:t>
            </a:r>
            <a:r>
              <a:rPr>
                <a:solidFill>
                  <a:srgbClr val="703DAA"/>
                </a:solidFill>
              </a:rPr>
              <a:t>x</a:t>
            </a:r>
            <a:r>
              <a:t>) : object_m(</a:t>
            </a:r>
            <a:r>
              <a:rPr>
                <a:solidFill>
                  <a:srgbClr val="BB2CA2"/>
                </a:solidFill>
              </a:rPr>
              <a:t>new</a:t>
            </a:r>
            <a:r>
              <a:t> </a:t>
            </a:r>
            <a:r>
              <a:rPr>
                <a:solidFill>
                  <a:srgbClr val="31595D"/>
                </a:solidFill>
              </a:rPr>
              <a:t>object_t</a:t>
            </a:r>
            <a:r>
              <a:t>(</a:t>
            </a:r>
            <a:r>
              <a:rPr>
                <a:solidFill>
                  <a:srgbClr val="703DAA"/>
                </a:solidFill>
              </a:rPr>
              <a:t>x</a:t>
            </a:r>
            <a:r>
              <a:t>)) { }</a:t>
            </a:r>
          </a:p>
          <a:p>
            <a:pPr defTabSz="914400">
              <a:buClrTx/>
              <a:tabLst>
                <a:tab pos="508000" algn="l"/>
              </a:tabLst>
              <a:defRPr sz="2800">
                <a:uFillTx/>
                <a:latin typeface="Menlo Regular"/>
                <a:ea typeface="Menlo Regular"/>
                <a:cs typeface="Menlo Regular"/>
                <a:sym typeface="Menlo Regular"/>
              </a:defRPr>
            </a:pPr>
            <a:r>
              <a:t>    ~bad_cow() { </a:t>
            </a:r>
            <a:r>
              <a:rPr>
                <a:solidFill>
                  <a:srgbClr val="BB2CA2"/>
                </a:solidFill>
              </a:rPr>
              <a:t>if</a:t>
            </a:r>
            <a:r>
              <a:t> (</a:t>
            </a:r>
            <a:r>
              <a:rPr>
                <a:solidFill>
                  <a:srgbClr val="272AD8"/>
                </a:solidFill>
              </a:rPr>
              <a:t>0</a:t>
            </a:r>
            <a:r>
              <a:t> == </a:t>
            </a:r>
            <a:r>
              <a:rPr>
                <a:solidFill>
                  <a:srgbClr val="D12F1B"/>
                </a:solidFill>
              </a:rPr>
              <a:t>--object_m-&gt;count_m</a:t>
            </a:r>
            <a:r>
              <a:t>) </a:t>
            </a:r>
            <a:r>
              <a:rPr>
                <a:solidFill>
                  <a:srgbClr val="BB2CA2"/>
                </a:solidFill>
              </a:rPr>
              <a:t>delete</a:t>
            </a:r>
            <a:r>
              <a:t> </a:t>
            </a:r>
            <a:r>
              <a:rPr>
                <a:solidFill>
                  <a:srgbClr val="4F8187"/>
                </a:solidFill>
              </a:rPr>
              <a:t>object_m</a:t>
            </a:r>
            <a:r>
              <a:t>; }</a:t>
            </a:r>
          </a:p>
          <a:p>
            <a:pPr defTabSz="914400">
              <a:buClrTx/>
              <a:tabLst>
                <a:tab pos="508000" algn="l"/>
              </a:tabLst>
              <a:defRPr sz="2800">
                <a:uFillTx/>
                <a:latin typeface="Menlo Regular"/>
                <a:ea typeface="Menlo Regular"/>
                <a:cs typeface="Menlo Regular"/>
                <a:sym typeface="Menlo Regular"/>
              </a:defRPr>
            </a:pPr>
            <a:r>
              <a:t>    bad_cow(</a:t>
            </a:r>
            <a:r>
              <a:rPr>
                <a:solidFill>
                  <a:srgbClr val="BB2CA2"/>
                </a:solidFill>
              </a:rPr>
              <a:t>const</a:t>
            </a:r>
            <a:r>
              <a:t> bad_cow&amp; </a:t>
            </a:r>
            <a:r>
              <a:rPr>
                <a:solidFill>
                  <a:srgbClr val="703DAA"/>
                </a:solidFill>
              </a:rPr>
              <a:t>x</a:t>
            </a:r>
            <a:r>
              <a:t>) : object_m(</a:t>
            </a:r>
            <a:r>
              <a:rPr>
                <a:solidFill>
                  <a:srgbClr val="703DAA"/>
                </a:solidFill>
              </a:rPr>
              <a:t>x</a:t>
            </a:r>
            <a:r>
              <a:t>.</a:t>
            </a:r>
            <a:r>
              <a:rPr>
                <a:solidFill>
                  <a:srgbClr val="703DAA"/>
                </a:solidFill>
              </a:rPr>
              <a:t>object_m</a:t>
            </a:r>
            <a:r>
              <a:t>) { </a:t>
            </a:r>
            <a:r>
              <a:rPr>
                <a:solidFill>
                  <a:srgbClr val="D12F1B"/>
                </a:solidFill>
              </a:rPr>
              <a:t>++object_m-&gt;count_m</a:t>
            </a:r>
            <a:r>
              <a:t>; }</a:t>
            </a:r>
          </a:p>
          <a:p>
            <a:pPr defTabSz="914400">
              <a:buClrTx/>
              <a:tabLst>
                <a:tab pos="508000" algn="l"/>
              </a:tabLst>
              <a:defRPr sz="2800">
                <a:uFillTx/>
                <a:latin typeface="Menlo Regular"/>
                <a:ea typeface="Menlo Regular"/>
                <a:cs typeface="Menlo Regular"/>
                <a:sym typeface="Menlo Regular"/>
              </a:defRPr>
            </a:pPr>
          </a:p>
          <a:p>
            <a:pPr defTabSz="914400">
              <a:buClrTx/>
              <a:tabLst>
                <a:tab pos="508000" algn="l"/>
              </a:tabLst>
              <a:defRPr sz="2800">
                <a:uFillTx/>
                <a:latin typeface="Menlo Regular"/>
                <a:ea typeface="Menlo Regular"/>
                <a:cs typeface="Menlo Regular"/>
                <a:sym typeface="Menlo Regular"/>
              </a:defRPr>
            </a:pPr>
            <a:r>
              <a:t>    bad_cow&amp; </a:t>
            </a:r>
            <a:r>
              <a:rPr>
                <a:solidFill>
                  <a:srgbClr val="BB2CA2"/>
                </a:solidFill>
              </a:rPr>
              <a:t>operator</a:t>
            </a:r>
            <a:r>
              <a:t>=(</a:t>
            </a:r>
            <a:r>
              <a:rPr>
                <a:solidFill>
                  <a:srgbClr val="BB2CA2"/>
                </a:solidFill>
              </a:rPr>
              <a:t>const</a:t>
            </a:r>
            <a:r>
              <a:t> </a:t>
            </a:r>
            <a:r>
              <a:rPr>
                <a:solidFill>
                  <a:srgbClr val="703DAA"/>
                </a:solidFill>
              </a:rPr>
              <a:t>T</a:t>
            </a:r>
            <a:r>
              <a:t>&amp; </a:t>
            </a:r>
            <a:r>
              <a:rPr>
                <a:solidFill>
                  <a:srgbClr val="703DAA"/>
                </a:solidFill>
              </a:rPr>
              <a:t>x</a:t>
            </a:r>
            <a:r>
              <a:t>) {</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if</a:t>
            </a:r>
            <a:r>
              <a:t> (</a:t>
            </a:r>
            <a:r>
              <a:rPr>
                <a:solidFill>
                  <a:srgbClr val="D12F1B"/>
                </a:solidFill>
              </a:rPr>
              <a:t>object_m-&gt;count_m</a:t>
            </a:r>
            <a:r>
              <a:t> == </a:t>
            </a:r>
            <a:r>
              <a:rPr>
                <a:solidFill>
                  <a:srgbClr val="272AD8"/>
                </a:solidFill>
              </a:rPr>
              <a:t>1</a:t>
            </a:r>
            <a:r>
              <a:t>) </a:t>
            </a:r>
            <a:r>
              <a:rPr>
                <a:solidFill>
                  <a:srgbClr val="4F8187"/>
                </a:solidFill>
              </a:rPr>
              <a:t>object_m</a:t>
            </a:r>
            <a:r>
              <a:t>-&gt;</a:t>
            </a:r>
            <a:r>
              <a:rPr>
                <a:solidFill>
                  <a:srgbClr val="703DAA"/>
                </a:solidFill>
              </a:rPr>
              <a:t>data_m</a:t>
            </a:r>
            <a:r>
              <a:t> = </a:t>
            </a:r>
            <a:r>
              <a:rPr>
                <a:solidFill>
                  <a:srgbClr val="703DAA"/>
                </a:solidFill>
              </a:rPr>
              <a:t>x</a:t>
            </a:r>
            <a:r>
              <a:t>;</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else</a:t>
            </a:r>
            <a:r>
              <a:t> {</a:t>
            </a:r>
          </a:p>
          <a:p>
            <a:pPr defTabSz="914400">
              <a:buClrTx/>
              <a:tabLst>
                <a:tab pos="508000" algn="l"/>
              </a:tabLst>
              <a:defRPr sz="2800">
                <a:uFillTx/>
                <a:latin typeface="Menlo Regular"/>
                <a:ea typeface="Menlo Regular"/>
                <a:cs typeface="Menlo Regular"/>
                <a:sym typeface="Menlo Regular"/>
              </a:defRPr>
            </a:pPr>
            <a:r>
              <a:t>            </a:t>
            </a:r>
            <a:r>
              <a:rPr>
                <a:solidFill>
                  <a:srgbClr val="31595D"/>
                </a:solidFill>
              </a:rPr>
              <a:t>object_t</a:t>
            </a:r>
            <a:r>
              <a:t>* tmp = </a:t>
            </a:r>
            <a:r>
              <a:rPr>
                <a:solidFill>
                  <a:srgbClr val="BB2CA2"/>
                </a:solidFill>
              </a:rPr>
              <a:t>new</a:t>
            </a:r>
            <a:r>
              <a:t> </a:t>
            </a:r>
            <a:r>
              <a:rPr>
                <a:solidFill>
                  <a:srgbClr val="31595D"/>
                </a:solidFill>
              </a:rPr>
              <a:t>object_t</a:t>
            </a:r>
            <a:r>
              <a:t>(</a:t>
            </a:r>
            <a:r>
              <a:rPr>
                <a:solidFill>
                  <a:srgbClr val="703DAA"/>
                </a:solidFill>
              </a:rPr>
              <a:t>x</a:t>
            </a:r>
            <a:r>
              <a:t>);</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if</a:t>
            </a:r>
            <a:r>
              <a:t> (</a:t>
            </a:r>
            <a:r>
              <a:rPr>
                <a:solidFill>
                  <a:srgbClr val="272AD8"/>
                </a:solidFill>
              </a:rPr>
              <a:t>0</a:t>
            </a:r>
            <a:r>
              <a:t> == </a:t>
            </a:r>
            <a:r>
              <a:rPr>
                <a:solidFill>
                  <a:srgbClr val="D12F1B"/>
                </a:solidFill>
              </a:rPr>
              <a:t>--object_m-&gt;count_m</a:t>
            </a:r>
            <a:r>
              <a:t>) </a:t>
            </a:r>
            <a:r>
              <a:rPr>
                <a:solidFill>
                  <a:srgbClr val="BB2CA2"/>
                </a:solidFill>
              </a:rPr>
              <a:t>delete</a:t>
            </a:r>
            <a:r>
              <a:t> </a:t>
            </a:r>
            <a:r>
              <a:rPr>
                <a:solidFill>
                  <a:srgbClr val="4F8187"/>
                </a:solidFill>
              </a:rPr>
              <a:t>object_m</a:t>
            </a:r>
            <a:r>
              <a:t>;</a:t>
            </a:r>
          </a:p>
          <a:p>
            <a:pPr defTabSz="914400">
              <a:buClrTx/>
              <a:tabLst>
                <a:tab pos="508000" algn="l"/>
              </a:tabLst>
              <a:defRPr sz="2800">
                <a:uFillTx/>
                <a:latin typeface="Menlo Regular"/>
                <a:ea typeface="Menlo Regular"/>
                <a:cs typeface="Menlo Regular"/>
                <a:sym typeface="Menlo Regular"/>
              </a:defRPr>
            </a:pPr>
            <a:r>
              <a:t>            </a:t>
            </a:r>
            <a:r>
              <a:rPr>
                <a:solidFill>
                  <a:srgbClr val="4F8187"/>
                </a:solidFill>
              </a:rPr>
              <a:t>object_m</a:t>
            </a:r>
            <a:r>
              <a:t> = tmp;</a:t>
            </a:r>
          </a:p>
          <a:p>
            <a:pPr defTabSz="914400">
              <a:buClrTx/>
              <a:tabLst>
                <a:tab pos="508000" algn="l"/>
              </a:tabLst>
              <a:defRPr sz="2800">
                <a:uFillTx/>
                <a:latin typeface="Menlo Regular"/>
                <a:ea typeface="Menlo Regular"/>
                <a:cs typeface="Menlo Regular"/>
                <a:sym typeface="Menlo Regular"/>
              </a:defRPr>
            </a:pPr>
            <a:r>
              <a:t>        }</a:t>
            </a:r>
          </a:p>
          <a:p>
            <a:pPr defTabSz="914400">
              <a:buClrTx/>
              <a:tabLst>
                <a:tab pos="508000" algn="l"/>
              </a:tabLst>
              <a:defRPr sz="2800">
                <a:uFillTx/>
                <a:latin typeface="Menlo Regular"/>
                <a:ea typeface="Menlo Regular"/>
                <a:cs typeface="Menlo Regular"/>
                <a:sym typeface="Menlo Regular"/>
              </a:defRPr>
            </a:pPr>
            <a:r>
              <a:t>        </a:t>
            </a:r>
            <a:r>
              <a:rPr>
                <a:solidFill>
                  <a:srgbClr val="BB2CA2"/>
                </a:solidFill>
              </a:rPr>
              <a:t>return</a:t>
            </a:r>
            <a:r>
              <a:t> *</a:t>
            </a:r>
            <a:r>
              <a:rPr>
                <a:solidFill>
                  <a:srgbClr val="BB2CA2"/>
                </a:solidFill>
              </a:rPr>
              <a:t>this</a:t>
            </a:r>
            <a:r>
              <a:t>;</a:t>
            </a:r>
          </a:p>
          <a:p>
            <a:pPr defTabSz="914400">
              <a:buClrTx/>
              <a:tabLst>
                <a:tab pos="508000" algn="l"/>
              </a:tabLst>
              <a:defRPr sz="2800">
                <a:uFillTx/>
                <a:latin typeface="Menlo Regular"/>
                <a:ea typeface="Menlo Regular"/>
                <a:cs typeface="Menlo Regular"/>
                <a:sym typeface="Menlo Regular"/>
              </a:defRPr>
            </a:pPr>
            <a:r>
              <a:t>    }</a:t>
            </a:r>
          </a:p>
          <a:p>
            <a:pPr defTabSz="914400">
              <a:buClrTx/>
              <a:tabLst>
                <a:tab pos="508000" algn="l"/>
              </a:tabLst>
              <a:defRPr sz="2800">
                <a:uFillTx/>
                <a:latin typeface="Menlo Regular"/>
                <a:ea typeface="Menlo Regular"/>
                <a:cs typeface="Menlo Regular"/>
                <a:sym typeface="Menlo Regular"/>
              </a:defRPr>
            </a:pPr>
            <a:r>
              <a:t>};</a:t>
            </a:r>
          </a:p>
        </p:txBody>
      </p:sp>
      <p:sp>
        <p:nvSpPr>
          <p:cNvPr id="606" name="Slide Number"/>
          <p:cNvSpPr txBox="1"/>
          <p:nvPr>
            <p:ph type="sldNum" sz="quarter" idx="2"/>
          </p:nvPr>
        </p:nvSpPr>
        <p:spPr>
          <a:xfrm>
            <a:off x="12012804" y="12871152"/>
            <a:ext cx="377445" cy="457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fast"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610"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611"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612"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613" name="Problems with Locks"/>
          <p:cNvSpPr txBox="1"/>
          <p:nvPr>
            <p:ph type="title"/>
          </p:nvPr>
        </p:nvSpPr>
        <p:spPr>
          <a:xfrm>
            <a:off x="609600" y="368300"/>
            <a:ext cx="23182917" cy="822325"/>
          </a:xfrm>
          <a:prstGeom prst="rect">
            <a:avLst/>
          </a:prstGeom>
        </p:spPr>
        <p:txBody>
          <a:bodyPr/>
          <a:lstStyle>
            <a:lvl1pPr>
              <a:defRPr sz="4200"/>
            </a:lvl1pPr>
          </a:lstStyle>
          <a:p>
            <a:pPr/>
            <a:r>
              <a:t>Problems with Locks</a:t>
            </a:r>
          </a:p>
        </p:txBody>
      </p:sp>
      <p:sp>
        <p:nvSpPr>
          <p:cNvPr id="614" name="bad_cow is not an atomic type, bad_cow&lt;int&gt; is as thread safe as int…"/>
          <p:cNvSpPr txBox="1"/>
          <p:nvPr>
            <p:ph type="body" idx="1"/>
          </p:nvPr>
        </p:nvSpPr>
        <p:spPr>
          <a:prstGeom prst="rect">
            <a:avLst/>
          </a:prstGeom>
        </p:spPr>
        <p:txBody>
          <a:bodyPr/>
          <a:lstStyle/>
          <a:p>
            <a:pPr/>
            <a:r>
              <a:rPr>
                <a:latin typeface="Menlo Regular"/>
                <a:ea typeface="Menlo Regular"/>
                <a:cs typeface="Menlo Regular"/>
                <a:sym typeface="Menlo Regular"/>
              </a:rPr>
              <a:t>bad_cow</a:t>
            </a:r>
            <a:r>
              <a:t> is not an atomic type, </a:t>
            </a:r>
            <a:r>
              <a:rPr>
                <a:latin typeface="Menlo Regular"/>
                <a:ea typeface="Menlo Regular"/>
                <a:cs typeface="Menlo Regular"/>
                <a:sym typeface="Menlo Regular"/>
              </a:rPr>
              <a:t>bad_cow&lt;int&gt;</a:t>
            </a:r>
            <a:r>
              <a:t> is as thread safe as </a:t>
            </a:r>
            <a:r>
              <a:rPr>
                <a:latin typeface="Menlo Regular"/>
                <a:ea typeface="Menlo Regular"/>
                <a:cs typeface="Menlo Regular"/>
                <a:sym typeface="Menlo Regular"/>
              </a:rPr>
              <a:t>int</a:t>
            </a:r>
          </a:p>
          <a:p>
            <a:pPr/>
            <a:r>
              <a:rPr>
                <a:latin typeface="Menlo Regular"/>
                <a:ea typeface="Menlo Regular"/>
                <a:cs typeface="Menlo Regular"/>
                <a:sym typeface="Menlo Regular"/>
              </a:rPr>
              <a:t>--x </a:t>
            </a:r>
            <a:r>
              <a:t>on an atomic is equivalent to </a:t>
            </a:r>
            <a:r>
              <a:rPr>
                <a:latin typeface="Menlo Regular"/>
                <a:ea typeface="Menlo Regular"/>
                <a:cs typeface="Menlo Regular"/>
                <a:sym typeface="Menlo Regular"/>
              </a:rPr>
              <a:t>atomic_fetch_sub(x) - 1</a:t>
            </a:r>
            <a:endParaRPr>
              <a:latin typeface="Menlo Regular"/>
              <a:ea typeface="Menlo Regular"/>
              <a:cs typeface="Menlo Regular"/>
              <a:sym typeface="Menlo Regular"/>
            </a:endParaRPr>
          </a:p>
          <a:p>
            <a:pPr/>
            <a:endParaRPr>
              <a:latin typeface="Menlo Regular"/>
              <a:ea typeface="Menlo Regular"/>
              <a:cs typeface="Menlo Regular"/>
              <a:sym typeface="Menlo Regular"/>
            </a:endParaRPr>
          </a:p>
          <a:p>
            <a:pPr/>
            <a:r>
              <a:t>Nobody caught the bug that </a:t>
            </a:r>
            <a:r>
              <a:rPr>
                <a:latin typeface="Menlo Regular"/>
                <a:ea typeface="Menlo Regular"/>
                <a:cs typeface="Menlo Regular"/>
                <a:sym typeface="Menlo Regular"/>
              </a:rPr>
              <a:t>count_m</a:t>
            </a:r>
            <a:r>
              <a:t> was uninitialized</a:t>
            </a:r>
          </a:p>
        </p:txBody>
      </p:sp>
      <p:sp>
        <p:nvSpPr>
          <p:cNvPr id="615"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616"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0" presetID="1" grpId="1" fill="hold">
                                  <p:stCondLst>
                                    <p:cond delay="0"/>
                                  </p:stCondLst>
                                  <p:iterate type="el" backwards="0">
                                    <p:tmAbs val="0"/>
                                  </p:iterate>
                                  <p:childTnLst>
                                    <p:set>
                                      <p:cBhvr>
                                        <p:cTn id="6" fill="hold"/>
                                        <p:tgtEl>
                                          <p:spTgt spid="614">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614">
                                            <p:txEl>
                                              <p:pRg st="0" end="0"/>
                                            </p:txEl>
                                          </p:spTgt>
                                        </p:tgtEl>
                                        <p:attrNameLst>
                                          <p:attrName>style.visibility</p:attrName>
                                        </p:attrNameLst>
                                      </p:cBhvr>
                                      <p:to>
                                        <p:strVal val="visible"/>
                                      </p:to>
                                    </p:set>
                                  </p:childTnLst>
                                </p:cTn>
                              </p:par>
                            </p:childTnLst>
                          </p:cTn>
                        </p:par>
                        <p:par>
                          <p:cTn id="9" fill="hold">
                            <p:stCondLst>
                              <p:cond delay="0"/>
                            </p:stCondLst>
                            <p:childTnLst>
                              <p:par>
                                <p:cTn id="10" presetClass="entr" nodeType="afterEffect" presetSubtype="0" presetID="1" grpId="1" fill="hold">
                                  <p:stCondLst>
                                    <p:cond delay="0"/>
                                  </p:stCondLst>
                                  <p:iterate type="el" backwards="0">
                                    <p:tmAbs val="0"/>
                                  </p:iterate>
                                  <p:childTnLst>
                                    <p:set>
                                      <p:cBhvr>
                                        <p:cTn id="11" fill="hold"/>
                                        <p:tgtEl>
                                          <p:spTgt spid="614">
                                            <p:txEl>
                                              <p:pRg st="1" end="1"/>
                                            </p:txEl>
                                          </p:spTgt>
                                        </p:tgtEl>
                                        <p:attrNameLst>
                                          <p:attrName>style.visibility</p:attrName>
                                        </p:attrNameLst>
                                      </p:cBhvr>
                                      <p:to>
                                        <p:strVal val="visible"/>
                                      </p:to>
                                    </p:set>
                                  </p:childTnLst>
                                </p:cTn>
                              </p:par>
                            </p:childTnLst>
                          </p:cTn>
                        </p:par>
                        <p:par>
                          <p:cTn id="12" fill="hold">
                            <p:stCondLst>
                              <p:cond delay="0"/>
                            </p:stCondLst>
                            <p:childTnLst>
                              <p:par>
                                <p:cTn id="13" presetClass="entr" nodeType="afterEffect" presetSubtype="0" presetID="1" grpId="1" fill="hold">
                                  <p:stCondLst>
                                    <p:cond delay="0"/>
                                  </p:stCondLst>
                                  <p:iterate type="el" backwards="0">
                                    <p:tmAbs val="0"/>
                                  </p:iterate>
                                  <p:childTnLst>
                                    <p:set>
                                      <p:cBhvr>
                                        <p:cTn id="14" fill="hold"/>
                                        <p:tgtEl>
                                          <p:spTgt spid="6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1" fill="hold">
                                  <p:stCondLst>
                                    <p:cond delay="0"/>
                                  </p:stCondLst>
                                  <p:iterate type="el" backwards="0">
                                    <p:tmAbs val="0"/>
                                  </p:iterate>
                                  <p:childTnLst>
                                    <p:set>
                                      <p:cBhvr>
                                        <p:cTn id="18" fill="hold"/>
                                        <p:tgtEl>
                                          <p:spTgt spid="614">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614" grpId="1"/>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8" name="Rectangle"/>
          <p:cNvSpPr/>
          <p:nvPr/>
        </p:nvSpPr>
        <p:spPr>
          <a:xfrm>
            <a:off x="-12697" y="1"/>
            <a:ext cx="24428447"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619" name="Rectangle"/>
          <p:cNvSpPr/>
          <p:nvPr/>
        </p:nvSpPr>
        <p:spPr>
          <a:xfrm>
            <a:off x="-31752" y="12884153"/>
            <a:ext cx="24447502"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620"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629" name="Group"/>
          <p:cNvGrpSpPr/>
          <p:nvPr/>
        </p:nvGrpSpPr>
        <p:grpSpPr>
          <a:xfrm>
            <a:off x="23430479" y="13063804"/>
            <a:ext cx="356816" cy="489706"/>
            <a:chOff x="0" y="0"/>
            <a:chExt cx="356815" cy="489704"/>
          </a:xfrm>
        </p:grpSpPr>
        <p:sp>
          <p:nvSpPr>
            <p:cNvPr id="621"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622"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623"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624"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625"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626"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627"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628"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630" name="Why do we want concurrency?"/>
          <p:cNvSpPr txBox="1"/>
          <p:nvPr>
            <p:ph type="title"/>
          </p:nvPr>
        </p:nvSpPr>
        <p:spPr>
          <a:prstGeom prst="rect">
            <a:avLst/>
          </a:prstGeom>
        </p:spPr>
        <p:txBody>
          <a:bodyPr lIns="76200" tIns="76200" rIns="76200" bIns="76200"/>
          <a:lstStyle>
            <a:lvl1pPr>
              <a:defRPr sz="4000"/>
            </a:lvl1pPr>
          </a:lstStyle>
          <a:p>
            <a:pPr/>
            <a:r>
              <a:t>Why do we want concurrency?</a:t>
            </a:r>
          </a:p>
        </p:txBody>
      </p:sp>
      <p:sp>
        <p:nvSpPr>
          <p:cNvPr id="631"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632" name="Performance through Parallelism"/>
          <p:cNvSpPr txBox="1"/>
          <p:nvPr/>
        </p:nvSpPr>
        <p:spPr>
          <a:xfrm>
            <a:off x="622300" y="1981200"/>
            <a:ext cx="23139400" cy="10363200"/>
          </a:xfrm>
          <a:prstGeom prst="rect">
            <a:avLst/>
          </a:prstGeom>
          <a:ln w="12700"/>
          <a:extLst>
            <a:ext uri="{C572A759-6A51-4108-AA02-DFA0A04FC94B}">
              <ma14:wrappingTextBoxFlag xmlns:ma14="http://schemas.microsoft.com/office/mac/drawingml/2011/main" val="1"/>
            </a:ext>
          </a:extLst>
        </p:spPr>
        <p:txBody>
          <a:bodyPr lIns="76200" tIns="76200" rIns="76200" bIns="76200"/>
          <a:lstStyle>
            <a:lvl1pPr algn="ctr" defTabSz="914400">
              <a:lnSpc>
                <a:spcPts val="12200"/>
              </a:lnSpc>
              <a:buClr>
                <a:srgbClr val="E1E4E6"/>
              </a:buClr>
              <a:defRPr sz="7200"/>
            </a:lvl1pPr>
          </a:lstStyle>
          <a:p>
            <a:pPr/>
            <a:r>
              <a:t>Performance through Parallelism</a:t>
            </a:r>
          </a:p>
        </p:txBody>
      </p:sp>
    </p:spTree>
  </p:cSld>
  <p:clrMapOvr>
    <a:masterClrMapping/>
  </p:clrMapOvr>
  <p:transition xmlns:p14="http://schemas.microsoft.com/office/powerpoint/2010/main" spd="fast"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4"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635"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636"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637" name="Rectangle"/>
          <p:cNvSpPr/>
          <p:nvPr/>
        </p:nvSpPr>
        <p:spPr>
          <a:xfrm>
            <a:off x="0" y="1485901"/>
            <a:ext cx="24428495" cy="11398249"/>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638"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639"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
        <p:nvSpPr>
          <p:cNvPr id="640" name="Desktop Compute Power (8-core 3.5GHz Sandy Bridge + AMD Radeon 6950)"/>
          <p:cNvSpPr txBox="1"/>
          <p:nvPr>
            <p:ph type="title"/>
          </p:nvPr>
        </p:nvSpPr>
        <p:spPr>
          <a:xfrm>
            <a:off x="3505200" y="368300"/>
            <a:ext cx="17373600" cy="822325"/>
          </a:xfrm>
          <a:prstGeom prst="rect">
            <a:avLst/>
          </a:prstGeom>
        </p:spPr>
        <p:txBody>
          <a:bodyPr lIns="101600" tIns="101600" rIns="101600" bIns="101600"/>
          <a:lstStyle>
            <a:lvl1pPr defTabSz="914400">
              <a:defRPr sz="4200"/>
            </a:lvl1pPr>
          </a:lstStyle>
          <a:p>
            <a:pPr/>
            <a:r>
              <a:t>Desktop Compute Power (8-core 3.5GHz Sandy Bridge + AMD Radeon 6950)</a:t>
            </a:r>
          </a:p>
        </p:txBody>
      </p:sp>
      <p:sp>
        <p:nvSpPr>
          <p:cNvPr id="641" name="Text"/>
          <p:cNvSpPr txBox="1"/>
          <p:nvPr/>
        </p:nvSpPr>
        <p:spPr>
          <a:xfrm>
            <a:off x="11995607" y="12884146"/>
            <a:ext cx="392786" cy="457201"/>
          </a:xfrm>
          <a:prstGeom prst="rect">
            <a:avLst/>
          </a:prstGeom>
          <a:ln w="12700"/>
          <a:extLst>
            <a:ext uri="{C572A759-6A51-4108-AA02-DFA0A04FC94B}">
              <ma14:wrappingTextBoxFlag xmlns:ma14="http://schemas.microsoft.com/office/mac/drawingml/2011/main" val="1"/>
            </a:ext>
          </a:extLst>
        </p:spPr>
        <p:txBody>
          <a:bodyPr wrap="none" lIns="101600" tIns="101600" rIns="101600" bIns="101600" anchor="ctr">
            <a:spAutoFit/>
          </a:bodyPr>
          <a:lstStyle>
            <a:lvl1pPr algn="ctr" defTabSz="914400">
              <a:buClrTx/>
              <a:defRPr sz="1600">
                <a:solidFill>
                  <a:srgbClr val="FFFFFF"/>
                </a:solidFill>
                <a:uFill>
                  <a:solidFill>
                    <a:srgbClr val="FFFFFF"/>
                  </a:solidFill>
                </a:uFill>
              </a:defRPr>
            </a:lvl1pPr>
          </a:lstStyle>
          <a:p>
            <a:pPr/>
            <a:fld id="{86CB4B4D-7CA3-9044-876B-883B54F8677D}" type="slidenum"/>
          </a:p>
        </p:txBody>
      </p:sp>
      <p:graphicFrame>
        <p:nvGraphicFramePr>
          <p:cNvPr id="642" name="2D Stacked Bar Chart"/>
          <p:cNvGraphicFramePr/>
          <p:nvPr/>
        </p:nvGraphicFramePr>
        <p:xfrm>
          <a:off x="3797091" y="7429603"/>
          <a:ext cx="17030358" cy="5161500"/>
        </p:xfrm>
        <a:graphic xmlns:a="http://schemas.openxmlformats.org/drawingml/2006/main">
          <a:graphicData uri="http://schemas.openxmlformats.org/drawingml/2006/chart">
            <c:chart xmlns:c="http://schemas.openxmlformats.org/drawingml/2006/chart" r:id="rId4"/>
          </a:graphicData>
        </a:graphic>
      </p:graphicFrame>
      <p:sp>
        <p:nvSpPr>
          <p:cNvPr id="643" name="(GFlops)"/>
          <p:cNvSpPr txBox="1"/>
          <p:nvPr/>
        </p:nvSpPr>
        <p:spPr>
          <a:xfrm>
            <a:off x="18420528" y="11805056"/>
            <a:ext cx="1803401" cy="723901"/>
          </a:xfrm>
          <a:prstGeom prst="rect">
            <a:avLst/>
          </a:prstGeom>
          <a:ln w="12700"/>
          <a:extLst>
            <a:ext uri="{C572A759-6A51-4108-AA02-DFA0A04FC94B}">
              <ma14:wrappingTextBoxFlag xmlns:ma14="http://schemas.microsoft.com/office/mac/drawingml/2011/main" val="1"/>
            </a:ext>
          </a:extLst>
        </p:spPr>
        <p:txBody>
          <a:bodyPr lIns="76200" tIns="76200" rIns="76200" bIns="76200">
            <a:spAutoFit/>
          </a:bodyPr>
          <a:lstStyle>
            <a:lvl1pPr defTabSz="914400">
              <a:defRPr>
                <a:solidFill>
                  <a:srgbClr val="FFFFFF"/>
                </a:solidFill>
                <a:uFill>
                  <a:solidFill>
                    <a:srgbClr val="FFFFFF"/>
                  </a:solidFill>
                </a:uFill>
              </a:defRPr>
            </a:lvl1pPr>
          </a:lstStyle>
          <a:p>
            <a:pPr/>
            <a:r>
              <a:t>(GFlops)</a:t>
            </a:r>
          </a:p>
        </p:txBody>
      </p:sp>
      <p:grpSp>
        <p:nvGrpSpPr>
          <p:cNvPr id="646" name="Group"/>
          <p:cNvGrpSpPr/>
          <p:nvPr/>
        </p:nvGrpSpPr>
        <p:grpSpPr>
          <a:xfrm>
            <a:off x="11280034" y="4198179"/>
            <a:ext cx="5994401" cy="4241801"/>
            <a:chOff x="0" y="0"/>
            <a:chExt cx="5994400" cy="4241799"/>
          </a:xfrm>
        </p:grpSpPr>
        <p:sp>
          <p:nvSpPr>
            <p:cNvPr id="644" name="Shape"/>
            <p:cNvSpPr/>
            <p:nvPr/>
          </p:nvSpPr>
          <p:spPr>
            <a:xfrm>
              <a:off x="0" y="186261"/>
              <a:ext cx="5994401" cy="4055539"/>
            </a:xfrm>
            <a:custGeom>
              <a:avLst/>
              <a:gdLst/>
              <a:ahLst/>
              <a:cxnLst>
                <a:cxn ang="0">
                  <a:pos x="wd2" y="hd2"/>
                </a:cxn>
                <a:cxn ang="5400000">
                  <a:pos x="wd2" y="hd2"/>
                </a:cxn>
                <a:cxn ang="10800000">
                  <a:pos x="wd2" y="hd2"/>
                </a:cxn>
                <a:cxn ang="16200000">
                  <a:pos x="wd2" y="hd2"/>
                </a:cxn>
              </a:cxnLst>
              <a:rect l="0" t="0" r="r" b="b"/>
              <a:pathLst>
                <a:path w="20790" h="20941" fill="norm" stroke="1" extrusionOk="0">
                  <a:moveTo>
                    <a:pt x="20790" y="20941"/>
                  </a:moveTo>
                  <a:lnTo>
                    <a:pt x="8284" y="8905"/>
                  </a:lnTo>
                  <a:cubicBezTo>
                    <a:pt x="5424" y="10039"/>
                    <a:pt x="1976" y="9071"/>
                    <a:pt x="583" y="6743"/>
                  </a:cubicBezTo>
                  <a:cubicBezTo>
                    <a:pt x="-810" y="4415"/>
                    <a:pt x="379" y="1609"/>
                    <a:pt x="3239" y="475"/>
                  </a:cubicBezTo>
                  <a:cubicBezTo>
                    <a:pt x="6099" y="-659"/>
                    <a:pt x="9547" y="309"/>
                    <a:pt x="10940" y="2637"/>
                  </a:cubicBezTo>
                  <a:cubicBezTo>
                    <a:pt x="11969" y="4355"/>
                    <a:pt x="11613" y="6410"/>
                    <a:pt x="10040" y="7829"/>
                  </a:cubicBezTo>
                  <a:close/>
                </a:path>
              </a:pathLst>
            </a:custGeom>
            <a:gradFill flip="none" rotWithShape="1">
              <a:gsLst>
                <a:gs pos="0">
                  <a:srgbClr val="929292"/>
                </a:gs>
                <a:gs pos="100000">
                  <a:srgbClr val="6C6C6C"/>
                </a:gs>
              </a:gsLst>
              <a:lin ang="16200000" scaled="0"/>
            </a:gradFill>
            <a:ln w="12700" cap="flat">
              <a:solidFill>
                <a:srgbClr val="CADB36"/>
              </a:solidFill>
              <a:prstDash val="solid"/>
              <a:round/>
            </a:ln>
            <a:effectLst>
              <a:outerShdw sx="100000" sy="100000" kx="0" ky="0" algn="b" rotWithShape="0" blurRad="76200" dist="38100" dir="5400000">
                <a:srgbClr val="000000">
                  <a:alpha val="35000"/>
                </a:srgbClr>
              </a:outerShdw>
            </a:effectLst>
          </p:spPr>
          <p:txBody>
            <a:bodyPr wrap="square" lIns="76200" tIns="76200" rIns="76200" bIns="76200" numCol="1" anchor="t">
              <a:noAutofit/>
            </a:bodyPr>
            <a:lstStyle/>
            <a:p>
              <a:pPr defTabSz="914400"/>
            </a:p>
          </p:txBody>
        </p:sp>
        <p:sp>
          <p:nvSpPr>
            <p:cNvPr id="645" name="Intrinsics…"/>
            <p:cNvSpPr txBox="1"/>
            <p:nvPr/>
          </p:nvSpPr>
          <p:spPr>
            <a:xfrm>
              <a:off x="256245" y="0"/>
              <a:ext cx="2970805" cy="21873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noAutofit/>
            </a:bodyPr>
            <a:lstStyle/>
            <a:p>
              <a:pPr algn="ctr" defTabSz="914400">
                <a:buClr>
                  <a:srgbClr val="FFFFFF"/>
                </a:buClr>
                <a:defRPr sz="2800">
                  <a:solidFill>
                    <a:srgbClr val="FFFFFF"/>
                  </a:solidFill>
                  <a:uFill>
                    <a:solidFill>
                      <a:srgbClr val="FFFFFF"/>
                    </a:solidFill>
                  </a:uFill>
                </a:defRPr>
              </a:pPr>
              <a:r>
                <a:t>Intrinsics</a:t>
              </a:r>
            </a:p>
            <a:p>
              <a:pPr algn="ctr" defTabSz="914400">
                <a:buClr>
                  <a:srgbClr val="FFFFFF"/>
                </a:buClr>
                <a:defRPr sz="2800">
                  <a:solidFill>
                    <a:srgbClr val="FFFFFF"/>
                  </a:solidFill>
                  <a:uFill>
                    <a:solidFill>
                      <a:srgbClr val="FFFFFF"/>
                    </a:solidFill>
                  </a:uFill>
                </a:defRPr>
              </a:pPr>
              <a:r>
                <a:t>Auto-vectorization</a:t>
              </a:r>
            </a:p>
            <a:p>
              <a:pPr algn="ctr" defTabSz="914400">
                <a:buClr>
                  <a:srgbClr val="FFFFFF"/>
                </a:buClr>
                <a:defRPr sz="2800">
                  <a:solidFill>
                    <a:srgbClr val="FFFFFF"/>
                  </a:solidFill>
                  <a:uFill>
                    <a:solidFill>
                      <a:srgbClr val="FFFFFF"/>
                    </a:solidFill>
                  </a:uFill>
                </a:defRPr>
              </a:pPr>
              <a:r>
                <a:t>OpenCL</a:t>
              </a:r>
            </a:p>
          </p:txBody>
        </p:sp>
      </p:grpSp>
      <p:grpSp>
        <p:nvGrpSpPr>
          <p:cNvPr id="649" name="Group"/>
          <p:cNvGrpSpPr/>
          <p:nvPr/>
        </p:nvGrpSpPr>
        <p:grpSpPr>
          <a:xfrm>
            <a:off x="17988929" y="5159560"/>
            <a:ext cx="2225884" cy="3145553"/>
            <a:chOff x="0" y="0"/>
            <a:chExt cx="2225883" cy="3145552"/>
          </a:xfrm>
        </p:grpSpPr>
        <p:sp>
          <p:nvSpPr>
            <p:cNvPr id="647" name="Shape"/>
            <p:cNvSpPr/>
            <p:nvPr/>
          </p:nvSpPr>
          <p:spPr>
            <a:xfrm>
              <a:off x="-1" y="0"/>
              <a:ext cx="2225885" cy="3145553"/>
            </a:xfrm>
            <a:custGeom>
              <a:avLst/>
              <a:gdLst/>
              <a:ahLst/>
              <a:cxnLst>
                <a:cxn ang="0">
                  <a:pos x="wd2" y="hd2"/>
                </a:cxn>
                <a:cxn ang="5400000">
                  <a:pos x="wd2" y="hd2"/>
                </a:cxn>
                <a:cxn ang="10800000">
                  <a:pos x="wd2" y="hd2"/>
                </a:cxn>
                <a:cxn ang="16200000">
                  <a:pos x="wd2" y="hd2"/>
                </a:cxn>
              </a:cxnLst>
              <a:rect l="0" t="0" r="r" b="b"/>
              <a:pathLst>
                <a:path w="19708" h="21149" fill="norm" stroke="1" extrusionOk="0">
                  <a:moveTo>
                    <a:pt x="8909" y="21149"/>
                  </a:moveTo>
                  <a:lnTo>
                    <a:pt x="7710" y="9279"/>
                  </a:lnTo>
                  <a:cubicBezTo>
                    <a:pt x="2399" y="8715"/>
                    <a:pt x="-946" y="6206"/>
                    <a:pt x="238" y="3674"/>
                  </a:cubicBezTo>
                  <a:cubicBezTo>
                    <a:pt x="1422" y="1143"/>
                    <a:pt x="6687" y="-451"/>
                    <a:pt x="11998" y="113"/>
                  </a:cubicBezTo>
                  <a:cubicBezTo>
                    <a:pt x="17309" y="678"/>
                    <a:pt x="20654" y="3187"/>
                    <a:pt x="19470" y="5718"/>
                  </a:cubicBezTo>
                  <a:cubicBezTo>
                    <a:pt x="18596" y="7586"/>
                    <a:pt x="15430" y="9015"/>
                    <a:pt x="11468" y="9328"/>
                  </a:cubicBezTo>
                  <a:close/>
                </a:path>
              </a:pathLst>
            </a:custGeom>
            <a:gradFill flip="none" rotWithShape="1">
              <a:gsLst>
                <a:gs pos="0">
                  <a:srgbClr val="929292"/>
                </a:gs>
                <a:gs pos="100000">
                  <a:srgbClr val="6C6C6C"/>
                </a:gs>
              </a:gsLst>
              <a:lin ang="16200000" scaled="0"/>
            </a:gradFill>
            <a:ln w="12700" cap="flat">
              <a:solidFill>
                <a:srgbClr val="CADB36"/>
              </a:solidFill>
              <a:prstDash val="solid"/>
              <a:round/>
            </a:ln>
            <a:effectLst>
              <a:outerShdw sx="100000" sy="100000" kx="0" ky="0" algn="b" rotWithShape="0" blurRad="76200" dist="38100" dir="5400000">
                <a:srgbClr val="000000">
                  <a:alpha val="35000"/>
                </a:srgbClr>
              </a:outerShdw>
            </a:effectLst>
          </p:spPr>
          <p:txBody>
            <a:bodyPr wrap="square" lIns="76200" tIns="76200" rIns="76200" bIns="76200" numCol="1" anchor="t">
              <a:noAutofit/>
            </a:bodyPr>
            <a:lstStyle/>
            <a:p>
              <a:pPr defTabSz="914400"/>
            </a:p>
          </p:txBody>
        </p:sp>
        <p:sp>
          <p:nvSpPr>
            <p:cNvPr id="648" name="Straight C++"/>
            <p:cNvSpPr txBox="1"/>
            <p:nvPr/>
          </p:nvSpPr>
          <p:spPr>
            <a:xfrm>
              <a:off x="169143" y="329758"/>
              <a:ext cx="2032001" cy="596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lgn="ctr" defTabSz="914400">
                <a:buClr>
                  <a:srgbClr val="FFFFFF"/>
                </a:buClr>
                <a:defRPr sz="2800">
                  <a:solidFill>
                    <a:srgbClr val="FFFFFF"/>
                  </a:solidFill>
                  <a:uFill>
                    <a:solidFill>
                      <a:srgbClr val="FFFFFF"/>
                    </a:solidFill>
                  </a:uFill>
                </a:defRPr>
              </a:lvl1pPr>
            </a:lstStyle>
            <a:p>
              <a:pPr/>
              <a:r>
                <a:t>Straight C++</a:t>
              </a:r>
            </a:p>
          </p:txBody>
        </p:sp>
      </p:grpSp>
      <p:grpSp>
        <p:nvGrpSpPr>
          <p:cNvPr id="652" name="Group"/>
          <p:cNvGrpSpPr/>
          <p:nvPr/>
        </p:nvGrpSpPr>
        <p:grpSpPr>
          <a:xfrm>
            <a:off x="14870785" y="4238929"/>
            <a:ext cx="3937001" cy="4241802"/>
            <a:chOff x="0" y="0"/>
            <a:chExt cx="3937000" cy="4241800"/>
          </a:xfrm>
        </p:grpSpPr>
        <p:sp>
          <p:nvSpPr>
            <p:cNvPr id="650" name="Shape"/>
            <p:cNvSpPr/>
            <p:nvPr/>
          </p:nvSpPr>
          <p:spPr>
            <a:xfrm>
              <a:off x="-1" y="184286"/>
              <a:ext cx="3937001" cy="4057515"/>
            </a:xfrm>
            <a:custGeom>
              <a:avLst/>
              <a:gdLst/>
              <a:ahLst/>
              <a:cxnLst>
                <a:cxn ang="0">
                  <a:pos x="wd2" y="hd2"/>
                </a:cxn>
                <a:cxn ang="5400000">
                  <a:pos x="wd2" y="hd2"/>
                </a:cxn>
                <a:cxn ang="10800000">
                  <a:pos x="wd2" y="hd2"/>
                </a:cxn>
                <a:cxn ang="16200000">
                  <a:pos x="wd2" y="hd2"/>
                </a:cxn>
              </a:cxnLst>
              <a:rect l="0" t="0" r="r" b="b"/>
              <a:pathLst>
                <a:path w="20767" h="21099" fill="norm" stroke="1" extrusionOk="0">
                  <a:moveTo>
                    <a:pt x="20767" y="21099"/>
                  </a:moveTo>
                  <a:lnTo>
                    <a:pt x="9884" y="9382"/>
                  </a:lnTo>
                  <a:cubicBezTo>
                    <a:pt x="5643" y="10032"/>
                    <a:pt x="1329" y="8492"/>
                    <a:pt x="248" y="5942"/>
                  </a:cubicBezTo>
                  <a:cubicBezTo>
                    <a:pt x="-833" y="3392"/>
                    <a:pt x="1729" y="799"/>
                    <a:pt x="5970" y="149"/>
                  </a:cubicBezTo>
                  <a:cubicBezTo>
                    <a:pt x="10211" y="-501"/>
                    <a:pt x="14525" y="1039"/>
                    <a:pt x="15606" y="3589"/>
                  </a:cubicBezTo>
                  <a:cubicBezTo>
                    <a:pt x="16403" y="5471"/>
                    <a:pt x="15221" y="7455"/>
                    <a:pt x="12618" y="8605"/>
                  </a:cubicBezTo>
                  <a:close/>
                </a:path>
              </a:pathLst>
            </a:custGeom>
            <a:gradFill flip="none" rotWithShape="1">
              <a:gsLst>
                <a:gs pos="0">
                  <a:srgbClr val="929292"/>
                </a:gs>
                <a:gs pos="100000">
                  <a:srgbClr val="6C6C6C"/>
                </a:gs>
              </a:gsLst>
              <a:lin ang="16200000" scaled="0"/>
            </a:gradFill>
            <a:ln w="12700" cap="flat">
              <a:solidFill>
                <a:srgbClr val="CADB36"/>
              </a:solidFill>
              <a:prstDash val="solid"/>
              <a:round/>
            </a:ln>
            <a:effectLst>
              <a:outerShdw sx="100000" sy="100000" kx="0" ky="0" algn="b" rotWithShape="0" blurRad="76200" dist="38100" dir="5400000">
                <a:srgbClr val="000000">
                  <a:alpha val="35000"/>
                </a:srgbClr>
              </a:outerShdw>
            </a:effectLst>
          </p:spPr>
          <p:txBody>
            <a:bodyPr wrap="square" lIns="76200" tIns="76200" rIns="76200" bIns="76200" numCol="1" anchor="t">
              <a:noAutofit/>
            </a:bodyPr>
            <a:lstStyle/>
            <a:p>
              <a:pPr defTabSz="914400"/>
            </a:p>
          </p:txBody>
        </p:sp>
        <p:sp>
          <p:nvSpPr>
            <p:cNvPr id="651" name="TBB…"/>
            <p:cNvSpPr txBox="1"/>
            <p:nvPr/>
          </p:nvSpPr>
          <p:spPr>
            <a:xfrm>
              <a:off x="438138" y="0"/>
              <a:ext cx="2126860" cy="22158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noAutofit/>
            </a:bodyPr>
            <a:lstStyle/>
            <a:p>
              <a:pPr algn="ctr" defTabSz="914400">
                <a:buClr>
                  <a:srgbClr val="FFFFFF"/>
                </a:buClr>
                <a:defRPr sz="2800">
                  <a:solidFill>
                    <a:srgbClr val="FFFFFF"/>
                  </a:solidFill>
                  <a:uFill>
                    <a:solidFill>
                      <a:srgbClr val="FFFFFF"/>
                    </a:solidFill>
                  </a:uFill>
                </a:defRPr>
              </a:pPr>
              <a:r>
                <a:t>TBB</a:t>
              </a:r>
            </a:p>
            <a:p>
              <a:pPr algn="ctr" defTabSz="914400">
                <a:buClr>
                  <a:srgbClr val="FFFFFF"/>
                </a:buClr>
                <a:defRPr sz="2800">
                  <a:solidFill>
                    <a:srgbClr val="FFFFFF"/>
                  </a:solidFill>
                  <a:uFill>
                    <a:solidFill>
                      <a:srgbClr val="FFFFFF"/>
                    </a:solidFill>
                  </a:uFill>
                </a:defRPr>
              </a:pPr>
              <a:r>
                <a:t>GCD</a:t>
              </a:r>
            </a:p>
            <a:p>
              <a:pPr algn="ctr" defTabSz="914400">
                <a:buClr>
                  <a:srgbClr val="FFFFFF"/>
                </a:buClr>
                <a:defRPr sz="2800">
                  <a:solidFill>
                    <a:srgbClr val="FFFFFF"/>
                  </a:solidFill>
                  <a:uFill>
                    <a:solidFill>
                      <a:srgbClr val="FFFFFF"/>
                    </a:solidFill>
                  </a:uFill>
                </a:defRPr>
              </a:pPr>
              <a:r>
                <a:t>OpenMP</a:t>
              </a:r>
            </a:p>
            <a:p>
              <a:pPr algn="ctr" defTabSz="914400">
                <a:buClr>
                  <a:srgbClr val="FFFFFF"/>
                </a:buClr>
                <a:defRPr sz="2800">
                  <a:solidFill>
                    <a:srgbClr val="FFFFFF"/>
                  </a:solidFill>
                  <a:uFill>
                    <a:solidFill>
                      <a:srgbClr val="FFFFFF"/>
                    </a:solidFill>
                  </a:uFill>
                </a:defRPr>
              </a:pPr>
              <a:r>
                <a:t>C++11</a:t>
              </a:r>
            </a:p>
          </p:txBody>
        </p:sp>
      </p:grpSp>
      <p:grpSp>
        <p:nvGrpSpPr>
          <p:cNvPr id="655" name="Group"/>
          <p:cNvGrpSpPr/>
          <p:nvPr/>
        </p:nvGrpSpPr>
        <p:grpSpPr>
          <a:xfrm>
            <a:off x="7662626" y="1608627"/>
            <a:ext cx="3937000" cy="6680202"/>
            <a:chOff x="0" y="0"/>
            <a:chExt cx="3936999" cy="6680200"/>
          </a:xfrm>
        </p:grpSpPr>
        <p:sp>
          <p:nvSpPr>
            <p:cNvPr id="653" name="Shape"/>
            <p:cNvSpPr/>
            <p:nvPr/>
          </p:nvSpPr>
          <p:spPr>
            <a:xfrm>
              <a:off x="0" y="743654"/>
              <a:ext cx="3937000" cy="5936547"/>
            </a:xfrm>
            <a:custGeom>
              <a:avLst/>
              <a:gdLst/>
              <a:ahLst/>
              <a:cxnLst>
                <a:cxn ang="0">
                  <a:pos x="wd2" y="hd2"/>
                </a:cxn>
                <a:cxn ang="5400000">
                  <a:pos x="wd2" y="hd2"/>
                </a:cxn>
                <a:cxn ang="10800000">
                  <a:pos x="wd2" y="hd2"/>
                </a:cxn>
                <a:cxn ang="16200000">
                  <a:pos x="wd2" y="hd2"/>
                </a:cxn>
              </a:cxnLst>
              <a:rect l="0" t="0" r="r" b="b"/>
              <a:pathLst>
                <a:path w="19998" h="21201" fill="norm" stroke="1" extrusionOk="0">
                  <a:moveTo>
                    <a:pt x="10606" y="21201"/>
                  </a:moveTo>
                  <a:lnTo>
                    <a:pt x="8275" y="9882"/>
                  </a:lnTo>
                  <a:cubicBezTo>
                    <a:pt x="2836" y="9408"/>
                    <a:pt x="-801" y="6828"/>
                    <a:pt x="151" y="4120"/>
                  </a:cubicBezTo>
                  <a:cubicBezTo>
                    <a:pt x="1104" y="1412"/>
                    <a:pt x="6285" y="-399"/>
                    <a:pt x="11723" y="75"/>
                  </a:cubicBezTo>
                  <a:cubicBezTo>
                    <a:pt x="17162" y="549"/>
                    <a:pt x="20799" y="3129"/>
                    <a:pt x="19847" y="5837"/>
                  </a:cubicBezTo>
                  <a:cubicBezTo>
                    <a:pt x="19144" y="7836"/>
                    <a:pt x="16075" y="9422"/>
                    <a:pt x="12089" y="9847"/>
                  </a:cubicBezTo>
                  <a:close/>
                </a:path>
              </a:pathLst>
            </a:custGeom>
            <a:gradFill flip="none" rotWithShape="1">
              <a:gsLst>
                <a:gs pos="0">
                  <a:srgbClr val="929292"/>
                </a:gs>
                <a:gs pos="100000">
                  <a:srgbClr val="6C6C6C"/>
                </a:gs>
              </a:gsLst>
              <a:lin ang="16200000" scaled="0"/>
            </a:gradFill>
            <a:ln w="12700" cap="flat">
              <a:solidFill>
                <a:srgbClr val="CADB36"/>
              </a:solidFill>
              <a:prstDash val="solid"/>
              <a:round/>
            </a:ln>
            <a:effectLst>
              <a:outerShdw sx="100000" sy="100000" kx="0" ky="0" algn="b" rotWithShape="0" blurRad="76200" dist="38100" dir="5400000">
                <a:srgbClr val="000000">
                  <a:alpha val="35000"/>
                </a:srgbClr>
              </a:outerShdw>
            </a:effectLst>
          </p:spPr>
          <p:txBody>
            <a:bodyPr wrap="square" lIns="76200" tIns="76200" rIns="76200" bIns="76200" numCol="1" anchor="t">
              <a:noAutofit/>
            </a:bodyPr>
            <a:lstStyle/>
            <a:p>
              <a:pPr defTabSz="914400"/>
            </a:p>
          </p:txBody>
        </p:sp>
        <p:sp>
          <p:nvSpPr>
            <p:cNvPr id="654" name="OpenGL…"/>
            <p:cNvSpPr txBox="1"/>
            <p:nvPr/>
          </p:nvSpPr>
          <p:spPr>
            <a:xfrm>
              <a:off x="581126" y="0"/>
              <a:ext cx="2786524" cy="4261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noAutofit/>
            </a:bodyPr>
            <a:lstStyle/>
            <a:p>
              <a:pPr algn="ctr" defTabSz="914400">
                <a:buClr>
                  <a:srgbClr val="FFFFFF"/>
                </a:buClr>
                <a:defRPr sz="2800">
                  <a:solidFill>
                    <a:srgbClr val="FFFFFF"/>
                  </a:solidFill>
                  <a:uFill>
                    <a:solidFill>
                      <a:srgbClr val="FFFFFF"/>
                    </a:solidFill>
                  </a:uFill>
                </a:defRPr>
              </a:pPr>
              <a:r>
                <a:t>OpenGL  </a:t>
              </a:r>
            </a:p>
            <a:p>
              <a:pPr algn="ctr" defTabSz="914400">
                <a:buClr>
                  <a:srgbClr val="FFFFFF"/>
                </a:buClr>
                <a:defRPr sz="2800">
                  <a:solidFill>
                    <a:srgbClr val="FFFFFF"/>
                  </a:solidFill>
                  <a:uFill>
                    <a:solidFill>
                      <a:srgbClr val="FFFFFF"/>
                    </a:solidFill>
                  </a:uFill>
                </a:defRPr>
              </a:pPr>
              <a:r>
                <a:t>OpenCL</a:t>
              </a:r>
            </a:p>
            <a:p>
              <a:pPr algn="ctr" defTabSz="914400">
                <a:buClr>
                  <a:srgbClr val="FFFFFF"/>
                </a:buClr>
                <a:defRPr sz="2800">
                  <a:solidFill>
                    <a:srgbClr val="FFFFFF"/>
                  </a:solidFill>
                  <a:uFill>
                    <a:solidFill>
                      <a:srgbClr val="FFFFFF"/>
                    </a:solidFill>
                  </a:uFill>
                </a:defRPr>
              </a:pPr>
              <a:r>
                <a:t>CUDA</a:t>
              </a:r>
            </a:p>
            <a:p>
              <a:pPr algn="ctr" defTabSz="914400">
                <a:buClr>
                  <a:srgbClr val="FFFFFF"/>
                </a:buClr>
                <a:defRPr sz="2800">
                  <a:solidFill>
                    <a:srgbClr val="FFFFFF"/>
                  </a:solidFill>
                  <a:uFill>
                    <a:solidFill>
                      <a:srgbClr val="FFFFFF"/>
                    </a:solidFill>
                  </a:uFill>
                </a:defRPr>
              </a:pPr>
              <a:r>
                <a:t>Direct Compute</a:t>
              </a:r>
            </a:p>
            <a:p>
              <a:pPr algn="ctr" defTabSz="914400">
                <a:buClr>
                  <a:srgbClr val="FFFFFF"/>
                </a:buClr>
                <a:defRPr sz="2800">
                  <a:solidFill>
                    <a:srgbClr val="FFFFFF"/>
                  </a:solidFill>
                  <a:uFill>
                    <a:solidFill>
                      <a:srgbClr val="FFFFFF"/>
                    </a:solidFill>
                  </a:uFill>
                </a:defRPr>
              </a:pPr>
              <a:r>
                <a:t>C++ AMP</a:t>
              </a:r>
            </a:p>
            <a:p>
              <a:pPr algn="ctr" defTabSz="914400">
                <a:buClr>
                  <a:srgbClr val="FFFFFF"/>
                </a:buClr>
                <a:defRPr sz="2800">
                  <a:solidFill>
                    <a:srgbClr val="FFFFFF"/>
                  </a:solidFill>
                  <a:uFill>
                    <a:solidFill>
                      <a:srgbClr val="FFFFFF"/>
                    </a:solidFill>
                  </a:uFill>
                </a:defRPr>
              </a:pPr>
              <a:r>
                <a:t>DirectX</a:t>
              </a:r>
            </a:p>
          </p:txBody>
        </p:sp>
      </p:gr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0" presetID="1" grpId="1" fill="hold">
                                  <p:stCondLst>
                                    <p:cond delay="0"/>
                                  </p:stCondLst>
                                  <p:childTnLst>
                                    <p:set>
                                      <p:cBhvr>
                                        <p:cTn id="6" fill="hold"/>
                                        <p:tgtEl>
                                          <p:spTgt spid="642">
                                            <p:graphicEl>
                                              <a:chart bldStep="gridLegend" categoryIdx="-3" seriesIdx="-3"/>
                                            </p:graphicEl>
                                          </p:spTgt>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64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1" fill="hold">
                                  <p:stCondLst>
                                    <p:cond delay="0"/>
                                  </p:stCondLst>
                                  <p:childTnLst>
                                    <p:set>
                                      <p:cBhvr>
                                        <p:cTn id="13" fill="hold"/>
                                        <p:tgtEl>
                                          <p:spTgt spid="642">
                                            <p:graphicEl>
                                              <a:chart bldStep="ptInCategory" categoryIdx="0" seriesIdx="0"/>
                                            </p:graphicEl>
                                          </p:spTgt>
                                        </p:tgtEl>
                                        <p:attrNameLst>
                                          <p:attrName>style.visibility</p:attrName>
                                        </p:attrNameLst>
                                      </p:cBhvr>
                                      <p:to>
                                        <p:strVal val="visible"/>
                                      </p:to>
                                    </p:set>
                                  </p:childTnLst>
                                </p:cTn>
                              </p:par>
                            </p:childTnLst>
                          </p:cTn>
                        </p:par>
                        <p:par>
                          <p:cTn id="14" fill="hold">
                            <p:stCondLst>
                              <p:cond delay="0"/>
                            </p:stCondLst>
                            <p:childTnLst>
                              <p:par>
                                <p:cTn id="15" presetClass="entr" nodeType="afterEffect" presetSubtype="0" presetID="1" grpId="3" fill="hold">
                                  <p:stCondLst>
                                    <p:cond delay="0"/>
                                  </p:stCondLst>
                                  <p:iterate type="el" backwards="0">
                                    <p:tmAbs val="0"/>
                                  </p:iterate>
                                  <p:childTnLst>
                                    <p:set>
                                      <p:cBhvr>
                                        <p:cTn id="16" fill="hold"/>
                                        <p:tgtEl>
                                          <p:spTgt spid="65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1" fill="hold">
                                  <p:stCondLst>
                                    <p:cond delay="0"/>
                                  </p:stCondLst>
                                  <p:childTnLst>
                                    <p:set>
                                      <p:cBhvr>
                                        <p:cTn id="20" fill="hold"/>
                                        <p:tgtEl>
                                          <p:spTgt spid="642">
                                            <p:graphicEl>
                                              <a:chart bldStep="ptInCategory" categoryIdx="0" seriesIdx="1"/>
                                            </p:graphicEl>
                                          </p:spTgt>
                                        </p:tgtEl>
                                        <p:attrNameLst>
                                          <p:attrName>style.visibility</p:attrName>
                                        </p:attrNameLst>
                                      </p:cBhvr>
                                      <p:to>
                                        <p:strVal val="visible"/>
                                      </p:to>
                                    </p:set>
                                  </p:childTnLst>
                                </p:cTn>
                              </p:par>
                            </p:childTnLst>
                          </p:cTn>
                        </p:par>
                        <p:par>
                          <p:cTn id="21" fill="hold">
                            <p:stCondLst>
                              <p:cond delay="0"/>
                            </p:stCondLst>
                            <p:childTnLst>
                              <p:par>
                                <p:cTn id="22" presetClass="entr" nodeType="afterEffect" presetSubtype="0" presetID="1" grpId="4" fill="hold">
                                  <p:stCondLst>
                                    <p:cond delay="0"/>
                                  </p:stCondLst>
                                  <p:iterate type="el" backwards="0">
                                    <p:tmAbs val="0"/>
                                  </p:iterate>
                                  <p:childTnLst>
                                    <p:set>
                                      <p:cBhvr>
                                        <p:cTn id="23" fill="hold"/>
                                        <p:tgtEl>
                                          <p:spTgt spid="64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0" presetID="1" grpId="1" fill="hold">
                                  <p:stCondLst>
                                    <p:cond delay="0"/>
                                  </p:stCondLst>
                                  <p:childTnLst>
                                    <p:set>
                                      <p:cBhvr>
                                        <p:cTn id="27" fill="hold"/>
                                        <p:tgtEl>
                                          <p:spTgt spid="642">
                                            <p:graphicEl>
                                              <a:chart bldStep="ptInCategory" categoryIdx="0" seriesIdx="2"/>
                                            </p:graphicEl>
                                          </p:spTgt>
                                        </p:tgtEl>
                                        <p:attrNameLst>
                                          <p:attrName>style.visibility</p:attrName>
                                        </p:attrNameLst>
                                      </p:cBhvr>
                                      <p:to>
                                        <p:strVal val="visible"/>
                                      </p:to>
                                    </p:set>
                                  </p:childTnLst>
                                </p:cTn>
                              </p:par>
                            </p:childTnLst>
                          </p:cTn>
                        </p:par>
                        <p:par>
                          <p:cTn id="28" fill="hold">
                            <p:stCondLst>
                              <p:cond delay="0"/>
                            </p:stCondLst>
                            <p:childTnLst>
                              <p:par>
                                <p:cTn id="29" presetClass="entr" nodeType="afterEffect" presetSubtype="0" presetID="1" grpId="5" fill="hold">
                                  <p:stCondLst>
                                    <p:cond delay="0"/>
                                  </p:stCondLst>
                                  <p:iterate type="el" backwards="0">
                                    <p:tmAbs val="0"/>
                                  </p:iterate>
                                  <p:childTnLst>
                                    <p:set>
                                      <p:cBhvr>
                                        <p:cTn id="30" fill="hold"/>
                                        <p:tgtEl>
                                          <p:spTgt spid="65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0" presetID="1" grpId="1" fill="hold">
                                  <p:stCondLst>
                                    <p:cond delay="0"/>
                                  </p:stCondLst>
                                  <p:childTnLst>
                                    <p:set>
                                      <p:cBhvr>
                                        <p:cTn id="34" fill="hold"/>
                                        <p:tgtEl>
                                          <p:spTgt spid="642">
                                            <p:graphicEl>
                                              <a:chart bldStep="ptInCategory" categoryIdx="0" seriesIdx="3"/>
                                            </p:graphicEl>
                                          </p:spTgt>
                                        </p:tgtEl>
                                        <p:attrNameLst>
                                          <p:attrName>style.visibility</p:attrName>
                                        </p:attrNameLst>
                                      </p:cBhvr>
                                      <p:to>
                                        <p:strVal val="visible"/>
                                      </p:to>
                                    </p:set>
                                  </p:childTnLst>
                                </p:cTn>
                              </p:par>
                            </p:childTnLst>
                          </p:cTn>
                        </p:par>
                        <p:par>
                          <p:cTn id="35" fill="hold">
                            <p:stCondLst>
                              <p:cond delay="0"/>
                            </p:stCondLst>
                            <p:childTnLst>
                              <p:par>
                                <p:cTn id="36" presetClass="entr" nodeType="afterEffect" presetSubtype="0" presetID="1" grpId="6" fill="hold">
                                  <p:stCondLst>
                                    <p:cond delay="0"/>
                                  </p:stCondLst>
                                  <p:iterate type="el" backwards="0">
                                    <p:tmAbs val="0"/>
                                  </p:iterate>
                                  <p:childTnLst>
                                    <p:set>
                                      <p:cBhvr>
                                        <p:cTn id="37" fill="hold"/>
                                        <p:tgtEl>
                                          <p:spTgt spid="6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43" grpId="2"/>
      <p:bldP build="whole" bldLvl="1" animBg="1" rev="0" advAuto="0" spid="652" grpId="5"/>
      <p:bldP build="whole" bldLvl="1" animBg="1" rev="0" advAuto="0" spid="646" grpId="4"/>
      <p:bldGraphic spid="642" grpId="1">
        <p:bldSub>
          <a:bldChart bld="categoryEl"/>
        </p:bldSub>
      </p:bldGraphic>
      <p:bldP build="whole" bldLvl="1" animBg="1" rev="0" advAuto="0" spid="649" grpId="6"/>
      <p:bldP build="whole" bldLvl="1" animBg="1" rev="0" advAuto="0" spid="655" grpId="3"/>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9"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660"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661"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662" name="Amdahl’s Law"/>
          <p:cNvSpPr txBox="1"/>
          <p:nvPr>
            <p:ph type="title"/>
          </p:nvPr>
        </p:nvSpPr>
        <p:spPr>
          <a:xfrm>
            <a:off x="609600" y="368300"/>
            <a:ext cx="23182917" cy="822325"/>
          </a:xfrm>
          <a:prstGeom prst="rect">
            <a:avLst/>
          </a:prstGeom>
        </p:spPr>
        <p:txBody>
          <a:bodyPr/>
          <a:lstStyle>
            <a:lvl1pPr>
              <a:defRPr sz="4200"/>
            </a:lvl1pPr>
          </a:lstStyle>
          <a:p>
            <a:pPr/>
            <a:r>
              <a:t>Amdahl’s Law</a:t>
            </a:r>
          </a:p>
        </p:txBody>
      </p:sp>
      <p:sp>
        <p:nvSpPr>
          <p:cNvPr id="663"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664"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pic>
        <p:nvPicPr>
          <p:cNvPr id="665" name="Image" descr="Image"/>
          <p:cNvPicPr>
            <a:picLocks noChangeAspect="1"/>
          </p:cNvPicPr>
          <p:nvPr/>
        </p:nvPicPr>
        <p:blipFill>
          <a:blip r:embed="rId4">
            <a:extLst/>
          </a:blip>
          <a:stretch>
            <a:fillRect/>
          </a:stretch>
        </p:blipFill>
        <p:spPr>
          <a:xfrm>
            <a:off x="5526937" y="1852409"/>
            <a:ext cx="13348242" cy="10011182"/>
          </a:xfrm>
          <a:prstGeom prst="rect">
            <a:avLst/>
          </a:prstGeom>
          <a:ln w="12700">
            <a:miter lim="400000"/>
          </a:ln>
        </p:spPr>
      </p:pic>
      <p:sp>
        <p:nvSpPr>
          <p:cNvPr id="666" name="http://en.wikipedia.org/wiki/Amdahl%27s_law"/>
          <p:cNvSpPr txBox="1"/>
          <p:nvPr/>
        </p:nvSpPr>
        <p:spPr>
          <a:xfrm>
            <a:off x="21121915" y="12230699"/>
            <a:ext cx="2969820" cy="292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200" u="sng">
                <a:hlinkClick r:id="rId5" invalidUrl="" action="" tgtFrame="" tooltip="" history="1" highlightClick="0" endSnd="0"/>
              </a:defRPr>
            </a:lvl1pPr>
          </a:lstStyle>
          <a:p>
            <a:pPr>
              <a:defRPr u="none"/>
            </a:pPr>
            <a:r>
              <a:rPr u="sng">
                <a:hlinkClick r:id="rId5" invalidUrl="" action="" tgtFrame="" tooltip="" history="1" highlightClick="0" endSnd="0"/>
              </a:rPr>
              <a:t>http://en.wikipedia.org/wiki/Amdahl%27s_law</a:t>
            </a:r>
          </a:p>
        </p:txBody>
      </p:sp>
      <p:pic>
        <p:nvPicPr>
          <p:cNvPr id="667" name="Image" descr="Image"/>
          <p:cNvPicPr>
            <a:picLocks noChangeAspect="1"/>
          </p:cNvPicPr>
          <p:nvPr/>
        </p:nvPicPr>
        <p:blipFill>
          <a:blip r:embed="rId6">
            <a:extLst/>
          </a:blip>
          <a:stretch>
            <a:fillRect/>
          </a:stretch>
        </p:blipFill>
        <p:spPr>
          <a:xfrm>
            <a:off x="609600" y="6334106"/>
            <a:ext cx="3827631" cy="1047788"/>
          </a:xfrm>
          <a:prstGeom prst="rect">
            <a:avLst/>
          </a:prstGeom>
          <a:ln w="12700">
            <a:miter lim="400000"/>
          </a:ln>
        </p:spPr>
      </p:pic>
    </p:spTree>
  </p:cSld>
  <p:clrMapOvr>
    <a:masterClrMapping/>
  </p:clrMapOvr>
  <p:transition xmlns:p14="http://schemas.microsoft.com/office/powerpoint/2010/main" spd="fast"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1"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672"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673"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674" name="Amdahl’s Law"/>
          <p:cNvSpPr txBox="1"/>
          <p:nvPr>
            <p:ph type="title"/>
          </p:nvPr>
        </p:nvSpPr>
        <p:spPr>
          <a:xfrm>
            <a:off x="609600" y="368300"/>
            <a:ext cx="23182917" cy="822325"/>
          </a:xfrm>
          <a:prstGeom prst="rect">
            <a:avLst/>
          </a:prstGeom>
        </p:spPr>
        <p:txBody>
          <a:bodyPr/>
          <a:lstStyle>
            <a:lvl1pPr>
              <a:defRPr sz="4200"/>
            </a:lvl1pPr>
          </a:lstStyle>
          <a:p>
            <a:pPr/>
            <a:r>
              <a:t>Amdahl’s Law</a:t>
            </a:r>
          </a:p>
        </p:txBody>
      </p:sp>
      <p:sp>
        <p:nvSpPr>
          <p:cNvPr id="675"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676"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pic>
        <p:nvPicPr>
          <p:cNvPr id="677" name="droppedImage.pdf" descr="droppedImage.pdf"/>
          <p:cNvPicPr>
            <a:picLocks noChangeAspect="1"/>
          </p:cNvPicPr>
          <p:nvPr/>
        </p:nvPicPr>
        <p:blipFill>
          <a:blip r:embed="rId4">
            <a:extLst/>
          </a:blip>
          <a:stretch>
            <a:fillRect/>
          </a:stretch>
        </p:blipFill>
        <p:spPr>
          <a:xfrm>
            <a:off x="6706271" y="1730613"/>
            <a:ext cx="11015953" cy="10254774"/>
          </a:xfrm>
          <a:prstGeom prst="rect">
            <a:avLst/>
          </a:prstGeom>
          <a:ln w="12700"/>
        </p:spPr>
      </p:pic>
      <p:sp>
        <p:nvSpPr>
          <p:cNvPr id="678" name="Each line represents 10% more synchronization"/>
          <p:cNvSpPr txBox="1"/>
          <p:nvPr/>
        </p:nvSpPr>
        <p:spPr>
          <a:xfrm>
            <a:off x="609600" y="1796601"/>
            <a:ext cx="5809947" cy="1244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ctr"/>
          </a:lstStyle>
          <a:p>
            <a:pPr/>
            <a:r>
              <a:t>Each line represents 10% more synchronization</a:t>
            </a:r>
          </a:p>
        </p:txBody>
      </p:sp>
    </p:spTree>
  </p:cSld>
  <p:clrMapOvr>
    <a:masterClrMapping/>
  </p:clrMapOvr>
  <p:transition xmlns:p14="http://schemas.microsoft.com/office/powerpoint/2010/main" spd="fast"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682"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683"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684"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685" name="What Makes It Slow"/>
          <p:cNvSpPr txBox="1"/>
          <p:nvPr>
            <p:ph type="title"/>
          </p:nvPr>
        </p:nvSpPr>
        <p:spPr>
          <a:xfrm>
            <a:off x="609600" y="368300"/>
            <a:ext cx="23182917" cy="822325"/>
          </a:xfrm>
          <a:prstGeom prst="rect">
            <a:avLst/>
          </a:prstGeom>
        </p:spPr>
        <p:txBody>
          <a:bodyPr/>
          <a:lstStyle>
            <a:lvl1pPr>
              <a:defRPr sz="4200"/>
            </a:lvl1pPr>
          </a:lstStyle>
          <a:p>
            <a:pPr/>
            <a:r>
              <a:t>What Makes It Slow</a:t>
            </a:r>
          </a:p>
        </p:txBody>
      </p:sp>
      <p:sp>
        <p:nvSpPr>
          <p:cNvPr id="686" name="Starvation…"/>
          <p:cNvSpPr txBox="1"/>
          <p:nvPr>
            <p:ph type="body" idx="1"/>
          </p:nvPr>
        </p:nvSpPr>
        <p:spPr>
          <a:prstGeom prst="rect">
            <a:avLst/>
          </a:prstGeom>
        </p:spPr>
        <p:txBody>
          <a:bodyPr/>
          <a:lstStyle/>
          <a:p>
            <a:pPr/>
            <a:r>
              <a:t>Starvation</a:t>
            </a:r>
          </a:p>
          <a:p>
            <a:pPr/>
            <a:r>
              <a:t>Latency</a:t>
            </a:r>
          </a:p>
          <a:p>
            <a:pPr/>
            <a:r>
              <a:t>Overhead</a:t>
            </a:r>
          </a:p>
          <a:p>
            <a:pPr/>
            <a:r>
              <a:t>Wait</a:t>
            </a:r>
          </a:p>
        </p:txBody>
      </p:sp>
      <p:sp>
        <p:nvSpPr>
          <p:cNvPr id="687"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688"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
        <p:nvSpPr>
          <p:cNvPr id="689" name="Hartmut Kaiser - HPX"/>
          <p:cNvSpPr txBox="1"/>
          <p:nvPr/>
        </p:nvSpPr>
        <p:spPr>
          <a:xfrm>
            <a:off x="22638740" y="12198349"/>
            <a:ext cx="1436066" cy="292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200"/>
            </a:lvl1pPr>
          </a:lstStyle>
          <a:p>
            <a:pPr/>
            <a:r>
              <a:t>Hartmut Kaiser - HPX</a:t>
            </a:r>
          </a:p>
        </p:txBody>
      </p:sp>
    </p:spTree>
  </p:cSld>
  <p:clrMapOvr>
    <a:masterClrMapping/>
  </p:clrMapOvr>
  <p:transition xmlns:p14="http://schemas.microsoft.com/office/powerpoint/2010/main" spd="fast"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3" name="Why No Raw Synchronization Primitives?"/>
          <p:cNvSpPr txBox="1"/>
          <p:nvPr>
            <p:ph type="title"/>
          </p:nvPr>
        </p:nvSpPr>
        <p:spPr>
          <a:prstGeom prst="rect">
            <a:avLst/>
          </a:prstGeom>
        </p:spPr>
        <p:txBody>
          <a:bodyPr lIns="76200" tIns="76200" rIns="76200" bIns="76200"/>
          <a:lstStyle>
            <a:lvl1pPr>
              <a:defRPr sz="4000"/>
            </a:lvl1pPr>
          </a:lstStyle>
          <a:p>
            <a:pPr/>
            <a:r>
              <a:t>Why No Raw Synchronization Primitives?</a:t>
            </a:r>
          </a:p>
        </p:txBody>
      </p:sp>
      <p:sp>
        <p:nvSpPr>
          <p:cNvPr id="694"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pic>
        <p:nvPicPr>
          <p:cNvPr id="695" name="droppedImage.pdf" descr="droppedImage.pdf"/>
          <p:cNvPicPr>
            <a:picLocks noChangeAspect="1"/>
          </p:cNvPicPr>
          <p:nvPr/>
        </p:nvPicPr>
        <p:blipFill>
          <a:blip r:embed="rId2">
            <a:extLst/>
          </a:blip>
          <a:stretch>
            <a:fillRect/>
          </a:stretch>
        </p:blipFill>
        <p:spPr>
          <a:xfrm>
            <a:off x="7124700" y="3022600"/>
            <a:ext cx="8331200" cy="7874000"/>
          </a:xfrm>
          <a:prstGeom prst="rect">
            <a:avLst/>
          </a:prstGeom>
          <a:ln w="12700">
            <a:miter lim="400000"/>
          </a:ln>
        </p:spPr>
      </p:pic>
      <p:pic>
        <p:nvPicPr>
          <p:cNvPr id="696" name="droppedImage.pdf" descr="droppedImage.pdf"/>
          <p:cNvPicPr>
            <a:picLocks noChangeAspect="1"/>
          </p:cNvPicPr>
          <p:nvPr/>
        </p:nvPicPr>
        <p:blipFill>
          <a:blip r:embed="rId3">
            <a:extLst/>
          </a:blip>
          <a:stretch>
            <a:fillRect/>
          </a:stretch>
        </p:blipFill>
        <p:spPr>
          <a:xfrm>
            <a:off x="12103100" y="7340600"/>
            <a:ext cx="1930400" cy="1778000"/>
          </a:xfrm>
          <a:prstGeom prst="rect">
            <a:avLst/>
          </a:prstGeom>
          <a:ln w="12700">
            <a:miter lim="400000"/>
          </a:ln>
        </p:spPr>
      </p:pic>
      <p:pic>
        <p:nvPicPr>
          <p:cNvPr id="697" name="droppedImage.pdf" descr="droppedImage.pdf"/>
          <p:cNvPicPr>
            <a:picLocks noChangeAspect="1"/>
          </p:cNvPicPr>
          <p:nvPr/>
        </p:nvPicPr>
        <p:blipFill>
          <a:blip r:embed="rId3">
            <a:extLst/>
          </a:blip>
          <a:stretch>
            <a:fillRect/>
          </a:stretch>
        </p:blipFill>
        <p:spPr>
          <a:xfrm>
            <a:off x="9639300" y="5943600"/>
            <a:ext cx="1930400" cy="1778000"/>
          </a:xfrm>
          <a:prstGeom prst="rect">
            <a:avLst/>
          </a:prstGeom>
          <a:ln w="12700">
            <a:miter lim="400000"/>
          </a:ln>
        </p:spPr>
      </p:pic>
      <p:pic>
        <p:nvPicPr>
          <p:cNvPr id="698" name="droppedImage.pdf" descr="droppedImage.pdf"/>
          <p:cNvPicPr>
            <a:picLocks noChangeAspect="1"/>
          </p:cNvPicPr>
          <p:nvPr/>
        </p:nvPicPr>
        <p:blipFill>
          <a:blip r:embed="rId4">
            <a:extLst/>
          </a:blip>
          <a:stretch>
            <a:fillRect/>
          </a:stretch>
        </p:blipFill>
        <p:spPr>
          <a:xfrm>
            <a:off x="12153900" y="4699000"/>
            <a:ext cx="1701800" cy="1701800"/>
          </a:xfrm>
          <a:prstGeom prst="rect">
            <a:avLst/>
          </a:prstGeom>
          <a:ln w="12700">
            <a:miter lim="400000"/>
          </a:ln>
        </p:spPr>
      </p:pic>
      <p:pic>
        <p:nvPicPr>
          <p:cNvPr id="699" name="droppedImage.pdf" descr="droppedImage.pdf"/>
          <p:cNvPicPr>
            <a:picLocks noChangeAspect="1"/>
          </p:cNvPicPr>
          <p:nvPr/>
        </p:nvPicPr>
        <p:blipFill>
          <a:blip r:embed="rId5">
            <a:extLst/>
          </a:blip>
          <a:stretch>
            <a:fillRect/>
          </a:stretch>
        </p:blipFill>
        <p:spPr>
          <a:xfrm>
            <a:off x="9994900" y="4622800"/>
            <a:ext cx="4419600" cy="4419600"/>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696"/>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697"/>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69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path" nodeType="clickEffect" presetSubtype="0" presetID="-1" grpId="4" accel="50000" decel="50000" fill="hold">
                                  <p:stCondLst>
                                    <p:cond delay="0"/>
                                  </p:stCondLst>
                                  <p:childTnLst>
                                    <p:animMotion path="M 0.000000 0.000000 C 0.046912 0.039294 0.046627 0.018664 0.046627 0.095370 C 0.046627 0.172077 0.036137 0.176165 0.002083 0.188889" origin="layout" pathEditMode="relative">
                                      <p:cBhvr>
                                        <p:cTn id="16" dur="1000" fill="hold"/>
                                        <p:tgtEl>
                                          <p:spTgt spid="698"/>
                                        </p:tgtEl>
                                        <p:attrNameLst>
                                          <p:attrName>ppt_x</p:attrName>
                                          <p:attrName>ppt_y</p:attrName>
                                        </p:attrNameLst>
                                      </p:cBhvr>
                                    </p:animMotion>
                                  </p:childTnLst>
                                </p:cTn>
                              </p:par>
                            </p:childTnLst>
                          </p:cTn>
                        </p:par>
                        <p:par>
                          <p:cTn id="17" fill="hold">
                            <p:stCondLst>
                              <p:cond delay="0"/>
                            </p:stCondLst>
                            <p:childTnLst>
                              <p:par>
                                <p:cTn id="18" presetClass="path" nodeType="withEffect" presetSubtype="0" presetID="-1" grpId="5" accel="50000" decel="50000" fill="hold">
                                  <p:stCondLst>
                                    <p:cond delay="0"/>
                                  </p:stCondLst>
                                  <p:childTnLst>
                                    <p:animMotion path="M 0.000000 0.000000 C -0.021061 0.051005 -0.054354 0.051772 -0.081783 0.012854 C -0.113352 -0.031938 -0.098698 -0.012688 -0.101249 -0.100000" origin="layout" pathEditMode="relative">
                                      <p:cBhvr>
                                        <p:cTn id="19" dur="1000" fill="hold"/>
                                        <p:tgtEl>
                                          <p:spTgt spid="696"/>
                                        </p:tgtEl>
                                        <p:attrNameLst>
                                          <p:attrName>ppt_x</p:attrName>
                                          <p:attrName>ppt_y</p:attrName>
                                        </p:attrNameLst>
                                      </p:cBhvr>
                                    </p:animMotion>
                                  </p:childTnLst>
                                </p:cTn>
                              </p:par>
                            </p:childTnLst>
                          </p:cTn>
                        </p:par>
                        <p:par>
                          <p:cTn id="20" fill="hold">
                            <p:stCondLst>
                              <p:cond delay="0"/>
                            </p:stCondLst>
                            <p:childTnLst>
                              <p:par>
                                <p:cTn id="21" presetClass="path" nodeType="withEffect" presetSubtype="0" presetID="-1" grpId="6" accel="50000" decel="50000" fill="hold">
                                  <p:stCondLst>
                                    <p:cond delay="0"/>
                                  </p:stCondLst>
                                  <p:childTnLst>
                                    <p:animMotion path="M 0.000000 0.000000 C -0.020306 -0.049092 -0.006951 -0.110860 0.029830 -0.137963 C 0.066611 -0.165066 0.112888 -0.147240 0.102636 -0.100000" origin="layout" pathEditMode="relative">
                                      <p:cBhvr>
                                        <p:cTn id="22" dur="1000" fill="hold"/>
                                        <p:tgtEl>
                                          <p:spTgt spid="697"/>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32" presetID="23" grpId="7" fill="hold">
                                  <p:stCondLst>
                                    <p:cond delay="0"/>
                                  </p:stCondLst>
                                  <p:iterate type="el" backwards="0">
                                    <p:tmAbs val="0"/>
                                  </p:iterate>
                                  <p:childTnLst>
                                    <p:set>
                                      <p:cBhvr>
                                        <p:cTn id="26" fill="hold"/>
                                        <p:tgtEl>
                                          <p:spTgt spid="699"/>
                                        </p:tgtEl>
                                        <p:attrNameLst>
                                          <p:attrName>style.visibility</p:attrName>
                                        </p:attrNameLst>
                                      </p:cBhvr>
                                      <p:to>
                                        <p:strVal val="visible"/>
                                      </p:to>
                                    </p:set>
                                    <p:anim calcmode="lin" valueType="num">
                                      <p:cBhvr>
                                        <p:cTn id="27" dur="1000" fill="hold"/>
                                        <p:tgtEl>
                                          <p:spTgt spid="699"/>
                                        </p:tgtEl>
                                        <p:attrNameLst>
                                          <p:attrName>ppt_w</p:attrName>
                                        </p:attrNameLst>
                                      </p:cBhvr>
                                      <p:tavLst>
                                        <p:tav tm="0">
                                          <p:val>
                                            <p:strVal val="4*#ppt_w"/>
                                          </p:val>
                                        </p:tav>
                                        <p:tav tm="100000">
                                          <p:val>
                                            <p:strVal val="#ppt_w"/>
                                          </p:val>
                                        </p:tav>
                                      </p:tavLst>
                                    </p:anim>
                                    <p:anim calcmode="lin" valueType="num">
                                      <p:cBhvr>
                                        <p:cTn id="28" dur="1000" fill="hold"/>
                                        <p:tgtEl>
                                          <p:spTgt spid="699"/>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96" grpId="1"/>
      <p:bldP build="whole" bldLvl="1" animBg="1" rev="0" advAuto="0" spid="699" grpId="7"/>
      <p:bldP build="whole" bldLvl="1" animBg="1" rev="0" advAuto="0" spid="698" grpId="3"/>
      <p:bldP build="whole" bldLvl="1" animBg="1" rev="0" advAuto="0" spid="697" grpId="2"/>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1" name="Minimize Locks"/>
          <p:cNvSpPr txBox="1"/>
          <p:nvPr>
            <p:ph type="title"/>
          </p:nvPr>
        </p:nvSpPr>
        <p:spPr>
          <a:prstGeom prst="rect">
            <a:avLst/>
          </a:prstGeom>
        </p:spPr>
        <p:txBody>
          <a:bodyPr lIns="76200" tIns="76200" rIns="76200" bIns="76200"/>
          <a:lstStyle>
            <a:lvl1pPr>
              <a:defRPr sz="4000"/>
            </a:lvl1pPr>
          </a:lstStyle>
          <a:p>
            <a:pPr/>
            <a:r>
              <a:t>Minimize Locks</a:t>
            </a:r>
          </a:p>
        </p:txBody>
      </p:sp>
      <p:sp>
        <p:nvSpPr>
          <p:cNvPr id="702"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pic>
        <p:nvPicPr>
          <p:cNvPr id="703" name="droppedImage.pdf" descr="droppedImage.pdf"/>
          <p:cNvPicPr>
            <a:picLocks noChangeAspect="1"/>
          </p:cNvPicPr>
          <p:nvPr/>
        </p:nvPicPr>
        <p:blipFill>
          <a:blip r:embed="rId2">
            <a:extLst/>
          </a:blip>
          <a:stretch>
            <a:fillRect/>
          </a:stretch>
        </p:blipFill>
        <p:spPr>
          <a:xfrm>
            <a:off x="10629900" y="5715000"/>
            <a:ext cx="3149600" cy="2900948"/>
          </a:xfrm>
          <a:prstGeom prst="rect">
            <a:avLst/>
          </a:prstGeom>
          <a:ln w="12700">
            <a:miter lim="400000"/>
          </a:ln>
        </p:spPr>
      </p:pic>
      <p:pic>
        <p:nvPicPr>
          <p:cNvPr id="704" name="droppedImage.pdf" descr="droppedImage.pdf"/>
          <p:cNvPicPr>
            <a:picLocks noChangeAspect="1"/>
          </p:cNvPicPr>
          <p:nvPr/>
        </p:nvPicPr>
        <p:blipFill>
          <a:blip r:embed="rId3">
            <a:extLst/>
          </a:blip>
          <a:stretch>
            <a:fillRect/>
          </a:stretch>
        </p:blipFill>
        <p:spPr>
          <a:xfrm>
            <a:off x="9994900" y="4851400"/>
            <a:ext cx="4419600" cy="4419600"/>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32" presetID="23" grpId="1" fill="hold">
                                  <p:stCondLst>
                                    <p:cond delay="0"/>
                                  </p:stCondLst>
                                  <p:iterate type="el" backwards="0">
                                    <p:tmAbs val="0"/>
                                  </p:iterate>
                                  <p:childTnLst>
                                    <p:set>
                                      <p:cBhvr>
                                        <p:cTn id="6" fill="hold"/>
                                        <p:tgtEl>
                                          <p:spTgt spid="704"/>
                                        </p:tgtEl>
                                        <p:attrNameLst>
                                          <p:attrName>style.visibility</p:attrName>
                                        </p:attrNameLst>
                                      </p:cBhvr>
                                      <p:to>
                                        <p:strVal val="visible"/>
                                      </p:to>
                                    </p:set>
                                    <p:anim calcmode="lin" valueType="num">
                                      <p:cBhvr>
                                        <p:cTn id="7" dur="1000" fill="hold"/>
                                        <p:tgtEl>
                                          <p:spTgt spid="704"/>
                                        </p:tgtEl>
                                        <p:attrNameLst>
                                          <p:attrName>ppt_w</p:attrName>
                                        </p:attrNameLst>
                                      </p:cBhvr>
                                      <p:tavLst>
                                        <p:tav tm="0">
                                          <p:val>
                                            <p:strVal val="4*#ppt_w"/>
                                          </p:val>
                                        </p:tav>
                                        <p:tav tm="100000">
                                          <p:val>
                                            <p:strVal val="#ppt_w"/>
                                          </p:val>
                                        </p:tav>
                                      </p:tavLst>
                                    </p:anim>
                                    <p:anim calcmode="lin" valueType="num">
                                      <p:cBhvr>
                                        <p:cTn id="8" dur="1000" fill="hold"/>
                                        <p:tgtEl>
                                          <p:spTgt spid="704"/>
                                        </p:tgtEl>
                                        <p:attrNameLst>
                                          <p:attrName>ppt_h</p:attrName>
                                        </p:attrNameLst>
                                      </p:cBhvr>
                                      <p:tavLst>
                                        <p:tav tm="0">
                                          <p:val>
                                            <p:strVal val="4*#ppt_h"/>
                                          </p:val>
                                        </p:tav>
                                        <p:tav tm="100000">
                                          <p:val>
                                            <p:strVal val="#ppt_h"/>
                                          </p:val>
                                        </p:tav>
                                      </p:tavLst>
                                    </p:anim>
                                  </p:childTnLst>
                                </p:cTn>
                              </p:par>
                            </p:childTnLst>
                          </p:cTn>
                        </p:par>
                        <p:par>
                          <p:cTn id="9" fill="hold">
                            <p:stCondLst>
                              <p:cond delay="0"/>
                            </p:stCondLst>
                            <p:childTnLst>
                              <p:par>
                                <p:cTn id="10" presetClass="emph" nodeType="withEffect" presetSubtype="0" presetID="6" grpId="2" decel="50000" fill="hold">
                                  <p:stCondLst>
                                    <p:cond delay="0"/>
                                  </p:stCondLst>
                                  <p:childTnLst>
                                    <p:animScale>
                                      <p:cBhvr>
                                        <p:cTn id="11" dur="200" fill="hold"/>
                                        <p:tgtEl>
                                          <p:spTgt spid="703"/>
                                        </p:tgtEl>
                                      </p:cBhvr>
                                      <p:by x="89999" y="89999"/>
                                    </p:animScale>
                                  </p:childTnLst>
                                </p:cTn>
                              </p:par>
                            </p:childTnLst>
                          </p:cTn>
                        </p:par>
                        <p:par>
                          <p:cTn id="12" fill="hold">
                            <p:stCondLst>
                              <p:cond delay="0"/>
                            </p:stCondLst>
                            <p:childTnLst>
                              <p:par>
                                <p:cTn id="13" presetClass="emph" nodeType="afterEffect" presetSubtype="0" presetID="6" grpId="3" decel="50000" fill="hold">
                                  <p:stCondLst>
                                    <p:cond delay="0"/>
                                  </p:stCondLst>
                                  <p:childTnLst>
                                    <p:animScale>
                                      <p:cBhvr>
                                        <p:cTn id="14" dur="200" fill="hold"/>
                                        <p:tgtEl>
                                          <p:spTgt spid="703"/>
                                        </p:tgtEl>
                                      </p:cBhvr>
                                      <p:by x="111111" y="111111"/>
                                    </p:animScale>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03" grpId="2"/>
      <p:bldP build="whole" bldLvl="1" animBg="1" rev="0" advAuto="0" spid="704" grpId="1"/>
      <p:bldP build="whole" bldLvl="1" animBg="1" rev="0" advAuto="0" spid="703" grpId="3"/>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6" name="Mutexes and Sequential Consistency"/>
          <p:cNvSpPr txBox="1"/>
          <p:nvPr>
            <p:ph type="title"/>
          </p:nvPr>
        </p:nvSpPr>
        <p:spPr>
          <a:prstGeom prst="rect">
            <a:avLst/>
          </a:prstGeom>
        </p:spPr>
        <p:txBody>
          <a:bodyPr lIns="76200" tIns="76200" rIns="76200" bIns="76200"/>
          <a:lstStyle>
            <a:lvl1pPr>
              <a:defRPr sz="4200"/>
            </a:lvl1pPr>
          </a:lstStyle>
          <a:p>
            <a:pPr>
              <a:defRPr sz="4000"/>
            </a:pPr>
            <a:r>
              <a:rPr sz="4200"/>
              <a:t>Mutexes and Sequential Consistency</a:t>
            </a:r>
          </a:p>
        </p:txBody>
      </p:sp>
      <p:sp>
        <p:nvSpPr>
          <p:cNvPr id="707"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708" name="class registry {…"/>
          <p:cNvSpPr txBox="1"/>
          <p:nvPr/>
        </p:nvSpPr>
        <p:spPr>
          <a:xfrm>
            <a:off x="1181100" y="2438400"/>
            <a:ext cx="22428200" cy="8940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457200">
              <a:buClrTx/>
              <a:tabLst>
                <a:tab pos="419100" algn="l"/>
              </a:tabLst>
              <a:defRPr sz="2800">
                <a:uFillTx/>
                <a:latin typeface="Menlo Regular"/>
                <a:ea typeface="Menlo Regular"/>
                <a:cs typeface="Menlo Regular"/>
                <a:sym typeface="Menlo Regular"/>
              </a:defRPr>
            </a:pPr>
            <a:r>
              <a:rPr>
                <a:solidFill>
                  <a:srgbClr val="BB2CA2"/>
                </a:solidFill>
              </a:rPr>
              <a:t>class</a:t>
            </a:r>
            <a:r>
              <a:t> registry {</a:t>
            </a:r>
          </a:p>
          <a:p>
            <a:pPr defTabSz="457200">
              <a:buClrTx/>
              <a:tabLst>
                <a:tab pos="419100" algn="l"/>
              </a:tabLst>
              <a:defRPr sz="2800">
                <a:uFillTx/>
                <a:latin typeface="Menlo Regular"/>
                <a:ea typeface="Menlo Regular"/>
                <a:cs typeface="Menlo Regular"/>
                <a:sym typeface="Menlo Regular"/>
              </a:defRPr>
            </a:pPr>
            <a:r>
              <a:t>    </a:t>
            </a:r>
            <a:r>
              <a:rPr>
                <a:solidFill>
                  <a:srgbClr val="703DAA"/>
                </a:solidFill>
              </a:rPr>
              <a:t>mutex</a:t>
            </a:r>
            <a:r>
              <a:t> _mutex;</a:t>
            </a:r>
          </a:p>
          <a:p>
            <a:pPr defTabSz="457200">
              <a:buClrTx/>
              <a:tabLst>
                <a:tab pos="419100" algn="l"/>
              </a:tabLst>
              <a:defRPr sz="2800">
                <a:solidFill>
                  <a:srgbClr val="703DAA"/>
                </a:solidFill>
                <a:uFillTx/>
                <a:latin typeface="Menlo Regular"/>
                <a:ea typeface="Menlo Regular"/>
                <a:cs typeface="Menlo Regular"/>
                <a:sym typeface="Menlo Regular"/>
              </a:defRPr>
            </a:pPr>
            <a:r>
              <a:rPr>
                <a:solidFill>
                  <a:srgbClr val="000000"/>
                </a:solidFill>
              </a:rPr>
              <a:t>    </a:t>
            </a:r>
            <a:r>
              <a:t>unordered_map</a:t>
            </a:r>
            <a:r>
              <a:rPr>
                <a:solidFill>
                  <a:srgbClr val="000000"/>
                </a:solidFill>
              </a:rPr>
              <a:t>&lt;</a:t>
            </a:r>
            <a:r>
              <a:t>string</a:t>
            </a:r>
            <a:r>
              <a:rPr>
                <a:solidFill>
                  <a:srgbClr val="000000"/>
                </a:solidFill>
              </a:rPr>
              <a:t>, </a:t>
            </a:r>
            <a:r>
              <a:t>string</a:t>
            </a:r>
            <a:r>
              <a:rPr>
                <a:solidFill>
                  <a:srgbClr val="000000"/>
                </a:solidFill>
              </a:rPr>
              <a:t>&gt; _map;</a:t>
            </a:r>
            <a:endParaRPr>
              <a:solidFill>
                <a:srgbClr val="000000"/>
              </a:solidFill>
            </a:endParaRPr>
          </a:p>
          <a:p>
            <a:pPr defTabSz="457200">
              <a:buClrTx/>
              <a:tabLst>
                <a:tab pos="419100" algn="l"/>
              </a:tabLst>
              <a:defRPr sz="2800">
                <a:solidFill>
                  <a:srgbClr val="BA2DA2"/>
                </a:solidFill>
                <a:uFillTx/>
                <a:latin typeface="Menlo Regular"/>
                <a:ea typeface="Menlo Regular"/>
                <a:cs typeface="Menlo Regular"/>
                <a:sym typeface="Menlo Regular"/>
              </a:defRPr>
            </a:pPr>
            <a:r>
              <a:rPr>
                <a:solidFill>
                  <a:srgbClr val="000000"/>
                </a:solidFill>
              </a:rPr>
              <a:t>  </a:t>
            </a:r>
            <a:r>
              <a:t>public</a:t>
            </a:r>
            <a:r>
              <a:rPr>
                <a:solidFill>
                  <a:srgbClr val="000000"/>
                </a:solidFill>
              </a:rPr>
              <a:t>:</a:t>
            </a:r>
            <a:endParaRPr>
              <a:solidFill>
                <a:srgbClr val="000000"/>
              </a:solidFill>
            </a:endParaRPr>
          </a:p>
          <a:p>
            <a:pPr defTabSz="457200">
              <a:buClrTx/>
              <a:tabLst>
                <a:tab pos="419100" algn="l"/>
              </a:tabLst>
              <a:defRPr sz="2800">
                <a:uFillTx/>
                <a:latin typeface="Menlo Regular"/>
                <a:ea typeface="Menlo Regular"/>
                <a:cs typeface="Menlo Regular"/>
                <a:sym typeface="Menlo Regular"/>
              </a:defRPr>
            </a:pPr>
            <a:r>
              <a:t>    </a:t>
            </a:r>
            <a:r>
              <a:rPr>
                <a:solidFill>
                  <a:srgbClr val="BB2CA2"/>
                </a:solidFill>
              </a:rPr>
              <a:t>void</a:t>
            </a:r>
            <a:r>
              <a:t> set(</a:t>
            </a:r>
            <a:r>
              <a:rPr>
                <a:solidFill>
                  <a:srgbClr val="703DAA"/>
                </a:solidFill>
              </a:rPr>
              <a:t>string</a:t>
            </a:r>
            <a:r>
              <a:t> key, </a:t>
            </a:r>
            <a:r>
              <a:rPr>
                <a:solidFill>
                  <a:srgbClr val="703DAA"/>
                </a:solidFill>
              </a:rPr>
              <a:t>string</a:t>
            </a:r>
            <a:r>
              <a:t> value) {</a:t>
            </a:r>
          </a:p>
          <a:p>
            <a:pPr defTabSz="457200">
              <a:buClrTx/>
              <a:tabLst>
                <a:tab pos="419100" algn="l"/>
              </a:tabLst>
              <a:defRPr sz="2800">
                <a:solidFill>
                  <a:srgbClr val="703DAA"/>
                </a:solidFill>
                <a:uFillTx/>
                <a:latin typeface="Menlo Regular"/>
                <a:ea typeface="Menlo Regular"/>
                <a:cs typeface="Menlo Regular"/>
                <a:sym typeface="Menlo Regular"/>
              </a:defRPr>
            </a:pPr>
            <a:r>
              <a:rPr>
                <a:solidFill>
                  <a:srgbClr val="000000"/>
                </a:solidFill>
              </a:rPr>
              <a:t>        </a:t>
            </a:r>
            <a:r>
              <a:t>unique_lock</a:t>
            </a:r>
            <a:r>
              <a:rPr>
                <a:solidFill>
                  <a:srgbClr val="000000"/>
                </a:solidFill>
              </a:rPr>
              <a:t>&lt;</a:t>
            </a:r>
            <a:r>
              <a:t>mutex</a:t>
            </a:r>
            <a:r>
              <a:rPr>
                <a:solidFill>
                  <a:srgbClr val="000000"/>
                </a:solidFill>
              </a:rPr>
              <a:t>&gt; lock(</a:t>
            </a:r>
            <a:r>
              <a:t>mutex</a:t>
            </a:r>
            <a:r>
              <a:rPr>
                <a:solidFill>
                  <a:srgbClr val="000000"/>
                </a:solidFill>
              </a:rPr>
              <a:t>);</a:t>
            </a:r>
            <a:endParaRPr>
              <a:solidFill>
                <a:srgbClr val="000000"/>
              </a:solidFill>
            </a:endParaRPr>
          </a:p>
          <a:p>
            <a:pPr defTabSz="457200">
              <a:buClrTx/>
              <a:tabLst>
                <a:tab pos="419100" algn="l"/>
              </a:tabLst>
              <a:defRPr sz="2800">
                <a:uFillTx/>
                <a:latin typeface="Menlo Regular"/>
                <a:ea typeface="Menlo Regular"/>
                <a:cs typeface="Menlo Regular"/>
                <a:sym typeface="Menlo Regular"/>
              </a:defRPr>
            </a:pPr>
            <a:r>
              <a:t>        </a:t>
            </a:r>
            <a:r>
              <a:rPr>
                <a:solidFill>
                  <a:srgbClr val="4F8187"/>
                </a:solidFill>
              </a:rPr>
              <a:t>_map</a:t>
            </a:r>
            <a:r>
              <a:t>.</a:t>
            </a:r>
            <a:r>
              <a:rPr>
                <a:solidFill>
                  <a:srgbClr val="3D1D81"/>
                </a:solidFill>
              </a:rPr>
              <a:t>emplace</a:t>
            </a:r>
            <a:r>
              <a:t>(</a:t>
            </a:r>
            <a:r>
              <a:rPr>
                <a:solidFill>
                  <a:srgbClr val="3D1D81"/>
                </a:solidFill>
              </a:rPr>
              <a:t>move</a:t>
            </a:r>
            <a:r>
              <a:t>(key), </a:t>
            </a:r>
            <a:r>
              <a:rPr>
                <a:solidFill>
                  <a:srgbClr val="3D1D81"/>
                </a:solidFill>
              </a:rPr>
              <a:t>move</a:t>
            </a:r>
            <a:r>
              <a:t>(value));</a:t>
            </a:r>
          </a:p>
          <a:p>
            <a:pPr defTabSz="457200">
              <a:buClrTx/>
              <a:tabLst>
                <a:tab pos="419100" algn="l"/>
              </a:tabLst>
              <a:defRPr sz="2800">
                <a:uFillTx/>
                <a:latin typeface="Menlo Regular"/>
                <a:ea typeface="Menlo Regular"/>
                <a:cs typeface="Menlo Regular"/>
                <a:sym typeface="Menlo Regular"/>
              </a:defRPr>
            </a:pPr>
            <a:r>
              <a:t>    }</a:t>
            </a:r>
          </a:p>
          <a:p>
            <a:pPr defTabSz="457200">
              <a:buClrTx/>
              <a:tabLst>
                <a:tab pos="419100" algn="l"/>
              </a:tabLst>
              <a:defRPr sz="2800">
                <a:uFillTx/>
                <a:latin typeface="Menlo Regular"/>
                <a:ea typeface="Menlo Regular"/>
                <a:cs typeface="Menlo Regular"/>
                <a:sym typeface="Menlo Regular"/>
              </a:defRPr>
            </a:pPr>
            <a:r>
              <a:t>    </a:t>
            </a:r>
          </a:p>
          <a:p>
            <a:pPr defTabSz="457200">
              <a:buClrTx/>
              <a:tabLst>
                <a:tab pos="419100" algn="l"/>
              </a:tabLst>
              <a:defRPr sz="2800">
                <a:uFillTx/>
                <a:latin typeface="Menlo Regular"/>
                <a:ea typeface="Menlo Regular"/>
                <a:cs typeface="Menlo Regular"/>
                <a:sym typeface="Menlo Regular"/>
              </a:defRPr>
            </a:pPr>
            <a:r>
              <a:t>    </a:t>
            </a:r>
            <a:r>
              <a:rPr>
                <a:solidFill>
                  <a:srgbClr val="BB2CA2"/>
                </a:solidFill>
              </a:rPr>
              <a:t>auto</a:t>
            </a:r>
            <a:r>
              <a:t> get(</a:t>
            </a:r>
            <a:r>
              <a:rPr>
                <a:solidFill>
                  <a:srgbClr val="BB2CA2"/>
                </a:solidFill>
              </a:rPr>
              <a:t>const</a:t>
            </a:r>
            <a:r>
              <a:t> string&amp; key) -&gt; </a:t>
            </a:r>
            <a:r>
              <a:rPr>
                <a:solidFill>
                  <a:srgbClr val="703DAA"/>
                </a:solidFill>
              </a:rPr>
              <a:t>string</a:t>
            </a:r>
            <a:r>
              <a:t> {</a:t>
            </a:r>
          </a:p>
          <a:p>
            <a:pPr defTabSz="457200">
              <a:buClrTx/>
              <a:tabLst>
                <a:tab pos="419100" algn="l"/>
              </a:tabLst>
              <a:defRPr sz="2800">
                <a:solidFill>
                  <a:srgbClr val="703DAA"/>
                </a:solidFill>
                <a:uFillTx/>
                <a:latin typeface="Menlo Regular"/>
                <a:ea typeface="Menlo Regular"/>
                <a:cs typeface="Menlo Regular"/>
                <a:sym typeface="Menlo Regular"/>
              </a:defRPr>
            </a:pPr>
            <a:r>
              <a:rPr>
                <a:solidFill>
                  <a:srgbClr val="000000"/>
                </a:solidFill>
              </a:rPr>
              <a:t>        </a:t>
            </a:r>
            <a:r>
              <a:t>unique_lock</a:t>
            </a:r>
            <a:r>
              <a:rPr>
                <a:solidFill>
                  <a:srgbClr val="000000"/>
                </a:solidFill>
              </a:rPr>
              <a:t>&lt;</a:t>
            </a:r>
            <a:r>
              <a:t>mutex</a:t>
            </a:r>
            <a:r>
              <a:rPr>
                <a:solidFill>
                  <a:srgbClr val="000000"/>
                </a:solidFill>
              </a:rPr>
              <a:t>&gt; lock(</a:t>
            </a:r>
            <a:r>
              <a:t>mutex</a:t>
            </a:r>
            <a:r>
              <a:rPr>
                <a:solidFill>
                  <a:srgbClr val="000000"/>
                </a:solidFill>
              </a:rPr>
              <a:t>);</a:t>
            </a:r>
            <a:endParaRPr>
              <a:solidFill>
                <a:srgbClr val="000000"/>
              </a:solidFill>
            </a:endParaRPr>
          </a:p>
          <a:p>
            <a:pPr defTabSz="457200">
              <a:buClrTx/>
              <a:tabLst>
                <a:tab pos="419100" algn="l"/>
              </a:tabLst>
              <a:defRPr sz="2800">
                <a:uFillTx/>
                <a:latin typeface="Menlo Regular"/>
                <a:ea typeface="Menlo Regular"/>
                <a:cs typeface="Menlo Regular"/>
                <a:sym typeface="Menlo Regular"/>
              </a:defRPr>
            </a:pPr>
            <a:r>
              <a:t>        </a:t>
            </a:r>
            <a:r>
              <a:rPr>
                <a:solidFill>
                  <a:srgbClr val="BB2CA2"/>
                </a:solidFill>
              </a:rPr>
              <a:t>return</a:t>
            </a:r>
            <a:r>
              <a:t> </a:t>
            </a:r>
            <a:r>
              <a:rPr>
                <a:solidFill>
                  <a:srgbClr val="4F8187"/>
                </a:solidFill>
              </a:rPr>
              <a:t>_map</a:t>
            </a:r>
            <a:r>
              <a:t>.</a:t>
            </a:r>
            <a:r>
              <a:rPr>
                <a:solidFill>
                  <a:srgbClr val="3D1D81"/>
                </a:solidFill>
              </a:rPr>
              <a:t>at</a:t>
            </a:r>
            <a:r>
              <a:t>(key);</a:t>
            </a:r>
          </a:p>
          <a:p>
            <a:pPr defTabSz="457200">
              <a:buClrTx/>
              <a:tabLst>
                <a:tab pos="419100" algn="l"/>
              </a:tabLst>
              <a:defRPr sz="2800">
                <a:uFillTx/>
                <a:latin typeface="Menlo Regular"/>
                <a:ea typeface="Menlo Regular"/>
                <a:cs typeface="Menlo Regular"/>
                <a:sym typeface="Menlo Regular"/>
              </a:defRPr>
            </a:pPr>
            <a:r>
              <a:t>    }</a:t>
            </a:r>
          </a:p>
          <a:p>
            <a:pPr defTabSz="457200">
              <a:buClrTx/>
              <a:tabLst>
                <a:tab pos="419100" algn="l"/>
              </a:tabLst>
              <a:defRPr sz="2800">
                <a:uFillTx/>
                <a:latin typeface="Menlo Regular"/>
                <a:ea typeface="Menlo Regular"/>
                <a:cs typeface="Menlo Regular"/>
                <a:sym typeface="Menlo Regular"/>
              </a:defRPr>
            </a:pPr>
            <a:r>
              <a:t>};</a:t>
            </a:r>
          </a:p>
        </p:txBody>
      </p:sp>
    </p:spTree>
  </p:cSld>
  <p:clrMapOvr>
    <a:masterClrMapping/>
  </p:clrMapOvr>
  <p:transition xmlns:p14="http://schemas.microsoft.com/office/powerpoint/2010/main" spd="fast"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0"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11"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12"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713" name="Mutexes and Sequential Consistency"/>
          <p:cNvSpPr txBox="1"/>
          <p:nvPr>
            <p:ph type="title"/>
          </p:nvPr>
        </p:nvSpPr>
        <p:spPr>
          <a:xfrm>
            <a:off x="609600" y="368300"/>
            <a:ext cx="23182917" cy="822325"/>
          </a:xfrm>
          <a:prstGeom prst="rect">
            <a:avLst/>
          </a:prstGeom>
        </p:spPr>
        <p:txBody>
          <a:bodyPr/>
          <a:lstStyle>
            <a:lvl1pPr>
              <a:defRPr sz="4200"/>
            </a:lvl1pPr>
          </a:lstStyle>
          <a:p>
            <a:pPr/>
            <a:r>
              <a:t>Mutexes and Sequential Consistency</a:t>
            </a:r>
          </a:p>
        </p:txBody>
      </p:sp>
      <p:sp>
        <p:nvSpPr>
          <p:cNvPr id="714" name="“It can be shown that programs that correctly use mutexes and memory_order_seq_cst operations to prevent all data races and use no other synchronization operations behave as if the operations executed by their constituent threads were simply interleaved,"/>
          <p:cNvSpPr txBox="1"/>
          <p:nvPr>
            <p:ph type="body" idx="1"/>
          </p:nvPr>
        </p:nvSpPr>
        <p:spPr>
          <a:prstGeom prst="rect">
            <a:avLst/>
          </a:prstGeom>
        </p:spPr>
        <p:txBody>
          <a:bodyPr/>
          <a:lstStyle/>
          <a:p>
            <a:pPr marL="0" indent="0" algn="ctr">
              <a:buClrTx/>
              <a:buSzTx/>
              <a:buNone/>
              <a:defRPr sz="5000"/>
            </a:pPr>
          </a:p>
          <a:p>
            <a:pPr marL="0" indent="0" algn="ctr">
              <a:buClrTx/>
              <a:buSzTx/>
              <a:buNone/>
              <a:defRPr sz="5000"/>
            </a:pPr>
          </a:p>
          <a:p>
            <a:pPr marL="0" indent="0" algn="ctr">
              <a:buClrTx/>
              <a:buSzTx/>
              <a:buNone/>
              <a:defRPr sz="5000"/>
            </a:pPr>
            <a:r>
              <a:t>“It can be shown that programs that correctly use mutexes and memory_order_seq_cst operations to prevent all data races and use no other synchronization operations behave as if the operations executed by their constituent threads were simply interleaved, with each value computation of an object being taken from the last side effect on that object in that interleaving. This is normally referred to as ‘</a:t>
            </a:r>
            <a:r>
              <a:rPr i="1"/>
              <a:t>sequential consistency</a:t>
            </a:r>
            <a:r>
              <a:t>.’”</a:t>
            </a:r>
          </a:p>
          <a:p>
            <a:pPr marL="0" indent="0" algn="r">
              <a:buClrTx/>
              <a:buSzTx/>
              <a:buNone/>
              <a:defRPr sz="5000"/>
            </a:pPr>
            <a:r>
              <a:t>– C++11 Standard 1.10.21</a:t>
            </a:r>
          </a:p>
        </p:txBody>
      </p:sp>
      <p:sp>
        <p:nvSpPr>
          <p:cNvPr id="715" name="Slide Number"/>
          <p:cNvSpPr txBox="1"/>
          <p:nvPr>
            <p:ph type="sldNum" sz="quarter" idx="2"/>
          </p:nvPr>
        </p:nvSpPr>
        <p:spPr>
          <a:xfrm>
            <a:off x="12043393" y="12934946"/>
            <a:ext cx="316282"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716"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8"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19"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20"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721" name="Mutexes and Sequential Consistency"/>
          <p:cNvSpPr txBox="1"/>
          <p:nvPr>
            <p:ph type="title"/>
          </p:nvPr>
        </p:nvSpPr>
        <p:spPr>
          <a:xfrm>
            <a:off x="609600" y="368300"/>
            <a:ext cx="23182917" cy="822325"/>
          </a:xfrm>
          <a:prstGeom prst="rect">
            <a:avLst/>
          </a:prstGeom>
        </p:spPr>
        <p:txBody>
          <a:bodyPr/>
          <a:lstStyle>
            <a:lvl1pPr>
              <a:defRPr sz="4200"/>
            </a:lvl1pPr>
          </a:lstStyle>
          <a:p>
            <a:pPr/>
            <a:r>
              <a:t>Mutexes and Sequential Consistency</a:t>
            </a:r>
          </a:p>
        </p:txBody>
      </p:sp>
      <p:sp>
        <p:nvSpPr>
          <p:cNvPr id="722"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723"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pic>
        <p:nvPicPr>
          <p:cNvPr id="724" name="Image" descr="Image"/>
          <p:cNvPicPr>
            <a:picLocks noChangeAspect="1"/>
          </p:cNvPicPr>
          <p:nvPr/>
        </p:nvPicPr>
        <p:blipFill>
          <a:blip r:embed="rId4">
            <a:extLst/>
          </a:blip>
          <a:stretch>
            <a:fillRect/>
          </a:stretch>
        </p:blipFill>
        <p:spPr>
          <a:xfrm>
            <a:off x="9969500" y="1792774"/>
            <a:ext cx="4445000" cy="10947401"/>
          </a:xfrm>
          <a:prstGeom prst="rect">
            <a:avLst/>
          </a:prstGeom>
          <a:ln w="12700">
            <a:miter lim="400000"/>
          </a:ln>
        </p:spPr>
      </p:pic>
    </p:spTree>
  </p:cSld>
  <p:clrMapOvr>
    <a:masterClrMapping/>
  </p:clrMapOvr>
  <p:transition xmlns:p14="http://schemas.microsoft.com/office/powerpoint/2010/main" spd="fast"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8"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29"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30"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731" name="Mutexes and Sequential Consistency"/>
          <p:cNvSpPr txBox="1"/>
          <p:nvPr>
            <p:ph type="title"/>
          </p:nvPr>
        </p:nvSpPr>
        <p:spPr>
          <a:xfrm>
            <a:off x="609600" y="368300"/>
            <a:ext cx="23182917" cy="822325"/>
          </a:xfrm>
          <a:prstGeom prst="rect">
            <a:avLst/>
          </a:prstGeom>
        </p:spPr>
        <p:txBody>
          <a:bodyPr/>
          <a:lstStyle>
            <a:lvl1pPr>
              <a:defRPr sz="4200"/>
            </a:lvl1pPr>
          </a:lstStyle>
          <a:p>
            <a:pPr/>
            <a:r>
              <a:t>Mutexes and Sequential Consistency</a:t>
            </a:r>
          </a:p>
        </p:txBody>
      </p:sp>
      <p:sp>
        <p:nvSpPr>
          <p:cNvPr id="732" name="A mutex serializes a set of operations, Opn, where the operation is the code executed while the mutex is locked…"/>
          <p:cNvSpPr txBox="1"/>
          <p:nvPr>
            <p:ph type="body" idx="1"/>
          </p:nvPr>
        </p:nvSpPr>
        <p:spPr>
          <a:prstGeom prst="rect">
            <a:avLst/>
          </a:prstGeom>
        </p:spPr>
        <p:txBody>
          <a:bodyPr/>
          <a:lstStyle/>
          <a:p>
            <a:pPr/>
            <a:r>
              <a:t>A mutex serializes a set of operations, </a:t>
            </a:r>
            <a:r>
              <a:rPr i="1"/>
              <a:t>Op</a:t>
            </a:r>
            <a:r>
              <a:rPr baseline="-5999" i="1"/>
              <a:t>n</a:t>
            </a:r>
            <a:r>
              <a:t>, where the operation is the code executed while the mutex is locked</a:t>
            </a:r>
          </a:p>
          <a:p>
            <a:pPr/>
            <a:r>
              <a:t>Operations are interleaved and may be executed in any order and may be repeated</a:t>
            </a:r>
          </a:p>
          <a:p>
            <a:pPr/>
            <a:r>
              <a:t>Each operation takes an argument, </a:t>
            </a:r>
            <a:r>
              <a:rPr i="1"/>
              <a:t>X</a:t>
            </a:r>
            <a:r>
              <a:t>, which is the set of all objects mutated under all operations</a:t>
            </a:r>
          </a:p>
          <a:p>
            <a:pPr lvl="1"/>
            <a:r>
              <a:rPr i="1"/>
              <a:t>X</a:t>
            </a:r>
            <a:r>
              <a:t> may not be safely read or written without holding the lock if it may be modified by a task holding the lock</a:t>
            </a:r>
          </a:p>
          <a:p>
            <a:pPr/>
            <a:r>
              <a:t>Each operation may yield a result, </a:t>
            </a:r>
            <a:r>
              <a:rPr i="1"/>
              <a:t>r</a:t>
            </a:r>
            <a:r>
              <a:rPr baseline="-5999" i="1"/>
              <a:t>m</a:t>
            </a:r>
            <a:r>
              <a:t>, which can communicate information about the state of </a:t>
            </a:r>
            <a:r>
              <a:rPr i="1"/>
              <a:t>X </a:t>
            </a:r>
            <a:r>
              <a:t>while it’s associated operation was executed</a:t>
            </a:r>
          </a:p>
          <a:p>
            <a:pPr/>
          </a:p>
          <a:p>
            <a:pPr/>
            <a:r>
              <a:t>The same is true of all atomic operations</a:t>
            </a:r>
          </a:p>
        </p:txBody>
      </p:sp>
      <p:sp>
        <p:nvSpPr>
          <p:cNvPr id="733" name="Slide Number"/>
          <p:cNvSpPr txBox="1"/>
          <p:nvPr>
            <p:ph type="sldNum" sz="quarter" idx="2"/>
          </p:nvPr>
        </p:nvSpPr>
        <p:spPr>
          <a:xfrm>
            <a:off x="12045933" y="12934946"/>
            <a:ext cx="311202"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734"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6" name="Mutexes and Sequential Consistency"/>
          <p:cNvSpPr txBox="1"/>
          <p:nvPr>
            <p:ph type="title"/>
          </p:nvPr>
        </p:nvSpPr>
        <p:spPr>
          <a:prstGeom prst="rect">
            <a:avLst/>
          </a:prstGeom>
        </p:spPr>
        <p:txBody>
          <a:bodyPr lIns="76200" tIns="76200" rIns="76200" bIns="76200"/>
          <a:lstStyle>
            <a:lvl1pPr>
              <a:defRPr sz="4200"/>
            </a:lvl1pPr>
          </a:lstStyle>
          <a:p>
            <a:pPr>
              <a:defRPr sz="4000"/>
            </a:pPr>
            <a:r>
              <a:rPr sz="4200"/>
              <a:t>Mutexes and Sequential Consistency</a:t>
            </a:r>
          </a:p>
        </p:txBody>
      </p:sp>
      <p:sp>
        <p:nvSpPr>
          <p:cNvPr id="737"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738" name="class registry {…"/>
          <p:cNvSpPr txBox="1"/>
          <p:nvPr/>
        </p:nvSpPr>
        <p:spPr>
          <a:xfrm>
            <a:off x="1181100" y="2032000"/>
            <a:ext cx="22428200" cy="8940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457200">
              <a:buClrTx/>
              <a:tabLst>
                <a:tab pos="419100" algn="l"/>
              </a:tabLst>
              <a:defRPr sz="2800">
                <a:uFillTx/>
                <a:latin typeface="Menlo Regular"/>
                <a:ea typeface="Menlo Regular"/>
                <a:cs typeface="Menlo Regular"/>
                <a:sym typeface="Menlo Regular"/>
              </a:defRPr>
            </a:pPr>
            <a:r>
              <a:rPr>
                <a:solidFill>
                  <a:srgbClr val="BB2CA2"/>
                </a:solidFill>
              </a:rPr>
              <a:t>class</a:t>
            </a:r>
            <a:r>
              <a:t> registry {</a:t>
            </a:r>
          </a:p>
          <a:p>
            <a:pPr defTabSz="457200">
              <a:buClrTx/>
              <a:tabLst>
                <a:tab pos="419100" algn="l"/>
              </a:tabLst>
              <a:defRPr sz="2800">
                <a:solidFill>
                  <a:srgbClr val="4F8187"/>
                </a:solidFill>
                <a:uFillTx/>
                <a:latin typeface="Menlo Regular"/>
                <a:ea typeface="Menlo Regular"/>
                <a:cs typeface="Menlo Regular"/>
                <a:sym typeface="Menlo Regular"/>
              </a:defRPr>
            </a:pPr>
            <a:r>
              <a:rPr>
                <a:solidFill>
                  <a:srgbClr val="000000"/>
                </a:solidFill>
              </a:rPr>
              <a:t>    </a:t>
            </a:r>
            <a:r>
              <a:t>serial_queue</a:t>
            </a:r>
            <a:r>
              <a:rPr>
                <a:solidFill>
                  <a:srgbClr val="000000"/>
                </a:solidFill>
              </a:rPr>
              <a:t> _q;</a:t>
            </a:r>
            <a:endParaRPr>
              <a:solidFill>
                <a:srgbClr val="000000"/>
              </a:solidFill>
            </a:endParaRPr>
          </a:p>
          <a:p>
            <a:pPr defTabSz="457200">
              <a:buClrTx/>
              <a:tabLst>
                <a:tab pos="419100" algn="l"/>
              </a:tabLst>
              <a:defRPr sz="2800">
                <a:uFillTx/>
                <a:latin typeface="Menlo Regular"/>
                <a:ea typeface="Menlo Regular"/>
                <a:cs typeface="Menlo Regular"/>
                <a:sym typeface="Menlo Regular"/>
              </a:defRPr>
            </a:pPr>
            <a:r>
              <a:t>    </a:t>
            </a:r>
          </a:p>
          <a:p>
            <a:pPr defTabSz="457200">
              <a:buClrTx/>
              <a:tabLst>
                <a:tab pos="419100" algn="l"/>
              </a:tabLst>
              <a:defRPr sz="2800">
                <a:solidFill>
                  <a:srgbClr val="703DAA"/>
                </a:solidFill>
                <a:uFillTx/>
                <a:latin typeface="Menlo Regular"/>
                <a:ea typeface="Menlo Regular"/>
                <a:cs typeface="Menlo Regular"/>
                <a:sym typeface="Menlo Regular"/>
              </a:defRPr>
            </a:pPr>
            <a:r>
              <a:rPr>
                <a:solidFill>
                  <a:srgbClr val="000000"/>
                </a:solidFill>
              </a:rPr>
              <a:t>    </a:t>
            </a:r>
            <a:r>
              <a:rPr>
                <a:solidFill>
                  <a:srgbClr val="BB2CA2"/>
                </a:solidFill>
              </a:rPr>
              <a:t>using</a:t>
            </a:r>
            <a:r>
              <a:rPr>
                <a:solidFill>
                  <a:srgbClr val="000000"/>
                </a:solidFill>
              </a:rPr>
              <a:t> map_t = </a:t>
            </a:r>
            <a:r>
              <a:t>unordered_map</a:t>
            </a:r>
            <a:r>
              <a:rPr>
                <a:solidFill>
                  <a:srgbClr val="000000"/>
                </a:solidFill>
              </a:rPr>
              <a:t>&lt;</a:t>
            </a:r>
            <a:r>
              <a:t>string</a:t>
            </a:r>
            <a:r>
              <a:rPr>
                <a:solidFill>
                  <a:srgbClr val="000000"/>
                </a:solidFill>
              </a:rPr>
              <a:t>, </a:t>
            </a:r>
            <a:r>
              <a:t>string</a:t>
            </a:r>
            <a:r>
              <a:rPr>
                <a:solidFill>
                  <a:srgbClr val="000000"/>
                </a:solidFill>
              </a:rPr>
              <a:t>&gt;;</a:t>
            </a:r>
            <a:endParaRPr>
              <a:solidFill>
                <a:srgbClr val="000000"/>
              </a:solidFill>
            </a:endParaRPr>
          </a:p>
          <a:p>
            <a:pPr defTabSz="457200">
              <a:buClrTx/>
              <a:tabLst>
                <a:tab pos="419100" algn="l"/>
              </a:tabLst>
              <a:defRPr sz="2800">
                <a:uFillTx/>
                <a:latin typeface="Menlo Regular"/>
                <a:ea typeface="Menlo Regular"/>
                <a:cs typeface="Menlo Regular"/>
                <a:sym typeface="Menlo Regular"/>
              </a:defRPr>
            </a:pPr>
            <a:r>
              <a:t>    </a:t>
            </a:r>
          </a:p>
          <a:p>
            <a:pPr defTabSz="457200">
              <a:buClrTx/>
              <a:tabLst>
                <a:tab pos="419100" algn="l"/>
              </a:tabLst>
              <a:defRPr sz="2800">
                <a:uFillTx/>
                <a:latin typeface="Menlo Regular"/>
                <a:ea typeface="Menlo Regular"/>
                <a:cs typeface="Menlo Regular"/>
                <a:sym typeface="Menlo Regular"/>
              </a:defRPr>
            </a:pPr>
            <a:r>
              <a:t>    </a:t>
            </a:r>
            <a:r>
              <a:rPr>
                <a:solidFill>
                  <a:srgbClr val="703DAA"/>
                </a:solidFill>
              </a:rPr>
              <a:t>shared_ptr</a:t>
            </a:r>
            <a:r>
              <a:t>&lt;</a:t>
            </a:r>
            <a:r>
              <a:rPr>
                <a:solidFill>
                  <a:srgbClr val="4F8187"/>
                </a:solidFill>
              </a:rPr>
              <a:t>map_t</a:t>
            </a:r>
            <a:r>
              <a:t>&gt; _map = make_shared&lt;map_t&gt;();</a:t>
            </a:r>
          </a:p>
          <a:p>
            <a:pPr defTabSz="457200">
              <a:buClrTx/>
              <a:tabLst>
                <a:tab pos="419100" algn="l"/>
              </a:tabLst>
              <a:defRPr sz="2800">
                <a:solidFill>
                  <a:srgbClr val="BA2DA2"/>
                </a:solidFill>
                <a:uFillTx/>
                <a:latin typeface="Menlo Regular"/>
                <a:ea typeface="Menlo Regular"/>
                <a:cs typeface="Menlo Regular"/>
                <a:sym typeface="Menlo Regular"/>
              </a:defRPr>
            </a:pPr>
            <a:r>
              <a:t>public</a:t>
            </a:r>
            <a:r>
              <a:rPr>
                <a:solidFill>
                  <a:srgbClr val="000000"/>
                </a:solidFill>
              </a:rPr>
              <a:t>:</a:t>
            </a:r>
            <a:endParaRPr>
              <a:solidFill>
                <a:srgbClr val="000000"/>
              </a:solidFill>
            </a:endParaRPr>
          </a:p>
          <a:p>
            <a:pPr defTabSz="457200">
              <a:buClrTx/>
              <a:tabLst>
                <a:tab pos="419100" algn="l"/>
              </a:tabLst>
              <a:defRPr sz="2800">
                <a:uFillTx/>
                <a:latin typeface="Menlo Regular"/>
                <a:ea typeface="Menlo Regular"/>
                <a:cs typeface="Menlo Regular"/>
                <a:sym typeface="Menlo Regular"/>
              </a:defRPr>
            </a:pPr>
            <a:r>
              <a:t>    </a:t>
            </a:r>
            <a:r>
              <a:rPr>
                <a:solidFill>
                  <a:srgbClr val="BB2CA2"/>
                </a:solidFill>
              </a:rPr>
              <a:t>void</a:t>
            </a:r>
            <a:r>
              <a:t> set(</a:t>
            </a:r>
            <a:r>
              <a:rPr>
                <a:solidFill>
                  <a:srgbClr val="703DAA"/>
                </a:solidFill>
              </a:rPr>
              <a:t>string</a:t>
            </a:r>
            <a:r>
              <a:t> key, </a:t>
            </a:r>
            <a:r>
              <a:rPr>
                <a:solidFill>
                  <a:srgbClr val="703DAA"/>
                </a:solidFill>
              </a:rPr>
              <a:t>string</a:t>
            </a:r>
            <a:r>
              <a:t> value) {</a:t>
            </a:r>
          </a:p>
          <a:p>
            <a:pPr defTabSz="457200">
              <a:buClrTx/>
              <a:tabLst>
                <a:tab pos="419100" algn="l"/>
              </a:tabLst>
              <a:defRPr sz="2800">
                <a:uFillTx/>
                <a:latin typeface="Menlo Regular"/>
                <a:ea typeface="Menlo Regular"/>
                <a:cs typeface="Menlo Regular"/>
                <a:sym typeface="Menlo Regular"/>
              </a:defRPr>
            </a:pPr>
            <a:r>
              <a:t>        </a:t>
            </a:r>
            <a:r>
              <a:rPr>
                <a:solidFill>
                  <a:srgbClr val="4F8187"/>
                </a:solidFill>
              </a:rPr>
              <a:t>_q</a:t>
            </a:r>
            <a:r>
              <a:t>.</a:t>
            </a:r>
            <a:r>
              <a:rPr>
                <a:solidFill>
                  <a:srgbClr val="31595D"/>
                </a:solidFill>
              </a:rPr>
              <a:t>async</a:t>
            </a:r>
            <a:r>
              <a:t>([_map = _map](</a:t>
            </a:r>
            <a:r>
              <a:rPr>
                <a:solidFill>
                  <a:srgbClr val="703DAA"/>
                </a:solidFill>
              </a:rPr>
              <a:t>string</a:t>
            </a:r>
            <a:r>
              <a:t> key, </a:t>
            </a:r>
            <a:r>
              <a:rPr>
                <a:solidFill>
                  <a:srgbClr val="703DAA"/>
                </a:solidFill>
              </a:rPr>
              <a:t>string</a:t>
            </a:r>
            <a:r>
              <a:t> value) {</a:t>
            </a:r>
          </a:p>
          <a:p>
            <a:pPr defTabSz="457200">
              <a:buClrTx/>
              <a:tabLst>
                <a:tab pos="419100" algn="l"/>
              </a:tabLst>
              <a:defRPr sz="2800">
                <a:uFillTx/>
                <a:latin typeface="Menlo Regular"/>
                <a:ea typeface="Menlo Regular"/>
                <a:cs typeface="Menlo Regular"/>
                <a:sym typeface="Menlo Regular"/>
              </a:defRPr>
            </a:pPr>
            <a:r>
              <a:t>            _map-&gt;</a:t>
            </a:r>
            <a:r>
              <a:rPr>
                <a:solidFill>
                  <a:srgbClr val="3D1D81"/>
                </a:solidFill>
              </a:rPr>
              <a:t>emplace</a:t>
            </a:r>
            <a:r>
              <a:t>(</a:t>
            </a:r>
            <a:r>
              <a:rPr>
                <a:solidFill>
                  <a:srgbClr val="3D1D81"/>
                </a:solidFill>
              </a:rPr>
              <a:t>move</a:t>
            </a:r>
            <a:r>
              <a:t>(key), </a:t>
            </a:r>
            <a:r>
              <a:rPr>
                <a:solidFill>
                  <a:srgbClr val="3D1D81"/>
                </a:solidFill>
              </a:rPr>
              <a:t>move</a:t>
            </a:r>
            <a:r>
              <a:t>(value));</a:t>
            </a:r>
          </a:p>
          <a:p>
            <a:pPr defTabSz="457200">
              <a:buClrTx/>
              <a:tabLst>
                <a:tab pos="419100" algn="l"/>
              </a:tabLst>
              <a:defRPr sz="2800">
                <a:solidFill>
                  <a:srgbClr val="008400"/>
                </a:solidFill>
                <a:uFillTx/>
                <a:latin typeface="Menlo Regular"/>
                <a:ea typeface="Menlo Regular"/>
                <a:cs typeface="Menlo Regular"/>
                <a:sym typeface="Menlo Regular"/>
              </a:defRPr>
            </a:pPr>
            <a:r>
              <a:rPr>
                <a:solidFill>
                  <a:srgbClr val="000000"/>
                </a:solidFill>
              </a:rPr>
              <a:t>        }, </a:t>
            </a:r>
            <a:r>
              <a:rPr>
                <a:solidFill>
                  <a:srgbClr val="3D1D81"/>
                </a:solidFill>
              </a:rPr>
              <a:t>move</a:t>
            </a:r>
            <a:r>
              <a:rPr>
                <a:solidFill>
                  <a:srgbClr val="000000"/>
                </a:solidFill>
              </a:rPr>
              <a:t>(key), </a:t>
            </a:r>
            <a:r>
              <a:rPr>
                <a:solidFill>
                  <a:srgbClr val="3D1D81"/>
                </a:solidFill>
              </a:rPr>
              <a:t>move</a:t>
            </a:r>
            <a:r>
              <a:rPr>
                <a:solidFill>
                  <a:srgbClr val="000000"/>
                </a:solidFill>
              </a:rPr>
              <a:t>(value));</a:t>
            </a:r>
            <a:endParaRPr>
              <a:solidFill>
                <a:srgbClr val="000000"/>
              </a:solidFill>
            </a:endParaRPr>
          </a:p>
          <a:p>
            <a:pPr defTabSz="457200">
              <a:buClrTx/>
              <a:tabLst>
                <a:tab pos="419100" algn="l"/>
              </a:tabLst>
              <a:defRPr sz="2800">
                <a:uFillTx/>
                <a:latin typeface="Menlo Regular"/>
                <a:ea typeface="Menlo Regular"/>
                <a:cs typeface="Menlo Regular"/>
                <a:sym typeface="Menlo Regular"/>
              </a:defRPr>
            </a:pPr>
            <a:r>
              <a:t>    }</a:t>
            </a:r>
          </a:p>
          <a:p>
            <a:pPr defTabSz="457200">
              <a:buClrTx/>
              <a:tabLst>
                <a:tab pos="419100" algn="l"/>
              </a:tabLst>
              <a:defRPr sz="2800">
                <a:uFillTx/>
                <a:latin typeface="Menlo Regular"/>
                <a:ea typeface="Menlo Regular"/>
                <a:cs typeface="Menlo Regular"/>
                <a:sym typeface="Menlo Regular"/>
              </a:defRPr>
            </a:pPr>
            <a:r>
              <a:t>    </a:t>
            </a:r>
          </a:p>
          <a:p>
            <a:pPr defTabSz="457200">
              <a:buClrTx/>
              <a:tabLst>
                <a:tab pos="419100" algn="l"/>
              </a:tabLst>
              <a:defRPr sz="2800">
                <a:uFillTx/>
                <a:latin typeface="Menlo Regular"/>
                <a:ea typeface="Menlo Regular"/>
                <a:cs typeface="Menlo Regular"/>
                <a:sym typeface="Menlo Regular"/>
              </a:defRPr>
            </a:pPr>
            <a:r>
              <a:t>    </a:t>
            </a:r>
            <a:r>
              <a:rPr>
                <a:solidFill>
                  <a:srgbClr val="BB2CA2"/>
                </a:solidFill>
              </a:rPr>
              <a:t>auto</a:t>
            </a:r>
            <a:r>
              <a:t> get(string key) -&gt; </a:t>
            </a:r>
            <a:r>
              <a:rPr>
                <a:solidFill>
                  <a:srgbClr val="703DAA"/>
                </a:solidFill>
              </a:rPr>
              <a:t>future</a:t>
            </a:r>
            <a:r>
              <a:t>&lt;</a:t>
            </a:r>
            <a:r>
              <a:rPr>
                <a:solidFill>
                  <a:srgbClr val="703DAA"/>
                </a:solidFill>
              </a:rPr>
              <a:t>string</a:t>
            </a:r>
            <a:r>
              <a:t>&gt; {</a:t>
            </a:r>
          </a:p>
          <a:p>
            <a:pPr defTabSz="457200">
              <a:buClrTx/>
              <a:tabLst>
                <a:tab pos="419100" algn="l"/>
              </a:tabLst>
              <a:defRPr sz="2800">
                <a:uFillTx/>
                <a:latin typeface="Menlo Regular"/>
                <a:ea typeface="Menlo Regular"/>
                <a:cs typeface="Menlo Regular"/>
                <a:sym typeface="Menlo Regular"/>
              </a:defRPr>
            </a:pPr>
            <a:r>
              <a:t>        </a:t>
            </a:r>
            <a:r>
              <a:rPr>
                <a:solidFill>
                  <a:srgbClr val="BB2CA2"/>
                </a:solidFill>
              </a:rPr>
              <a:t>return</a:t>
            </a:r>
            <a:r>
              <a:t> </a:t>
            </a:r>
            <a:r>
              <a:rPr>
                <a:solidFill>
                  <a:srgbClr val="4F8187"/>
                </a:solidFill>
              </a:rPr>
              <a:t>_q</a:t>
            </a:r>
            <a:r>
              <a:t>.</a:t>
            </a:r>
            <a:r>
              <a:rPr>
                <a:solidFill>
                  <a:srgbClr val="31595D"/>
                </a:solidFill>
              </a:rPr>
              <a:t>async</a:t>
            </a:r>
            <a:r>
              <a:t>([_map = _map](</a:t>
            </a:r>
            <a:r>
              <a:rPr>
                <a:solidFill>
                  <a:srgbClr val="703DAA"/>
                </a:solidFill>
              </a:rPr>
              <a:t>string</a:t>
            </a:r>
            <a:r>
              <a:t> key) {</a:t>
            </a:r>
          </a:p>
          <a:p>
            <a:pPr defTabSz="457200">
              <a:buClrTx/>
              <a:tabLst>
                <a:tab pos="419100" algn="l"/>
              </a:tabLst>
              <a:defRPr sz="2800">
                <a:uFillTx/>
                <a:latin typeface="Menlo Regular"/>
                <a:ea typeface="Menlo Regular"/>
                <a:cs typeface="Menlo Regular"/>
                <a:sym typeface="Menlo Regular"/>
              </a:defRPr>
            </a:pPr>
            <a:r>
              <a:t>            </a:t>
            </a:r>
            <a:r>
              <a:rPr>
                <a:solidFill>
                  <a:srgbClr val="BB2CA2"/>
                </a:solidFill>
              </a:rPr>
              <a:t>return</a:t>
            </a:r>
            <a:r>
              <a:t> _map-&gt;</a:t>
            </a:r>
            <a:r>
              <a:rPr>
                <a:solidFill>
                  <a:srgbClr val="3D1D81"/>
                </a:solidFill>
              </a:rPr>
              <a:t>at</a:t>
            </a:r>
            <a:r>
              <a:t>(key);</a:t>
            </a:r>
          </a:p>
          <a:p>
            <a:pPr defTabSz="457200">
              <a:buClrTx/>
              <a:tabLst>
                <a:tab pos="419100" algn="l"/>
              </a:tabLst>
              <a:defRPr sz="2800">
                <a:uFillTx/>
                <a:latin typeface="Menlo Regular"/>
                <a:ea typeface="Menlo Regular"/>
                <a:cs typeface="Menlo Regular"/>
                <a:sym typeface="Menlo Regular"/>
              </a:defRPr>
            </a:pPr>
            <a:r>
              <a:t>        }, </a:t>
            </a:r>
            <a:r>
              <a:rPr>
                <a:solidFill>
                  <a:srgbClr val="3D1D81"/>
                </a:solidFill>
              </a:rPr>
              <a:t>move</a:t>
            </a:r>
            <a:r>
              <a:t>(key));</a:t>
            </a:r>
          </a:p>
          <a:p>
            <a:pPr defTabSz="457200">
              <a:buClrTx/>
              <a:tabLst>
                <a:tab pos="419100" algn="l"/>
              </a:tabLst>
              <a:defRPr sz="2800">
                <a:uFillTx/>
                <a:latin typeface="Menlo Regular"/>
                <a:ea typeface="Menlo Regular"/>
                <a:cs typeface="Menlo Regular"/>
                <a:sym typeface="Menlo Regular"/>
              </a:defRPr>
            </a:pPr>
            <a:r>
              <a:t>    }</a:t>
            </a:r>
          </a:p>
          <a:p>
            <a:pPr defTabSz="457200">
              <a:buClrTx/>
              <a:tabLst>
                <a:tab pos="419100" algn="l"/>
              </a:tabLst>
              <a:defRPr sz="2800">
                <a:uFillTx/>
                <a:latin typeface="Menlo Regular"/>
                <a:ea typeface="Menlo Regular"/>
                <a:cs typeface="Menlo Regular"/>
                <a:sym typeface="Menlo Regular"/>
              </a:defRPr>
            </a:pPr>
            <a:r>
              <a:t>};</a:t>
            </a:r>
          </a:p>
        </p:txBody>
      </p:sp>
    </p:spTree>
  </p:cSld>
  <p:clrMapOvr>
    <a:masterClrMapping/>
  </p:clrMapOvr>
  <p:transition xmlns:p14="http://schemas.microsoft.com/office/powerpoint/2010/main" spd="fast"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0" name="Rounded Rectangle"/>
          <p:cNvSpPr/>
          <p:nvPr/>
        </p:nvSpPr>
        <p:spPr>
          <a:xfrm>
            <a:off x="558800" y="9856162"/>
            <a:ext cx="23266400" cy="2287069"/>
          </a:xfrm>
          <a:prstGeom prst="roundRect">
            <a:avLst>
              <a:gd name="adj" fmla="val 3517"/>
            </a:avLst>
          </a:prstGeom>
          <a:solidFill>
            <a:srgbClr val="F3FEF3"/>
          </a:solidFill>
          <a:ln w="25400">
            <a:solidFill>
              <a:srgbClr val="000000"/>
            </a:solidFill>
            <a:miter lim="400000"/>
          </a:ln>
        </p:spPr>
        <p:txBody>
          <a:bodyPr lIns="76200" tIns="76200" rIns="76200" bIns="76200"/>
          <a:lstStyle/>
          <a:p>
            <a:pPr lvl="1" indent="0" defTabSz="635000">
              <a:buClrTx/>
              <a:tabLst>
                <a:tab pos="508000" algn="l"/>
              </a:tabLst>
              <a:defRPr sz="2400">
                <a:latin typeface="Helvetica"/>
                <a:ea typeface="Helvetica"/>
                <a:cs typeface="Helvetica"/>
                <a:sym typeface="Helvetica"/>
              </a:defRPr>
            </a:pPr>
          </a:p>
        </p:txBody>
      </p:sp>
      <p:sp>
        <p:nvSpPr>
          <p:cNvPr id="741" name="Mutexes and Sequential Consistency"/>
          <p:cNvSpPr txBox="1"/>
          <p:nvPr>
            <p:ph type="title"/>
          </p:nvPr>
        </p:nvSpPr>
        <p:spPr>
          <a:prstGeom prst="rect">
            <a:avLst/>
          </a:prstGeom>
        </p:spPr>
        <p:txBody>
          <a:bodyPr lIns="76200" tIns="76200" rIns="76200" bIns="76200"/>
          <a:lstStyle>
            <a:lvl1pPr>
              <a:defRPr sz="4200"/>
            </a:lvl1pPr>
          </a:lstStyle>
          <a:p>
            <a:pPr>
              <a:defRPr sz="4000"/>
            </a:pPr>
            <a:r>
              <a:rPr sz="4200"/>
              <a:t>Mutexes and Sequential Consistency</a:t>
            </a:r>
          </a:p>
        </p:txBody>
      </p:sp>
      <p:sp>
        <p:nvSpPr>
          <p:cNvPr id="742"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743" name="class registry {…"/>
          <p:cNvSpPr txBox="1"/>
          <p:nvPr/>
        </p:nvSpPr>
        <p:spPr>
          <a:xfrm>
            <a:off x="1181100" y="2032000"/>
            <a:ext cx="22428200" cy="1047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457200">
              <a:buClrTx/>
              <a:tabLst>
                <a:tab pos="419100" algn="l"/>
              </a:tabLst>
              <a:defRPr sz="2800">
                <a:uFillTx/>
                <a:latin typeface="Menlo Regular"/>
                <a:ea typeface="Menlo Regular"/>
                <a:cs typeface="Menlo Regular"/>
                <a:sym typeface="Menlo Regular"/>
              </a:defRPr>
            </a:pPr>
            <a:r>
              <a:rPr>
                <a:solidFill>
                  <a:srgbClr val="BB2CA2"/>
                </a:solidFill>
              </a:rPr>
              <a:t>class</a:t>
            </a:r>
            <a:r>
              <a:t> registry {</a:t>
            </a:r>
          </a:p>
          <a:p>
            <a:pPr defTabSz="457200">
              <a:buClrTx/>
              <a:tabLst>
                <a:tab pos="419100" algn="l"/>
              </a:tabLst>
              <a:defRPr sz="2800">
                <a:solidFill>
                  <a:srgbClr val="4F8187"/>
                </a:solidFill>
                <a:uFillTx/>
                <a:latin typeface="Menlo Regular"/>
                <a:ea typeface="Menlo Regular"/>
                <a:cs typeface="Menlo Regular"/>
                <a:sym typeface="Menlo Regular"/>
              </a:defRPr>
            </a:pPr>
            <a:r>
              <a:rPr>
                <a:solidFill>
                  <a:srgbClr val="000000"/>
                </a:solidFill>
              </a:rPr>
              <a:t>    </a:t>
            </a:r>
            <a:r>
              <a:t>serial_queue</a:t>
            </a:r>
            <a:r>
              <a:rPr>
                <a:solidFill>
                  <a:srgbClr val="000000"/>
                </a:solidFill>
              </a:rPr>
              <a:t> _q;</a:t>
            </a:r>
            <a:endParaRPr>
              <a:solidFill>
                <a:srgbClr val="000000"/>
              </a:solidFill>
            </a:endParaRPr>
          </a:p>
          <a:p>
            <a:pPr defTabSz="457200">
              <a:buClrTx/>
              <a:tabLst>
                <a:tab pos="419100" algn="l"/>
              </a:tabLst>
              <a:defRPr sz="2800">
                <a:uFillTx/>
                <a:latin typeface="Menlo Regular"/>
                <a:ea typeface="Menlo Regular"/>
                <a:cs typeface="Menlo Regular"/>
                <a:sym typeface="Menlo Regular"/>
              </a:defRPr>
            </a:pPr>
            <a:r>
              <a:t>    </a:t>
            </a:r>
          </a:p>
          <a:p>
            <a:pPr defTabSz="457200">
              <a:buClrTx/>
              <a:tabLst>
                <a:tab pos="419100" algn="l"/>
              </a:tabLst>
              <a:defRPr sz="2800">
                <a:solidFill>
                  <a:srgbClr val="703DAA"/>
                </a:solidFill>
                <a:uFillTx/>
                <a:latin typeface="Menlo Regular"/>
                <a:ea typeface="Menlo Regular"/>
                <a:cs typeface="Menlo Regular"/>
                <a:sym typeface="Menlo Regular"/>
              </a:defRPr>
            </a:pPr>
            <a:r>
              <a:rPr>
                <a:solidFill>
                  <a:srgbClr val="000000"/>
                </a:solidFill>
              </a:rPr>
              <a:t>    </a:t>
            </a:r>
            <a:r>
              <a:rPr>
                <a:solidFill>
                  <a:srgbClr val="BB2CA2"/>
                </a:solidFill>
              </a:rPr>
              <a:t>using</a:t>
            </a:r>
            <a:r>
              <a:rPr>
                <a:solidFill>
                  <a:srgbClr val="000000"/>
                </a:solidFill>
              </a:rPr>
              <a:t> map_t = </a:t>
            </a:r>
            <a:r>
              <a:t>unordered_map</a:t>
            </a:r>
            <a:r>
              <a:rPr>
                <a:solidFill>
                  <a:srgbClr val="000000"/>
                </a:solidFill>
              </a:rPr>
              <a:t>&lt;</a:t>
            </a:r>
            <a:r>
              <a:t>string</a:t>
            </a:r>
            <a:r>
              <a:rPr>
                <a:solidFill>
                  <a:srgbClr val="000000"/>
                </a:solidFill>
              </a:rPr>
              <a:t>, </a:t>
            </a:r>
            <a:r>
              <a:t>string</a:t>
            </a:r>
            <a:r>
              <a:rPr>
                <a:solidFill>
                  <a:srgbClr val="000000"/>
                </a:solidFill>
              </a:rPr>
              <a:t>&gt;;</a:t>
            </a:r>
            <a:endParaRPr>
              <a:solidFill>
                <a:srgbClr val="000000"/>
              </a:solidFill>
            </a:endParaRPr>
          </a:p>
          <a:p>
            <a:pPr defTabSz="457200">
              <a:buClrTx/>
              <a:tabLst>
                <a:tab pos="419100" algn="l"/>
              </a:tabLst>
              <a:defRPr sz="2800">
                <a:uFillTx/>
                <a:latin typeface="Menlo Regular"/>
                <a:ea typeface="Menlo Regular"/>
                <a:cs typeface="Menlo Regular"/>
                <a:sym typeface="Menlo Regular"/>
              </a:defRPr>
            </a:pPr>
            <a:r>
              <a:t>    </a:t>
            </a:r>
          </a:p>
          <a:p>
            <a:pPr defTabSz="457200">
              <a:buClrTx/>
              <a:tabLst>
                <a:tab pos="419100" algn="l"/>
              </a:tabLst>
              <a:defRPr sz="2800">
                <a:uFillTx/>
                <a:latin typeface="Menlo Regular"/>
                <a:ea typeface="Menlo Regular"/>
                <a:cs typeface="Menlo Regular"/>
                <a:sym typeface="Menlo Regular"/>
              </a:defRPr>
            </a:pPr>
            <a:r>
              <a:t>    </a:t>
            </a:r>
            <a:r>
              <a:rPr>
                <a:solidFill>
                  <a:srgbClr val="703DAA"/>
                </a:solidFill>
              </a:rPr>
              <a:t>shared_ptr</a:t>
            </a:r>
            <a:r>
              <a:t>&lt;</a:t>
            </a:r>
            <a:r>
              <a:rPr>
                <a:solidFill>
                  <a:srgbClr val="4F8187"/>
                </a:solidFill>
              </a:rPr>
              <a:t>map_t</a:t>
            </a:r>
            <a:r>
              <a:t>&gt; _map = make_shared&lt;map_t&gt;();</a:t>
            </a:r>
          </a:p>
          <a:p>
            <a:pPr defTabSz="457200">
              <a:buClrTx/>
              <a:tabLst>
                <a:tab pos="419100" algn="l"/>
              </a:tabLst>
              <a:defRPr sz="2800">
                <a:solidFill>
                  <a:srgbClr val="BA2DA2"/>
                </a:solidFill>
                <a:uFillTx/>
                <a:latin typeface="Menlo Regular"/>
                <a:ea typeface="Menlo Regular"/>
                <a:cs typeface="Menlo Regular"/>
                <a:sym typeface="Menlo Regular"/>
              </a:defRPr>
            </a:pPr>
            <a:r>
              <a:t>public</a:t>
            </a:r>
            <a:r>
              <a:rPr>
                <a:solidFill>
                  <a:srgbClr val="000000"/>
                </a:solidFill>
              </a:rPr>
              <a:t>:</a:t>
            </a:r>
            <a:endParaRPr>
              <a:solidFill>
                <a:srgbClr val="000000"/>
              </a:solidFill>
            </a:endParaRPr>
          </a:p>
          <a:p>
            <a:pPr defTabSz="457200">
              <a:buClrTx/>
              <a:tabLst>
                <a:tab pos="419100" algn="l"/>
              </a:tabLst>
              <a:defRPr sz="2800">
                <a:uFillTx/>
                <a:latin typeface="Menlo Regular"/>
                <a:ea typeface="Menlo Regular"/>
                <a:cs typeface="Menlo Regular"/>
                <a:sym typeface="Menlo Regular"/>
              </a:defRPr>
            </a:pPr>
            <a:r>
              <a:t>    </a:t>
            </a:r>
            <a:r>
              <a:rPr>
                <a:solidFill>
                  <a:srgbClr val="BB2CA2"/>
                </a:solidFill>
              </a:rPr>
              <a:t>void</a:t>
            </a:r>
            <a:r>
              <a:t> set(</a:t>
            </a:r>
            <a:r>
              <a:rPr>
                <a:solidFill>
                  <a:srgbClr val="703DAA"/>
                </a:solidFill>
              </a:rPr>
              <a:t>string</a:t>
            </a:r>
            <a:r>
              <a:t> key, </a:t>
            </a:r>
            <a:r>
              <a:rPr>
                <a:solidFill>
                  <a:srgbClr val="703DAA"/>
                </a:solidFill>
              </a:rPr>
              <a:t>string</a:t>
            </a:r>
            <a:r>
              <a:t> value) {</a:t>
            </a:r>
          </a:p>
          <a:p>
            <a:pPr defTabSz="457200">
              <a:buClrTx/>
              <a:tabLst>
                <a:tab pos="419100" algn="l"/>
              </a:tabLst>
              <a:defRPr sz="2800">
                <a:uFillTx/>
                <a:latin typeface="Menlo Regular"/>
                <a:ea typeface="Menlo Regular"/>
                <a:cs typeface="Menlo Regular"/>
                <a:sym typeface="Menlo Regular"/>
              </a:defRPr>
            </a:pPr>
            <a:r>
              <a:t>        </a:t>
            </a:r>
            <a:r>
              <a:rPr>
                <a:solidFill>
                  <a:srgbClr val="4F8187"/>
                </a:solidFill>
              </a:rPr>
              <a:t>_q</a:t>
            </a:r>
            <a:r>
              <a:t>.</a:t>
            </a:r>
            <a:r>
              <a:rPr>
                <a:solidFill>
                  <a:srgbClr val="31595D"/>
                </a:solidFill>
              </a:rPr>
              <a:t>async</a:t>
            </a:r>
            <a:r>
              <a:t>([_map = _map](</a:t>
            </a:r>
            <a:r>
              <a:rPr>
                <a:solidFill>
                  <a:srgbClr val="703DAA"/>
                </a:solidFill>
              </a:rPr>
              <a:t>string</a:t>
            </a:r>
            <a:r>
              <a:t> key, </a:t>
            </a:r>
            <a:r>
              <a:rPr>
                <a:solidFill>
                  <a:srgbClr val="703DAA"/>
                </a:solidFill>
              </a:rPr>
              <a:t>string</a:t>
            </a:r>
            <a:r>
              <a:t> value) {</a:t>
            </a:r>
          </a:p>
          <a:p>
            <a:pPr defTabSz="457200">
              <a:buClrTx/>
              <a:tabLst>
                <a:tab pos="419100" algn="l"/>
              </a:tabLst>
              <a:defRPr sz="2800">
                <a:uFillTx/>
                <a:latin typeface="Menlo Regular"/>
                <a:ea typeface="Menlo Regular"/>
                <a:cs typeface="Menlo Regular"/>
                <a:sym typeface="Menlo Regular"/>
              </a:defRPr>
            </a:pPr>
            <a:r>
              <a:t>            _map-&gt;</a:t>
            </a:r>
            <a:r>
              <a:rPr>
                <a:solidFill>
                  <a:srgbClr val="3D1D81"/>
                </a:solidFill>
              </a:rPr>
              <a:t>emplace</a:t>
            </a:r>
            <a:r>
              <a:t>(</a:t>
            </a:r>
            <a:r>
              <a:rPr>
                <a:solidFill>
                  <a:srgbClr val="3D1D81"/>
                </a:solidFill>
              </a:rPr>
              <a:t>move</a:t>
            </a:r>
            <a:r>
              <a:t>(key), </a:t>
            </a:r>
            <a:r>
              <a:rPr>
                <a:solidFill>
                  <a:srgbClr val="3D1D81"/>
                </a:solidFill>
              </a:rPr>
              <a:t>move</a:t>
            </a:r>
            <a:r>
              <a:t>(value));</a:t>
            </a:r>
          </a:p>
          <a:p>
            <a:pPr defTabSz="457200">
              <a:buClrTx/>
              <a:tabLst>
                <a:tab pos="419100" algn="l"/>
              </a:tabLst>
              <a:defRPr sz="2800">
                <a:solidFill>
                  <a:srgbClr val="008400"/>
                </a:solidFill>
                <a:uFillTx/>
                <a:latin typeface="Menlo Regular"/>
                <a:ea typeface="Menlo Regular"/>
                <a:cs typeface="Menlo Regular"/>
                <a:sym typeface="Menlo Regular"/>
              </a:defRPr>
            </a:pPr>
            <a:r>
              <a:rPr>
                <a:solidFill>
                  <a:srgbClr val="000000"/>
                </a:solidFill>
              </a:rPr>
              <a:t>        }, </a:t>
            </a:r>
            <a:r>
              <a:rPr>
                <a:solidFill>
                  <a:srgbClr val="3D1D81"/>
                </a:solidFill>
              </a:rPr>
              <a:t>move</a:t>
            </a:r>
            <a:r>
              <a:rPr>
                <a:solidFill>
                  <a:srgbClr val="000000"/>
                </a:solidFill>
              </a:rPr>
              <a:t>(key), </a:t>
            </a:r>
            <a:r>
              <a:rPr>
                <a:solidFill>
                  <a:srgbClr val="3D1D81"/>
                </a:solidFill>
              </a:rPr>
              <a:t>move</a:t>
            </a:r>
            <a:r>
              <a:rPr>
                <a:solidFill>
                  <a:srgbClr val="000000"/>
                </a:solidFill>
              </a:rPr>
              <a:t>(value));</a:t>
            </a:r>
            <a:endParaRPr>
              <a:solidFill>
                <a:srgbClr val="000000"/>
              </a:solidFill>
            </a:endParaRPr>
          </a:p>
          <a:p>
            <a:pPr defTabSz="457200">
              <a:buClrTx/>
              <a:tabLst>
                <a:tab pos="419100" algn="l"/>
              </a:tabLst>
              <a:defRPr sz="2800">
                <a:uFillTx/>
                <a:latin typeface="Menlo Regular"/>
                <a:ea typeface="Menlo Regular"/>
                <a:cs typeface="Menlo Regular"/>
                <a:sym typeface="Menlo Regular"/>
              </a:defRPr>
            </a:pPr>
            <a:r>
              <a:t>    }</a:t>
            </a:r>
          </a:p>
          <a:p>
            <a:pPr defTabSz="457200">
              <a:buClrTx/>
              <a:tabLst>
                <a:tab pos="419100" algn="l"/>
              </a:tabLst>
              <a:defRPr sz="2800">
                <a:uFillTx/>
                <a:latin typeface="Menlo Regular"/>
                <a:ea typeface="Menlo Regular"/>
                <a:cs typeface="Menlo Regular"/>
                <a:sym typeface="Menlo Regular"/>
              </a:defRPr>
            </a:pPr>
            <a:r>
              <a:t>    </a:t>
            </a:r>
          </a:p>
          <a:p>
            <a:pPr defTabSz="457200">
              <a:buClrTx/>
              <a:tabLst>
                <a:tab pos="419100" algn="l"/>
              </a:tabLst>
              <a:defRPr sz="2800">
                <a:uFillTx/>
                <a:latin typeface="Menlo Regular"/>
                <a:ea typeface="Menlo Regular"/>
                <a:cs typeface="Menlo Regular"/>
                <a:sym typeface="Menlo Regular"/>
              </a:defRPr>
            </a:pPr>
            <a:r>
              <a:t>    </a:t>
            </a:r>
            <a:r>
              <a:rPr>
                <a:solidFill>
                  <a:srgbClr val="BB2CA2"/>
                </a:solidFill>
              </a:rPr>
              <a:t>auto</a:t>
            </a:r>
            <a:r>
              <a:t> get(string key) -&gt; </a:t>
            </a:r>
            <a:r>
              <a:rPr>
                <a:solidFill>
                  <a:srgbClr val="703DAA"/>
                </a:solidFill>
              </a:rPr>
              <a:t>future</a:t>
            </a:r>
            <a:r>
              <a:t>&lt;</a:t>
            </a:r>
            <a:r>
              <a:rPr>
                <a:solidFill>
                  <a:srgbClr val="703DAA"/>
                </a:solidFill>
              </a:rPr>
              <a:t>string</a:t>
            </a:r>
            <a:r>
              <a:t>&gt; {</a:t>
            </a:r>
          </a:p>
          <a:p>
            <a:pPr defTabSz="457200">
              <a:buClrTx/>
              <a:tabLst>
                <a:tab pos="419100" algn="l"/>
              </a:tabLst>
              <a:defRPr sz="2800">
                <a:uFillTx/>
                <a:latin typeface="Menlo Regular"/>
                <a:ea typeface="Menlo Regular"/>
                <a:cs typeface="Menlo Regular"/>
                <a:sym typeface="Menlo Regular"/>
              </a:defRPr>
            </a:pPr>
            <a:r>
              <a:t>        </a:t>
            </a:r>
            <a:r>
              <a:rPr>
                <a:solidFill>
                  <a:srgbClr val="BB2CA2"/>
                </a:solidFill>
              </a:rPr>
              <a:t>return</a:t>
            </a:r>
            <a:r>
              <a:t> </a:t>
            </a:r>
            <a:r>
              <a:rPr>
                <a:solidFill>
                  <a:srgbClr val="4F8187"/>
                </a:solidFill>
              </a:rPr>
              <a:t>_q</a:t>
            </a:r>
            <a:r>
              <a:t>.</a:t>
            </a:r>
            <a:r>
              <a:rPr>
                <a:solidFill>
                  <a:srgbClr val="31595D"/>
                </a:solidFill>
              </a:rPr>
              <a:t>async</a:t>
            </a:r>
            <a:r>
              <a:t>([_map = _map](</a:t>
            </a:r>
            <a:r>
              <a:rPr>
                <a:solidFill>
                  <a:srgbClr val="703DAA"/>
                </a:solidFill>
              </a:rPr>
              <a:t>string</a:t>
            </a:r>
            <a:r>
              <a:t> key) {</a:t>
            </a:r>
          </a:p>
          <a:p>
            <a:pPr defTabSz="457200">
              <a:buClrTx/>
              <a:tabLst>
                <a:tab pos="419100" algn="l"/>
              </a:tabLst>
              <a:defRPr sz="2800">
                <a:uFillTx/>
                <a:latin typeface="Menlo Regular"/>
                <a:ea typeface="Menlo Regular"/>
                <a:cs typeface="Menlo Regular"/>
                <a:sym typeface="Menlo Regular"/>
              </a:defRPr>
            </a:pPr>
            <a:r>
              <a:t>            </a:t>
            </a:r>
            <a:r>
              <a:rPr>
                <a:solidFill>
                  <a:srgbClr val="BB2CA2"/>
                </a:solidFill>
              </a:rPr>
              <a:t>return</a:t>
            </a:r>
            <a:r>
              <a:t> _map-&gt;</a:t>
            </a:r>
            <a:r>
              <a:rPr>
                <a:solidFill>
                  <a:srgbClr val="3D1D81"/>
                </a:solidFill>
              </a:rPr>
              <a:t>at</a:t>
            </a:r>
            <a:r>
              <a:t>(key);</a:t>
            </a:r>
          </a:p>
          <a:p>
            <a:pPr defTabSz="457200">
              <a:buClrTx/>
              <a:tabLst>
                <a:tab pos="419100" algn="l"/>
              </a:tabLst>
              <a:defRPr sz="2800">
                <a:uFillTx/>
                <a:latin typeface="Menlo Regular"/>
                <a:ea typeface="Menlo Regular"/>
                <a:cs typeface="Menlo Regular"/>
                <a:sym typeface="Menlo Regular"/>
              </a:defRPr>
            </a:pPr>
            <a:r>
              <a:t>        }, </a:t>
            </a:r>
            <a:r>
              <a:rPr>
                <a:solidFill>
                  <a:srgbClr val="3D1D81"/>
                </a:solidFill>
              </a:rPr>
              <a:t>move</a:t>
            </a:r>
            <a:r>
              <a:t>(key));</a:t>
            </a:r>
          </a:p>
          <a:p>
            <a:pPr defTabSz="457200">
              <a:buClrTx/>
              <a:tabLst>
                <a:tab pos="419100" algn="l"/>
              </a:tabLst>
              <a:defRPr sz="2800">
                <a:uFillTx/>
                <a:latin typeface="Menlo Regular"/>
                <a:ea typeface="Menlo Regular"/>
                <a:cs typeface="Menlo Regular"/>
                <a:sym typeface="Menlo Regular"/>
              </a:defRPr>
            </a:pPr>
            <a:r>
              <a:t>    }</a:t>
            </a:r>
          </a:p>
          <a:p>
            <a:pPr defTabSz="457200">
              <a:buClrTx/>
              <a:tabLst>
                <a:tab pos="419100" algn="l"/>
              </a:tabLst>
              <a:defRPr sz="2800">
                <a:uFillTx/>
                <a:latin typeface="Menlo Regular"/>
                <a:ea typeface="Menlo Regular"/>
                <a:cs typeface="Menlo Regular"/>
                <a:sym typeface="Menlo Regular"/>
              </a:defRPr>
            </a:pPr>
          </a:p>
          <a:p>
            <a:pPr defTabSz="457200">
              <a:buClrTx/>
              <a:tabLst>
                <a:tab pos="419100" algn="l"/>
              </a:tabLst>
              <a:defRPr sz="2800">
                <a:uFillTx/>
                <a:latin typeface="Menlo Regular"/>
                <a:ea typeface="Menlo Regular"/>
                <a:cs typeface="Menlo Regular"/>
                <a:sym typeface="Menlo Regular"/>
              </a:defRPr>
            </a:pPr>
            <a:r>
              <a:t>    </a:t>
            </a:r>
            <a:r>
              <a:rPr>
                <a:solidFill>
                  <a:srgbClr val="BB2CA2"/>
                </a:solidFill>
              </a:rPr>
              <a:t>void</a:t>
            </a:r>
            <a:r>
              <a:t> set(</a:t>
            </a:r>
            <a:r>
              <a:rPr>
                <a:solidFill>
                  <a:srgbClr val="703DAA"/>
                </a:solidFill>
              </a:rPr>
              <a:t>vector</a:t>
            </a:r>
            <a:r>
              <a:t>&lt;</a:t>
            </a:r>
            <a:r>
              <a:rPr>
                <a:solidFill>
                  <a:srgbClr val="703DAA"/>
                </a:solidFill>
              </a:rPr>
              <a:t>pair</a:t>
            </a:r>
            <a:r>
              <a:t>&lt;</a:t>
            </a:r>
            <a:r>
              <a:rPr>
                <a:solidFill>
                  <a:srgbClr val="703DAA"/>
                </a:solidFill>
              </a:rPr>
              <a:t>string</a:t>
            </a:r>
            <a:r>
              <a:t>, </a:t>
            </a:r>
            <a:r>
              <a:rPr>
                <a:solidFill>
                  <a:srgbClr val="703DAA"/>
                </a:solidFill>
              </a:rPr>
              <a:t>string</a:t>
            </a:r>
            <a:r>
              <a:t>&gt;&gt; sequence) {</a:t>
            </a:r>
          </a:p>
          <a:p>
            <a:pPr defTabSz="457200">
              <a:buClrTx/>
              <a:tabLst>
                <a:tab pos="419100" algn="l"/>
              </a:tabLst>
              <a:defRPr sz="2800">
                <a:uFillTx/>
                <a:latin typeface="Menlo Regular"/>
                <a:ea typeface="Menlo Regular"/>
                <a:cs typeface="Menlo Regular"/>
                <a:sym typeface="Menlo Regular"/>
              </a:defRPr>
            </a:pPr>
            <a:r>
              <a:t>        </a:t>
            </a:r>
            <a:r>
              <a:rPr>
                <a:solidFill>
                  <a:srgbClr val="4F8187"/>
                </a:solidFill>
              </a:rPr>
              <a:t>_q</a:t>
            </a:r>
            <a:r>
              <a:t>.</a:t>
            </a:r>
            <a:r>
              <a:rPr>
                <a:solidFill>
                  <a:srgbClr val="31595D"/>
                </a:solidFill>
              </a:rPr>
              <a:t>async</a:t>
            </a:r>
            <a:r>
              <a:t>([_map = _map](</a:t>
            </a:r>
            <a:r>
              <a:rPr>
                <a:solidFill>
                  <a:srgbClr val="703DAA"/>
                </a:solidFill>
              </a:rPr>
              <a:t>vector</a:t>
            </a:r>
            <a:r>
              <a:t>&lt;</a:t>
            </a:r>
            <a:r>
              <a:rPr>
                <a:solidFill>
                  <a:srgbClr val="703DAA"/>
                </a:solidFill>
              </a:rPr>
              <a:t>pair</a:t>
            </a:r>
            <a:r>
              <a:t>&lt;</a:t>
            </a:r>
            <a:r>
              <a:rPr>
                <a:solidFill>
                  <a:srgbClr val="703DAA"/>
                </a:solidFill>
              </a:rPr>
              <a:t>string</a:t>
            </a:r>
            <a:r>
              <a:t>, </a:t>
            </a:r>
            <a:r>
              <a:rPr>
                <a:solidFill>
                  <a:srgbClr val="703DAA"/>
                </a:solidFill>
              </a:rPr>
              <a:t>string</a:t>
            </a:r>
            <a:r>
              <a:t>&gt;&gt; sequence) {</a:t>
            </a:r>
          </a:p>
          <a:p>
            <a:pPr defTabSz="457200">
              <a:buClrTx/>
              <a:tabLst>
                <a:tab pos="419100" algn="l"/>
              </a:tabLst>
              <a:defRPr sz="2800">
                <a:uFillTx/>
                <a:latin typeface="Menlo Regular"/>
                <a:ea typeface="Menlo Regular"/>
                <a:cs typeface="Menlo Regular"/>
                <a:sym typeface="Menlo Regular"/>
              </a:defRPr>
            </a:pPr>
            <a:r>
              <a:t>            _map-&gt;</a:t>
            </a:r>
            <a:r>
              <a:rPr>
                <a:solidFill>
                  <a:srgbClr val="3D1D81"/>
                </a:solidFill>
              </a:rPr>
              <a:t>insert</a:t>
            </a:r>
            <a:r>
              <a:t>(</a:t>
            </a:r>
            <a:r>
              <a:rPr>
                <a:solidFill>
                  <a:srgbClr val="3D1D81"/>
                </a:solidFill>
              </a:rPr>
              <a:t>make_move_iterator</a:t>
            </a:r>
            <a:r>
              <a:t>(</a:t>
            </a:r>
            <a:r>
              <a:rPr>
                <a:solidFill>
                  <a:srgbClr val="3D1D81"/>
                </a:solidFill>
              </a:rPr>
              <a:t>begin</a:t>
            </a:r>
            <a:r>
              <a:t>(sequence)), </a:t>
            </a:r>
            <a:r>
              <a:rPr>
                <a:solidFill>
                  <a:srgbClr val="3D1D81"/>
                </a:solidFill>
              </a:rPr>
              <a:t>make_move_iterator</a:t>
            </a:r>
            <a:r>
              <a:t>(</a:t>
            </a:r>
            <a:r>
              <a:rPr>
                <a:solidFill>
                  <a:srgbClr val="3D1D81"/>
                </a:solidFill>
              </a:rPr>
              <a:t>end</a:t>
            </a:r>
            <a:r>
              <a:t>(sequence)));</a:t>
            </a:r>
          </a:p>
          <a:p>
            <a:pPr defTabSz="457200">
              <a:buClrTx/>
              <a:tabLst>
                <a:tab pos="419100" algn="l"/>
              </a:tabLst>
              <a:defRPr sz="2800">
                <a:uFillTx/>
                <a:latin typeface="Menlo Regular"/>
                <a:ea typeface="Menlo Regular"/>
                <a:cs typeface="Menlo Regular"/>
                <a:sym typeface="Menlo Regular"/>
              </a:defRPr>
            </a:pPr>
            <a:r>
              <a:t>        }, </a:t>
            </a:r>
            <a:r>
              <a:rPr>
                <a:solidFill>
                  <a:srgbClr val="3D1D81"/>
                </a:solidFill>
              </a:rPr>
              <a:t>move</a:t>
            </a:r>
            <a:r>
              <a:t>(sequence));</a:t>
            </a:r>
          </a:p>
          <a:p>
            <a:pPr defTabSz="457200">
              <a:buClrTx/>
              <a:tabLst>
                <a:tab pos="419100" algn="l"/>
              </a:tabLst>
              <a:defRPr sz="2800">
                <a:uFillTx/>
                <a:latin typeface="Menlo Regular"/>
                <a:ea typeface="Menlo Regular"/>
                <a:cs typeface="Menlo Regular"/>
                <a:sym typeface="Menlo Regular"/>
              </a:defRPr>
            </a:pPr>
            <a:r>
              <a:t>    }</a:t>
            </a:r>
          </a:p>
          <a:p>
            <a:pPr defTabSz="457200">
              <a:buClrTx/>
              <a:tabLst>
                <a:tab pos="419100" algn="l"/>
              </a:tabLst>
              <a:defRPr sz="2800">
                <a:uFillTx/>
                <a:latin typeface="Menlo Regular"/>
                <a:ea typeface="Menlo Regular"/>
                <a:cs typeface="Menlo Regular"/>
                <a:sym typeface="Menlo Regular"/>
              </a:defRPr>
            </a:pPr>
            <a:r>
              <a:t>};</a:t>
            </a:r>
          </a:p>
        </p:txBody>
      </p:sp>
    </p:spTree>
  </p:cSld>
  <p:clrMapOvr>
    <a:masterClrMapping/>
  </p:clrMapOvr>
  <p:transition xmlns:p14="http://schemas.microsoft.com/office/powerpoint/2010/main" spd="fast"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5"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46"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47"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748" name="Mutexes and Sequential Consistency"/>
          <p:cNvSpPr txBox="1"/>
          <p:nvPr>
            <p:ph type="title"/>
          </p:nvPr>
        </p:nvSpPr>
        <p:spPr>
          <a:xfrm>
            <a:off x="609600" y="368300"/>
            <a:ext cx="23182917" cy="822325"/>
          </a:xfrm>
          <a:prstGeom prst="rect">
            <a:avLst/>
          </a:prstGeom>
        </p:spPr>
        <p:txBody>
          <a:bodyPr/>
          <a:lstStyle>
            <a:lvl1pPr>
              <a:defRPr sz="4200"/>
            </a:lvl1pPr>
          </a:lstStyle>
          <a:p>
            <a:pPr/>
            <a:r>
              <a:t>Mutexes and Sequential Consistency</a:t>
            </a:r>
          </a:p>
        </p:txBody>
      </p:sp>
      <p:sp>
        <p:nvSpPr>
          <p:cNvPr id="749" name="The transformation mutex to serial queue places an upper-bound…"/>
          <p:cNvSpPr txBox="1"/>
          <p:nvPr>
            <p:ph type="body" idx="1"/>
          </p:nvPr>
        </p:nvSpPr>
        <p:spPr>
          <a:prstGeom prst="rect">
            <a:avLst/>
          </a:prstGeom>
        </p:spPr>
        <p:txBody>
          <a:bodyPr/>
          <a:lstStyle/>
          <a:p>
            <a:pPr/>
            <a:r>
              <a:t>The transformation mutex to serial queue places an upper-bound</a:t>
            </a:r>
          </a:p>
          <a:p>
            <a:pPr lvl="1"/>
            <a:r>
              <a:t>Synchronization overhead</a:t>
            </a:r>
          </a:p>
          <a:p>
            <a:pPr lvl="1"/>
            <a:r>
              <a:t>Time to issue operation</a:t>
            </a:r>
          </a:p>
        </p:txBody>
      </p:sp>
      <p:sp>
        <p:nvSpPr>
          <p:cNvPr id="750" name="Slide Number"/>
          <p:cNvSpPr txBox="1"/>
          <p:nvPr>
            <p:ph type="sldNum" sz="quarter" idx="2"/>
          </p:nvPr>
        </p:nvSpPr>
        <p:spPr>
          <a:xfrm>
            <a:off x="12046645" y="12934946"/>
            <a:ext cx="309779"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751"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3"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54"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55"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756" name="Threads and Tasks"/>
          <p:cNvSpPr txBox="1"/>
          <p:nvPr>
            <p:ph type="title"/>
          </p:nvPr>
        </p:nvSpPr>
        <p:spPr>
          <a:xfrm>
            <a:off x="609600" y="368300"/>
            <a:ext cx="23182917" cy="822325"/>
          </a:xfrm>
          <a:prstGeom prst="rect">
            <a:avLst/>
          </a:prstGeom>
        </p:spPr>
        <p:txBody>
          <a:bodyPr/>
          <a:lstStyle>
            <a:lvl1pPr>
              <a:defRPr sz="4200"/>
            </a:lvl1pPr>
          </a:lstStyle>
          <a:p>
            <a:pPr/>
            <a:r>
              <a:t>Threads and Tasks</a:t>
            </a:r>
          </a:p>
        </p:txBody>
      </p:sp>
      <p:sp>
        <p:nvSpPr>
          <p:cNvPr id="757" name="Thread: Execution environment consisting of a stack and processor state running in parallel to other threads…"/>
          <p:cNvSpPr txBox="1"/>
          <p:nvPr>
            <p:ph type="body" idx="1"/>
          </p:nvPr>
        </p:nvSpPr>
        <p:spPr>
          <a:prstGeom prst="rect">
            <a:avLst/>
          </a:prstGeom>
        </p:spPr>
        <p:txBody>
          <a:bodyPr/>
          <a:lstStyle/>
          <a:p>
            <a:pPr/>
            <a:r>
              <a:t>Thread: Execution environment consisting of a stack and processor state running in parallel to other threads</a:t>
            </a:r>
          </a:p>
          <a:p>
            <a:pPr/>
            <a:r>
              <a:t>Task: A unit of work, often a function, to be executed on a thread</a:t>
            </a:r>
          </a:p>
          <a:p>
            <a:pPr/>
          </a:p>
          <a:p>
            <a:pPr/>
            <a:r>
              <a:t>Tasks are scheduled on a thread pool to optimize machine utilization</a:t>
            </a:r>
          </a:p>
        </p:txBody>
      </p:sp>
      <p:sp>
        <p:nvSpPr>
          <p:cNvPr id="758" name="Slide Number"/>
          <p:cNvSpPr txBox="1"/>
          <p:nvPr>
            <p:ph type="sldNum" sz="quarter" idx="2"/>
          </p:nvPr>
        </p:nvSpPr>
        <p:spPr>
          <a:xfrm>
            <a:off x="12043901" y="12934946"/>
            <a:ext cx="315266"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759"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3"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64"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65"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766" name="C++14 and Tasks"/>
          <p:cNvSpPr txBox="1"/>
          <p:nvPr>
            <p:ph type="title"/>
          </p:nvPr>
        </p:nvSpPr>
        <p:spPr>
          <a:xfrm>
            <a:off x="609600" y="368300"/>
            <a:ext cx="23182917" cy="822325"/>
          </a:xfrm>
          <a:prstGeom prst="rect">
            <a:avLst/>
          </a:prstGeom>
        </p:spPr>
        <p:txBody>
          <a:bodyPr/>
          <a:lstStyle>
            <a:lvl1pPr>
              <a:defRPr sz="4200"/>
            </a:lvl1pPr>
          </a:lstStyle>
          <a:p>
            <a:pPr/>
            <a:r>
              <a:t>C++14 and Tasks</a:t>
            </a:r>
          </a:p>
        </p:txBody>
      </p:sp>
      <p:sp>
        <p:nvSpPr>
          <p:cNvPr id="767" name="C++14 does not (really) have a task system…"/>
          <p:cNvSpPr txBox="1"/>
          <p:nvPr>
            <p:ph type="body" idx="1"/>
          </p:nvPr>
        </p:nvSpPr>
        <p:spPr>
          <a:prstGeom prst="rect">
            <a:avLst/>
          </a:prstGeom>
        </p:spPr>
        <p:txBody>
          <a:bodyPr/>
          <a:lstStyle/>
          <a:p>
            <a:pPr/>
            <a:r>
              <a:t>C++14 does not (really) have a task system</a:t>
            </a:r>
          </a:p>
          <a:p>
            <a:pPr lvl="1"/>
            <a:r>
              <a:t>Threads</a:t>
            </a:r>
          </a:p>
          <a:p>
            <a:pPr lvl="1"/>
            <a:r>
              <a:t>Futures</a:t>
            </a:r>
          </a:p>
          <a:p>
            <a:pPr/>
          </a:p>
          <a:p>
            <a:pPr/>
            <a:r>
              <a:t>It is implementation defined if std::async() spins up a thread or executes on a thread pool.</a:t>
            </a:r>
          </a:p>
        </p:txBody>
      </p:sp>
      <p:sp>
        <p:nvSpPr>
          <p:cNvPr id="768" name="Slide Number"/>
          <p:cNvSpPr txBox="1"/>
          <p:nvPr>
            <p:ph type="sldNum" sz="quarter" idx="2"/>
          </p:nvPr>
        </p:nvSpPr>
        <p:spPr>
          <a:xfrm>
            <a:off x="12051318" y="12934946"/>
            <a:ext cx="300432"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769"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771" name="Create Your Own Presentation"/>
          <p:cNvSpPr txBox="1"/>
          <p:nvPr>
            <p:ph type="title"/>
          </p:nvPr>
        </p:nvSpPr>
        <p:spPr>
          <a:prstGeom prst="rect">
            <a:avLst/>
          </a:prstGeom>
        </p:spPr>
        <p:txBody>
          <a:bodyPr lIns="76200" tIns="76200" rIns="76200" bIns="76200"/>
          <a:lstStyle>
            <a:lvl1pPr>
              <a:defRPr sz="4000"/>
            </a:lvl1pPr>
          </a:lstStyle>
          <a:p>
            <a:pPr/>
            <a:r>
              <a:t>Create Your Own Presentation</a:t>
            </a:r>
          </a:p>
        </p:txBody>
      </p:sp>
      <p:sp>
        <p:nvSpPr>
          <p:cNvPr id="772"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773" name="Build Task Stealing System">
            <a:hlinkClick r:id="" invalidUrl="" action="ppaction://hlinkshowjump?jump=nextslide" tgtFrame="" tooltip="" history="1" highlightClick="0" endSnd="0"/>
          </p:cNvPr>
          <p:cNvSpPr/>
          <p:nvPr/>
        </p:nvSpPr>
        <p:spPr>
          <a:xfrm>
            <a:off x="5193910" y="4907943"/>
            <a:ext cx="4441968" cy="1701071"/>
          </a:xfrm>
          <a:prstGeom prst="roundRect">
            <a:avLst>
              <a:gd name="adj" fmla="val 11199"/>
            </a:avLst>
          </a:prstGeom>
          <a:blipFill>
            <a:blip r:embed="rId2"/>
          </a:blipFill>
          <a:ln w="12700">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ctr"/>
          <a:lstStyle>
            <a:lvl1pPr algn="ctr">
              <a:defRPr sz="3800">
                <a:solidFill>
                  <a:srgbClr val="FFFFFF"/>
                </a:solidFill>
              </a:defRPr>
            </a:lvl1pPr>
          </a:lstStyle>
          <a:p>
            <a:pPr/>
            <a:r>
              <a:t>Build Task Stealing System</a:t>
            </a:r>
          </a:p>
        </p:txBody>
      </p:sp>
      <p:sp>
        <p:nvSpPr>
          <p:cNvPr id="774" name="Futures">
            <a:hlinkClick r:id="rId3" invalidUrl="" action="ppaction://hlinksldjump" tgtFrame="" tooltip="" history="1" highlightClick="0" endSnd="0"/>
          </p:cNvPr>
          <p:cNvSpPr/>
          <p:nvPr/>
        </p:nvSpPr>
        <p:spPr>
          <a:xfrm>
            <a:off x="14748123" y="4907943"/>
            <a:ext cx="4441968" cy="1701071"/>
          </a:xfrm>
          <a:prstGeom prst="roundRect">
            <a:avLst>
              <a:gd name="adj" fmla="val 11199"/>
            </a:avLst>
          </a:prstGeom>
          <a:blipFill>
            <a:blip r:embed="rId4"/>
          </a:blipFill>
          <a:ln w="12700">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ctr"/>
          <a:lstStyle>
            <a:lvl1pPr algn="ctr">
              <a:defRPr sz="3800">
                <a:solidFill>
                  <a:srgbClr val="FFFFFF"/>
                </a:solidFill>
              </a:defRPr>
            </a:lvl1pPr>
          </a:lstStyle>
          <a:p>
            <a:pPr/>
            <a:r>
              <a:t>Futures</a:t>
            </a:r>
          </a:p>
        </p:txBody>
      </p:sp>
    </p:spTree>
  </p:cSld>
  <p:clrMapOvr>
    <a:masterClrMapping/>
  </p:clrMapOvr>
  <p:transition xmlns:p14="http://schemas.microsoft.com/office/powerpoint/2010/main" spd="fast"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6"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77"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78"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779" name="Building a Task System"/>
          <p:cNvSpPr txBox="1"/>
          <p:nvPr>
            <p:ph type="title"/>
          </p:nvPr>
        </p:nvSpPr>
        <p:spPr>
          <a:xfrm>
            <a:off x="609600" y="368300"/>
            <a:ext cx="23182917" cy="822325"/>
          </a:xfrm>
          <a:prstGeom prst="rect">
            <a:avLst/>
          </a:prstGeom>
        </p:spPr>
        <p:txBody>
          <a:bodyPr/>
          <a:lstStyle>
            <a:lvl1pPr>
              <a:defRPr sz="4200"/>
            </a:lvl1pPr>
          </a:lstStyle>
          <a:p>
            <a:pPr/>
            <a:r>
              <a:t>Building a Task System</a:t>
            </a:r>
          </a:p>
        </p:txBody>
      </p:sp>
      <p:sp>
        <p:nvSpPr>
          <p:cNvPr id="780" name="Portable Reference Implementation in C++14…"/>
          <p:cNvSpPr txBox="1"/>
          <p:nvPr>
            <p:ph type="body" idx="1"/>
          </p:nvPr>
        </p:nvSpPr>
        <p:spPr>
          <a:prstGeom prst="rect">
            <a:avLst/>
          </a:prstGeom>
        </p:spPr>
        <p:txBody>
          <a:bodyPr/>
          <a:lstStyle/>
          <a:p>
            <a:pPr/>
            <a:r>
              <a:t>Portable </a:t>
            </a:r>
            <a:r>
              <a:t>Reference Implementation in C++14</a:t>
            </a:r>
          </a:p>
          <a:p>
            <a:pPr/>
            <a:r>
              <a:t>Windows - Window Thread Pool and PPL</a:t>
            </a:r>
          </a:p>
          <a:p>
            <a:pPr/>
            <a:r>
              <a:t>Apple - Grand Central Dispatch (libdispatch)</a:t>
            </a:r>
          </a:p>
          <a:p>
            <a:pPr lvl="1"/>
            <a:r>
              <a:t>open source, runs on Linux and Android</a:t>
            </a:r>
          </a:p>
          <a:p>
            <a:pPr/>
            <a:r>
              <a:t>Intel TBB - many platforms</a:t>
            </a:r>
          </a:p>
          <a:p>
            <a:pPr lvl="1"/>
            <a:r>
              <a:t>open source</a:t>
            </a:r>
          </a:p>
          <a:p>
            <a:pPr/>
            <a:r>
              <a:t>HPX - many platforms</a:t>
            </a:r>
          </a:p>
          <a:p>
            <a:pPr lvl="1"/>
            <a:r>
              <a:t>open source</a:t>
            </a:r>
          </a:p>
        </p:txBody>
      </p:sp>
      <p:sp>
        <p:nvSpPr>
          <p:cNvPr id="781" name="Slide Number"/>
          <p:cNvSpPr txBox="1"/>
          <p:nvPr>
            <p:ph type="sldNum" sz="quarter" idx="2"/>
          </p:nvPr>
        </p:nvSpPr>
        <p:spPr>
          <a:xfrm>
            <a:off x="12045222" y="12934946"/>
            <a:ext cx="312624"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782"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4"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85"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86"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787" name="Building a Task System"/>
          <p:cNvSpPr txBox="1"/>
          <p:nvPr>
            <p:ph type="title"/>
          </p:nvPr>
        </p:nvSpPr>
        <p:spPr>
          <a:xfrm>
            <a:off x="609600" y="368300"/>
            <a:ext cx="23182917" cy="822325"/>
          </a:xfrm>
          <a:prstGeom prst="rect">
            <a:avLst/>
          </a:prstGeom>
        </p:spPr>
        <p:txBody>
          <a:bodyPr/>
          <a:lstStyle>
            <a:lvl1pPr>
              <a:defRPr sz="4200"/>
            </a:lvl1pPr>
          </a:lstStyle>
          <a:p>
            <a:pPr/>
            <a:r>
              <a:t>Building a Task System</a:t>
            </a:r>
          </a:p>
        </p:txBody>
      </p:sp>
      <p:sp>
        <p:nvSpPr>
          <p:cNvPr id="788" name="Slide Number"/>
          <p:cNvSpPr txBox="1"/>
          <p:nvPr>
            <p:ph type="sldNum" sz="quarter" idx="2"/>
          </p:nvPr>
        </p:nvSpPr>
        <p:spPr>
          <a:xfrm>
            <a:off x="12044105" y="12934946"/>
            <a:ext cx="314859"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789"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
        <p:nvSpPr>
          <p:cNvPr id="790" name="http://docs.oracle.com/cd/E19253-01/816-5137/ggedn/index.html"/>
          <p:cNvSpPr txBox="1"/>
          <p:nvPr/>
        </p:nvSpPr>
        <p:spPr>
          <a:xfrm>
            <a:off x="20024483" y="12426611"/>
            <a:ext cx="4067252" cy="292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200" u="sng">
                <a:hlinkClick r:id="rId4" invalidUrl="" action="" tgtFrame="" tooltip="" history="1" highlightClick="0" endSnd="0"/>
              </a:defRPr>
            </a:lvl1pPr>
          </a:lstStyle>
          <a:p>
            <a:pPr>
              <a:defRPr u="none"/>
            </a:pPr>
            <a:r>
              <a:rPr u="sng">
                <a:hlinkClick r:id="rId4" invalidUrl="" action="" tgtFrame="" tooltip="" history="1" highlightClick="0" endSnd="0"/>
              </a:rPr>
              <a:t>http://docs.oracle.com/cd/E19253-01/816-5137/ggedn/index.html</a:t>
            </a:r>
          </a:p>
        </p:txBody>
      </p:sp>
      <p:pic>
        <p:nvPicPr>
          <p:cNvPr id="791" name="Image" descr="Image"/>
          <p:cNvPicPr>
            <a:picLocks noChangeAspect="1"/>
          </p:cNvPicPr>
          <p:nvPr/>
        </p:nvPicPr>
        <p:blipFill>
          <a:blip r:embed="rId5">
            <a:extLst/>
          </a:blip>
          <a:stretch>
            <a:fillRect/>
          </a:stretch>
        </p:blipFill>
        <p:spPr>
          <a:xfrm>
            <a:off x="8001000" y="1714161"/>
            <a:ext cx="7356572" cy="10858501"/>
          </a:xfrm>
          <a:prstGeom prst="rect">
            <a:avLst/>
          </a:prstGeom>
          <a:ln w="12700">
            <a:miter lim="400000"/>
          </a:ln>
        </p:spPr>
      </p:pic>
    </p:spTree>
  </p:cSld>
  <p:clrMapOvr>
    <a:masterClrMapping/>
  </p:clrMapOvr>
  <p:transition xmlns:p14="http://schemas.microsoft.com/office/powerpoint/2010/main" spd="fast"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5"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96"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797"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798" name="Building a Task System"/>
          <p:cNvSpPr txBox="1"/>
          <p:nvPr>
            <p:ph type="title"/>
          </p:nvPr>
        </p:nvSpPr>
        <p:spPr>
          <a:xfrm>
            <a:off x="609600" y="368300"/>
            <a:ext cx="23182917" cy="822325"/>
          </a:xfrm>
          <a:prstGeom prst="rect">
            <a:avLst/>
          </a:prstGeom>
        </p:spPr>
        <p:txBody>
          <a:bodyPr/>
          <a:lstStyle>
            <a:lvl1pPr>
              <a:defRPr sz="4200"/>
            </a:lvl1pPr>
          </a:lstStyle>
          <a:p>
            <a:pPr/>
            <a:r>
              <a:t>Building a Task System</a:t>
            </a:r>
          </a:p>
        </p:txBody>
      </p:sp>
      <p:sp>
        <p:nvSpPr>
          <p:cNvPr id="799" name="using lock_t = unique_lock&lt;mutex&gt;;…"/>
          <p:cNvSpPr txBox="1"/>
          <p:nvPr>
            <p:ph type="body" idx="1"/>
          </p:nvPr>
        </p:nvSpPr>
        <p:spPr>
          <a:prstGeom prst="rect">
            <a:avLst/>
          </a:prstGeom>
        </p:spPr>
        <p:txBody>
          <a:bodyPr/>
          <a:lstStyle/>
          <a:p>
            <a:pPr marL="0" indent="0" defTabSz="457200">
              <a:spcBef>
                <a:spcPts val="0"/>
              </a:spcBef>
              <a:buClrTx/>
              <a:buSzTx/>
              <a:buNone/>
              <a:tabLst>
                <a:tab pos="419100" algn="l"/>
              </a:tabLst>
              <a:defRPr sz="2400">
                <a:solidFill>
                  <a:srgbClr val="703DAA"/>
                </a:solidFill>
                <a:uFillTx/>
                <a:latin typeface="Menlo Regular"/>
                <a:ea typeface="Menlo Regular"/>
                <a:cs typeface="Menlo Regular"/>
                <a:sym typeface="Menlo Regular"/>
              </a:defRPr>
            </a:pPr>
            <a:r>
              <a:rPr>
                <a:solidFill>
                  <a:srgbClr val="BB2CA2"/>
                </a:solidFill>
              </a:rPr>
              <a:t>using</a:t>
            </a:r>
            <a:r>
              <a:rPr>
                <a:solidFill>
                  <a:srgbClr val="000000"/>
                </a:solidFill>
              </a:rPr>
              <a:t> lock_t = </a:t>
            </a:r>
            <a:r>
              <a:t>unique_lock</a:t>
            </a:r>
            <a:r>
              <a:rPr>
                <a:solidFill>
                  <a:srgbClr val="000000"/>
                </a:solidFill>
              </a:rPr>
              <a:t>&lt;</a:t>
            </a:r>
            <a:r>
              <a:t>mutex</a:t>
            </a:r>
            <a:r>
              <a:rPr>
                <a:solidFill>
                  <a:srgbClr val="000000"/>
                </a:solidFill>
              </a:rPr>
              <a:t>&gt;;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rPr>
                <a:solidFill>
                  <a:srgbClr val="BB2CA2"/>
                </a:solidFill>
              </a:rPr>
              <a:t>class</a:t>
            </a:r>
            <a:r>
              <a:t> notification_queue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703DAA"/>
                </a:solidFill>
              </a:rPr>
              <a:t>deque</a:t>
            </a:r>
            <a:r>
              <a:t>&lt;</a:t>
            </a:r>
            <a:r>
              <a:rPr>
                <a:solidFill>
                  <a:srgbClr val="703DAA"/>
                </a:solidFill>
              </a:rPr>
              <a:t>function</a:t>
            </a:r>
            <a:r>
              <a:t>&lt;</a:t>
            </a:r>
            <a:r>
              <a:rPr>
                <a:solidFill>
                  <a:srgbClr val="BB2CA2"/>
                </a:solidFill>
              </a:rPr>
              <a:t>void</a:t>
            </a:r>
            <a:r>
              <a:t>()&gt;&gt; _q;</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703DAA"/>
                </a:solidFill>
              </a:rPr>
              <a:t>mutex</a:t>
            </a:r>
            <a:r>
              <a:t>                   _mutex;</a:t>
            </a:r>
          </a:p>
          <a:p>
            <a:pPr marL="0" indent="0" defTabSz="457200">
              <a:spcBef>
                <a:spcPts val="0"/>
              </a:spcBef>
              <a:buClrTx/>
              <a:buSzTx/>
              <a:buNone/>
              <a:tabLst>
                <a:tab pos="419100" algn="l"/>
              </a:tabLst>
              <a:defRPr sz="2400">
                <a:solidFill>
                  <a:srgbClr val="703DAA"/>
                </a:solidFill>
                <a:uFillTx/>
                <a:latin typeface="Menlo Regular"/>
                <a:ea typeface="Menlo Regular"/>
                <a:cs typeface="Menlo Regular"/>
                <a:sym typeface="Menlo Regular"/>
              </a:defRPr>
            </a:pPr>
            <a:r>
              <a:rPr>
                <a:solidFill>
                  <a:srgbClr val="000000"/>
                </a:solidFill>
              </a:rPr>
              <a:t>    </a:t>
            </a:r>
            <a:r>
              <a:t>condition_variable</a:t>
            </a:r>
            <a:r>
              <a:rPr>
                <a:solidFill>
                  <a:srgbClr val="000000"/>
                </a:solidFill>
              </a:rPr>
              <a:t>      _ready;</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public</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void</a:t>
            </a:r>
            <a:r>
              <a:t> pop(</a:t>
            </a:r>
            <a:r>
              <a:rPr>
                <a:solidFill>
                  <a:srgbClr val="703DAA"/>
                </a:solidFill>
              </a:rPr>
              <a:t>function</a:t>
            </a:r>
            <a:r>
              <a:t>&lt;</a:t>
            </a:r>
            <a:r>
              <a:rPr>
                <a:solidFill>
                  <a:srgbClr val="BB2CA2"/>
                </a:solidFill>
              </a:rPr>
              <a:t>void</a:t>
            </a:r>
            <a:r>
              <a:t>()&gt;&amp; x)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lock_t</a:t>
            </a:r>
            <a:r>
              <a:t> lock{</a:t>
            </a:r>
            <a:r>
              <a:rPr>
                <a:solidFill>
                  <a:srgbClr val="4F8187"/>
                </a:solidFill>
              </a:rPr>
              <a:t>_mutex</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while</a:t>
            </a:r>
            <a:r>
              <a:t> (</a:t>
            </a:r>
            <a:r>
              <a:rPr>
                <a:solidFill>
                  <a:srgbClr val="4F8187"/>
                </a:solidFill>
              </a:rPr>
              <a:t>_q</a:t>
            </a:r>
            <a:r>
              <a:t>.</a:t>
            </a:r>
            <a:r>
              <a:rPr>
                <a:solidFill>
                  <a:srgbClr val="3D1D81"/>
                </a:solidFill>
              </a:rPr>
              <a:t>empty</a:t>
            </a:r>
            <a:r>
              <a:t>()) </a:t>
            </a:r>
            <a:r>
              <a:rPr>
                <a:solidFill>
                  <a:srgbClr val="4F8187"/>
                </a:solidFill>
              </a:rPr>
              <a:t>_ready</a:t>
            </a:r>
            <a:r>
              <a:t>.</a:t>
            </a:r>
            <a:r>
              <a:rPr>
                <a:solidFill>
                  <a:srgbClr val="3D1D81"/>
                </a:solidFill>
              </a:rPr>
              <a:t>wait</a:t>
            </a:r>
            <a:r>
              <a:t>(lock);</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x = </a:t>
            </a:r>
            <a:r>
              <a:rPr>
                <a:solidFill>
                  <a:srgbClr val="3D1D81"/>
                </a:solidFill>
              </a:rPr>
              <a:t>move</a:t>
            </a:r>
            <a:r>
              <a:t>(</a:t>
            </a:r>
            <a:r>
              <a:rPr>
                <a:solidFill>
                  <a:srgbClr val="4F8187"/>
                </a:solidFill>
              </a:rPr>
              <a:t>_q</a:t>
            </a:r>
            <a:r>
              <a:t>.</a:t>
            </a:r>
            <a:r>
              <a:rPr>
                <a:solidFill>
                  <a:srgbClr val="3D1D81"/>
                </a:solidFill>
              </a:rPr>
              <a:t>front</a:t>
            </a:r>
            <a:r>
              <a:t>());</a:t>
            </a:r>
          </a:p>
          <a:p>
            <a:pPr marL="0" indent="0" defTabSz="457200">
              <a:spcBef>
                <a:spcPts val="0"/>
              </a:spcBef>
              <a:buClrTx/>
              <a:buSzTx/>
              <a:buNone/>
              <a:tabLst>
                <a:tab pos="419100" algn="l"/>
              </a:tabLst>
              <a:defRPr sz="2400">
                <a:solidFill>
                  <a:srgbClr val="3D1D81"/>
                </a:solidFill>
                <a:uFillTx/>
                <a:latin typeface="Menlo Regular"/>
                <a:ea typeface="Menlo Regular"/>
                <a:cs typeface="Menlo Regular"/>
                <a:sym typeface="Menlo Regular"/>
              </a:defRPr>
            </a:pPr>
            <a:r>
              <a:rPr>
                <a:solidFill>
                  <a:srgbClr val="000000"/>
                </a:solidFill>
              </a:rPr>
              <a:t>        </a:t>
            </a:r>
            <a:r>
              <a:rPr>
                <a:solidFill>
                  <a:srgbClr val="4F8187"/>
                </a:solidFill>
              </a:rPr>
              <a:t>_q</a:t>
            </a:r>
            <a:r>
              <a:rPr>
                <a:solidFill>
                  <a:srgbClr val="000000"/>
                </a:solidFill>
              </a:rPr>
              <a:t>.</a:t>
            </a:r>
            <a:r>
              <a:t>pop_front</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&lt;</a:t>
            </a:r>
            <a:r>
              <a:t>typename</a:t>
            </a:r>
            <a:r>
              <a:rPr>
                <a:solidFill>
                  <a:srgbClr val="000000"/>
                </a:solidFill>
              </a:rPr>
              <a:t> F&gt;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void</a:t>
            </a:r>
            <a:r>
              <a:t> push(F&amp;&amp; f)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lock_t</a:t>
            </a:r>
            <a:r>
              <a:t> lock{</a:t>
            </a:r>
            <a:r>
              <a:rPr>
                <a:solidFill>
                  <a:srgbClr val="4F8187"/>
                </a:solidFill>
              </a:rPr>
              <a:t>_mutex</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_q</a:t>
            </a:r>
            <a:r>
              <a:t>.emplace_back(forward&lt;F&gt;(f));</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solidFill>
                  <a:srgbClr val="3D1D81"/>
                </a:solidFill>
                <a:uFillTx/>
                <a:latin typeface="Menlo Regular"/>
                <a:ea typeface="Menlo Regular"/>
                <a:cs typeface="Menlo Regular"/>
                <a:sym typeface="Menlo Regular"/>
              </a:defRPr>
            </a:pPr>
            <a:r>
              <a:rPr>
                <a:solidFill>
                  <a:srgbClr val="000000"/>
                </a:solidFill>
              </a:rPr>
              <a:t>        </a:t>
            </a:r>
            <a:r>
              <a:rPr>
                <a:solidFill>
                  <a:srgbClr val="4F8187"/>
                </a:solidFill>
              </a:rPr>
              <a:t>_ready</a:t>
            </a:r>
            <a:r>
              <a:rPr>
                <a:solidFill>
                  <a:srgbClr val="000000"/>
                </a:solidFill>
              </a:rPr>
              <a:t>.</a:t>
            </a:r>
            <a:r>
              <a:t>notify_one</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a:t>
            </a:r>
          </a:p>
        </p:txBody>
      </p:sp>
      <p:sp>
        <p:nvSpPr>
          <p:cNvPr id="800" name="Slide Number"/>
          <p:cNvSpPr txBox="1"/>
          <p:nvPr>
            <p:ph type="sldNum" sz="quarter" idx="2"/>
          </p:nvPr>
        </p:nvSpPr>
        <p:spPr>
          <a:xfrm>
            <a:off x="12042276" y="12934946"/>
            <a:ext cx="318517"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801"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
        <p:nvSpPr>
          <p:cNvPr id="802" name="Rounded Rectangle"/>
          <p:cNvSpPr/>
          <p:nvPr/>
        </p:nvSpPr>
        <p:spPr>
          <a:xfrm>
            <a:off x="294522" y="1793012"/>
            <a:ext cx="168853" cy="831851"/>
          </a:xfrm>
          <a:prstGeom prst="roundRect">
            <a:avLst>
              <a:gd name="adj" fmla="val 47636"/>
            </a:avLst>
          </a:prstGeom>
          <a:solidFill>
            <a:srgbClr val="CCDC3C"/>
          </a:solidFill>
          <a:ln w="12700">
            <a:miter lim="400000"/>
          </a:ln>
        </p:spPr>
        <p:txBody>
          <a:bodyPr lIns="50800" tIns="50800" rIns="50800" bIns="50800" anchor="ctr"/>
          <a:lstStyle/>
          <a:p>
            <a:pPr lvl="1"/>
          </a:p>
        </p:txBody>
      </p:sp>
      <p:sp>
        <p:nvSpPr>
          <p:cNvPr id="803" name="Rounded Rectangle"/>
          <p:cNvSpPr/>
          <p:nvPr/>
        </p:nvSpPr>
        <p:spPr>
          <a:xfrm>
            <a:off x="294522" y="2763868"/>
            <a:ext cx="168853" cy="1452603"/>
          </a:xfrm>
          <a:prstGeom prst="roundRect">
            <a:avLst>
              <a:gd name="adj" fmla="val 47636"/>
            </a:avLst>
          </a:prstGeom>
          <a:solidFill>
            <a:srgbClr val="CCDC3C"/>
          </a:solidFill>
          <a:ln w="12700">
            <a:miter lim="400000"/>
          </a:ln>
        </p:spPr>
        <p:txBody>
          <a:bodyPr lIns="50800" tIns="50800" rIns="50800" bIns="50800" anchor="ctr"/>
          <a:lstStyle/>
          <a:p>
            <a:pPr lvl="1"/>
          </a:p>
        </p:txBody>
      </p:sp>
      <p:sp>
        <p:nvSpPr>
          <p:cNvPr id="804" name="Rounded Rectangle"/>
          <p:cNvSpPr/>
          <p:nvPr/>
        </p:nvSpPr>
        <p:spPr>
          <a:xfrm>
            <a:off x="294522" y="4355476"/>
            <a:ext cx="168853" cy="2807324"/>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805" name="Rounded Rectangle"/>
          <p:cNvSpPr/>
          <p:nvPr/>
        </p:nvSpPr>
        <p:spPr>
          <a:xfrm>
            <a:off x="294522" y="7301805"/>
            <a:ext cx="168853" cy="3351043"/>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0" presetID="1" grpId="1" fill="hold">
                                  <p:stCondLst>
                                    <p:cond delay="0"/>
                                  </p:stCondLst>
                                  <p:iterate type="el" backwards="0">
                                    <p:tmAbs val="0"/>
                                  </p:iterate>
                                  <p:childTnLst>
                                    <p:set>
                                      <p:cBhvr>
                                        <p:cTn id="6" fill="hold"/>
                                        <p:tgtEl>
                                          <p:spTgt spid="799">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799">
                                            <p:txEl>
                                              <p:pRg st="0" end="0"/>
                                            </p:txEl>
                                          </p:spTgt>
                                        </p:tgtEl>
                                        <p:attrNameLst>
                                          <p:attrName>style.visibility</p:attrName>
                                        </p:attrNameLst>
                                      </p:cBhvr>
                                      <p:to>
                                        <p:strVal val="visible"/>
                                      </p:to>
                                    </p:set>
                                  </p:childTnLst>
                                </p:cTn>
                              </p:par>
                            </p:childTnLst>
                          </p:cTn>
                        </p:par>
                        <p:par>
                          <p:cTn id="9" fill="hold">
                            <p:stCondLst>
                              <p:cond delay="0"/>
                            </p:stCondLst>
                            <p:childTnLst>
                              <p:par>
                                <p:cTn id="10" presetClass="entr" nodeType="afterEffect" presetSubtype="0" presetID="1" grpId="2" fill="hold">
                                  <p:stCondLst>
                                    <p:cond delay="0"/>
                                  </p:stCondLst>
                                  <p:iterate type="el" backwards="0">
                                    <p:tmAbs val="0"/>
                                  </p:iterate>
                                  <p:childTnLst>
                                    <p:set>
                                      <p:cBhvr>
                                        <p:cTn id="11" fill="hold"/>
                                        <p:tgtEl>
                                          <p:spTgt spid="80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Class="exit" nodeType="clickEffect" presetSubtype="0" presetID="1" grpId="3" fill="hold">
                                  <p:stCondLst>
                                    <p:cond delay="0"/>
                                  </p:stCondLst>
                                  <p:iterate type="el" backwards="0">
                                    <p:tmAbs val="0"/>
                                  </p:iterate>
                                  <p:childTnLst>
                                    <p:set>
                                      <p:cBhvr>
                                        <p:cTn id="15" fill="hold">
                                          <p:stCondLst>
                                            <p:cond delay="0"/>
                                          </p:stCondLst>
                                        </p:cTn>
                                        <p:tgtEl>
                                          <p:spTgt spid="802"/>
                                        </p:tgtEl>
                                        <p:attrNameLst>
                                          <p:attrName>style.visibility</p:attrName>
                                        </p:attrNameLst>
                                      </p:cBhvr>
                                      <p:to>
                                        <p:strVal val="hidden"/>
                                      </p:to>
                                    </p:set>
                                  </p:childTnLst>
                                </p:cTn>
                              </p:par>
                            </p:childTnLst>
                          </p:cTn>
                        </p:par>
                        <p:par>
                          <p:cTn id="16" fill="hold">
                            <p:stCondLst>
                              <p:cond delay="0"/>
                            </p:stCondLst>
                            <p:childTnLst>
                              <p:par>
                                <p:cTn id="17" presetClass="entr" nodeType="afterEffect" presetSubtype="0" presetID="1" grpId="1" fill="hold">
                                  <p:stCondLst>
                                    <p:cond delay="0"/>
                                  </p:stCondLst>
                                  <p:iterate type="el" backwards="0">
                                    <p:tmAbs val="0"/>
                                  </p:iterate>
                                  <p:childTnLst>
                                    <p:set>
                                      <p:cBhvr>
                                        <p:cTn id="18" fill="hold"/>
                                        <p:tgtEl>
                                          <p:spTgt spid="799">
                                            <p:txEl>
                                              <p:pRg st="1" end="1"/>
                                            </p:txEl>
                                          </p:spTgt>
                                        </p:tgtEl>
                                        <p:attrNameLst>
                                          <p:attrName>style.visibility</p:attrName>
                                        </p:attrNameLst>
                                      </p:cBhvr>
                                      <p:to>
                                        <p:strVal val="visible"/>
                                      </p:to>
                                    </p:set>
                                  </p:childTnLst>
                                </p:cTn>
                              </p:par>
                            </p:childTnLst>
                          </p:cTn>
                        </p:par>
                        <p:par>
                          <p:cTn id="19" fill="hold">
                            <p:stCondLst>
                              <p:cond delay="0"/>
                            </p:stCondLst>
                            <p:childTnLst>
                              <p:par>
                                <p:cTn id="20" presetClass="entr" nodeType="afterEffect" presetSubtype="0" presetID="1" grpId="1" fill="hold">
                                  <p:stCondLst>
                                    <p:cond delay="0"/>
                                  </p:stCondLst>
                                  <p:iterate type="el" backwards="0">
                                    <p:tmAbs val="0"/>
                                  </p:iterate>
                                  <p:childTnLst>
                                    <p:set>
                                      <p:cBhvr>
                                        <p:cTn id="21" fill="hold"/>
                                        <p:tgtEl>
                                          <p:spTgt spid="799">
                                            <p:txEl>
                                              <p:pRg st="2" end="2"/>
                                            </p:txEl>
                                          </p:spTgt>
                                        </p:tgtEl>
                                        <p:attrNameLst>
                                          <p:attrName>style.visibility</p:attrName>
                                        </p:attrNameLst>
                                      </p:cBhvr>
                                      <p:to>
                                        <p:strVal val="visible"/>
                                      </p:to>
                                    </p:set>
                                  </p:childTnLst>
                                </p:cTn>
                              </p:par>
                            </p:childTnLst>
                          </p:cTn>
                        </p:par>
                        <p:par>
                          <p:cTn id="22" fill="hold">
                            <p:stCondLst>
                              <p:cond delay="0"/>
                            </p:stCondLst>
                            <p:childTnLst>
                              <p:par>
                                <p:cTn id="23" presetClass="entr" nodeType="afterEffect" presetSubtype="0" presetID="1" grpId="1" fill="hold">
                                  <p:stCondLst>
                                    <p:cond delay="0"/>
                                  </p:stCondLst>
                                  <p:iterate type="el" backwards="0">
                                    <p:tmAbs val="0"/>
                                  </p:iterate>
                                  <p:childTnLst>
                                    <p:set>
                                      <p:cBhvr>
                                        <p:cTn id="24" fill="hold"/>
                                        <p:tgtEl>
                                          <p:spTgt spid="799">
                                            <p:txEl>
                                              <p:pRg st="3" end="3"/>
                                            </p:txEl>
                                          </p:spTgt>
                                        </p:tgtEl>
                                        <p:attrNameLst>
                                          <p:attrName>style.visibility</p:attrName>
                                        </p:attrNameLst>
                                      </p:cBhvr>
                                      <p:to>
                                        <p:strVal val="visible"/>
                                      </p:to>
                                    </p:set>
                                  </p:childTnLst>
                                </p:cTn>
                              </p:par>
                            </p:childTnLst>
                          </p:cTn>
                        </p:par>
                        <p:par>
                          <p:cTn id="25" fill="hold">
                            <p:stCondLst>
                              <p:cond delay="0"/>
                            </p:stCondLst>
                            <p:childTnLst>
                              <p:par>
                                <p:cTn id="26" presetClass="entr" nodeType="afterEffect" presetSubtype="0" presetID="1" grpId="1" fill="hold">
                                  <p:stCondLst>
                                    <p:cond delay="0"/>
                                  </p:stCondLst>
                                  <p:iterate type="el" backwards="0">
                                    <p:tmAbs val="0"/>
                                  </p:iterate>
                                  <p:childTnLst>
                                    <p:set>
                                      <p:cBhvr>
                                        <p:cTn id="27" fill="hold"/>
                                        <p:tgtEl>
                                          <p:spTgt spid="799">
                                            <p:txEl>
                                              <p:pRg st="4" end="4"/>
                                            </p:txEl>
                                          </p:spTgt>
                                        </p:tgtEl>
                                        <p:attrNameLst>
                                          <p:attrName>style.visibility</p:attrName>
                                        </p:attrNameLst>
                                      </p:cBhvr>
                                      <p:to>
                                        <p:strVal val="visible"/>
                                      </p:to>
                                    </p:set>
                                  </p:childTnLst>
                                </p:cTn>
                              </p:par>
                            </p:childTnLst>
                          </p:cTn>
                        </p:par>
                        <p:par>
                          <p:cTn id="28" fill="hold">
                            <p:stCondLst>
                              <p:cond delay="0"/>
                            </p:stCondLst>
                            <p:childTnLst>
                              <p:par>
                                <p:cTn id="29" presetClass="entr" nodeType="afterEffect" presetSubtype="0" presetID="1" grpId="1" fill="hold">
                                  <p:stCondLst>
                                    <p:cond delay="0"/>
                                  </p:stCondLst>
                                  <p:iterate type="el" backwards="0">
                                    <p:tmAbs val="0"/>
                                  </p:iterate>
                                  <p:childTnLst>
                                    <p:set>
                                      <p:cBhvr>
                                        <p:cTn id="30" fill="hold"/>
                                        <p:tgtEl>
                                          <p:spTgt spid="799">
                                            <p:txEl>
                                              <p:pRg st="5" end="5"/>
                                            </p:txEl>
                                          </p:spTgt>
                                        </p:tgtEl>
                                        <p:attrNameLst>
                                          <p:attrName>style.visibility</p:attrName>
                                        </p:attrNameLst>
                                      </p:cBhvr>
                                      <p:to>
                                        <p:strVal val="visible"/>
                                      </p:to>
                                    </p:set>
                                  </p:childTnLst>
                                </p:cTn>
                              </p:par>
                            </p:childTnLst>
                          </p:cTn>
                        </p:par>
                        <p:par>
                          <p:cTn id="31" fill="hold">
                            <p:stCondLst>
                              <p:cond delay="0"/>
                            </p:stCondLst>
                            <p:childTnLst>
                              <p:par>
                                <p:cTn id="32" presetClass="entr" nodeType="afterEffect" presetSubtype="0" presetID="1" grpId="4" fill="hold">
                                  <p:stCondLst>
                                    <p:cond delay="0"/>
                                  </p:stCondLst>
                                  <p:iterate type="el" backwards="0">
                                    <p:tmAbs val="0"/>
                                  </p:iterate>
                                  <p:childTnLst>
                                    <p:set>
                                      <p:cBhvr>
                                        <p:cTn id="33" fill="hold"/>
                                        <p:tgtEl>
                                          <p:spTgt spid="80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Class="exit" nodeType="clickEffect" presetSubtype="0" presetID="1" grpId="5" fill="hold">
                                  <p:stCondLst>
                                    <p:cond delay="0"/>
                                  </p:stCondLst>
                                  <p:iterate type="el" backwards="0">
                                    <p:tmAbs val="0"/>
                                  </p:iterate>
                                  <p:childTnLst>
                                    <p:set>
                                      <p:cBhvr>
                                        <p:cTn id="37" fill="hold">
                                          <p:stCondLst>
                                            <p:cond delay="0"/>
                                          </p:stCondLst>
                                        </p:cTn>
                                        <p:tgtEl>
                                          <p:spTgt spid="803"/>
                                        </p:tgtEl>
                                        <p:attrNameLst>
                                          <p:attrName>style.visibility</p:attrName>
                                        </p:attrNameLst>
                                      </p:cBhvr>
                                      <p:to>
                                        <p:strVal val="hidden"/>
                                      </p:to>
                                    </p:set>
                                  </p:childTnLst>
                                </p:cTn>
                              </p:par>
                            </p:childTnLst>
                          </p:cTn>
                        </p:par>
                        <p:par>
                          <p:cTn id="38" fill="hold">
                            <p:stCondLst>
                              <p:cond delay="0"/>
                            </p:stCondLst>
                            <p:childTnLst>
                              <p:par>
                                <p:cTn id="39" presetClass="entr" nodeType="afterEffect" presetSubtype="0" presetID="1" grpId="1" fill="hold">
                                  <p:stCondLst>
                                    <p:cond delay="0"/>
                                  </p:stCondLst>
                                  <p:iterate type="el" backwards="0">
                                    <p:tmAbs val="0"/>
                                  </p:iterate>
                                  <p:childTnLst>
                                    <p:set>
                                      <p:cBhvr>
                                        <p:cTn id="40" fill="hold"/>
                                        <p:tgtEl>
                                          <p:spTgt spid="799">
                                            <p:txEl>
                                              <p:pRg st="6" end="6"/>
                                            </p:txEl>
                                          </p:spTgt>
                                        </p:tgtEl>
                                        <p:attrNameLst>
                                          <p:attrName>style.visibility</p:attrName>
                                        </p:attrNameLst>
                                      </p:cBhvr>
                                      <p:to>
                                        <p:strVal val="visible"/>
                                      </p:to>
                                    </p:set>
                                  </p:childTnLst>
                                </p:cTn>
                              </p:par>
                            </p:childTnLst>
                          </p:cTn>
                        </p:par>
                        <p:par>
                          <p:cTn id="41" fill="hold">
                            <p:stCondLst>
                              <p:cond delay="0"/>
                            </p:stCondLst>
                            <p:childTnLst>
                              <p:par>
                                <p:cTn id="42" presetClass="entr" nodeType="afterEffect" presetSubtype="0" presetID="1" grpId="1" fill="hold">
                                  <p:stCondLst>
                                    <p:cond delay="0"/>
                                  </p:stCondLst>
                                  <p:iterate type="el" backwards="0">
                                    <p:tmAbs val="0"/>
                                  </p:iterate>
                                  <p:childTnLst>
                                    <p:set>
                                      <p:cBhvr>
                                        <p:cTn id="43" fill="hold"/>
                                        <p:tgtEl>
                                          <p:spTgt spid="799">
                                            <p:txEl>
                                              <p:pRg st="7" end="7"/>
                                            </p:txEl>
                                          </p:spTgt>
                                        </p:tgtEl>
                                        <p:attrNameLst>
                                          <p:attrName>style.visibility</p:attrName>
                                        </p:attrNameLst>
                                      </p:cBhvr>
                                      <p:to>
                                        <p:strVal val="visible"/>
                                      </p:to>
                                    </p:set>
                                  </p:childTnLst>
                                </p:cTn>
                              </p:par>
                            </p:childTnLst>
                          </p:cTn>
                        </p:par>
                        <p:par>
                          <p:cTn id="44" fill="hold">
                            <p:stCondLst>
                              <p:cond delay="0"/>
                            </p:stCondLst>
                            <p:childTnLst>
                              <p:par>
                                <p:cTn id="45" presetClass="entr" nodeType="afterEffect" presetSubtype="0" presetID="1" grpId="1" fill="hold">
                                  <p:stCondLst>
                                    <p:cond delay="0"/>
                                  </p:stCondLst>
                                  <p:iterate type="el" backwards="0">
                                    <p:tmAbs val="0"/>
                                  </p:iterate>
                                  <p:childTnLst>
                                    <p:set>
                                      <p:cBhvr>
                                        <p:cTn id="46" fill="hold"/>
                                        <p:tgtEl>
                                          <p:spTgt spid="799">
                                            <p:txEl>
                                              <p:pRg st="8" end="8"/>
                                            </p:txEl>
                                          </p:spTgt>
                                        </p:tgtEl>
                                        <p:attrNameLst>
                                          <p:attrName>style.visibility</p:attrName>
                                        </p:attrNameLst>
                                      </p:cBhvr>
                                      <p:to>
                                        <p:strVal val="visible"/>
                                      </p:to>
                                    </p:set>
                                  </p:childTnLst>
                                </p:cTn>
                              </p:par>
                            </p:childTnLst>
                          </p:cTn>
                        </p:par>
                        <p:par>
                          <p:cTn id="47" fill="hold">
                            <p:stCondLst>
                              <p:cond delay="0"/>
                            </p:stCondLst>
                            <p:childTnLst>
                              <p:par>
                                <p:cTn id="48" presetClass="entr" nodeType="afterEffect" presetSubtype="0" presetID="1" grpId="1" fill="hold">
                                  <p:stCondLst>
                                    <p:cond delay="0"/>
                                  </p:stCondLst>
                                  <p:iterate type="el" backwards="0">
                                    <p:tmAbs val="0"/>
                                  </p:iterate>
                                  <p:childTnLst>
                                    <p:set>
                                      <p:cBhvr>
                                        <p:cTn id="49" fill="hold"/>
                                        <p:tgtEl>
                                          <p:spTgt spid="799">
                                            <p:txEl>
                                              <p:pRg st="9" end="9"/>
                                            </p:txEl>
                                          </p:spTgt>
                                        </p:tgtEl>
                                        <p:attrNameLst>
                                          <p:attrName>style.visibility</p:attrName>
                                        </p:attrNameLst>
                                      </p:cBhvr>
                                      <p:to>
                                        <p:strVal val="visible"/>
                                      </p:to>
                                    </p:set>
                                  </p:childTnLst>
                                </p:cTn>
                              </p:par>
                            </p:childTnLst>
                          </p:cTn>
                        </p:par>
                        <p:par>
                          <p:cTn id="50" fill="hold">
                            <p:stCondLst>
                              <p:cond delay="0"/>
                            </p:stCondLst>
                            <p:childTnLst>
                              <p:par>
                                <p:cTn id="51" presetClass="entr" nodeType="afterEffect" presetSubtype="0" presetID="1" grpId="1" fill="hold">
                                  <p:stCondLst>
                                    <p:cond delay="0"/>
                                  </p:stCondLst>
                                  <p:iterate type="el" backwards="0">
                                    <p:tmAbs val="0"/>
                                  </p:iterate>
                                  <p:childTnLst>
                                    <p:set>
                                      <p:cBhvr>
                                        <p:cTn id="52" fill="hold"/>
                                        <p:tgtEl>
                                          <p:spTgt spid="799">
                                            <p:txEl>
                                              <p:pRg st="10" end="10"/>
                                            </p:txEl>
                                          </p:spTgt>
                                        </p:tgtEl>
                                        <p:attrNameLst>
                                          <p:attrName>style.visibility</p:attrName>
                                        </p:attrNameLst>
                                      </p:cBhvr>
                                      <p:to>
                                        <p:strVal val="visible"/>
                                      </p:to>
                                    </p:set>
                                  </p:childTnLst>
                                </p:cTn>
                              </p:par>
                            </p:childTnLst>
                          </p:cTn>
                        </p:par>
                        <p:par>
                          <p:cTn id="53" fill="hold">
                            <p:stCondLst>
                              <p:cond delay="0"/>
                            </p:stCondLst>
                            <p:childTnLst>
                              <p:par>
                                <p:cTn id="54" presetClass="entr" nodeType="afterEffect" presetSubtype="0" presetID="1" grpId="1" fill="hold">
                                  <p:stCondLst>
                                    <p:cond delay="0"/>
                                  </p:stCondLst>
                                  <p:iterate type="el" backwards="0">
                                    <p:tmAbs val="0"/>
                                  </p:iterate>
                                  <p:childTnLst>
                                    <p:set>
                                      <p:cBhvr>
                                        <p:cTn id="55" fill="hold"/>
                                        <p:tgtEl>
                                          <p:spTgt spid="799">
                                            <p:txEl>
                                              <p:pRg st="11" end="11"/>
                                            </p:txEl>
                                          </p:spTgt>
                                        </p:tgtEl>
                                        <p:attrNameLst>
                                          <p:attrName>style.visibility</p:attrName>
                                        </p:attrNameLst>
                                      </p:cBhvr>
                                      <p:to>
                                        <p:strVal val="visible"/>
                                      </p:to>
                                    </p:set>
                                  </p:childTnLst>
                                </p:cTn>
                              </p:par>
                            </p:childTnLst>
                          </p:cTn>
                        </p:par>
                        <p:par>
                          <p:cTn id="56" fill="hold">
                            <p:stCondLst>
                              <p:cond delay="0"/>
                            </p:stCondLst>
                            <p:childTnLst>
                              <p:par>
                                <p:cTn id="57" presetClass="entr" nodeType="afterEffect" presetSubtype="0" presetID="1" grpId="1" fill="hold">
                                  <p:stCondLst>
                                    <p:cond delay="0"/>
                                  </p:stCondLst>
                                  <p:iterate type="el" backwards="0">
                                    <p:tmAbs val="0"/>
                                  </p:iterate>
                                  <p:childTnLst>
                                    <p:set>
                                      <p:cBhvr>
                                        <p:cTn id="58" fill="hold"/>
                                        <p:tgtEl>
                                          <p:spTgt spid="799">
                                            <p:txEl>
                                              <p:pRg st="12" end="12"/>
                                            </p:txEl>
                                          </p:spTgt>
                                        </p:tgtEl>
                                        <p:attrNameLst>
                                          <p:attrName>style.visibility</p:attrName>
                                        </p:attrNameLst>
                                      </p:cBhvr>
                                      <p:to>
                                        <p:strVal val="visible"/>
                                      </p:to>
                                    </p:set>
                                  </p:childTnLst>
                                </p:cTn>
                              </p:par>
                            </p:childTnLst>
                          </p:cTn>
                        </p:par>
                        <p:par>
                          <p:cTn id="59" fill="hold">
                            <p:stCondLst>
                              <p:cond delay="0"/>
                            </p:stCondLst>
                            <p:childTnLst>
                              <p:par>
                                <p:cTn id="60" presetClass="entr" nodeType="afterEffect" presetSubtype="0" presetID="1" grpId="1" fill="hold">
                                  <p:stCondLst>
                                    <p:cond delay="0"/>
                                  </p:stCondLst>
                                  <p:iterate type="el" backwards="0">
                                    <p:tmAbs val="0"/>
                                  </p:iterate>
                                  <p:childTnLst>
                                    <p:set>
                                      <p:cBhvr>
                                        <p:cTn id="61" fill="hold"/>
                                        <p:tgtEl>
                                          <p:spTgt spid="799">
                                            <p:txEl>
                                              <p:pRg st="13" end="13"/>
                                            </p:txEl>
                                          </p:spTgt>
                                        </p:tgtEl>
                                        <p:attrNameLst>
                                          <p:attrName>style.visibility</p:attrName>
                                        </p:attrNameLst>
                                      </p:cBhvr>
                                      <p:to>
                                        <p:strVal val="visible"/>
                                      </p:to>
                                    </p:set>
                                  </p:childTnLst>
                                </p:cTn>
                              </p:par>
                            </p:childTnLst>
                          </p:cTn>
                        </p:par>
                        <p:par>
                          <p:cTn id="62" fill="hold">
                            <p:stCondLst>
                              <p:cond delay="0"/>
                            </p:stCondLst>
                            <p:childTnLst>
                              <p:par>
                                <p:cTn id="63" presetClass="entr" nodeType="afterEffect" presetSubtype="0" presetID="1" grpId="6" fill="hold">
                                  <p:stCondLst>
                                    <p:cond delay="0"/>
                                  </p:stCondLst>
                                  <p:iterate type="el" backwards="0">
                                    <p:tmAbs val="0"/>
                                  </p:iterate>
                                  <p:childTnLst>
                                    <p:set>
                                      <p:cBhvr>
                                        <p:cTn id="64" fill="hold"/>
                                        <p:tgtEl>
                                          <p:spTgt spid="80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Class="exit" nodeType="clickEffect" presetSubtype="0" presetID="1" grpId="7" fill="hold">
                                  <p:stCondLst>
                                    <p:cond delay="0"/>
                                  </p:stCondLst>
                                  <p:iterate type="el" backwards="0">
                                    <p:tmAbs val="0"/>
                                  </p:iterate>
                                  <p:childTnLst>
                                    <p:set>
                                      <p:cBhvr>
                                        <p:cTn id="68" fill="hold">
                                          <p:stCondLst>
                                            <p:cond delay="0"/>
                                          </p:stCondLst>
                                        </p:cTn>
                                        <p:tgtEl>
                                          <p:spTgt spid="804"/>
                                        </p:tgtEl>
                                        <p:attrNameLst>
                                          <p:attrName>style.visibility</p:attrName>
                                        </p:attrNameLst>
                                      </p:cBhvr>
                                      <p:to>
                                        <p:strVal val="hidden"/>
                                      </p:to>
                                    </p:set>
                                  </p:childTnLst>
                                </p:cTn>
                              </p:par>
                            </p:childTnLst>
                          </p:cTn>
                        </p:par>
                        <p:par>
                          <p:cTn id="69" fill="hold">
                            <p:stCondLst>
                              <p:cond delay="0"/>
                            </p:stCondLst>
                            <p:childTnLst>
                              <p:par>
                                <p:cTn id="70" presetClass="entr" nodeType="afterEffect" presetSubtype="0" presetID="1" grpId="1" fill="hold">
                                  <p:stCondLst>
                                    <p:cond delay="0"/>
                                  </p:stCondLst>
                                  <p:iterate type="el" backwards="0">
                                    <p:tmAbs val="0"/>
                                  </p:iterate>
                                  <p:childTnLst>
                                    <p:set>
                                      <p:cBhvr>
                                        <p:cTn id="71" fill="hold"/>
                                        <p:tgtEl>
                                          <p:spTgt spid="799">
                                            <p:txEl>
                                              <p:pRg st="14" end="14"/>
                                            </p:txEl>
                                          </p:spTgt>
                                        </p:tgtEl>
                                        <p:attrNameLst>
                                          <p:attrName>style.visibility</p:attrName>
                                        </p:attrNameLst>
                                      </p:cBhvr>
                                      <p:to>
                                        <p:strVal val="visible"/>
                                      </p:to>
                                    </p:set>
                                  </p:childTnLst>
                                </p:cTn>
                              </p:par>
                            </p:childTnLst>
                          </p:cTn>
                        </p:par>
                        <p:par>
                          <p:cTn id="72" fill="hold">
                            <p:stCondLst>
                              <p:cond delay="0"/>
                            </p:stCondLst>
                            <p:childTnLst>
                              <p:par>
                                <p:cTn id="73" presetClass="entr" nodeType="afterEffect" presetSubtype="0" presetID="1" grpId="1" fill="hold">
                                  <p:stCondLst>
                                    <p:cond delay="0"/>
                                  </p:stCondLst>
                                  <p:iterate type="el" backwards="0">
                                    <p:tmAbs val="0"/>
                                  </p:iterate>
                                  <p:childTnLst>
                                    <p:set>
                                      <p:cBhvr>
                                        <p:cTn id="74" fill="hold"/>
                                        <p:tgtEl>
                                          <p:spTgt spid="799">
                                            <p:txEl>
                                              <p:pRg st="15" end="15"/>
                                            </p:txEl>
                                          </p:spTgt>
                                        </p:tgtEl>
                                        <p:attrNameLst>
                                          <p:attrName>style.visibility</p:attrName>
                                        </p:attrNameLst>
                                      </p:cBhvr>
                                      <p:to>
                                        <p:strVal val="visible"/>
                                      </p:to>
                                    </p:set>
                                  </p:childTnLst>
                                </p:cTn>
                              </p:par>
                            </p:childTnLst>
                          </p:cTn>
                        </p:par>
                        <p:par>
                          <p:cTn id="75" fill="hold">
                            <p:stCondLst>
                              <p:cond delay="0"/>
                            </p:stCondLst>
                            <p:childTnLst>
                              <p:par>
                                <p:cTn id="76" presetClass="entr" nodeType="afterEffect" presetSubtype="0" presetID="1" grpId="1" fill="hold">
                                  <p:stCondLst>
                                    <p:cond delay="0"/>
                                  </p:stCondLst>
                                  <p:iterate type="el" backwards="0">
                                    <p:tmAbs val="0"/>
                                  </p:iterate>
                                  <p:childTnLst>
                                    <p:set>
                                      <p:cBhvr>
                                        <p:cTn id="77" fill="hold"/>
                                        <p:tgtEl>
                                          <p:spTgt spid="799">
                                            <p:txEl>
                                              <p:pRg st="16" end="16"/>
                                            </p:txEl>
                                          </p:spTgt>
                                        </p:tgtEl>
                                        <p:attrNameLst>
                                          <p:attrName>style.visibility</p:attrName>
                                        </p:attrNameLst>
                                      </p:cBhvr>
                                      <p:to>
                                        <p:strVal val="visible"/>
                                      </p:to>
                                    </p:set>
                                  </p:childTnLst>
                                </p:cTn>
                              </p:par>
                            </p:childTnLst>
                          </p:cTn>
                        </p:par>
                        <p:par>
                          <p:cTn id="78" fill="hold">
                            <p:stCondLst>
                              <p:cond delay="0"/>
                            </p:stCondLst>
                            <p:childTnLst>
                              <p:par>
                                <p:cTn id="79" presetClass="entr" nodeType="afterEffect" presetSubtype="0" presetID="1" grpId="1" fill="hold">
                                  <p:stCondLst>
                                    <p:cond delay="0"/>
                                  </p:stCondLst>
                                  <p:iterate type="el" backwards="0">
                                    <p:tmAbs val="0"/>
                                  </p:iterate>
                                  <p:childTnLst>
                                    <p:set>
                                      <p:cBhvr>
                                        <p:cTn id="80" fill="hold"/>
                                        <p:tgtEl>
                                          <p:spTgt spid="799">
                                            <p:txEl>
                                              <p:pRg st="17" end="17"/>
                                            </p:txEl>
                                          </p:spTgt>
                                        </p:tgtEl>
                                        <p:attrNameLst>
                                          <p:attrName>style.visibility</p:attrName>
                                        </p:attrNameLst>
                                      </p:cBhvr>
                                      <p:to>
                                        <p:strVal val="visible"/>
                                      </p:to>
                                    </p:set>
                                  </p:childTnLst>
                                </p:cTn>
                              </p:par>
                            </p:childTnLst>
                          </p:cTn>
                        </p:par>
                        <p:par>
                          <p:cTn id="81" fill="hold">
                            <p:stCondLst>
                              <p:cond delay="0"/>
                            </p:stCondLst>
                            <p:childTnLst>
                              <p:par>
                                <p:cTn id="82" presetClass="entr" nodeType="afterEffect" presetSubtype="0" presetID="1" grpId="1" fill="hold">
                                  <p:stCondLst>
                                    <p:cond delay="0"/>
                                  </p:stCondLst>
                                  <p:iterate type="el" backwards="0">
                                    <p:tmAbs val="0"/>
                                  </p:iterate>
                                  <p:childTnLst>
                                    <p:set>
                                      <p:cBhvr>
                                        <p:cTn id="83" fill="hold"/>
                                        <p:tgtEl>
                                          <p:spTgt spid="799">
                                            <p:txEl>
                                              <p:pRg st="18" end="18"/>
                                            </p:txEl>
                                          </p:spTgt>
                                        </p:tgtEl>
                                        <p:attrNameLst>
                                          <p:attrName>style.visibility</p:attrName>
                                        </p:attrNameLst>
                                      </p:cBhvr>
                                      <p:to>
                                        <p:strVal val="visible"/>
                                      </p:to>
                                    </p:set>
                                  </p:childTnLst>
                                </p:cTn>
                              </p:par>
                            </p:childTnLst>
                          </p:cTn>
                        </p:par>
                        <p:par>
                          <p:cTn id="84" fill="hold">
                            <p:stCondLst>
                              <p:cond delay="0"/>
                            </p:stCondLst>
                            <p:childTnLst>
                              <p:par>
                                <p:cTn id="85" presetClass="entr" nodeType="afterEffect" presetSubtype="0" presetID="1" grpId="1" fill="hold">
                                  <p:stCondLst>
                                    <p:cond delay="0"/>
                                  </p:stCondLst>
                                  <p:iterate type="el" backwards="0">
                                    <p:tmAbs val="0"/>
                                  </p:iterate>
                                  <p:childTnLst>
                                    <p:set>
                                      <p:cBhvr>
                                        <p:cTn id="86" fill="hold"/>
                                        <p:tgtEl>
                                          <p:spTgt spid="799">
                                            <p:txEl>
                                              <p:pRg st="19" end="19"/>
                                            </p:txEl>
                                          </p:spTgt>
                                        </p:tgtEl>
                                        <p:attrNameLst>
                                          <p:attrName>style.visibility</p:attrName>
                                        </p:attrNameLst>
                                      </p:cBhvr>
                                      <p:to>
                                        <p:strVal val="visible"/>
                                      </p:to>
                                    </p:set>
                                  </p:childTnLst>
                                </p:cTn>
                              </p:par>
                            </p:childTnLst>
                          </p:cTn>
                        </p:par>
                        <p:par>
                          <p:cTn id="87" fill="hold">
                            <p:stCondLst>
                              <p:cond delay="0"/>
                            </p:stCondLst>
                            <p:childTnLst>
                              <p:par>
                                <p:cTn id="88" presetClass="entr" nodeType="afterEffect" presetSubtype="0" presetID="1" grpId="1" fill="hold">
                                  <p:stCondLst>
                                    <p:cond delay="0"/>
                                  </p:stCondLst>
                                  <p:iterate type="el" backwards="0">
                                    <p:tmAbs val="0"/>
                                  </p:iterate>
                                  <p:childTnLst>
                                    <p:set>
                                      <p:cBhvr>
                                        <p:cTn id="89" fill="hold"/>
                                        <p:tgtEl>
                                          <p:spTgt spid="799">
                                            <p:txEl>
                                              <p:pRg st="20" end="20"/>
                                            </p:txEl>
                                          </p:spTgt>
                                        </p:tgtEl>
                                        <p:attrNameLst>
                                          <p:attrName>style.visibility</p:attrName>
                                        </p:attrNameLst>
                                      </p:cBhvr>
                                      <p:to>
                                        <p:strVal val="visible"/>
                                      </p:to>
                                    </p:set>
                                  </p:childTnLst>
                                </p:cTn>
                              </p:par>
                            </p:childTnLst>
                          </p:cTn>
                        </p:par>
                        <p:par>
                          <p:cTn id="90" fill="hold">
                            <p:stCondLst>
                              <p:cond delay="0"/>
                            </p:stCondLst>
                            <p:childTnLst>
                              <p:par>
                                <p:cTn id="91" presetClass="entr" nodeType="afterEffect" presetSubtype="0" presetID="1" grpId="1" fill="hold">
                                  <p:stCondLst>
                                    <p:cond delay="0"/>
                                  </p:stCondLst>
                                  <p:iterate type="el" backwards="0">
                                    <p:tmAbs val="0"/>
                                  </p:iterate>
                                  <p:childTnLst>
                                    <p:set>
                                      <p:cBhvr>
                                        <p:cTn id="92" fill="hold"/>
                                        <p:tgtEl>
                                          <p:spTgt spid="799">
                                            <p:txEl>
                                              <p:pRg st="21" end="21"/>
                                            </p:txEl>
                                          </p:spTgt>
                                        </p:tgtEl>
                                        <p:attrNameLst>
                                          <p:attrName>style.visibility</p:attrName>
                                        </p:attrNameLst>
                                      </p:cBhvr>
                                      <p:to>
                                        <p:strVal val="visible"/>
                                      </p:to>
                                    </p:set>
                                  </p:childTnLst>
                                </p:cTn>
                              </p:par>
                            </p:childTnLst>
                          </p:cTn>
                        </p:par>
                        <p:par>
                          <p:cTn id="93" fill="hold">
                            <p:stCondLst>
                              <p:cond delay="0"/>
                            </p:stCondLst>
                            <p:childTnLst>
                              <p:par>
                                <p:cTn id="94" presetClass="entr" nodeType="afterEffect" presetSubtype="0" presetID="1" grpId="1" fill="hold">
                                  <p:stCondLst>
                                    <p:cond delay="0"/>
                                  </p:stCondLst>
                                  <p:iterate type="el" backwards="0">
                                    <p:tmAbs val="0"/>
                                  </p:iterate>
                                  <p:childTnLst>
                                    <p:set>
                                      <p:cBhvr>
                                        <p:cTn id="95" fill="hold"/>
                                        <p:tgtEl>
                                          <p:spTgt spid="799">
                                            <p:txEl>
                                              <p:pRg st="22" end="22"/>
                                            </p:txEl>
                                          </p:spTgt>
                                        </p:tgtEl>
                                        <p:attrNameLst>
                                          <p:attrName>style.visibility</p:attrName>
                                        </p:attrNameLst>
                                      </p:cBhvr>
                                      <p:to>
                                        <p:strVal val="visible"/>
                                      </p:to>
                                    </p:set>
                                  </p:childTnLst>
                                </p:cTn>
                              </p:par>
                            </p:childTnLst>
                          </p:cTn>
                        </p:par>
                        <p:par>
                          <p:cTn id="96" fill="hold">
                            <p:stCondLst>
                              <p:cond delay="0"/>
                            </p:stCondLst>
                            <p:childTnLst>
                              <p:par>
                                <p:cTn id="97" presetClass="entr" nodeType="afterEffect" presetSubtype="0" presetID="1" grpId="1" fill="hold">
                                  <p:stCondLst>
                                    <p:cond delay="0"/>
                                  </p:stCondLst>
                                  <p:iterate type="el" backwards="0">
                                    <p:tmAbs val="0"/>
                                  </p:iterate>
                                  <p:childTnLst>
                                    <p:set>
                                      <p:cBhvr>
                                        <p:cTn id="98" fill="hold"/>
                                        <p:tgtEl>
                                          <p:spTgt spid="799">
                                            <p:txEl>
                                              <p:pRg st="23" end="23"/>
                                            </p:txEl>
                                          </p:spTgt>
                                        </p:tgtEl>
                                        <p:attrNameLst>
                                          <p:attrName>style.visibility</p:attrName>
                                        </p:attrNameLst>
                                      </p:cBhvr>
                                      <p:to>
                                        <p:strVal val="visible"/>
                                      </p:to>
                                    </p:set>
                                  </p:childTnLst>
                                </p:cTn>
                              </p:par>
                            </p:childTnLst>
                          </p:cTn>
                        </p:par>
                        <p:par>
                          <p:cTn id="99" fill="hold">
                            <p:stCondLst>
                              <p:cond delay="0"/>
                            </p:stCondLst>
                            <p:childTnLst>
                              <p:par>
                                <p:cTn id="100" presetClass="entr" nodeType="afterEffect" presetSubtype="0" presetID="1" grpId="8" fill="hold">
                                  <p:stCondLst>
                                    <p:cond delay="0"/>
                                  </p:stCondLst>
                                  <p:iterate type="el" backwards="0">
                                    <p:tmAbs val="0"/>
                                  </p:iterate>
                                  <p:childTnLst>
                                    <p:set>
                                      <p:cBhvr>
                                        <p:cTn id="101" fill="hold"/>
                                        <p:tgtEl>
                                          <p:spTgt spid="8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04" grpId="7"/>
      <p:bldP build="whole" bldLvl="1" animBg="1" rev="0" advAuto="0" spid="805" grpId="8"/>
      <p:bldP build="whole" bldLvl="1" animBg="1" rev="0" advAuto="0" spid="803" grpId="4"/>
      <p:bldP build="whole" bldLvl="1" animBg="1" rev="0" advAuto="0" spid="803" grpId="5"/>
      <p:bldP build="p" bldLvl="5" animBg="1" rev="0" advAuto="0" spid="799" grpId="1"/>
      <p:bldP build="whole" bldLvl="1" animBg="1" rev="0" advAuto="0" spid="802" grpId="2"/>
      <p:bldP build="whole" bldLvl="1" animBg="1" rev="0" advAuto="0" spid="802" grpId="3"/>
      <p:bldP build="whole" bldLvl="1" animBg="1" rev="0" advAuto="0" spid="804" grpId="6"/>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7"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08"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09"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810" name="Building a Task System"/>
          <p:cNvSpPr txBox="1"/>
          <p:nvPr>
            <p:ph type="title"/>
          </p:nvPr>
        </p:nvSpPr>
        <p:spPr>
          <a:xfrm>
            <a:off x="609600" y="368300"/>
            <a:ext cx="23182917" cy="822325"/>
          </a:xfrm>
          <a:prstGeom prst="rect">
            <a:avLst/>
          </a:prstGeom>
        </p:spPr>
        <p:txBody>
          <a:bodyPr/>
          <a:lstStyle>
            <a:lvl1pPr>
              <a:defRPr sz="4200"/>
            </a:lvl1pPr>
          </a:lstStyle>
          <a:p>
            <a:pPr/>
            <a:r>
              <a:t>Building a Task System</a:t>
            </a:r>
          </a:p>
        </p:txBody>
      </p:sp>
      <p:sp>
        <p:nvSpPr>
          <p:cNvPr id="811" name="class task_system {…"/>
          <p:cNvSpPr txBox="1"/>
          <p:nvPr>
            <p:ph type="body" idx="1"/>
          </p:nvPr>
        </p:nvSpPr>
        <p:spPr>
          <a:prstGeom prst="rect">
            <a:avLst/>
          </a:prstGeom>
        </p:spPr>
        <p:txBody>
          <a:bodyPr/>
          <a:lstStyle/>
          <a:p>
            <a:pPr marL="0" indent="0" defTabSz="457200">
              <a:spcBef>
                <a:spcPts val="0"/>
              </a:spcBef>
              <a:buClrTx/>
              <a:buSzTx/>
              <a:buNone/>
              <a:tabLst>
                <a:tab pos="419100" algn="l"/>
              </a:tabLst>
              <a:defRPr sz="2400">
                <a:uFillTx/>
                <a:latin typeface="Menlo Regular"/>
                <a:ea typeface="Menlo Regular"/>
                <a:cs typeface="Menlo Regular"/>
                <a:sym typeface="Menlo Regular"/>
              </a:defRPr>
            </a:pPr>
            <a:r>
              <a:rPr>
                <a:solidFill>
                  <a:srgbClr val="BB2CA2"/>
                </a:solidFill>
              </a:rPr>
              <a:t>class</a:t>
            </a:r>
            <a:r>
              <a:t> task_system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const</a:t>
            </a:r>
            <a:r>
              <a:t> </a:t>
            </a:r>
            <a:r>
              <a:rPr>
                <a:solidFill>
                  <a:srgbClr val="BB2CA2"/>
                </a:solidFill>
              </a:rPr>
              <a:t>unsigned</a:t>
            </a:r>
            <a:r>
              <a:t>              _count{thread::hardware_concurrency()};</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703DAA"/>
                </a:solidFill>
              </a:rPr>
              <a:t>vector</a:t>
            </a:r>
            <a:r>
              <a:t>&lt;</a:t>
            </a:r>
            <a:r>
              <a:rPr>
                <a:solidFill>
                  <a:srgbClr val="703DAA"/>
                </a:solidFill>
              </a:rPr>
              <a:t>thread</a:t>
            </a:r>
            <a:r>
              <a:t>&gt;              _threads;</a:t>
            </a:r>
          </a:p>
          <a:p>
            <a:pPr marL="0" indent="0" defTabSz="457200">
              <a:spcBef>
                <a:spcPts val="0"/>
              </a:spcBef>
              <a:buClrTx/>
              <a:buSzTx/>
              <a:buNone/>
              <a:tabLst>
                <a:tab pos="419100" algn="l"/>
              </a:tabLst>
              <a:defRPr sz="2400">
                <a:solidFill>
                  <a:srgbClr val="4F8187"/>
                </a:solidFill>
                <a:uFillTx/>
                <a:latin typeface="Menlo Regular"/>
                <a:ea typeface="Menlo Regular"/>
                <a:cs typeface="Menlo Regular"/>
                <a:sym typeface="Menlo Regular"/>
              </a:defRPr>
            </a:pPr>
            <a:r>
              <a:rPr>
                <a:solidFill>
                  <a:srgbClr val="000000"/>
                </a:solidFill>
              </a:rPr>
              <a:t>    </a:t>
            </a:r>
            <a:r>
              <a:t>notification_queue</a:t>
            </a:r>
            <a:r>
              <a:rPr>
                <a:solidFill>
                  <a:srgbClr val="000000"/>
                </a:solidFill>
              </a:rPr>
              <a:t>          _q;</a:t>
            </a:r>
            <a:endParaRPr>
              <a:solidFill>
                <a:srgbClr val="000000"/>
              </a:solidFill>
            </a:endParaRPr>
          </a:p>
          <a:p>
            <a:pPr marL="0" indent="0" defTabSz="457200">
              <a:spcBef>
                <a:spcPts val="0"/>
              </a:spcBef>
              <a:buClrTx/>
              <a:buSzTx/>
              <a:buNone/>
              <a:tabLst>
                <a:tab pos="419100" algn="l"/>
              </a:tabLst>
              <a:defRPr sz="2400">
                <a:solidFill>
                  <a:srgbClr val="4F8187"/>
                </a:solidFill>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void</a:t>
            </a:r>
            <a:r>
              <a:rPr>
                <a:solidFill>
                  <a:srgbClr val="000000"/>
                </a:solidFill>
              </a:rPr>
              <a:t> run(</a:t>
            </a:r>
            <a:r>
              <a:t>unsigned</a:t>
            </a:r>
            <a:r>
              <a:rPr>
                <a:solidFill>
                  <a:srgbClr val="000000"/>
                </a:solidFill>
              </a:rPr>
              <a:t> i) {</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while</a:t>
            </a:r>
            <a:r>
              <a:t> (</a:t>
            </a:r>
            <a:r>
              <a:rPr>
                <a:solidFill>
                  <a:srgbClr val="BB2CA2"/>
                </a:solidFill>
              </a:rPr>
              <a:t>true</a:t>
            </a: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703DAA"/>
                </a:solidFill>
              </a:rPr>
              <a:t>function</a:t>
            </a:r>
            <a:r>
              <a:t>&lt;</a:t>
            </a:r>
            <a:r>
              <a:rPr>
                <a:solidFill>
                  <a:srgbClr val="BB2CA2"/>
                </a:solidFill>
              </a:rPr>
              <a:t>void</a:t>
            </a:r>
            <a:r>
              <a:t>()&gt; f;</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_q</a:t>
            </a:r>
            <a:r>
              <a:t>.</a:t>
            </a:r>
            <a:r>
              <a:rPr>
                <a:solidFill>
                  <a:srgbClr val="31595D"/>
                </a:solidFill>
              </a:rPr>
              <a:t>pop</a:t>
            </a:r>
            <a:r>
              <a:t>(f);</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f();</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public</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task_system()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for</a:t>
            </a:r>
            <a:r>
              <a:t> (</a:t>
            </a:r>
            <a:r>
              <a:rPr>
                <a:solidFill>
                  <a:srgbClr val="BB2CA2"/>
                </a:solidFill>
              </a:rPr>
              <a:t>unsigned</a:t>
            </a:r>
            <a:r>
              <a:t> n = </a:t>
            </a:r>
            <a:r>
              <a:rPr>
                <a:solidFill>
                  <a:srgbClr val="272AD8"/>
                </a:solidFill>
              </a:rPr>
              <a:t>0</a:t>
            </a:r>
            <a:r>
              <a:t>; n != </a:t>
            </a:r>
            <a:r>
              <a:rPr>
                <a:solidFill>
                  <a:srgbClr val="4F8187"/>
                </a:solidFill>
              </a:rPr>
              <a:t>_count</a:t>
            </a:r>
            <a:r>
              <a:t>; ++n)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_threads</a:t>
            </a:r>
            <a:r>
              <a:t>.</a:t>
            </a:r>
            <a:r>
              <a:rPr>
                <a:solidFill>
                  <a:srgbClr val="3D1D81"/>
                </a:solidFill>
              </a:rPr>
              <a:t>emplace_back</a:t>
            </a:r>
            <a:r>
              <a:t>([&amp;, n]{ </a:t>
            </a:r>
            <a:r>
              <a:rPr>
                <a:solidFill>
                  <a:srgbClr val="31595D"/>
                </a:solidFill>
              </a:rPr>
              <a:t>run</a:t>
            </a:r>
            <a:r>
              <a:t>(n);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~task_system()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for</a:t>
            </a:r>
            <a:r>
              <a:t> (</a:t>
            </a:r>
            <a:r>
              <a:rPr>
                <a:solidFill>
                  <a:srgbClr val="BB2CA2"/>
                </a:solidFill>
              </a:rPr>
              <a:t>auto</a:t>
            </a:r>
            <a:r>
              <a:t>&amp; e : _threads) e.</a:t>
            </a:r>
            <a:r>
              <a:rPr>
                <a:solidFill>
                  <a:srgbClr val="3D1D81"/>
                </a:solidFill>
              </a:rPr>
              <a:t>join</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 &lt;</a:t>
            </a:r>
            <a:r>
              <a:t>typename</a:t>
            </a:r>
            <a:r>
              <a:rPr>
                <a:solidFill>
                  <a:srgbClr val="000000"/>
                </a:solidFill>
              </a:rPr>
              <a:t> F&gt;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void</a:t>
            </a:r>
            <a:r>
              <a:t> async_(F&amp;&amp; f)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_q</a:t>
            </a:r>
            <a:r>
              <a:t>.push(forward&lt;F&gt;(f));</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a:t>
            </a:r>
          </a:p>
        </p:txBody>
      </p:sp>
      <p:sp>
        <p:nvSpPr>
          <p:cNvPr id="812"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813"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
        <p:nvSpPr>
          <p:cNvPr id="814" name="Rounded Rectangle"/>
          <p:cNvSpPr/>
          <p:nvPr/>
        </p:nvSpPr>
        <p:spPr>
          <a:xfrm>
            <a:off x="294522" y="1981200"/>
            <a:ext cx="168853" cy="1625042"/>
          </a:xfrm>
          <a:prstGeom prst="roundRect">
            <a:avLst>
              <a:gd name="adj" fmla="val 47636"/>
            </a:avLst>
          </a:prstGeom>
          <a:solidFill>
            <a:srgbClr val="CCDC3C"/>
          </a:solidFill>
          <a:ln w="12700">
            <a:miter lim="400000"/>
          </a:ln>
        </p:spPr>
        <p:txBody>
          <a:bodyPr lIns="50800" tIns="50800" rIns="50800" bIns="50800" anchor="ctr"/>
          <a:lstStyle/>
          <a:p>
            <a:pPr lvl="1"/>
          </a:p>
        </p:txBody>
      </p:sp>
      <p:sp>
        <p:nvSpPr>
          <p:cNvPr id="815" name="Rounded Rectangle"/>
          <p:cNvSpPr/>
          <p:nvPr/>
        </p:nvSpPr>
        <p:spPr>
          <a:xfrm>
            <a:off x="294522" y="7031768"/>
            <a:ext cx="168853" cy="1871765"/>
          </a:xfrm>
          <a:prstGeom prst="roundRect">
            <a:avLst>
              <a:gd name="adj" fmla="val 47636"/>
            </a:avLst>
          </a:prstGeom>
          <a:solidFill>
            <a:srgbClr val="CCDC3C"/>
          </a:solidFill>
          <a:ln w="12700">
            <a:miter lim="400000"/>
          </a:ln>
        </p:spPr>
        <p:txBody>
          <a:bodyPr lIns="50800" tIns="50800" rIns="50800" bIns="50800" anchor="ctr"/>
          <a:lstStyle/>
          <a:p>
            <a:pPr lvl="1"/>
          </a:p>
        </p:txBody>
      </p:sp>
      <p:sp>
        <p:nvSpPr>
          <p:cNvPr id="816" name="Rounded Rectangle"/>
          <p:cNvSpPr/>
          <p:nvPr/>
        </p:nvSpPr>
        <p:spPr>
          <a:xfrm>
            <a:off x="294522" y="9062558"/>
            <a:ext cx="168853" cy="1310561"/>
          </a:xfrm>
          <a:prstGeom prst="roundRect">
            <a:avLst>
              <a:gd name="adj" fmla="val 50000"/>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817" name="Rounded Rectangle"/>
          <p:cNvSpPr/>
          <p:nvPr/>
        </p:nvSpPr>
        <p:spPr>
          <a:xfrm>
            <a:off x="294522" y="10496471"/>
            <a:ext cx="168853" cy="2008950"/>
          </a:xfrm>
          <a:prstGeom prst="roundRect">
            <a:avLst>
              <a:gd name="adj" fmla="val 50000"/>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818" name="Rounded Rectangle"/>
          <p:cNvSpPr/>
          <p:nvPr/>
        </p:nvSpPr>
        <p:spPr>
          <a:xfrm>
            <a:off x="294522" y="3748816"/>
            <a:ext cx="168853" cy="2693341"/>
          </a:xfrm>
          <a:prstGeom prst="roundRect">
            <a:avLst>
              <a:gd name="adj" fmla="val 47636"/>
            </a:avLst>
          </a:prstGeom>
          <a:solidFill>
            <a:srgbClr val="CCDC3C"/>
          </a:solidFill>
          <a:ln w="12700">
            <a:miter lim="400000"/>
          </a:ln>
        </p:spPr>
        <p:txBody>
          <a:bodyPr lIns="50800" tIns="50800" rIns="50800" bIns="50800" anchor="ctr"/>
          <a:lstStyle/>
          <a:p>
            <a:pPr lvl="1"/>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0" presetID="1" grpId="1" fill="hold">
                                  <p:stCondLst>
                                    <p:cond delay="0"/>
                                  </p:stCondLst>
                                  <p:iterate type="el" backwards="0">
                                    <p:tmAbs val="0"/>
                                  </p:iterate>
                                  <p:childTnLst>
                                    <p:set>
                                      <p:cBhvr>
                                        <p:cTn id="6" fill="hold"/>
                                        <p:tgtEl>
                                          <p:spTgt spid="814"/>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811">
                                            <p:bg/>
                                          </p:spTgt>
                                        </p:tgtEl>
                                        <p:attrNameLst>
                                          <p:attrName>style.visibility</p:attrName>
                                        </p:attrNameLst>
                                      </p:cBhvr>
                                      <p:to>
                                        <p:strVal val="visible"/>
                                      </p:to>
                                    </p:set>
                                  </p:childTnLst>
                                </p:cTn>
                              </p:par>
                              <p:par>
                                <p:cTn id="10" presetClass="entr" nodeType="withEffect" presetSubtype="0" presetID="1" grpId="2" fill="hold">
                                  <p:stCondLst>
                                    <p:cond delay="0"/>
                                  </p:stCondLst>
                                  <p:iterate type="el" backwards="0">
                                    <p:tmAbs val="0"/>
                                  </p:iterate>
                                  <p:childTnLst>
                                    <p:set>
                                      <p:cBhvr>
                                        <p:cTn id="11" fill="hold"/>
                                        <p:tgtEl>
                                          <p:spTgt spid="811">
                                            <p:txEl>
                                              <p:pRg st="0" end="0"/>
                                            </p:txEl>
                                          </p:spTgt>
                                        </p:tgtEl>
                                        <p:attrNameLst>
                                          <p:attrName>style.visibility</p:attrName>
                                        </p:attrNameLst>
                                      </p:cBhvr>
                                      <p:to>
                                        <p:strVal val="visible"/>
                                      </p:to>
                                    </p:set>
                                  </p:childTnLst>
                                </p:cTn>
                              </p:par>
                            </p:childTnLst>
                          </p:cTn>
                        </p:par>
                        <p:par>
                          <p:cTn id="12" fill="hold">
                            <p:stCondLst>
                              <p:cond delay="0"/>
                            </p:stCondLst>
                            <p:childTnLst>
                              <p:par>
                                <p:cTn id="13" presetClass="entr" nodeType="afterEffect" presetSubtype="0" presetID="1" grpId="2" fill="hold">
                                  <p:stCondLst>
                                    <p:cond delay="0"/>
                                  </p:stCondLst>
                                  <p:iterate type="el" backwards="0">
                                    <p:tmAbs val="0"/>
                                  </p:iterate>
                                  <p:childTnLst>
                                    <p:set>
                                      <p:cBhvr>
                                        <p:cTn id="14" fill="hold"/>
                                        <p:tgtEl>
                                          <p:spTgt spid="811">
                                            <p:txEl>
                                              <p:pRg st="1" end="1"/>
                                            </p:txEl>
                                          </p:spTgt>
                                        </p:tgtEl>
                                        <p:attrNameLst>
                                          <p:attrName>style.visibility</p:attrName>
                                        </p:attrNameLst>
                                      </p:cBhvr>
                                      <p:to>
                                        <p:strVal val="visible"/>
                                      </p:to>
                                    </p:set>
                                  </p:childTnLst>
                                </p:cTn>
                              </p:par>
                            </p:childTnLst>
                          </p:cTn>
                        </p:par>
                        <p:par>
                          <p:cTn id="15" fill="hold">
                            <p:stCondLst>
                              <p:cond delay="0"/>
                            </p:stCondLst>
                            <p:childTnLst>
                              <p:par>
                                <p:cTn id="16" presetClass="entr" nodeType="afterEffect" presetSubtype="0" presetID="1" grpId="2" fill="hold">
                                  <p:stCondLst>
                                    <p:cond delay="0"/>
                                  </p:stCondLst>
                                  <p:iterate type="el" backwards="0">
                                    <p:tmAbs val="0"/>
                                  </p:iterate>
                                  <p:childTnLst>
                                    <p:set>
                                      <p:cBhvr>
                                        <p:cTn id="17" fill="hold"/>
                                        <p:tgtEl>
                                          <p:spTgt spid="811">
                                            <p:txEl>
                                              <p:pRg st="2" end="2"/>
                                            </p:txEl>
                                          </p:spTgt>
                                        </p:tgtEl>
                                        <p:attrNameLst>
                                          <p:attrName>style.visibility</p:attrName>
                                        </p:attrNameLst>
                                      </p:cBhvr>
                                      <p:to>
                                        <p:strVal val="visible"/>
                                      </p:to>
                                    </p:set>
                                  </p:childTnLst>
                                </p:cTn>
                              </p:par>
                            </p:childTnLst>
                          </p:cTn>
                        </p:par>
                        <p:par>
                          <p:cTn id="18" fill="hold">
                            <p:stCondLst>
                              <p:cond delay="0"/>
                            </p:stCondLst>
                            <p:childTnLst>
                              <p:par>
                                <p:cTn id="19" presetClass="entr" nodeType="afterEffect" presetSubtype="0" presetID="1" grpId="2" fill="hold">
                                  <p:stCondLst>
                                    <p:cond delay="0"/>
                                  </p:stCondLst>
                                  <p:iterate type="el" backwards="0">
                                    <p:tmAbs val="0"/>
                                  </p:iterate>
                                  <p:childTnLst>
                                    <p:set>
                                      <p:cBhvr>
                                        <p:cTn id="20" fill="hold"/>
                                        <p:tgtEl>
                                          <p:spTgt spid="81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0" presetID="1" grpId="2" fill="hold">
                                  <p:stCondLst>
                                    <p:cond delay="0"/>
                                  </p:stCondLst>
                                  <p:iterate type="el" backwards="0">
                                    <p:tmAbs val="0"/>
                                  </p:iterate>
                                  <p:childTnLst>
                                    <p:set>
                                      <p:cBhvr>
                                        <p:cTn id="24" fill="hold"/>
                                        <p:tgtEl>
                                          <p:spTgt spid="811">
                                            <p:txEl>
                                              <p:pRg st="4" end="4"/>
                                            </p:txEl>
                                          </p:spTgt>
                                        </p:tgtEl>
                                        <p:attrNameLst>
                                          <p:attrName>style.visibility</p:attrName>
                                        </p:attrNameLst>
                                      </p:cBhvr>
                                      <p:to>
                                        <p:strVal val="visible"/>
                                      </p:to>
                                    </p:set>
                                  </p:childTnLst>
                                </p:cTn>
                              </p:par>
                            </p:childTnLst>
                          </p:cTn>
                        </p:par>
                        <p:par>
                          <p:cTn id="25" fill="hold">
                            <p:stCondLst>
                              <p:cond delay="0"/>
                            </p:stCondLst>
                            <p:childTnLst>
                              <p:par>
                                <p:cTn id="26" presetClass="entr" nodeType="afterEffect" presetSubtype="0" presetID="1" grpId="2" fill="hold">
                                  <p:stCondLst>
                                    <p:cond delay="0"/>
                                  </p:stCondLst>
                                  <p:iterate type="el" backwards="0">
                                    <p:tmAbs val="0"/>
                                  </p:iterate>
                                  <p:childTnLst>
                                    <p:set>
                                      <p:cBhvr>
                                        <p:cTn id="27" fill="hold"/>
                                        <p:tgtEl>
                                          <p:spTgt spid="811">
                                            <p:txEl>
                                              <p:pRg st="5" end="5"/>
                                            </p:txEl>
                                          </p:spTgt>
                                        </p:tgtEl>
                                        <p:attrNameLst>
                                          <p:attrName>style.visibility</p:attrName>
                                        </p:attrNameLst>
                                      </p:cBhvr>
                                      <p:to>
                                        <p:strVal val="visible"/>
                                      </p:to>
                                    </p:set>
                                  </p:childTnLst>
                                </p:cTn>
                              </p:par>
                            </p:childTnLst>
                          </p:cTn>
                        </p:par>
                        <p:par>
                          <p:cTn id="28" fill="hold">
                            <p:stCondLst>
                              <p:cond delay="0"/>
                            </p:stCondLst>
                            <p:childTnLst>
                              <p:par>
                                <p:cTn id="29" presetClass="entr" nodeType="afterEffect" presetSubtype="0" presetID="1" grpId="2" fill="hold">
                                  <p:stCondLst>
                                    <p:cond delay="0"/>
                                  </p:stCondLst>
                                  <p:iterate type="el" backwards="0">
                                    <p:tmAbs val="0"/>
                                  </p:iterate>
                                  <p:childTnLst>
                                    <p:set>
                                      <p:cBhvr>
                                        <p:cTn id="30" fill="hold"/>
                                        <p:tgtEl>
                                          <p:spTgt spid="811">
                                            <p:txEl>
                                              <p:pRg st="6" end="6"/>
                                            </p:txEl>
                                          </p:spTgt>
                                        </p:tgtEl>
                                        <p:attrNameLst>
                                          <p:attrName>style.visibility</p:attrName>
                                        </p:attrNameLst>
                                      </p:cBhvr>
                                      <p:to>
                                        <p:strVal val="visible"/>
                                      </p:to>
                                    </p:set>
                                  </p:childTnLst>
                                </p:cTn>
                              </p:par>
                            </p:childTnLst>
                          </p:cTn>
                        </p:par>
                        <p:par>
                          <p:cTn id="31" fill="hold">
                            <p:stCondLst>
                              <p:cond delay="0"/>
                            </p:stCondLst>
                            <p:childTnLst>
                              <p:par>
                                <p:cTn id="32" presetClass="entr" nodeType="afterEffect" presetSubtype="0" presetID="1" grpId="2" fill="hold">
                                  <p:stCondLst>
                                    <p:cond delay="0"/>
                                  </p:stCondLst>
                                  <p:iterate type="el" backwards="0">
                                    <p:tmAbs val="0"/>
                                  </p:iterate>
                                  <p:childTnLst>
                                    <p:set>
                                      <p:cBhvr>
                                        <p:cTn id="33" fill="hold"/>
                                        <p:tgtEl>
                                          <p:spTgt spid="811">
                                            <p:txEl>
                                              <p:pRg st="7" end="7"/>
                                            </p:txEl>
                                          </p:spTgt>
                                        </p:tgtEl>
                                        <p:attrNameLst>
                                          <p:attrName>style.visibility</p:attrName>
                                        </p:attrNameLst>
                                      </p:cBhvr>
                                      <p:to>
                                        <p:strVal val="visible"/>
                                      </p:to>
                                    </p:set>
                                  </p:childTnLst>
                                </p:cTn>
                              </p:par>
                            </p:childTnLst>
                          </p:cTn>
                        </p:par>
                        <p:par>
                          <p:cTn id="34" fill="hold">
                            <p:stCondLst>
                              <p:cond delay="0"/>
                            </p:stCondLst>
                            <p:childTnLst>
                              <p:par>
                                <p:cTn id="35" presetClass="entr" nodeType="afterEffect" presetSubtype="0" presetID="1" grpId="2" fill="hold">
                                  <p:stCondLst>
                                    <p:cond delay="0"/>
                                  </p:stCondLst>
                                  <p:iterate type="el" backwards="0">
                                    <p:tmAbs val="0"/>
                                  </p:iterate>
                                  <p:childTnLst>
                                    <p:set>
                                      <p:cBhvr>
                                        <p:cTn id="36" fill="hold"/>
                                        <p:tgtEl>
                                          <p:spTgt spid="811">
                                            <p:txEl>
                                              <p:pRg st="8" end="8"/>
                                            </p:txEl>
                                          </p:spTgt>
                                        </p:tgtEl>
                                        <p:attrNameLst>
                                          <p:attrName>style.visibility</p:attrName>
                                        </p:attrNameLst>
                                      </p:cBhvr>
                                      <p:to>
                                        <p:strVal val="visible"/>
                                      </p:to>
                                    </p:set>
                                  </p:childTnLst>
                                </p:cTn>
                              </p:par>
                            </p:childTnLst>
                          </p:cTn>
                        </p:par>
                        <p:par>
                          <p:cTn id="37" fill="hold">
                            <p:stCondLst>
                              <p:cond delay="0"/>
                            </p:stCondLst>
                            <p:childTnLst>
                              <p:par>
                                <p:cTn id="38" presetClass="entr" nodeType="afterEffect" presetSubtype="0" presetID="1" grpId="2" fill="hold">
                                  <p:stCondLst>
                                    <p:cond delay="0"/>
                                  </p:stCondLst>
                                  <p:iterate type="el" backwards="0">
                                    <p:tmAbs val="0"/>
                                  </p:iterate>
                                  <p:childTnLst>
                                    <p:set>
                                      <p:cBhvr>
                                        <p:cTn id="39" fill="hold"/>
                                        <p:tgtEl>
                                          <p:spTgt spid="811">
                                            <p:txEl>
                                              <p:pRg st="9" end="9"/>
                                            </p:txEl>
                                          </p:spTgt>
                                        </p:tgtEl>
                                        <p:attrNameLst>
                                          <p:attrName>style.visibility</p:attrName>
                                        </p:attrNameLst>
                                      </p:cBhvr>
                                      <p:to>
                                        <p:strVal val="visible"/>
                                      </p:to>
                                    </p:set>
                                  </p:childTnLst>
                                </p:cTn>
                              </p:par>
                            </p:childTnLst>
                          </p:cTn>
                        </p:par>
                        <p:par>
                          <p:cTn id="40" fill="hold">
                            <p:stCondLst>
                              <p:cond delay="0"/>
                            </p:stCondLst>
                            <p:childTnLst>
                              <p:par>
                                <p:cTn id="41" presetClass="entr" nodeType="afterEffect" presetSubtype="0" presetID="1" grpId="2" fill="hold">
                                  <p:stCondLst>
                                    <p:cond delay="0"/>
                                  </p:stCondLst>
                                  <p:iterate type="el" backwards="0">
                                    <p:tmAbs val="0"/>
                                  </p:iterate>
                                  <p:childTnLst>
                                    <p:set>
                                      <p:cBhvr>
                                        <p:cTn id="42" fill="hold"/>
                                        <p:tgtEl>
                                          <p:spTgt spid="811">
                                            <p:txEl>
                                              <p:pRg st="10" end="10"/>
                                            </p:txEl>
                                          </p:spTgt>
                                        </p:tgtEl>
                                        <p:attrNameLst>
                                          <p:attrName>style.visibility</p:attrName>
                                        </p:attrNameLst>
                                      </p:cBhvr>
                                      <p:to>
                                        <p:strVal val="visible"/>
                                      </p:to>
                                    </p:set>
                                  </p:childTnLst>
                                </p:cTn>
                              </p:par>
                            </p:childTnLst>
                          </p:cTn>
                        </p:par>
                        <p:par>
                          <p:cTn id="43" fill="hold">
                            <p:stCondLst>
                              <p:cond delay="0"/>
                            </p:stCondLst>
                            <p:childTnLst>
                              <p:par>
                                <p:cTn id="44" presetClass="entr" nodeType="afterEffect" presetSubtype="0" presetID="1" grpId="2" fill="hold">
                                  <p:stCondLst>
                                    <p:cond delay="0"/>
                                  </p:stCondLst>
                                  <p:iterate type="el" backwards="0">
                                    <p:tmAbs val="0"/>
                                  </p:iterate>
                                  <p:childTnLst>
                                    <p:set>
                                      <p:cBhvr>
                                        <p:cTn id="45" fill="hold"/>
                                        <p:tgtEl>
                                          <p:spTgt spid="811">
                                            <p:txEl>
                                              <p:pRg st="11" end="11"/>
                                            </p:txEl>
                                          </p:spTgt>
                                        </p:tgtEl>
                                        <p:attrNameLst>
                                          <p:attrName>style.visibility</p:attrName>
                                        </p:attrNameLst>
                                      </p:cBhvr>
                                      <p:to>
                                        <p:strVal val="visible"/>
                                      </p:to>
                                    </p:set>
                                  </p:childTnLst>
                                </p:cTn>
                              </p:par>
                            </p:childTnLst>
                          </p:cTn>
                        </p:par>
                        <p:par>
                          <p:cTn id="46" fill="hold">
                            <p:stCondLst>
                              <p:cond delay="0"/>
                            </p:stCondLst>
                            <p:childTnLst>
                              <p:par>
                                <p:cTn id="47" presetClass="entr" nodeType="afterEffect" presetSubtype="0" presetID="1" grpId="3" fill="hold">
                                  <p:stCondLst>
                                    <p:cond delay="0"/>
                                  </p:stCondLst>
                                  <p:iterate type="el" backwards="0">
                                    <p:tmAbs val="0"/>
                                  </p:iterate>
                                  <p:childTnLst>
                                    <p:set>
                                      <p:cBhvr>
                                        <p:cTn id="48" fill="hold"/>
                                        <p:tgtEl>
                                          <p:spTgt spid="818"/>
                                        </p:tgtEl>
                                        <p:attrNameLst>
                                          <p:attrName>style.visibility</p:attrName>
                                        </p:attrNameLst>
                                      </p:cBhvr>
                                      <p:to>
                                        <p:strVal val="visible"/>
                                      </p:to>
                                    </p:set>
                                  </p:childTnLst>
                                </p:cTn>
                              </p:par>
                            </p:childTnLst>
                          </p:cTn>
                        </p:par>
                        <p:par>
                          <p:cTn id="49" fill="hold">
                            <p:stCondLst>
                              <p:cond delay="0"/>
                            </p:stCondLst>
                            <p:childTnLst>
                              <p:par>
                                <p:cTn id="50" presetClass="exit" nodeType="afterEffect" presetSubtype="0" presetID="1" grpId="4" fill="hold">
                                  <p:stCondLst>
                                    <p:cond delay="0"/>
                                  </p:stCondLst>
                                  <p:iterate type="el" backwards="0">
                                    <p:tmAbs val="0"/>
                                  </p:iterate>
                                  <p:childTnLst>
                                    <p:set>
                                      <p:cBhvr>
                                        <p:cTn id="51" fill="hold">
                                          <p:stCondLst>
                                            <p:cond delay="0"/>
                                          </p:stCondLst>
                                        </p:cTn>
                                        <p:tgtEl>
                                          <p:spTgt spid="814"/>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Class="entr" nodeType="clickEffect" presetSubtype="0" presetID="1" grpId="2" fill="hold">
                                  <p:stCondLst>
                                    <p:cond delay="0"/>
                                  </p:stCondLst>
                                  <p:iterate type="el" backwards="0">
                                    <p:tmAbs val="0"/>
                                  </p:iterate>
                                  <p:childTnLst>
                                    <p:set>
                                      <p:cBhvr>
                                        <p:cTn id="55" fill="hold"/>
                                        <p:tgtEl>
                                          <p:spTgt spid="811">
                                            <p:txEl>
                                              <p:pRg st="12" end="12"/>
                                            </p:txEl>
                                          </p:spTgt>
                                        </p:tgtEl>
                                        <p:attrNameLst>
                                          <p:attrName>style.visibility</p:attrName>
                                        </p:attrNameLst>
                                      </p:cBhvr>
                                      <p:to>
                                        <p:strVal val="visible"/>
                                      </p:to>
                                    </p:set>
                                  </p:childTnLst>
                                </p:cTn>
                              </p:par>
                            </p:childTnLst>
                          </p:cTn>
                        </p:par>
                        <p:par>
                          <p:cTn id="56" fill="hold">
                            <p:stCondLst>
                              <p:cond delay="0"/>
                            </p:stCondLst>
                            <p:childTnLst>
                              <p:par>
                                <p:cTn id="57" presetClass="entr" nodeType="afterEffect" presetSubtype="0" presetID="1" grpId="2" fill="hold">
                                  <p:stCondLst>
                                    <p:cond delay="0"/>
                                  </p:stCondLst>
                                  <p:iterate type="el" backwards="0">
                                    <p:tmAbs val="0"/>
                                  </p:iterate>
                                  <p:childTnLst>
                                    <p:set>
                                      <p:cBhvr>
                                        <p:cTn id="58" fill="hold"/>
                                        <p:tgtEl>
                                          <p:spTgt spid="811">
                                            <p:txEl>
                                              <p:pRg st="13" end="13"/>
                                            </p:txEl>
                                          </p:spTgt>
                                        </p:tgtEl>
                                        <p:attrNameLst>
                                          <p:attrName>style.visibility</p:attrName>
                                        </p:attrNameLst>
                                      </p:cBhvr>
                                      <p:to>
                                        <p:strVal val="visible"/>
                                      </p:to>
                                    </p:set>
                                  </p:childTnLst>
                                </p:cTn>
                              </p:par>
                            </p:childTnLst>
                          </p:cTn>
                        </p:par>
                        <p:par>
                          <p:cTn id="59" fill="hold">
                            <p:stCondLst>
                              <p:cond delay="0"/>
                            </p:stCondLst>
                            <p:childTnLst>
                              <p:par>
                                <p:cTn id="60" presetClass="entr" nodeType="afterEffect" presetSubtype="0" presetID="1" grpId="2" fill="hold">
                                  <p:stCondLst>
                                    <p:cond delay="0"/>
                                  </p:stCondLst>
                                  <p:iterate type="el" backwards="0">
                                    <p:tmAbs val="0"/>
                                  </p:iterate>
                                  <p:childTnLst>
                                    <p:set>
                                      <p:cBhvr>
                                        <p:cTn id="61" fill="hold"/>
                                        <p:tgtEl>
                                          <p:spTgt spid="811">
                                            <p:txEl>
                                              <p:pRg st="14" end="14"/>
                                            </p:txEl>
                                          </p:spTgt>
                                        </p:tgtEl>
                                        <p:attrNameLst>
                                          <p:attrName>style.visibility</p:attrName>
                                        </p:attrNameLst>
                                      </p:cBhvr>
                                      <p:to>
                                        <p:strVal val="visible"/>
                                      </p:to>
                                    </p:set>
                                  </p:childTnLst>
                                </p:cTn>
                              </p:par>
                            </p:childTnLst>
                          </p:cTn>
                        </p:par>
                        <p:par>
                          <p:cTn id="62" fill="hold">
                            <p:stCondLst>
                              <p:cond delay="0"/>
                            </p:stCondLst>
                            <p:childTnLst>
                              <p:par>
                                <p:cTn id="63" presetClass="entr" nodeType="afterEffect" presetSubtype="0" presetID="1" grpId="2" fill="hold">
                                  <p:stCondLst>
                                    <p:cond delay="0"/>
                                  </p:stCondLst>
                                  <p:iterate type="el" backwards="0">
                                    <p:tmAbs val="0"/>
                                  </p:iterate>
                                  <p:childTnLst>
                                    <p:set>
                                      <p:cBhvr>
                                        <p:cTn id="64" fill="hold"/>
                                        <p:tgtEl>
                                          <p:spTgt spid="811">
                                            <p:txEl>
                                              <p:pRg st="15" end="15"/>
                                            </p:txEl>
                                          </p:spTgt>
                                        </p:tgtEl>
                                        <p:attrNameLst>
                                          <p:attrName>style.visibility</p:attrName>
                                        </p:attrNameLst>
                                      </p:cBhvr>
                                      <p:to>
                                        <p:strVal val="visible"/>
                                      </p:to>
                                    </p:set>
                                  </p:childTnLst>
                                </p:cTn>
                              </p:par>
                            </p:childTnLst>
                          </p:cTn>
                        </p:par>
                        <p:par>
                          <p:cTn id="65" fill="hold">
                            <p:stCondLst>
                              <p:cond delay="0"/>
                            </p:stCondLst>
                            <p:childTnLst>
                              <p:par>
                                <p:cTn id="66" presetClass="entr" nodeType="afterEffect" presetSubtype="0" presetID="1" grpId="2" fill="hold">
                                  <p:stCondLst>
                                    <p:cond delay="0"/>
                                  </p:stCondLst>
                                  <p:iterate type="el" backwards="0">
                                    <p:tmAbs val="0"/>
                                  </p:iterate>
                                  <p:childTnLst>
                                    <p:set>
                                      <p:cBhvr>
                                        <p:cTn id="67" fill="hold"/>
                                        <p:tgtEl>
                                          <p:spTgt spid="811">
                                            <p:txEl>
                                              <p:pRg st="16" end="16"/>
                                            </p:txEl>
                                          </p:spTgt>
                                        </p:tgtEl>
                                        <p:attrNameLst>
                                          <p:attrName>style.visibility</p:attrName>
                                        </p:attrNameLst>
                                      </p:cBhvr>
                                      <p:to>
                                        <p:strVal val="visible"/>
                                      </p:to>
                                    </p:set>
                                  </p:childTnLst>
                                </p:cTn>
                              </p:par>
                            </p:childTnLst>
                          </p:cTn>
                        </p:par>
                        <p:par>
                          <p:cTn id="68" fill="hold">
                            <p:stCondLst>
                              <p:cond delay="0"/>
                            </p:stCondLst>
                            <p:childTnLst>
                              <p:par>
                                <p:cTn id="69" presetClass="entr" nodeType="afterEffect" presetSubtype="0" presetID="1" grpId="2" fill="hold">
                                  <p:stCondLst>
                                    <p:cond delay="0"/>
                                  </p:stCondLst>
                                  <p:iterate type="el" backwards="0">
                                    <p:tmAbs val="0"/>
                                  </p:iterate>
                                  <p:childTnLst>
                                    <p:set>
                                      <p:cBhvr>
                                        <p:cTn id="70" fill="hold"/>
                                        <p:tgtEl>
                                          <p:spTgt spid="811">
                                            <p:txEl>
                                              <p:pRg st="17" end="17"/>
                                            </p:txEl>
                                          </p:spTgt>
                                        </p:tgtEl>
                                        <p:attrNameLst>
                                          <p:attrName>style.visibility</p:attrName>
                                        </p:attrNameLst>
                                      </p:cBhvr>
                                      <p:to>
                                        <p:strVal val="visible"/>
                                      </p:to>
                                    </p:set>
                                  </p:childTnLst>
                                </p:cTn>
                              </p:par>
                            </p:childTnLst>
                          </p:cTn>
                        </p:par>
                        <p:par>
                          <p:cTn id="71" fill="hold">
                            <p:stCondLst>
                              <p:cond delay="0"/>
                            </p:stCondLst>
                            <p:childTnLst>
                              <p:par>
                                <p:cTn id="72" presetClass="entr" nodeType="afterEffect" presetSubtype="0" presetID="1" grpId="2" fill="hold">
                                  <p:stCondLst>
                                    <p:cond delay="0"/>
                                  </p:stCondLst>
                                  <p:iterate type="el" backwards="0">
                                    <p:tmAbs val="0"/>
                                  </p:iterate>
                                  <p:childTnLst>
                                    <p:set>
                                      <p:cBhvr>
                                        <p:cTn id="73" fill="hold"/>
                                        <p:tgtEl>
                                          <p:spTgt spid="811">
                                            <p:txEl>
                                              <p:pRg st="18" end="18"/>
                                            </p:txEl>
                                          </p:spTgt>
                                        </p:tgtEl>
                                        <p:attrNameLst>
                                          <p:attrName>style.visibility</p:attrName>
                                        </p:attrNameLst>
                                      </p:cBhvr>
                                      <p:to>
                                        <p:strVal val="visible"/>
                                      </p:to>
                                    </p:set>
                                  </p:childTnLst>
                                </p:cTn>
                              </p:par>
                            </p:childTnLst>
                          </p:cTn>
                        </p:par>
                        <p:par>
                          <p:cTn id="74" fill="hold">
                            <p:stCondLst>
                              <p:cond delay="0"/>
                            </p:stCondLst>
                            <p:childTnLst>
                              <p:par>
                                <p:cTn id="75" presetClass="exit" nodeType="afterEffect" presetSubtype="0" presetID="1" grpId="5" fill="hold">
                                  <p:stCondLst>
                                    <p:cond delay="0"/>
                                  </p:stCondLst>
                                  <p:iterate type="el" backwards="0">
                                    <p:tmAbs val="0"/>
                                  </p:iterate>
                                  <p:childTnLst>
                                    <p:set>
                                      <p:cBhvr>
                                        <p:cTn id="76" fill="hold">
                                          <p:stCondLst>
                                            <p:cond delay="0"/>
                                          </p:stCondLst>
                                        </p:cTn>
                                        <p:tgtEl>
                                          <p:spTgt spid="818"/>
                                        </p:tgtEl>
                                        <p:attrNameLst>
                                          <p:attrName>style.visibility</p:attrName>
                                        </p:attrNameLst>
                                      </p:cBhvr>
                                      <p:to>
                                        <p:strVal val="hidden"/>
                                      </p:to>
                                    </p:set>
                                  </p:childTnLst>
                                </p:cTn>
                              </p:par>
                            </p:childTnLst>
                          </p:cTn>
                        </p:par>
                        <p:par>
                          <p:cTn id="77" fill="hold">
                            <p:stCondLst>
                              <p:cond delay="0"/>
                            </p:stCondLst>
                            <p:childTnLst>
                              <p:par>
                                <p:cTn id="78" presetClass="entr" nodeType="afterEffect" presetSubtype="0" presetID="1" grpId="6" fill="hold">
                                  <p:stCondLst>
                                    <p:cond delay="0"/>
                                  </p:stCondLst>
                                  <p:iterate type="el" backwards="0">
                                    <p:tmAbs val="0"/>
                                  </p:iterate>
                                  <p:childTnLst>
                                    <p:set>
                                      <p:cBhvr>
                                        <p:cTn id="79" fill="hold"/>
                                        <p:tgtEl>
                                          <p:spTgt spid="815"/>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Class="entr" nodeType="clickEffect" presetSubtype="0" presetID="1" grpId="2" fill="hold">
                                  <p:stCondLst>
                                    <p:cond delay="0"/>
                                  </p:stCondLst>
                                  <p:iterate type="el" backwards="0">
                                    <p:tmAbs val="0"/>
                                  </p:iterate>
                                  <p:childTnLst>
                                    <p:set>
                                      <p:cBhvr>
                                        <p:cTn id="83" fill="hold"/>
                                        <p:tgtEl>
                                          <p:spTgt spid="811">
                                            <p:txEl>
                                              <p:pRg st="19" end="19"/>
                                            </p:txEl>
                                          </p:spTgt>
                                        </p:tgtEl>
                                        <p:attrNameLst>
                                          <p:attrName>style.visibility</p:attrName>
                                        </p:attrNameLst>
                                      </p:cBhvr>
                                      <p:to>
                                        <p:strVal val="visible"/>
                                      </p:to>
                                    </p:set>
                                  </p:childTnLst>
                                </p:cTn>
                              </p:par>
                            </p:childTnLst>
                          </p:cTn>
                        </p:par>
                        <p:par>
                          <p:cTn id="84" fill="hold">
                            <p:stCondLst>
                              <p:cond delay="0"/>
                            </p:stCondLst>
                            <p:childTnLst>
                              <p:par>
                                <p:cTn id="85" presetClass="entr" nodeType="afterEffect" presetSubtype="0" presetID="1" grpId="2" fill="hold">
                                  <p:stCondLst>
                                    <p:cond delay="0"/>
                                  </p:stCondLst>
                                  <p:iterate type="el" backwards="0">
                                    <p:tmAbs val="0"/>
                                  </p:iterate>
                                  <p:childTnLst>
                                    <p:set>
                                      <p:cBhvr>
                                        <p:cTn id="86" fill="hold"/>
                                        <p:tgtEl>
                                          <p:spTgt spid="811">
                                            <p:txEl>
                                              <p:pRg st="20" end="20"/>
                                            </p:txEl>
                                          </p:spTgt>
                                        </p:tgtEl>
                                        <p:attrNameLst>
                                          <p:attrName>style.visibility</p:attrName>
                                        </p:attrNameLst>
                                      </p:cBhvr>
                                      <p:to>
                                        <p:strVal val="visible"/>
                                      </p:to>
                                    </p:set>
                                  </p:childTnLst>
                                </p:cTn>
                              </p:par>
                            </p:childTnLst>
                          </p:cTn>
                        </p:par>
                        <p:par>
                          <p:cTn id="87" fill="hold">
                            <p:stCondLst>
                              <p:cond delay="0"/>
                            </p:stCondLst>
                            <p:childTnLst>
                              <p:par>
                                <p:cTn id="88" presetClass="entr" nodeType="afterEffect" presetSubtype="0" presetID="1" grpId="2" fill="hold">
                                  <p:stCondLst>
                                    <p:cond delay="0"/>
                                  </p:stCondLst>
                                  <p:iterate type="el" backwards="0">
                                    <p:tmAbs val="0"/>
                                  </p:iterate>
                                  <p:childTnLst>
                                    <p:set>
                                      <p:cBhvr>
                                        <p:cTn id="89" fill="hold"/>
                                        <p:tgtEl>
                                          <p:spTgt spid="811">
                                            <p:txEl>
                                              <p:pRg st="21" end="21"/>
                                            </p:txEl>
                                          </p:spTgt>
                                        </p:tgtEl>
                                        <p:attrNameLst>
                                          <p:attrName>style.visibility</p:attrName>
                                        </p:attrNameLst>
                                      </p:cBhvr>
                                      <p:to>
                                        <p:strVal val="visible"/>
                                      </p:to>
                                    </p:set>
                                  </p:childTnLst>
                                </p:cTn>
                              </p:par>
                            </p:childTnLst>
                          </p:cTn>
                        </p:par>
                        <p:par>
                          <p:cTn id="90" fill="hold">
                            <p:stCondLst>
                              <p:cond delay="0"/>
                            </p:stCondLst>
                            <p:childTnLst>
                              <p:par>
                                <p:cTn id="91" presetClass="entr" nodeType="afterEffect" presetSubtype="0" presetID="1" grpId="2" fill="hold">
                                  <p:stCondLst>
                                    <p:cond delay="0"/>
                                  </p:stCondLst>
                                  <p:iterate type="el" backwards="0">
                                    <p:tmAbs val="0"/>
                                  </p:iterate>
                                  <p:childTnLst>
                                    <p:set>
                                      <p:cBhvr>
                                        <p:cTn id="92" fill="hold"/>
                                        <p:tgtEl>
                                          <p:spTgt spid="811">
                                            <p:txEl>
                                              <p:pRg st="22" end="22"/>
                                            </p:txEl>
                                          </p:spTgt>
                                        </p:tgtEl>
                                        <p:attrNameLst>
                                          <p:attrName>style.visibility</p:attrName>
                                        </p:attrNameLst>
                                      </p:cBhvr>
                                      <p:to>
                                        <p:strVal val="visible"/>
                                      </p:to>
                                    </p:set>
                                  </p:childTnLst>
                                </p:cTn>
                              </p:par>
                            </p:childTnLst>
                          </p:cTn>
                        </p:par>
                        <p:par>
                          <p:cTn id="93" fill="hold">
                            <p:stCondLst>
                              <p:cond delay="0"/>
                            </p:stCondLst>
                            <p:childTnLst>
                              <p:par>
                                <p:cTn id="94" presetClass="entr" nodeType="afterEffect" presetSubtype="0" presetID="1" grpId="7" fill="hold">
                                  <p:stCondLst>
                                    <p:cond delay="0"/>
                                  </p:stCondLst>
                                  <p:iterate type="el" backwards="0">
                                    <p:tmAbs val="0"/>
                                  </p:iterate>
                                  <p:childTnLst>
                                    <p:set>
                                      <p:cBhvr>
                                        <p:cTn id="95" fill="hold"/>
                                        <p:tgtEl>
                                          <p:spTgt spid="816"/>
                                        </p:tgtEl>
                                        <p:attrNameLst>
                                          <p:attrName>style.visibility</p:attrName>
                                        </p:attrNameLst>
                                      </p:cBhvr>
                                      <p:to>
                                        <p:strVal val="visible"/>
                                      </p:to>
                                    </p:set>
                                  </p:childTnLst>
                                </p:cTn>
                              </p:par>
                            </p:childTnLst>
                          </p:cTn>
                        </p:par>
                        <p:par>
                          <p:cTn id="96" fill="hold">
                            <p:stCondLst>
                              <p:cond delay="0"/>
                            </p:stCondLst>
                            <p:childTnLst>
                              <p:par>
                                <p:cTn id="97" presetClass="exit" nodeType="afterEffect" presetSubtype="0" presetID="1" grpId="8" fill="hold">
                                  <p:stCondLst>
                                    <p:cond delay="0"/>
                                  </p:stCondLst>
                                  <p:iterate type="el" backwards="0">
                                    <p:tmAbs val="0"/>
                                  </p:iterate>
                                  <p:childTnLst>
                                    <p:set>
                                      <p:cBhvr>
                                        <p:cTn id="98" fill="hold">
                                          <p:stCondLst>
                                            <p:cond delay="0"/>
                                          </p:stCondLst>
                                        </p:cTn>
                                        <p:tgtEl>
                                          <p:spTgt spid="815"/>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Class="entr" nodeType="clickEffect" presetSubtype="0" presetID="1" grpId="2" fill="hold">
                                  <p:stCondLst>
                                    <p:cond delay="0"/>
                                  </p:stCondLst>
                                  <p:iterate type="el" backwards="0">
                                    <p:tmAbs val="0"/>
                                  </p:iterate>
                                  <p:childTnLst>
                                    <p:set>
                                      <p:cBhvr>
                                        <p:cTn id="102" fill="hold"/>
                                        <p:tgtEl>
                                          <p:spTgt spid="811">
                                            <p:txEl>
                                              <p:pRg st="23" end="23"/>
                                            </p:txEl>
                                          </p:spTgt>
                                        </p:tgtEl>
                                        <p:attrNameLst>
                                          <p:attrName>style.visibility</p:attrName>
                                        </p:attrNameLst>
                                      </p:cBhvr>
                                      <p:to>
                                        <p:strVal val="visible"/>
                                      </p:to>
                                    </p:set>
                                  </p:childTnLst>
                                </p:cTn>
                              </p:par>
                            </p:childTnLst>
                          </p:cTn>
                        </p:par>
                        <p:par>
                          <p:cTn id="103" fill="hold">
                            <p:stCondLst>
                              <p:cond delay="0"/>
                            </p:stCondLst>
                            <p:childTnLst>
                              <p:par>
                                <p:cTn id="104" presetClass="entr" nodeType="afterEffect" presetSubtype="0" presetID="1" grpId="2" fill="hold">
                                  <p:stCondLst>
                                    <p:cond delay="0"/>
                                  </p:stCondLst>
                                  <p:iterate type="el" backwards="0">
                                    <p:tmAbs val="0"/>
                                  </p:iterate>
                                  <p:childTnLst>
                                    <p:set>
                                      <p:cBhvr>
                                        <p:cTn id="105" fill="hold"/>
                                        <p:tgtEl>
                                          <p:spTgt spid="811">
                                            <p:txEl>
                                              <p:pRg st="24" end="24"/>
                                            </p:txEl>
                                          </p:spTgt>
                                        </p:tgtEl>
                                        <p:attrNameLst>
                                          <p:attrName>style.visibility</p:attrName>
                                        </p:attrNameLst>
                                      </p:cBhvr>
                                      <p:to>
                                        <p:strVal val="visible"/>
                                      </p:to>
                                    </p:set>
                                  </p:childTnLst>
                                </p:cTn>
                              </p:par>
                            </p:childTnLst>
                          </p:cTn>
                        </p:par>
                        <p:par>
                          <p:cTn id="106" fill="hold">
                            <p:stCondLst>
                              <p:cond delay="0"/>
                            </p:stCondLst>
                            <p:childTnLst>
                              <p:par>
                                <p:cTn id="107" presetClass="entr" nodeType="afterEffect" presetSubtype="0" presetID="1" grpId="2" fill="hold">
                                  <p:stCondLst>
                                    <p:cond delay="0"/>
                                  </p:stCondLst>
                                  <p:iterate type="el" backwards="0">
                                    <p:tmAbs val="0"/>
                                  </p:iterate>
                                  <p:childTnLst>
                                    <p:set>
                                      <p:cBhvr>
                                        <p:cTn id="108" fill="hold"/>
                                        <p:tgtEl>
                                          <p:spTgt spid="811">
                                            <p:txEl>
                                              <p:pRg st="25" end="25"/>
                                            </p:txEl>
                                          </p:spTgt>
                                        </p:tgtEl>
                                        <p:attrNameLst>
                                          <p:attrName>style.visibility</p:attrName>
                                        </p:attrNameLst>
                                      </p:cBhvr>
                                      <p:to>
                                        <p:strVal val="visible"/>
                                      </p:to>
                                    </p:set>
                                  </p:childTnLst>
                                </p:cTn>
                              </p:par>
                            </p:childTnLst>
                          </p:cTn>
                        </p:par>
                        <p:par>
                          <p:cTn id="109" fill="hold">
                            <p:stCondLst>
                              <p:cond delay="0"/>
                            </p:stCondLst>
                            <p:childTnLst>
                              <p:par>
                                <p:cTn id="110" presetClass="entr" nodeType="afterEffect" presetSubtype="0" presetID="1" grpId="2" fill="hold">
                                  <p:stCondLst>
                                    <p:cond delay="0"/>
                                  </p:stCondLst>
                                  <p:iterate type="el" backwards="0">
                                    <p:tmAbs val="0"/>
                                  </p:iterate>
                                  <p:childTnLst>
                                    <p:set>
                                      <p:cBhvr>
                                        <p:cTn id="111" fill="hold"/>
                                        <p:tgtEl>
                                          <p:spTgt spid="811">
                                            <p:txEl>
                                              <p:pRg st="26" end="26"/>
                                            </p:txEl>
                                          </p:spTgt>
                                        </p:tgtEl>
                                        <p:attrNameLst>
                                          <p:attrName>style.visibility</p:attrName>
                                        </p:attrNameLst>
                                      </p:cBhvr>
                                      <p:to>
                                        <p:strVal val="visible"/>
                                      </p:to>
                                    </p:set>
                                  </p:childTnLst>
                                </p:cTn>
                              </p:par>
                            </p:childTnLst>
                          </p:cTn>
                        </p:par>
                        <p:par>
                          <p:cTn id="112" fill="hold">
                            <p:stCondLst>
                              <p:cond delay="0"/>
                            </p:stCondLst>
                            <p:childTnLst>
                              <p:par>
                                <p:cTn id="113" presetClass="entr" nodeType="afterEffect" presetSubtype="0" presetID="1" grpId="2" fill="hold">
                                  <p:stCondLst>
                                    <p:cond delay="0"/>
                                  </p:stCondLst>
                                  <p:iterate type="el" backwards="0">
                                    <p:tmAbs val="0"/>
                                  </p:iterate>
                                  <p:childTnLst>
                                    <p:set>
                                      <p:cBhvr>
                                        <p:cTn id="114" fill="hold"/>
                                        <p:tgtEl>
                                          <p:spTgt spid="811">
                                            <p:txEl>
                                              <p:pRg st="27" end="27"/>
                                            </p:txEl>
                                          </p:spTgt>
                                        </p:tgtEl>
                                        <p:attrNameLst>
                                          <p:attrName>style.visibility</p:attrName>
                                        </p:attrNameLst>
                                      </p:cBhvr>
                                      <p:to>
                                        <p:strVal val="visible"/>
                                      </p:to>
                                    </p:set>
                                  </p:childTnLst>
                                </p:cTn>
                              </p:par>
                            </p:childTnLst>
                          </p:cTn>
                        </p:par>
                        <p:par>
                          <p:cTn id="115" fill="hold">
                            <p:stCondLst>
                              <p:cond delay="0"/>
                            </p:stCondLst>
                            <p:childTnLst>
                              <p:par>
                                <p:cTn id="116" presetClass="entr" nodeType="afterEffect" presetSubtype="0" presetID="1" grpId="2" fill="hold">
                                  <p:stCondLst>
                                    <p:cond delay="0"/>
                                  </p:stCondLst>
                                  <p:iterate type="el" backwards="0">
                                    <p:tmAbs val="0"/>
                                  </p:iterate>
                                  <p:childTnLst>
                                    <p:set>
                                      <p:cBhvr>
                                        <p:cTn id="117" fill="hold"/>
                                        <p:tgtEl>
                                          <p:spTgt spid="811">
                                            <p:txEl>
                                              <p:pRg st="28" end="28"/>
                                            </p:txEl>
                                          </p:spTgt>
                                        </p:tgtEl>
                                        <p:attrNameLst>
                                          <p:attrName>style.visibility</p:attrName>
                                        </p:attrNameLst>
                                      </p:cBhvr>
                                      <p:to>
                                        <p:strVal val="visible"/>
                                      </p:to>
                                    </p:set>
                                  </p:childTnLst>
                                </p:cTn>
                              </p:par>
                            </p:childTnLst>
                          </p:cTn>
                        </p:par>
                        <p:par>
                          <p:cTn id="118" fill="hold">
                            <p:stCondLst>
                              <p:cond delay="0"/>
                            </p:stCondLst>
                            <p:childTnLst>
                              <p:par>
                                <p:cTn id="119" presetClass="entr" nodeType="afterEffect" presetSubtype="0" presetID="1" grpId="2" fill="hold">
                                  <p:stCondLst>
                                    <p:cond delay="0"/>
                                  </p:stCondLst>
                                  <p:iterate type="el" backwards="0">
                                    <p:tmAbs val="0"/>
                                  </p:iterate>
                                  <p:childTnLst>
                                    <p:set>
                                      <p:cBhvr>
                                        <p:cTn id="120" fill="hold"/>
                                        <p:tgtEl>
                                          <p:spTgt spid="811">
                                            <p:txEl>
                                              <p:pRg st="29" end="29"/>
                                            </p:txEl>
                                          </p:spTgt>
                                        </p:tgtEl>
                                        <p:attrNameLst>
                                          <p:attrName>style.visibility</p:attrName>
                                        </p:attrNameLst>
                                      </p:cBhvr>
                                      <p:to>
                                        <p:strVal val="visible"/>
                                      </p:to>
                                    </p:set>
                                  </p:childTnLst>
                                </p:cTn>
                              </p:par>
                            </p:childTnLst>
                          </p:cTn>
                        </p:par>
                        <p:par>
                          <p:cTn id="121" fill="hold">
                            <p:stCondLst>
                              <p:cond delay="0"/>
                            </p:stCondLst>
                            <p:childTnLst>
                              <p:par>
                                <p:cTn id="122" presetClass="exit" nodeType="afterEffect" presetSubtype="0" presetID="1" grpId="9" fill="hold">
                                  <p:stCondLst>
                                    <p:cond delay="0"/>
                                  </p:stCondLst>
                                  <p:iterate type="el" backwards="0">
                                    <p:tmAbs val="0"/>
                                  </p:iterate>
                                  <p:childTnLst>
                                    <p:set>
                                      <p:cBhvr>
                                        <p:cTn id="123" fill="hold">
                                          <p:stCondLst>
                                            <p:cond delay="0"/>
                                          </p:stCondLst>
                                        </p:cTn>
                                        <p:tgtEl>
                                          <p:spTgt spid="816"/>
                                        </p:tgtEl>
                                        <p:attrNameLst>
                                          <p:attrName>style.visibility</p:attrName>
                                        </p:attrNameLst>
                                      </p:cBhvr>
                                      <p:to>
                                        <p:strVal val="hidden"/>
                                      </p:to>
                                    </p:set>
                                  </p:childTnLst>
                                </p:cTn>
                              </p:par>
                            </p:childTnLst>
                          </p:cTn>
                        </p:par>
                        <p:par>
                          <p:cTn id="124" fill="hold">
                            <p:stCondLst>
                              <p:cond delay="0"/>
                            </p:stCondLst>
                            <p:childTnLst>
                              <p:par>
                                <p:cTn id="125" presetClass="entr" nodeType="afterEffect" presetSubtype="0" presetID="1" grpId="10" fill="hold">
                                  <p:stCondLst>
                                    <p:cond delay="0"/>
                                  </p:stCondLst>
                                  <p:iterate type="el" backwards="0">
                                    <p:tmAbs val="0"/>
                                  </p:iterate>
                                  <p:childTnLst>
                                    <p:set>
                                      <p:cBhvr>
                                        <p:cTn id="126" fill="hold"/>
                                        <p:tgtEl>
                                          <p:spTgt spid="8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14" grpId="1"/>
      <p:bldP build="whole" bldLvl="1" animBg="1" rev="0" advAuto="0" spid="816" grpId="7"/>
      <p:bldP build="whole" bldLvl="1" animBg="1" rev="0" advAuto="0" spid="818" grpId="3"/>
      <p:bldP build="whole" bldLvl="1" animBg="1" rev="0" advAuto="0" spid="814" grpId="4"/>
      <p:bldP build="whole" bldLvl="1" animBg="1" rev="0" advAuto="0" spid="818" grpId="5"/>
      <p:bldP build="whole" bldLvl="1" animBg="1" rev="0" advAuto="0" spid="816" grpId="9"/>
      <p:bldP build="whole" bldLvl="1" animBg="1" rev="0" advAuto="0" spid="817" grpId="10"/>
      <p:bldP build="whole" bldLvl="1" animBg="1" rev="0" advAuto="0" spid="815" grpId="6"/>
      <p:bldP build="p" bldLvl="5" animBg="1" rev="0" advAuto="0" spid="811" grpId="2"/>
      <p:bldP build="whole" bldLvl="1" animBg="1" rev="0" advAuto="0" spid="815" grpId="8"/>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0"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21"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22"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823" name="Building a Task System"/>
          <p:cNvSpPr txBox="1"/>
          <p:nvPr>
            <p:ph type="title"/>
          </p:nvPr>
        </p:nvSpPr>
        <p:spPr>
          <a:xfrm>
            <a:off x="609600" y="368300"/>
            <a:ext cx="23182917" cy="822325"/>
          </a:xfrm>
          <a:prstGeom prst="rect">
            <a:avLst/>
          </a:prstGeom>
        </p:spPr>
        <p:txBody>
          <a:bodyPr/>
          <a:lstStyle>
            <a:lvl1pPr>
              <a:defRPr sz="4200"/>
            </a:lvl1pPr>
          </a:lstStyle>
          <a:p>
            <a:pPr/>
            <a:r>
              <a:t>Building a Task System</a:t>
            </a:r>
          </a:p>
        </p:txBody>
      </p:sp>
      <p:sp>
        <p:nvSpPr>
          <p:cNvPr id="824" name="class notification_queue {…"/>
          <p:cNvSpPr txBox="1"/>
          <p:nvPr>
            <p:ph type="body" idx="1"/>
          </p:nvPr>
        </p:nvSpPr>
        <p:spPr>
          <a:prstGeom prst="rect">
            <a:avLst/>
          </a:prstGeom>
        </p:spPr>
        <p:txBody>
          <a:bodyPr/>
          <a:lstStyle/>
          <a:p>
            <a:pPr marL="0" indent="0" defTabSz="457200">
              <a:spcBef>
                <a:spcPts val="0"/>
              </a:spcBef>
              <a:buClrTx/>
              <a:buSzTx/>
              <a:buNone/>
              <a:tabLst>
                <a:tab pos="419100" algn="l"/>
              </a:tabLst>
              <a:defRPr sz="2400">
                <a:uFillTx/>
                <a:latin typeface="Menlo Regular"/>
                <a:ea typeface="Menlo Regular"/>
                <a:cs typeface="Menlo Regular"/>
                <a:sym typeface="Menlo Regular"/>
              </a:defRPr>
            </a:pPr>
            <a:r>
              <a:rPr>
                <a:solidFill>
                  <a:srgbClr val="BB2CA2"/>
                </a:solidFill>
              </a:rPr>
              <a:t>class</a:t>
            </a:r>
            <a:r>
              <a:t> notification_queue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703DAA"/>
                </a:solidFill>
              </a:rPr>
              <a:t>deque</a:t>
            </a:r>
            <a:r>
              <a:t>&lt;</a:t>
            </a:r>
            <a:r>
              <a:rPr>
                <a:solidFill>
                  <a:srgbClr val="703DAA"/>
                </a:solidFill>
              </a:rPr>
              <a:t>function</a:t>
            </a:r>
            <a:r>
              <a:t>&lt;</a:t>
            </a:r>
            <a:r>
              <a:rPr>
                <a:solidFill>
                  <a:srgbClr val="BB2CA2"/>
                </a:solidFill>
              </a:rPr>
              <a:t>void</a:t>
            </a:r>
            <a:r>
              <a:t>()&gt;&gt; _q;</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bool</a:t>
            </a:r>
            <a:r>
              <a:t>                    _done{</a:t>
            </a:r>
            <a:r>
              <a:rPr>
                <a:solidFill>
                  <a:srgbClr val="BB2CA2"/>
                </a:solidFill>
              </a:rPr>
              <a:t>false</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703DAA"/>
                </a:solidFill>
              </a:rPr>
              <a:t>mutex</a:t>
            </a:r>
            <a:r>
              <a:t>                   _mutex;</a:t>
            </a:r>
          </a:p>
          <a:p>
            <a:pPr marL="0" indent="0" defTabSz="457200">
              <a:spcBef>
                <a:spcPts val="0"/>
              </a:spcBef>
              <a:buClrTx/>
              <a:buSzTx/>
              <a:buNone/>
              <a:tabLst>
                <a:tab pos="419100" algn="l"/>
              </a:tabLst>
              <a:defRPr sz="2400">
                <a:solidFill>
                  <a:srgbClr val="703DAA"/>
                </a:solidFill>
                <a:uFillTx/>
                <a:latin typeface="Menlo Regular"/>
                <a:ea typeface="Menlo Regular"/>
                <a:cs typeface="Menlo Regular"/>
                <a:sym typeface="Menlo Regular"/>
              </a:defRPr>
            </a:pPr>
            <a:r>
              <a:rPr>
                <a:solidFill>
                  <a:srgbClr val="000000"/>
                </a:solidFill>
              </a:rPr>
              <a:t>    </a:t>
            </a:r>
            <a:r>
              <a:t>condition_variable</a:t>
            </a:r>
            <a:r>
              <a:rPr>
                <a:solidFill>
                  <a:srgbClr val="000000"/>
                </a:solidFill>
              </a:rPr>
              <a:t>      _ready;</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public</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void</a:t>
            </a:r>
            <a:r>
              <a:t> done()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703DAA"/>
                </a:solidFill>
              </a:rPr>
              <a:t>unique_lock</a:t>
            </a:r>
            <a:r>
              <a:t>&lt;</a:t>
            </a:r>
            <a:r>
              <a:rPr>
                <a:solidFill>
                  <a:srgbClr val="703DAA"/>
                </a:solidFill>
              </a:rPr>
              <a:t>mutex</a:t>
            </a:r>
            <a:r>
              <a:t>&gt; lock{</a:t>
            </a:r>
            <a:r>
              <a:rPr>
                <a:solidFill>
                  <a:srgbClr val="4F8187"/>
                </a:solidFill>
              </a:rPr>
              <a:t>_mutex</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_done</a:t>
            </a:r>
            <a:r>
              <a:t> = </a:t>
            </a:r>
            <a:r>
              <a:rPr>
                <a:solidFill>
                  <a:srgbClr val="BB2CA2"/>
                </a:solidFill>
              </a:rPr>
              <a:t>true</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solidFill>
                  <a:srgbClr val="3D1D81"/>
                </a:solidFill>
                <a:uFillTx/>
                <a:latin typeface="Menlo Regular"/>
                <a:ea typeface="Menlo Regular"/>
                <a:cs typeface="Menlo Regular"/>
                <a:sym typeface="Menlo Regular"/>
              </a:defRPr>
            </a:pPr>
            <a:r>
              <a:rPr>
                <a:solidFill>
                  <a:srgbClr val="000000"/>
                </a:solidFill>
              </a:rPr>
              <a:t>        </a:t>
            </a:r>
            <a:r>
              <a:rPr>
                <a:solidFill>
                  <a:srgbClr val="4F8187"/>
                </a:solidFill>
              </a:rPr>
              <a:t>_ready</a:t>
            </a:r>
            <a:r>
              <a:rPr>
                <a:solidFill>
                  <a:srgbClr val="000000"/>
                </a:solidFill>
              </a:rPr>
              <a:t>.</a:t>
            </a:r>
            <a:r>
              <a:t>notify_all</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bool</a:t>
            </a:r>
            <a:r>
              <a:t> pop(</a:t>
            </a:r>
            <a:r>
              <a:rPr>
                <a:solidFill>
                  <a:srgbClr val="703DAA"/>
                </a:solidFill>
              </a:rPr>
              <a:t>function</a:t>
            </a:r>
            <a:r>
              <a:t>&lt;</a:t>
            </a:r>
            <a:r>
              <a:rPr>
                <a:solidFill>
                  <a:srgbClr val="BB2CA2"/>
                </a:solidFill>
              </a:rPr>
              <a:t>void</a:t>
            </a:r>
            <a:r>
              <a:t>()&gt;&amp; x)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lock_t</a:t>
            </a:r>
            <a:r>
              <a:t> lock{</a:t>
            </a:r>
            <a:r>
              <a:rPr>
                <a:solidFill>
                  <a:srgbClr val="4F8187"/>
                </a:solidFill>
              </a:rPr>
              <a:t>_mutex</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while</a:t>
            </a:r>
            <a:r>
              <a:t> (</a:t>
            </a:r>
            <a:r>
              <a:rPr>
                <a:solidFill>
                  <a:srgbClr val="4F8187"/>
                </a:solidFill>
              </a:rPr>
              <a:t>_q</a:t>
            </a:r>
            <a:r>
              <a:t>.</a:t>
            </a:r>
            <a:r>
              <a:rPr>
                <a:solidFill>
                  <a:srgbClr val="3D1D81"/>
                </a:solidFill>
              </a:rPr>
              <a:t>empty</a:t>
            </a:r>
            <a:r>
              <a:t>() &amp;&amp; !</a:t>
            </a:r>
            <a:r>
              <a:rPr>
                <a:solidFill>
                  <a:srgbClr val="4F8187"/>
                </a:solidFill>
              </a:rPr>
              <a:t>_done</a:t>
            </a:r>
            <a:r>
              <a:t>) </a:t>
            </a:r>
            <a:r>
              <a:rPr>
                <a:solidFill>
                  <a:srgbClr val="4F8187"/>
                </a:solidFill>
              </a:rPr>
              <a:t>_ready</a:t>
            </a:r>
            <a:r>
              <a:t>.</a:t>
            </a:r>
            <a:r>
              <a:rPr>
                <a:solidFill>
                  <a:srgbClr val="3D1D81"/>
                </a:solidFill>
              </a:rPr>
              <a:t>wait</a:t>
            </a:r>
            <a:r>
              <a:t>(lock);</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if</a:t>
            </a:r>
            <a:r>
              <a:t> (</a:t>
            </a:r>
            <a:r>
              <a:rPr>
                <a:solidFill>
                  <a:srgbClr val="4F8187"/>
                </a:solidFill>
              </a:rPr>
              <a:t>_q</a:t>
            </a:r>
            <a:r>
              <a:t>.</a:t>
            </a:r>
            <a:r>
              <a:rPr>
                <a:solidFill>
                  <a:srgbClr val="3D1D81"/>
                </a:solidFill>
              </a:rPr>
              <a:t>empty</a:t>
            </a:r>
            <a:r>
              <a:t>()) </a:t>
            </a:r>
            <a:r>
              <a:rPr>
                <a:solidFill>
                  <a:srgbClr val="BB2CA2"/>
                </a:solidFill>
              </a:rPr>
              <a:t>return</a:t>
            </a:r>
            <a:r>
              <a:t> </a:t>
            </a:r>
            <a:r>
              <a:rPr>
                <a:solidFill>
                  <a:srgbClr val="BB2CA2"/>
                </a:solidFill>
              </a:rPr>
              <a:t>false</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x = </a:t>
            </a:r>
            <a:r>
              <a:rPr>
                <a:solidFill>
                  <a:srgbClr val="3D1D81"/>
                </a:solidFill>
              </a:rPr>
              <a:t>move</a:t>
            </a:r>
            <a:r>
              <a:t>(</a:t>
            </a:r>
            <a:r>
              <a:rPr>
                <a:solidFill>
                  <a:srgbClr val="4F8187"/>
                </a:solidFill>
              </a:rPr>
              <a:t>_q</a:t>
            </a:r>
            <a:r>
              <a:t>.</a:t>
            </a:r>
            <a:r>
              <a:rPr>
                <a:solidFill>
                  <a:srgbClr val="3D1D81"/>
                </a:solidFill>
              </a:rPr>
              <a:t>front</a:t>
            </a:r>
            <a:r>
              <a:t>());</a:t>
            </a:r>
          </a:p>
          <a:p>
            <a:pPr marL="0" indent="0" defTabSz="457200">
              <a:spcBef>
                <a:spcPts val="0"/>
              </a:spcBef>
              <a:buClrTx/>
              <a:buSzTx/>
              <a:buNone/>
              <a:tabLst>
                <a:tab pos="419100" algn="l"/>
              </a:tabLst>
              <a:defRPr sz="2400">
                <a:solidFill>
                  <a:srgbClr val="3D1D81"/>
                </a:solidFill>
                <a:uFillTx/>
                <a:latin typeface="Menlo Regular"/>
                <a:ea typeface="Menlo Regular"/>
                <a:cs typeface="Menlo Regular"/>
                <a:sym typeface="Menlo Regular"/>
              </a:defRPr>
            </a:pPr>
            <a:r>
              <a:rPr>
                <a:solidFill>
                  <a:srgbClr val="000000"/>
                </a:solidFill>
              </a:rPr>
              <a:t>        </a:t>
            </a:r>
            <a:r>
              <a:rPr>
                <a:solidFill>
                  <a:srgbClr val="4F8187"/>
                </a:solidFill>
              </a:rPr>
              <a:t>_q</a:t>
            </a:r>
            <a:r>
              <a:rPr>
                <a:solidFill>
                  <a:srgbClr val="000000"/>
                </a:solidFill>
              </a:rPr>
              <a:t>.</a:t>
            </a:r>
            <a:r>
              <a:t>pop_front</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return</a:t>
            </a:r>
            <a:r>
              <a:t> </a:t>
            </a:r>
            <a:r>
              <a:rPr>
                <a:solidFill>
                  <a:srgbClr val="BB2CA2"/>
                </a:solidFill>
              </a:rPr>
              <a:t>true</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&lt;</a:t>
            </a:r>
            <a:r>
              <a:t>typename</a:t>
            </a:r>
            <a:r>
              <a:rPr>
                <a:solidFill>
                  <a:srgbClr val="000000"/>
                </a:solidFill>
              </a:rPr>
              <a:t> F&gt;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void</a:t>
            </a:r>
            <a:r>
              <a:t> push(F&amp;&amp; f)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lock_t</a:t>
            </a:r>
            <a:r>
              <a:t> lock{</a:t>
            </a:r>
            <a:r>
              <a:rPr>
                <a:solidFill>
                  <a:srgbClr val="4F8187"/>
                </a:solidFill>
              </a:rPr>
              <a:t>_mutex</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_q</a:t>
            </a:r>
            <a:r>
              <a:t>.emplace_back(forward&lt;F&gt;(f));</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solidFill>
                  <a:srgbClr val="3D1D81"/>
                </a:solidFill>
                <a:uFillTx/>
                <a:latin typeface="Menlo Regular"/>
                <a:ea typeface="Menlo Regular"/>
                <a:cs typeface="Menlo Regular"/>
                <a:sym typeface="Menlo Regular"/>
              </a:defRPr>
            </a:pPr>
            <a:r>
              <a:rPr>
                <a:solidFill>
                  <a:srgbClr val="000000"/>
                </a:solidFill>
              </a:rPr>
              <a:t>        </a:t>
            </a:r>
            <a:r>
              <a:rPr>
                <a:solidFill>
                  <a:srgbClr val="4F8187"/>
                </a:solidFill>
              </a:rPr>
              <a:t>_ready</a:t>
            </a:r>
            <a:r>
              <a:rPr>
                <a:solidFill>
                  <a:srgbClr val="000000"/>
                </a:solidFill>
              </a:rPr>
              <a:t>.</a:t>
            </a:r>
            <a:r>
              <a:t>notify_one</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a:t>
            </a:r>
          </a:p>
        </p:txBody>
      </p:sp>
      <p:sp>
        <p:nvSpPr>
          <p:cNvPr id="825" name="Slide Number"/>
          <p:cNvSpPr txBox="1"/>
          <p:nvPr>
            <p:ph type="sldNum" sz="quarter" idx="2"/>
          </p:nvPr>
        </p:nvSpPr>
        <p:spPr>
          <a:xfrm>
            <a:off x="12047661" y="12934946"/>
            <a:ext cx="307747"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826"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
        <p:nvSpPr>
          <p:cNvPr id="827" name="Rounded Rectangle"/>
          <p:cNvSpPr/>
          <p:nvPr/>
        </p:nvSpPr>
        <p:spPr>
          <a:xfrm>
            <a:off x="294522" y="2623485"/>
            <a:ext cx="168853" cy="634518"/>
          </a:xfrm>
          <a:prstGeom prst="roundRect">
            <a:avLst>
              <a:gd name="adj" fmla="val 47636"/>
            </a:avLst>
          </a:prstGeom>
          <a:solidFill>
            <a:srgbClr val="CCDC3C"/>
          </a:solidFill>
          <a:ln w="12700">
            <a:miter lim="400000"/>
          </a:ln>
        </p:spPr>
        <p:txBody>
          <a:bodyPr lIns="50800" tIns="50800" rIns="50800" bIns="50800" anchor="ctr"/>
          <a:lstStyle/>
          <a:p>
            <a:pPr lvl="1"/>
          </a:p>
        </p:txBody>
      </p:sp>
      <p:sp>
        <p:nvSpPr>
          <p:cNvPr id="828" name="Rounded Rectangle"/>
          <p:cNvSpPr/>
          <p:nvPr/>
        </p:nvSpPr>
        <p:spPr>
          <a:xfrm>
            <a:off x="294522" y="4567268"/>
            <a:ext cx="168853" cy="2512954"/>
          </a:xfrm>
          <a:prstGeom prst="roundRect">
            <a:avLst>
              <a:gd name="adj" fmla="val 47636"/>
            </a:avLst>
          </a:prstGeom>
          <a:solidFill>
            <a:srgbClr val="CCDC3C"/>
          </a:solidFill>
          <a:ln w="12700">
            <a:miter lim="400000"/>
          </a:ln>
        </p:spPr>
        <p:txBody>
          <a:bodyPr lIns="50800" tIns="50800" rIns="50800" bIns="50800" anchor="ctr"/>
          <a:lstStyle/>
          <a:p>
            <a:pPr lvl="1"/>
          </a:p>
        </p:txBody>
      </p:sp>
      <p:sp>
        <p:nvSpPr>
          <p:cNvPr id="829" name="Rounded Rectangle"/>
          <p:cNvSpPr/>
          <p:nvPr/>
        </p:nvSpPr>
        <p:spPr>
          <a:xfrm>
            <a:off x="294522" y="7301805"/>
            <a:ext cx="168853" cy="3019975"/>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828"/>
                                        </p:tgtEl>
                                        <p:attrNameLst>
                                          <p:attrName>style.visibility</p:attrName>
                                        </p:attrNameLst>
                                      </p:cBhvr>
                                      <p:to>
                                        <p:strVal val="visible"/>
                                      </p:to>
                                    </p:set>
                                  </p:childTnLst>
                                </p:cTn>
                              </p:par>
                            </p:childTnLst>
                          </p:cTn>
                        </p:par>
                        <p:par>
                          <p:cTn id="11" fill="hold">
                            <p:stCondLst>
                              <p:cond delay="0"/>
                            </p:stCondLst>
                            <p:childTnLst>
                              <p:par>
                                <p:cTn id="12" presetClass="exit" nodeType="afterEffect" presetSubtype="0" presetID="1" grpId="3" fill="hold">
                                  <p:stCondLst>
                                    <p:cond delay="0"/>
                                  </p:stCondLst>
                                  <p:iterate type="el" backwards="0">
                                    <p:tmAbs val="0"/>
                                  </p:iterate>
                                  <p:childTnLst>
                                    <p:set>
                                      <p:cBhvr>
                                        <p:cTn id="13" fill="hold">
                                          <p:stCondLst>
                                            <p:cond delay="0"/>
                                          </p:stCondLst>
                                        </p:cTn>
                                        <p:tgtEl>
                                          <p:spTgt spid="827"/>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0" presetID="1" grpId="4" fill="hold">
                                  <p:stCondLst>
                                    <p:cond delay="0"/>
                                  </p:stCondLst>
                                  <p:iterate type="el" backwards="0">
                                    <p:tmAbs val="0"/>
                                  </p:iterate>
                                  <p:childTnLst>
                                    <p:set>
                                      <p:cBhvr>
                                        <p:cTn id="17" fill="hold"/>
                                        <p:tgtEl>
                                          <p:spTgt spid="829"/>
                                        </p:tgtEl>
                                        <p:attrNameLst>
                                          <p:attrName>style.visibility</p:attrName>
                                        </p:attrNameLst>
                                      </p:cBhvr>
                                      <p:to>
                                        <p:strVal val="visible"/>
                                      </p:to>
                                    </p:set>
                                  </p:childTnLst>
                                </p:cTn>
                              </p:par>
                            </p:childTnLst>
                          </p:cTn>
                        </p:par>
                        <p:par>
                          <p:cTn id="18" fill="hold">
                            <p:stCondLst>
                              <p:cond delay="0"/>
                            </p:stCondLst>
                            <p:childTnLst>
                              <p:par>
                                <p:cTn id="19" presetClass="exit" nodeType="afterEffect" presetSubtype="0" presetID="1" grpId="5" fill="hold">
                                  <p:stCondLst>
                                    <p:cond delay="0"/>
                                  </p:stCondLst>
                                  <p:iterate type="el" backwards="0">
                                    <p:tmAbs val="0"/>
                                  </p:iterate>
                                  <p:childTnLst>
                                    <p:set>
                                      <p:cBhvr>
                                        <p:cTn id="20" fill="hold">
                                          <p:stCondLst>
                                            <p:cond delay="0"/>
                                          </p:stCondLst>
                                        </p:cTn>
                                        <p:tgtEl>
                                          <p:spTgt spid="82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29" grpId="4"/>
      <p:bldP build="whole" bldLvl="1" animBg="1" rev="0" advAuto="0" spid="828" grpId="5"/>
      <p:bldP build="whole" bldLvl="1" animBg="1" rev="0" advAuto="0" spid="827" grpId="1"/>
      <p:bldP build="whole" bldLvl="1" animBg="1" rev="0" advAuto="0" spid="827" grpId="3"/>
      <p:bldP build="whole" bldLvl="1" animBg="1" rev="0" advAuto="0" spid="828" grpId="2"/>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831" name="speedometer-background.png" descr="speedometer-background.png"/>
          <p:cNvPicPr>
            <a:picLocks noChangeAspect="1"/>
          </p:cNvPicPr>
          <p:nvPr/>
        </p:nvPicPr>
        <p:blipFill>
          <a:blip r:embed="rId2">
            <a:extLst/>
          </a:blip>
          <a:stretch>
            <a:fillRect/>
          </a:stretch>
        </p:blipFill>
        <p:spPr>
          <a:xfrm>
            <a:off x="19536764" y="8114219"/>
            <a:ext cx="3625954" cy="3474873"/>
          </a:xfrm>
          <a:prstGeom prst="rect">
            <a:avLst/>
          </a:prstGeom>
          <a:ln w="12700">
            <a:miter lim="400000"/>
          </a:ln>
        </p:spPr>
      </p:pic>
      <p:sp>
        <p:nvSpPr>
          <p:cNvPr id="832"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33"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34"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835" name="Building a Task System"/>
          <p:cNvSpPr txBox="1"/>
          <p:nvPr>
            <p:ph type="title"/>
          </p:nvPr>
        </p:nvSpPr>
        <p:spPr>
          <a:xfrm>
            <a:off x="609600" y="368300"/>
            <a:ext cx="23182917" cy="822325"/>
          </a:xfrm>
          <a:prstGeom prst="rect">
            <a:avLst/>
          </a:prstGeom>
        </p:spPr>
        <p:txBody>
          <a:bodyPr/>
          <a:lstStyle>
            <a:lvl1pPr>
              <a:defRPr sz="4200"/>
            </a:lvl1pPr>
          </a:lstStyle>
          <a:p>
            <a:pPr/>
            <a:r>
              <a:t>Building a Task System</a:t>
            </a:r>
          </a:p>
        </p:txBody>
      </p:sp>
      <p:sp>
        <p:nvSpPr>
          <p:cNvPr id="836" name="Slide Number"/>
          <p:cNvSpPr txBox="1"/>
          <p:nvPr>
            <p:ph type="sldNum" sz="quarter" idx="2"/>
          </p:nvPr>
        </p:nvSpPr>
        <p:spPr>
          <a:xfrm>
            <a:off x="12046035" y="12934946"/>
            <a:ext cx="310999"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837"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pic>
        <p:nvPicPr>
          <p:cNvPr id="838" name="Image" descr="Image"/>
          <p:cNvPicPr>
            <a:picLocks noChangeAspect="1"/>
          </p:cNvPicPr>
          <p:nvPr/>
        </p:nvPicPr>
        <p:blipFill>
          <a:blip r:embed="rId4">
            <a:extLst/>
          </a:blip>
          <a:stretch>
            <a:fillRect/>
          </a:stretch>
        </p:blipFill>
        <p:spPr>
          <a:xfrm rot="18874283">
            <a:off x="20165852" y="10104547"/>
            <a:ext cx="1628390" cy="341762"/>
          </a:xfrm>
          <a:prstGeom prst="rect">
            <a:avLst/>
          </a:prstGeom>
          <a:ln w="12700">
            <a:miter lim="400000"/>
          </a:ln>
        </p:spPr>
      </p:pic>
      <p:pic>
        <p:nvPicPr>
          <p:cNvPr id="839" name="Image" descr="Image"/>
          <p:cNvPicPr>
            <a:picLocks noChangeAspect="1"/>
          </p:cNvPicPr>
          <p:nvPr/>
        </p:nvPicPr>
        <p:blipFill>
          <a:blip r:embed="rId5">
            <a:extLst/>
          </a:blip>
          <a:stretch>
            <a:fillRect/>
          </a:stretch>
        </p:blipFill>
        <p:spPr>
          <a:xfrm>
            <a:off x="21317991" y="9815301"/>
            <a:ext cx="63501" cy="63501"/>
          </a:xfrm>
          <a:prstGeom prst="rect">
            <a:avLst/>
          </a:prstGeom>
          <a:ln w="12700">
            <a:miter lim="400000"/>
          </a:ln>
        </p:spPr>
      </p:pic>
      <p:pic>
        <p:nvPicPr>
          <p:cNvPr id="840" name="Image" descr="Image"/>
          <p:cNvPicPr>
            <a:picLocks noChangeAspect="1"/>
          </p:cNvPicPr>
          <p:nvPr/>
        </p:nvPicPr>
        <p:blipFill>
          <a:blip r:embed="rId6">
            <a:extLst/>
          </a:blip>
          <a:stretch>
            <a:fillRect/>
          </a:stretch>
        </p:blipFill>
        <p:spPr>
          <a:xfrm>
            <a:off x="8001000" y="1714161"/>
            <a:ext cx="7356572" cy="10858501"/>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mph" nodeType="clickEffect" presetSubtype="0" presetID="8" grpId="1" accel="50000" decel="50000" fill="hold">
                                  <p:stCondLst>
                                    <p:cond delay="0"/>
                                  </p:stCondLst>
                                  <p:childTnLst>
                                    <p:animRot by="420840">
                                      <p:cBhvr>
                                        <p:cTn id="6" dur="1000" fill="hold"/>
                                        <p:tgtEl>
                                          <p:spTgt spid="838"/>
                                        </p:tgtEl>
                                        <p:attrNameLst>
                                          <p:attrName>r</p:attrName>
                                        </p:attrNameLst>
                                      </p:cBhvr>
                                    </p:animRot>
                                  </p:childTnLst>
                                </p:cTn>
                              </p:par>
                            </p:childTnLst>
                          </p:cTn>
                        </p:par>
                        <p:par>
                          <p:cTn id="7" fill="hold">
                            <p:stCondLst>
                              <p:cond delay="0"/>
                            </p:stCondLst>
                            <p:childTnLst>
                              <p:par>
                                <p:cTn id="8" presetClass="path" nodeType="withEffect" presetSubtype="0" presetID="-1" grpId="2" accel="50000" decel="50000" fill="hold">
                                  <p:stCondLst>
                                    <p:cond delay="0"/>
                                  </p:stCondLst>
                                  <p:childTnLst>
                                    <p:animMotion path="M 0.000000 0.000000 L -0.003385 -0.002744" origin="layout" pathEditMode="relative">
                                      <p:cBhvr>
                                        <p:cTn id="9" dur="1000" fill="hold"/>
                                        <p:tgtEl>
                                          <p:spTgt spid="838"/>
                                        </p:tgtEl>
                                        <p:attrNameLst>
                                          <p:attrName>ppt_x</p:attrName>
                                          <p:attrName>ppt_y</p:attrName>
                                        </p:attrNameLst>
                                      </p:cBhvr>
                                    </p:animMotion>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38" grpId="1"/>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2" name="Why No Raw Synchronization Primitives?"/>
          <p:cNvSpPr txBox="1"/>
          <p:nvPr>
            <p:ph type="title"/>
          </p:nvPr>
        </p:nvSpPr>
        <p:spPr>
          <a:prstGeom prst="rect">
            <a:avLst/>
          </a:prstGeom>
        </p:spPr>
        <p:txBody>
          <a:bodyPr lIns="76200" tIns="76200" rIns="76200" bIns="76200"/>
          <a:lstStyle>
            <a:lvl1pPr>
              <a:defRPr sz="4000"/>
            </a:lvl1pPr>
          </a:lstStyle>
          <a:p>
            <a:pPr/>
            <a:r>
              <a:t>Why No Raw Synchronization Primitives?</a:t>
            </a:r>
          </a:p>
        </p:txBody>
      </p:sp>
      <p:sp>
        <p:nvSpPr>
          <p:cNvPr id="843"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pic>
        <p:nvPicPr>
          <p:cNvPr id="844" name="droppedImage.pdf" descr="droppedImage.pdf"/>
          <p:cNvPicPr>
            <a:picLocks noChangeAspect="1"/>
          </p:cNvPicPr>
          <p:nvPr/>
        </p:nvPicPr>
        <p:blipFill>
          <a:blip r:embed="rId2">
            <a:extLst/>
          </a:blip>
          <a:stretch>
            <a:fillRect/>
          </a:stretch>
        </p:blipFill>
        <p:spPr>
          <a:xfrm>
            <a:off x="7124700" y="3022600"/>
            <a:ext cx="8331200" cy="7874000"/>
          </a:xfrm>
          <a:prstGeom prst="rect">
            <a:avLst/>
          </a:prstGeom>
          <a:ln w="12700">
            <a:miter lim="400000"/>
          </a:ln>
        </p:spPr>
      </p:pic>
      <p:pic>
        <p:nvPicPr>
          <p:cNvPr id="845" name="droppedImage.pdf" descr="droppedImage.pdf"/>
          <p:cNvPicPr>
            <a:picLocks noChangeAspect="1"/>
          </p:cNvPicPr>
          <p:nvPr/>
        </p:nvPicPr>
        <p:blipFill>
          <a:blip r:embed="rId3">
            <a:extLst/>
          </a:blip>
          <a:stretch>
            <a:fillRect/>
          </a:stretch>
        </p:blipFill>
        <p:spPr>
          <a:xfrm>
            <a:off x="12103100" y="7340600"/>
            <a:ext cx="1930400" cy="1778000"/>
          </a:xfrm>
          <a:prstGeom prst="rect">
            <a:avLst/>
          </a:prstGeom>
          <a:ln w="12700">
            <a:miter lim="400000"/>
          </a:ln>
        </p:spPr>
      </p:pic>
      <p:pic>
        <p:nvPicPr>
          <p:cNvPr id="846" name="droppedImage.pdf" descr="droppedImage.pdf"/>
          <p:cNvPicPr>
            <a:picLocks noChangeAspect="1"/>
          </p:cNvPicPr>
          <p:nvPr/>
        </p:nvPicPr>
        <p:blipFill>
          <a:blip r:embed="rId3">
            <a:extLst/>
          </a:blip>
          <a:stretch>
            <a:fillRect/>
          </a:stretch>
        </p:blipFill>
        <p:spPr>
          <a:xfrm>
            <a:off x="9639300" y="5943600"/>
            <a:ext cx="1930400" cy="1778000"/>
          </a:xfrm>
          <a:prstGeom prst="rect">
            <a:avLst/>
          </a:prstGeom>
          <a:ln w="12700">
            <a:miter lim="400000"/>
          </a:ln>
        </p:spPr>
      </p:pic>
      <p:pic>
        <p:nvPicPr>
          <p:cNvPr id="847" name="droppedImage.pdf" descr="droppedImage.pdf"/>
          <p:cNvPicPr>
            <a:picLocks noChangeAspect="1"/>
          </p:cNvPicPr>
          <p:nvPr/>
        </p:nvPicPr>
        <p:blipFill>
          <a:blip r:embed="rId4">
            <a:extLst/>
          </a:blip>
          <a:stretch>
            <a:fillRect/>
          </a:stretch>
        </p:blipFill>
        <p:spPr>
          <a:xfrm>
            <a:off x="12153900" y="4699000"/>
            <a:ext cx="1701800" cy="1701800"/>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45"/>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846"/>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el" backwards="0">
                                    <p:tmAbs val="0"/>
                                  </p:iterate>
                                  <p:childTnLst>
                                    <p:set>
                                      <p:cBhvr>
                                        <p:cTn id="12" fill="hold"/>
                                        <p:tgtEl>
                                          <p:spTgt spid="8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path" nodeType="clickEffect" presetSubtype="0" presetID="-1" grpId="4" accel="50000" decel="50000" fill="hold">
                                  <p:stCondLst>
                                    <p:cond delay="0"/>
                                  </p:stCondLst>
                                  <p:childTnLst>
                                    <p:animMotion path="M 0.000000 0.000000 C 0.046912 0.039294 0.046627 0.018664 0.046627 0.095370 C 0.046627 0.172077 0.036137 0.176165 0.002083 0.188889" origin="layout" pathEditMode="relative">
                                      <p:cBhvr>
                                        <p:cTn id="16" dur="1000" fill="hold"/>
                                        <p:tgtEl>
                                          <p:spTgt spid="847"/>
                                        </p:tgtEl>
                                        <p:attrNameLst>
                                          <p:attrName>ppt_x</p:attrName>
                                          <p:attrName>ppt_y</p:attrName>
                                        </p:attrNameLst>
                                      </p:cBhvr>
                                    </p:animMotion>
                                  </p:childTnLst>
                                </p:cTn>
                              </p:par>
                            </p:childTnLst>
                          </p:cTn>
                        </p:par>
                        <p:par>
                          <p:cTn id="17" fill="hold">
                            <p:stCondLst>
                              <p:cond delay="0"/>
                            </p:stCondLst>
                            <p:childTnLst>
                              <p:par>
                                <p:cTn id="18" presetClass="path" nodeType="withEffect" presetSubtype="0" presetID="-1" grpId="5" accel="50000" decel="50000" fill="hold">
                                  <p:stCondLst>
                                    <p:cond delay="0"/>
                                  </p:stCondLst>
                                  <p:childTnLst>
                                    <p:animMotion path="M 0.000000 0.000000 C -0.021061 0.051005 -0.054354 0.051772 -0.081783 0.012854 C -0.113352 -0.031938 -0.098698 -0.012688 -0.101249 -0.100000" origin="layout" pathEditMode="relative">
                                      <p:cBhvr>
                                        <p:cTn id="19" dur="1000" fill="hold"/>
                                        <p:tgtEl>
                                          <p:spTgt spid="845"/>
                                        </p:tgtEl>
                                        <p:attrNameLst>
                                          <p:attrName>ppt_x</p:attrName>
                                          <p:attrName>ppt_y</p:attrName>
                                        </p:attrNameLst>
                                      </p:cBhvr>
                                    </p:animMotion>
                                  </p:childTnLst>
                                </p:cTn>
                              </p:par>
                            </p:childTnLst>
                          </p:cTn>
                        </p:par>
                        <p:par>
                          <p:cTn id="20" fill="hold">
                            <p:stCondLst>
                              <p:cond delay="0"/>
                            </p:stCondLst>
                            <p:childTnLst>
                              <p:par>
                                <p:cTn id="21" presetClass="path" nodeType="withEffect" presetSubtype="0" presetID="-1" grpId="6" accel="50000" decel="50000" fill="hold">
                                  <p:stCondLst>
                                    <p:cond delay="0"/>
                                  </p:stCondLst>
                                  <p:childTnLst>
                                    <p:animMotion path="M 0.000000 0.000000 C -0.020306 -0.049092 -0.006951 -0.110860 0.029830 -0.137963 C 0.066611 -0.165066 0.112888 -0.147240 0.102636 -0.100000" origin="layout" pathEditMode="relative">
                                      <p:cBhvr>
                                        <p:cTn id="22" dur="1000" fill="hold"/>
                                        <p:tgtEl>
                                          <p:spTgt spid="846"/>
                                        </p:tgtEl>
                                        <p:attrNameLst>
                                          <p:attrName>ppt_x</p:attrName>
                                          <p:attrName>ppt_y</p:attrName>
                                        </p:attrNameLst>
                                      </p:cBhvr>
                                    </p:animMotion>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47" grpId="3"/>
      <p:bldP build="whole" bldLvl="1" animBg="1" rev="0" advAuto="0" spid="846" grpId="2"/>
      <p:bldP build="whole" bldLvl="1" animBg="1" rev="0" advAuto="0" spid="845" grpId="1"/>
    </p:bldLst>
  </p:timing>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9"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50"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51"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852" name="Building a Task System"/>
          <p:cNvSpPr txBox="1"/>
          <p:nvPr>
            <p:ph type="title"/>
          </p:nvPr>
        </p:nvSpPr>
        <p:spPr>
          <a:xfrm>
            <a:off x="609600" y="368300"/>
            <a:ext cx="23182917" cy="822325"/>
          </a:xfrm>
          <a:prstGeom prst="rect">
            <a:avLst/>
          </a:prstGeom>
        </p:spPr>
        <p:txBody>
          <a:bodyPr/>
          <a:lstStyle>
            <a:lvl1pPr>
              <a:defRPr sz="4200"/>
            </a:lvl1pPr>
          </a:lstStyle>
          <a:p>
            <a:pPr/>
            <a:r>
              <a:t>Building a Task System</a:t>
            </a:r>
          </a:p>
        </p:txBody>
      </p:sp>
      <p:sp>
        <p:nvSpPr>
          <p:cNvPr id="853" name="Slide Number"/>
          <p:cNvSpPr txBox="1"/>
          <p:nvPr>
            <p:ph type="sldNum" sz="quarter" idx="2"/>
          </p:nvPr>
        </p:nvSpPr>
        <p:spPr>
          <a:xfrm>
            <a:off x="12047051" y="12934946"/>
            <a:ext cx="308967"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854"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pic>
        <p:nvPicPr>
          <p:cNvPr id="855" name="Image" descr="Image"/>
          <p:cNvPicPr>
            <a:picLocks noChangeAspect="1"/>
          </p:cNvPicPr>
          <p:nvPr/>
        </p:nvPicPr>
        <p:blipFill>
          <a:blip r:embed="rId3">
            <a:extLst/>
          </a:blip>
          <a:stretch>
            <a:fillRect/>
          </a:stretch>
        </p:blipFill>
        <p:spPr>
          <a:xfrm>
            <a:off x="8001000" y="1714161"/>
            <a:ext cx="7356572" cy="10858501"/>
          </a:xfrm>
          <a:prstGeom prst="rect">
            <a:avLst/>
          </a:prstGeom>
          <a:ln w="12700">
            <a:miter lim="400000"/>
          </a:ln>
        </p:spPr>
      </p:pic>
      <p:pic>
        <p:nvPicPr>
          <p:cNvPr id="856" name="speedometer-background.png" descr="speedometer-background.png"/>
          <p:cNvPicPr>
            <a:picLocks noChangeAspect="1"/>
          </p:cNvPicPr>
          <p:nvPr/>
        </p:nvPicPr>
        <p:blipFill>
          <a:blip r:embed="rId4">
            <a:extLst/>
          </a:blip>
          <a:stretch>
            <a:fillRect/>
          </a:stretch>
        </p:blipFill>
        <p:spPr>
          <a:xfrm>
            <a:off x="19536764" y="8114219"/>
            <a:ext cx="3625954" cy="3474873"/>
          </a:xfrm>
          <a:prstGeom prst="rect">
            <a:avLst/>
          </a:prstGeom>
          <a:ln w="12700">
            <a:miter lim="400000"/>
          </a:ln>
        </p:spPr>
      </p:pic>
      <p:pic>
        <p:nvPicPr>
          <p:cNvPr id="857" name="Image" descr="Image"/>
          <p:cNvPicPr>
            <a:picLocks noChangeAspect="1"/>
          </p:cNvPicPr>
          <p:nvPr/>
        </p:nvPicPr>
        <p:blipFill>
          <a:blip r:embed="rId5">
            <a:extLst/>
          </a:blip>
          <a:stretch>
            <a:fillRect/>
          </a:stretch>
        </p:blipFill>
        <p:spPr>
          <a:xfrm rot="18874283">
            <a:off x="20165852" y="10104547"/>
            <a:ext cx="1628390" cy="341762"/>
          </a:xfrm>
          <a:prstGeom prst="rect">
            <a:avLst/>
          </a:prstGeom>
          <a:ln w="12700">
            <a:miter lim="400000"/>
          </a:ln>
        </p:spPr>
      </p:pic>
      <p:pic>
        <p:nvPicPr>
          <p:cNvPr id="858" name="Image" descr="Image"/>
          <p:cNvPicPr>
            <a:picLocks noChangeAspect="1"/>
          </p:cNvPicPr>
          <p:nvPr/>
        </p:nvPicPr>
        <p:blipFill>
          <a:blip r:embed="rId6">
            <a:extLst/>
          </a:blip>
          <a:stretch>
            <a:fillRect/>
          </a:stretch>
        </p:blipFill>
        <p:spPr>
          <a:xfrm>
            <a:off x="21317991" y="9815301"/>
            <a:ext cx="63501" cy="63501"/>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mph" nodeType="clickEffect" presetSubtype="0" presetID="8" grpId="1" accel="50000" decel="50000" fill="hold">
                                  <p:stCondLst>
                                    <p:cond delay="0"/>
                                  </p:stCondLst>
                                  <p:childTnLst>
                                    <p:animRot by="420840">
                                      <p:cBhvr>
                                        <p:cTn id="6" dur="1000" fill="hold"/>
                                        <p:tgtEl>
                                          <p:spTgt spid="857"/>
                                        </p:tgtEl>
                                        <p:attrNameLst>
                                          <p:attrName>r</p:attrName>
                                        </p:attrNameLst>
                                      </p:cBhvr>
                                    </p:animRot>
                                  </p:childTnLst>
                                </p:cTn>
                              </p:par>
                            </p:childTnLst>
                          </p:cTn>
                        </p:par>
                        <p:par>
                          <p:cTn id="7" fill="hold">
                            <p:stCondLst>
                              <p:cond delay="0"/>
                            </p:stCondLst>
                            <p:childTnLst>
                              <p:par>
                                <p:cTn id="8" presetClass="path" nodeType="withEffect" presetSubtype="0" presetID="-1" grpId="2" accel="50000" decel="50000" fill="hold">
                                  <p:stCondLst>
                                    <p:cond delay="0"/>
                                  </p:stCondLst>
                                  <p:childTnLst>
                                    <p:animMotion path="M 0.000000 0.000000 L -0.003385 -0.002744" origin="layout" pathEditMode="relative">
                                      <p:cBhvr>
                                        <p:cTn id="9" dur="1000" fill="hold"/>
                                        <p:tgtEl>
                                          <p:spTgt spid="857"/>
                                        </p:tgtEl>
                                        <p:attrNameLst>
                                          <p:attrName>ppt_x</p:attrName>
                                          <p:attrName>ppt_y</p:attrName>
                                        </p:attrNameLst>
                                      </p:cBhvr>
                                    </p:animMotion>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57" grpId="1"/>
    </p:bld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0"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61"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62"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863" name="Building a Task System"/>
          <p:cNvSpPr txBox="1"/>
          <p:nvPr>
            <p:ph type="title"/>
          </p:nvPr>
        </p:nvSpPr>
        <p:spPr>
          <a:xfrm>
            <a:off x="609600" y="368300"/>
            <a:ext cx="23182917" cy="822325"/>
          </a:xfrm>
          <a:prstGeom prst="rect">
            <a:avLst/>
          </a:prstGeom>
        </p:spPr>
        <p:txBody>
          <a:bodyPr/>
          <a:lstStyle>
            <a:lvl1pPr>
              <a:defRPr sz="4200"/>
            </a:lvl1pPr>
          </a:lstStyle>
          <a:p>
            <a:pPr/>
            <a:r>
              <a:t>Building a Task System</a:t>
            </a:r>
          </a:p>
        </p:txBody>
      </p:sp>
      <p:sp>
        <p:nvSpPr>
          <p:cNvPr id="864" name="Slide Number"/>
          <p:cNvSpPr txBox="1"/>
          <p:nvPr>
            <p:ph type="sldNum" sz="quarter" idx="2"/>
          </p:nvPr>
        </p:nvSpPr>
        <p:spPr>
          <a:xfrm>
            <a:off x="12041666" y="12934946"/>
            <a:ext cx="319736"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865"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pic>
        <p:nvPicPr>
          <p:cNvPr id="866" name="Image" descr="Image"/>
          <p:cNvPicPr>
            <a:picLocks noChangeAspect="1"/>
          </p:cNvPicPr>
          <p:nvPr/>
        </p:nvPicPr>
        <p:blipFill>
          <a:blip r:embed="rId3">
            <a:extLst/>
          </a:blip>
          <a:stretch>
            <a:fillRect/>
          </a:stretch>
        </p:blipFill>
        <p:spPr>
          <a:xfrm>
            <a:off x="9007805" y="1879514"/>
            <a:ext cx="6368390" cy="10773920"/>
          </a:xfrm>
          <a:prstGeom prst="rect">
            <a:avLst/>
          </a:prstGeom>
          <a:ln w="12700">
            <a:miter lim="400000"/>
          </a:ln>
        </p:spPr>
      </p:pic>
    </p:spTree>
  </p:cSld>
  <p:clrMapOvr>
    <a:masterClrMapping/>
  </p:clrMapOvr>
  <p:transition xmlns:p14="http://schemas.microsoft.com/office/powerpoint/2010/main" spd="fast"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8"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69"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70"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871" name="Building a Task System"/>
          <p:cNvSpPr txBox="1"/>
          <p:nvPr>
            <p:ph type="title"/>
          </p:nvPr>
        </p:nvSpPr>
        <p:spPr>
          <a:xfrm>
            <a:off x="609600" y="368300"/>
            <a:ext cx="23182917" cy="822325"/>
          </a:xfrm>
          <a:prstGeom prst="rect">
            <a:avLst/>
          </a:prstGeom>
        </p:spPr>
        <p:txBody>
          <a:bodyPr/>
          <a:lstStyle>
            <a:lvl1pPr>
              <a:defRPr sz="4200"/>
            </a:lvl1pPr>
          </a:lstStyle>
          <a:p>
            <a:pPr/>
            <a:r>
              <a:t>Building a Task System</a:t>
            </a:r>
          </a:p>
        </p:txBody>
      </p:sp>
      <p:sp>
        <p:nvSpPr>
          <p:cNvPr id="872" name="class task_system {…"/>
          <p:cNvSpPr txBox="1"/>
          <p:nvPr>
            <p:ph type="body" idx="1"/>
          </p:nvPr>
        </p:nvSpPr>
        <p:spPr>
          <a:prstGeom prst="rect">
            <a:avLst/>
          </a:prstGeom>
        </p:spPr>
        <p:txBody>
          <a:bodyPr/>
          <a:lstStyle/>
          <a:p>
            <a:pPr marL="0" indent="0" defTabSz="457200">
              <a:spcBef>
                <a:spcPts val="0"/>
              </a:spcBef>
              <a:buClrTx/>
              <a:buSzTx/>
              <a:buNone/>
              <a:tabLst>
                <a:tab pos="419100" algn="l"/>
              </a:tabLst>
              <a:defRPr sz="2400">
                <a:uFillTx/>
                <a:latin typeface="Menlo Regular"/>
                <a:ea typeface="Menlo Regular"/>
                <a:cs typeface="Menlo Regular"/>
                <a:sym typeface="Menlo Regular"/>
              </a:defRPr>
            </a:pPr>
            <a:r>
              <a:rPr>
                <a:solidFill>
                  <a:srgbClr val="BB2CA2"/>
                </a:solidFill>
              </a:rPr>
              <a:t>class</a:t>
            </a:r>
            <a:r>
              <a:t> task_system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const</a:t>
            </a:r>
            <a:r>
              <a:t> </a:t>
            </a:r>
            <a:r>
              <a:rPr>
                <a:solidFill>
                  <a:srgbClr val="BB2CA2"/>
                </a:solidFill>
              </a:rPr>
              <a:t>unsigned</a:t>
            </a:r>
            <a:r>
              <a:t>              _count{thread::hardware_concurrency()};</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703DAA"/>
                </a:solidFill>
              </a:rPr>
              <a:t>vector</a:t>
            </a:r>
            <a:r>
              <a:t>&lt;</a:t>
            </a:r>
            <a:r>
              <a:rPr>
                <a:solidFill>
                  <a:srgbClr val="703DAA"/>
                </a:solidFill>
              </a:rPr>
              <a:t>thread</a:t>
            </a:r>
            <a:r>
              <a:t>&gt;              _threads;</a:t>
            </a:r>
          </a:p>
          <a:p>
            <a:pPr marL="0" indent="0" defTabSz="457200">
              <a:spcBef>
                <a:spcPts val="0"/>
              </a:spcBef>
              <a:buClrTx/>
              <a:buSzTx/>
              <a:buNone/>
              <a:tabLst>
                <a:tab pos="419100" algn="l"/>
              </a:tabLst>
              <a:defRPr sz="2400">
                <a:solidFill>
                  <a:srgbClr val="4F8187"/>
                </a:solidFill>
                <a:uFillTx/>
                <a:latin typeface="Menlo Regular"/>
                <a:ea typeface="Menlo Regular"/>
                <a:cs typeface="Menlo Regular"/>
                <a:sym typeface="Menlo Regular"/>
              </a:defRPr>
            </a:pPr>
            <a:r>
              <a:rPr>
                <a:solidFill>
                  <a:srgbClr val="000000"/>
                </a:solidFill>
              </a:rPr>
              <a:t>    </a:t>
            </a:r>
            <a:r>
              <a:rPr>
                <a:solidFill>
                  <a:srgbClr val="703DAA"/>
                </a:solidFill>
              </a:rPr>
              <a:t>vector</a:t>
            </a:r>
            <a:r>
              <a:rPr>
                <a:solidFill>
                  <a:srgbClr val="000000"/>
                </a:solidFill>
              </a:rPr>
              <a:t>&lt;</a:t>
            </a:r>
            <a:r>
              <a:t>notification_queue</a:t>
            </a:r>
            <a:r>
              <a:rPr>
                <a:solidFill>
                  <a:srgbClr val="000000"/>
                </a:solidFill>
              </a:rPr>
              <a:t>&gt;  _q{_count};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703DAA"/>
                </a:solidFill>
              </a:rPr>
              <a:t>atomic</a:t>
            </a:r>
            <a:r>
              <a:t>&lt;</a:t>
            </a:r>
            <a:r>
              <a:rPr>
                <a:solidFill>
                  <a:srgbClr val="BB2CA2"/>
                </a:solidFill>
              </a:rPr>
              <a:t>unsigned</a:t>
            </a:r>
            <a:r>
              <a:t>&gt;            _index{</a:t>
            </a:r>
            <a:r>
              <a:rPr>
                <a:solidFill>
                  <a:srgbClr val="272AD8"/>
                </a:solidFill>
              </a:rPr>
              <a:t>0</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void</a:t>
            </a:r>
            <a:r>
              <a:rPr>
                <a:solidFill>
                  <a:srgbClr val="000000"/>
                </a:solidFill>
              </a:rPr>
              <a:t> run(</a:t>
            </a:r>
            <a:r>
              <a:t>unsigned</a:t>
            </a:r>
            <a:r>
              <a:rPr>
                <a:solidFill>
                  <a:srgbClr val="000000"/>
                </a:solidFill>
              </a:rPr>
              <a:t> i) {</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while</a:t>
            </a:r>
            <a:r>
              <a:t> (</a:t>
            </a:r>
            <a:r>
              <a:rPr>
                <a:solidFill>
                  <a:srgbClr val="BB2CA2"/>
                </a:solidFill>
              </a:rPr>
              <a:t>true</a:t>
            </a: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703DAA"/>
                </a:solidFill>
              </a:rPr>
              <a:t>function</a:t>
            </a:r>
            <a:r>
              <a:t>&lt;</a:t>
            </a:r>
            <a:r>
              <a:rPr>
                <a:solidFill>
                  <a:srgbClr val="BB2CA2"/>
                </a:solidFill>
              </a:rPr>
              <a:t>void</a:t>
            </a:r>
            <a:r>
              <a:t>()&gt; f;</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if</a:t>
            </a:r>
            <a:r>
              <a:t> (!</a:t>
            </a:r>
            <a:r>
              <a:rPr>
                <a:solidFill>
                  <a:srgbClr val="4F8187"/>
                </a:solidFill>
              </a:rPr>
              <a:t>_q</a:t>
            </a:r>
            <a:r>
              <a:t>[</a:t>
            </a:r>
            <a:r>
              <a:rPr>
                <a:solidFill>
                  <a:srgbClr val="3D1D81"/>
                </a:solidFill>
              </a:rPr>
              <a:t>i</a:t>
            </a:r>
            <a:r>
              <a:t>].</a:t>
            </a:r>
            <a:r>
              <a:rPr>
                <a:solidFill>
                  <a:srgbClr val="31595D"/>
                </a:solidFill>
              </a:rPr>
              <a:t>pop</a:t>
            </a:r>
            <a:r>
              <a:t>(f)) </a:t>
            </a:r>
            <a:r>
              <a:rPr>
                <a:solidFill>
                  <a:srgbClr val="BB2CA2"/>
                </a:solidFill>
              </a:rPr>
              <a:t>break</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f();</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public</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task_system() {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~task_system()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for</a:t>
            </a:r>
            <a:r>
              <a:t> (</a:t>
            </a:r>
            <a:r>
              <a:rPr>
                <a:solidFill>
                  <a:srgbClr val="BB2CA2"/>
                </a:solidFill>
              </a:rPr>
              <a:t>auto</a:t>
            </a:r>
            <a:r>
              <a:t>&amp; e : _q) e.</a:t>
            </a:r>
            <a:r>
              <a:rPr>
                <a:solidFill>
                  <a:srgbClr val="31595D"/>
                </a:solidFill>
              </a:rPr>
              <a:t>done</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for</a:t>
            </a:r>
            <a:r>
              <a:t> (</a:t>
            </a:r>
            <a:r>
              <a:rPr>
                <a:solidFill>
                  <a:srgbClr val="BB2CA2"/>
                </a:solidFill>
              </a:rPr>
              <a:t>auto</a:t>
            </a:r>
            <a:r>
              <a:t>&amp; e : _threads) e.</a:t>
            </a:r>
            <a:r>
              <a:rPr>
                <a:solidFill>
                  <a:srgbClr val="3D1D81"/>
                </a:solidFill>
              </a:rPr>
              <a:t>join</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 &lt;</a:t>
            </a:r>
            <a:r>
              <a:t>typename</a:t>
            </a:r>
            <a:r>
              <a:rPr>
                <a:solidFill>
                  <a:srgbClr val="000000"/>
                </a:solidFill>
              </a:rPr>
              <a:t> F&gt;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void</a:t>
            </a:r>
            <a:r>
              <a:t> async_(F&amp;&amp; f)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auto</a:t>
            </a:r>
            <a:r>
              <a:t> i = </a:t>
            </a:r>
            <a:r>
              <a:rPr>
                <a:solidFill>
                  <a:srgbClr val="4F8187"/>
                </a:solidFill>
              </a:rPr>
              <a:t>_index</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_q</a:t>
            </a:r>
            <a:r>
              <a:t>[</a:t>
            </a:r>
            <a:r>
              <a:rPr>
                <a:solidFill>
                  <a:srgbClr val="3D1D81"/>
                </a:solidFill>
              </a:rPr>
              <a:t>i</a:t>
            </a:r>
            <a:r>
              <a:t> % </a:t>
            </a:r>
            <a:r>
              <a:rPr>
                <a:solidFill>
                  <a:srgbClr val="3D1D81"/>
                </a:solidFill>
              </a:rPr>
              <a:t>_count</a:t>
            </a:r>
            <a:r>
              <a:t>].push(forward&lt;F&gt;(f));</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a:t>
            </a:r>
          </a:p>
        </p:txBody>
      </p:sp>
      <p:sp>
        <p:nvSpPr>
          <p:cNvPr id="873" name="Slide Number"/>
          <p:cNvSpPr txBox="1"/>
          <p:nvPr>
            <p:ph type="sldNum" sz="quarter" idx="2"/>
          </p:nvPr>
        </p:nvSpPr>
        <p:spPr>
          <a:xfrm>
            <a:off x="12051928" y="12934946"/>
            <a:ext cx="299213"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874"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
        <p:nvSpPr>
          <p:cNvPr id="875" name="Rounded Rectangle"/>
          <p:cNvSpPr/>
          <p:nvPr/>
        </p:nvSpPr>
        <p:spPr>
          <a:xfrm>
            <a:off x="294522" y="5218828"/>
            <a:ext cx="168853" cy="457209"/>
          </a:xfrm>
          <a:prstGeom prst="roundRect">
            <a:avLst>
              <a:gd name="adj" fmla="val 50000"/>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876" name="Rounded Rectangle"/>
          <p:cNvSpPr/>
          <p:nvPr/>
        </p:nvSpPr>
        <p:spPr>
          <a:xfrm>
            <a:off x="294522" y="3088168"/>
            <a:ext cx="168853" cy="776216"/>
          </a:xfrm>
          <a:prstGeom prst="roundRect">
            <a:avLst>
              <a:gd name="adj" fmla="val 47636"/>
            </a:avLst>
          </a:prstGeom>
          <a:solidFill>
            <a:srgbClr val="CCDC3C"/>
          </a:solidFill>
          <a:ln w="12700">
            <a:miter lim="400000"/>
          </a:ln>
        </p:spPr>
        <p:txBody>
          <a:bodyPr lIns="50800" tIns="50800" rIns="50800" bIns="50800" anchor="ctr"/>
          <a:lstStyle/>
          <a:p>
            <a:pPr lvl="1"/>
          </a:p>
        </p:txBody>
      </p:sp>
      <p:pic>
        <p:nvPicPr>
          <p:cNvPr id="877" name="Image" descr="Image"/>
          <p:cNvPicPr>
            <a:picLocks noChangeAspect="1"/>
          </p:cNvPicPr>
          <p:nvPr/>
        </p:nvPicPr>
        <p:blipFill>
          <a:blip r:embed="rId3">
            <a:extLst/>
          </a:blip>
          <a:stretch>
            <a:fillRect/>
          </a:stretch>
        </p:blipFill>
        <p:spPr>
          <a:xfrm>
            <a:off x="4207933" y="7421033"/>
            <a:ext cx="279401" cy="228601"/>
          </a:xfrm>
          <a:prstGeom prst="rect">
            <a:avLst/>
          </a:prstGeom>
          <a:ln w="12700">
            <a:miter lim="400000"/>
          </a:ln>
        </p:spPr>
      </p:pic>
      <p:sp>
        <p:nvSpPr>
          <p:cNvPr id="878" name="Rounded Rectangle"/>
          <p:cNvSpPr/>
          <p:nvPr/>
        </p:nvSpPr>
        <p:spPr>
          <a:xfrm>
            <a:off x="294522" y="8359961"/>
            <a:ext cx="168853" cy="457210"/>
          </a:xfrm>
          <a:prstGeom prst="roundRect">
            <a:avLst>
              <a:gd name="adj" fmla="val 50000"/>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879" name="Rounded Rectangle"/>
          <p:cNvSpPr/>
          <p:nvPr/>
        </p:nvSpPr>
        <p:spPr>
          <a:xfrm>
            <a:off x="294522" y="10510494"/>
            <a:ext cx="168853" cy="776216"/>
          </a:xfrm>
          <a:prstGeom prst="roundRect">
            <a:avLst>
              <a:gd name="adj" fmla="val 50000"/>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0" presetID="1" grpId="1" fill="hold">
                                  <p:stCondLst>
                                    <p:cond delay="0"/>
                                  </p:stCondLst>
                                  <p:iterate type="el" backwards="0">
                                    <p:tmAbs val="0"/>
                                  </p:iterate>
                                  <p:childTnLst>
                                    <p:set>
                                      <p:cBhvr>
                                        <p:cTn id="6" fill="hold"/>
                                        <p:tgtEl>
                                          <p:spTgt spid="8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875"/>
                                        </p:tgtEl>
                                        <p:attrNameLst>
                                          <p:attrName>style.visibility</p:attrName>
                                        </p:attrNameLst>
                                      </p:cBhvr>
                                      <p:to>
                                        <p:strVal val="visible"/>
                                      </p:to>
                                    </p:set>
                                  </p:childTnLst>
                                </p:cTn>
                              </p:par>
                            </p:childTnLst>
                          </p:cTn>
                        </p:par>
                        <p:par>
                          <p:cTn id="11" fill="hold">
                            <p:stCondLst>
                              <p:cond delay="0"/>
                            </p:stCondLst>
                            <p:childTnLst>
                              <p:par>
                                <p:cTn id="12" presetClass="exit" nodeType="afterEffect" presetSubtype="0" presetID="1" grpId="3" fill="hold">
                                  <p:stCondLst>
                                    <p:cond delay="0"/>
                                  </p:stCondLst>
                                  <p:iterate type="el" backwards="0">
                                    <p:tmAbs val="0"/>
                                  </p:iterate>
                                  <p:childTnLst>
                                    <p:set>
                                      <p:cBhvr>
                                        <p:cTn id="13" fill="hold">
                                          <p:stCondLst>
                                            <p:cond delay="0"/>
                                          </p:stCondLst>
                                        </p:cTn>
                                        <p:tgtEl>
                                          <p:spTgt spid="876"/>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0" presetID="1" grpId="4" fill="hold">
                                  <p:stCondLst>
                                    <p:cond delay="0"/>
                                  </p:stCondLst>
                                  <p:iterate type="el" backwards="0">
                                    <p:tmAbs val="0"/>
                                  </p:iterate>
                                  <p:childTnLst>
                                    <p:set>
                                      <p:cBhvr>
                                        <p:cTn id="17" fill="hold"/>
                                        <p:tgtEl>
                                          <p:spTgt spid="878"/>
                                        </p:tgtEl>
                                        <p:attrNameLst>
                                          <p:attrName>style.visibility</p:attrName>
                                        </p:attrNameLst>
                                      </p:cBhvr>
                                      <p:to>
                                        <p:strVal val="visible"/>
                                      </p:to>
                                    </p:set>
                                  </p:childTnLst>
                                </p:cTn>
                              </p:par>
                            </p:childTnLst>
                          </p:cTn>
                        </p:par>
                        <p:par>
                          <p:cTn id="18" fill="hold">
                            <p:stCondLst>
                              <p:cond delay="0"/>
                            </p:stCondLst>
                            <p:childTnLst>
                              <p:par>
                                <p:cTn id="19" presetClass="exit" nodeType="afterEffect" presetSubtype="0" presetID="1" grpId="5" fill="hold">
                                  <p:stCondLst>
                                    <p:cond delay="0"/>
                                  </p:stCondLst>
                                  <p:iterate type="el" backwards="0">
                                    <p:tmAbs val="0"/>
                                  </p:iterate>
                                  <p:childTnLst>
                                    <p:set>
                                      <p:cBhvr>
                                        <p:cTn id="20" fill="hold">
                                          <p:stCondLst>
                                            <p:cond delay="0"/>
                                          </p:stCondLst>
                                        </p:cTn>
                                        <p:tgtEl>
                                          <p:spTgt spid="875"/>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0" presetID="1" grpId="6" fill="hold">
                                  <p:stCondLst>
                                    <p:cond delay="0"/>
                                  </p:stCondLst>
                                  <p:iterate type="el" backwards="0">
                                    <p:tmAbs val="0"/>
                                  </p:iterate>
                                  <p:childTnLst>
                                    <p:set>
                                      <p:cBhvr>
                                        <p:cTn id="24" fill="hold"/>
                                        <p:tgtEl>
                                          <p:spTgt spid="879"/>
                                        </p:tgtEl>
                                        <p:attrNameLst>
                                          <p:attrName>style.visibility</p:attrName>
                                        </p:attrNameLst>
                                      </p:cBhvr>
                                      <p:to>
                                        <p:strVal val="visible"/>
                                      </p:to>
                                    </p:set>
                                  </p:childTnLst>
                                </p:cTn>
                              </p:par>
                            </p:childTnLst>
                          </p:cTn>
                        </p:par>
                        <p:par>
                          <p:cTn id="25" fill="hold">
                            <p:stCondLst>
                              <p:cond delay="0"/>
                            </p:stCondLst>
                            <p:childTnLst>
                              <p:par>
                                <p:cTn id="26" presetClass="exit" nodeType="afterEffect" presetSubtype="0" presetID="1" grpId="7" fill="hold">
                                  <p:stCondLst>
                                    <p:cond delay="0"/>
                                  </p:stCondLst>
                                  <p:iterate type="el" backwards="0">
                                    <p:tmAbs val="0"/>
                                  </p:iterate>
                                  <p:childTnLst>
                                    <p:set>
                                      <p:cBhvr>
                                        <p:cTn id="27" fill="hold">
                                          <p:stCondLst>
                                            <p:cond delay="0"/>
                                          </p:stCondLst>
                                        </p:cTn>
                                        <p:tgtEl>
                                          <p:spTgt spid="87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76" grpId="1"/>
      <p:bldP build="whole" bldLvl="1" animBg="1" rev="0" advAuto="0" spid="878" grpId="4"/>
      <p:bldP build="whole" bldLvl="1" animBg="1" rev="0" advAuto="0" spid="876" grpId="3"/>
      <p:bldP build="whole" bldLvl="1" animBg="1" rev="0" advAuto="0" spid="879" grpId="6"/>
      <p:bldP build="whole" bldLvl="1" animBg="1" rev="0" advAuto="0" spid="875" grpId="5"/>
      <p:bldP build="whole" bldLvl="1" animBg="1" rev="0" advAuto="0" spid="875" grpId="2"/>
      <p:bldP build="whole" bldLvl="1" animBg="1" rev="0" advAuto="0" spid="878" grpId="7"/>
    </p:bld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881" name="speedometer-background.png" descr="speedometer-background.png"/>
          <p:cNvPicPr>
            <a:picLocks noChangeAspect="1"/>
          </p:cNvPicPr>
          <p:nvPr/>
        </p:nvPicPr>
        <p:blipFill>
          <a:blip r:embed="rId2">
            <a:extLst/>
          </a:blip>
          <a:stretch>
            <a:fillRect/>
          </a:stretch>
        </p:blipFill>
        <p:spPr>
          <a:xfrm>
            <a:off x="19536764" y="8114219"/>
            <a:ext cx="3625954" cy="3474873"/>
          </a:xfrm>
          <a:prstGeom prst="rect">
            <a:avLst/>
          </a:prstGeom>
          <a:ln w="12700">
            <a:miter lim="400000"/>
          </a:ln>
        </p:spPr>
      </p:pic>
      <p:sp>
        <p:nvSpPr>
          <p:cNvPr id="882"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83"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84"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885" name="Building a Task System"/>
          <p:cNvSpPr txBox="1"/>
          <p:nvPr>
            <p:ph type="title"/>
          </p:nvPr>
        </p:nvSpPr>
        <p:spPr>
          <a:xfrm>
            <a:off x="609600" y="368300"/>
            <a:ext cx="23182917" cy="822325"/>
          </a:xfrm>
          <a:prstGeom prst="rect">
            <a:avLst/>
          </a:prstGeom>
        </p:spPr>
        <p:txBody>
          <a:bodyPr/>
          <a:lstStyle>
            <a:lvl1pPr>
              <a:defRPr sz="4200"/>
            </a:lvl1pPr>
          </a:lstStyle>
          <a:p>
            <a:pPr/>
            <a:r>
              <a:t>Building a Task System</a:t>
            </a:r>
          </a:p>
        </p:txBody>
      </p:sp>
      <p:sp>
        <p:nvSpPr>
          <p:cNvPr id="886" name="Slide Number"/>
          <p:cNvSpPr txBox="1"/>
          <p:nvPr>
            <p:ph type="sldNum" sz="quarter" idx="2"/>
          </p:nvPr>
        </p:nvSpPr>
        <p:spPr>
          <a:xfrm>
            <a:off x="12043393" y="12934946"/>
            <a:ext cx="316282"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887"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pic>
        <p:nvPicPr>
          <p:cNvPr id="888" name="Image" descr="Image"/>
          <p:cNvPicPr>
            <a:picLocks noChangeAspect="1"/>
          </p:cNvPicPr>
          <p:nvPr/>
        </p:nvPicPr>
        <p:blipFill>
          <a:blip r:embed="rId4">
            <a:extLst/>
          </a:blip>
          <a:stretch>
            <a:fillRect/>
          </a:stretch>
        </p:blipFill>
        <p:spPr>
          <a:xfrm rot="18874283">
            <a:off x="20165852" y="10104547"/>
            <a:ext cx="1628390" cy="341762"/>
          </a:xfrm>
          <a:prstGeom prst="rect">
            <a:avLst/>
          </a:prstGeom>
          <a:ln w="12700">
            <a:miter lim="400000"/>
          </a:ln>
        </p:spPr>
      </p:pic>
      <p:pic>
        <p:nvPicPr>
          <p:cNvPr id="889" name="Image" descr="Image"/>
          <p:cNvPicPr>
            <a:picLocks noChangeAspect="1"/>
          </p:cNvPicPr>
          <p:nvPr/>
        </p:nvPicPr>
        <p:blipFill>
          <a:blip r:embed="rId5">
            <a:extLst/>
          </a:blip>
          <a:stretch>
            <a:fillRect/>
          </a:stretch>
        </p:blipFill>
        <p:spPr>
          <a:xfrm>
            <a:off x="21317991" y="9815301"/>
            <a:ext cx="63501" cy="63501"/>
          </a:xfrm>
          <a:prstGeom prst="rect">
            <a:avLst/>
          </a:prstGeom>
          <a:ln w="12700">
            <a:miter lim="400000"/>
          </a:ln>
        </p:spPr>
      </p:pic>
      <p:pic>
        <p:nvPicPr>
          <p:cNvPr id="890" name="Image" descr="Image"/>
          <p:cNvPicPr>
            <a:picLocks noChangeAspect="1"/>
          </p:cNvPicPr>
          <p:nvPr/>
        </p:nvPicPr>
        <p:blipFill>
          <a:blip r:embed="rId6">
            <a:extLst/>
          </a:blip>
          <a:stretch>
            <a:fillRect/>
          </a:stretch>
        </p:blipFill>
        <p:spPr>
          <a:xfrm>
            <a:off x="9007805" y="1879514"/>
            <a:ext cx="6368390" cy="10773920"/>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mph" nodeType="clickEffect" presetSubtype="0" presetID="8" grpId="1" accel="50000" decel="50000" fill="hold">
                                  <p:stCondLst>
                                    <p:cond delay="0"/>
                                  </p:stCondLst>
                                  <p:childTnLst>
                                    <p:animRot by="2135150">
                                      <p:cBhvr>
                                        <p:cTn id="6" dur="1000" fill="hold"/>
                                        <p:tgtEl>
                                          <p:spTgt spid="888"/>
                                        </p:tgtEl>
                                        <p:attrNameLst>
                                          <p:attrName>r</p:attrName>
                                        </p:attrNameLst>
                                      </p:cBhvr>
                                    </p:animRot>
                                  </p:childTnLst>
                                </p:cTn>
                              </p:par>
                            </p:childTnLst>
                          </p:cTn>
                        </p:par>
                        <p:par>
                          <p:cTn id="7" fill="hold">
                            <p:stCondLst>
                              <p:cond delay="0"/>
                            </p:stCondLst>
                            <p:childTnLst>
                              <p:par>
                                <p:cTn id="8" presetClass="path" nodeType="withEffect" presetSubtype="0" presetID="-1" grpId="2" accel="50000" decel="50000" fill="hold">
                                  <p:stCondLst>
                                    <p:cond delay="0"/>
                                  </p:stCondLst>
                                  <p:childTnLst>
                                    <p:animMotion path="M 0.000000 0.000000 C -0.003202 -0.000348 -0.006138 -0.003281 -0.007971 -0.007960 C -0.009583 -0.012076 -0.010187 -0.017178 -0.009646 -0.022100" origin="layout" pathEditMode="relative">
                                      <p:cBhvr>
                                        <p:cTn id="9" dur="1000" fill="hold"/>
                                        <p:tgtEl>
                                          <p:spTgt spid="888"/>
                                        </p:tgtEl>
                                        <p:attrNameLst>
                                          <p:attrName>ppt_x</p:attrName>
                                          <p:attrName>ppt_y</p:attrName>
                                        </p:attrNameLst>
                                      </p:cBhvr>
                                    </p:animMotion>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88" grpId="1"/>
    </p:bldLst>
  </p:timing>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2"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93"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894"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895" name="Building a Task System"/>
          <p:cNvSpPr txBox="1"/>
          <p:nvPr>
            <p:ph type="title"/>
          </p:nvPr>
        </p:nvSpPr>
        <p:spPr>
          <a:xfrm>
            <a:off x="609600" y="368300"/>
            <a:ext cx="23182917" cy="822325"/>
          </a:xfrm>
          <a:prstGeom prst="rect">
            <a:avLst/>
          </a:prstGeom>
        </p:spPr>
        <p:txBody>
          <a:bodyPr/>
          <a:lstStyle>
            <a:lvl1pPr>
              <a:defRPr sz="4200"/>
            </a:lvl1pPr>
          </a:lstStyle>
          <a:p>
            <a:pPr/>
            <a:r>
              <a:t>Building a Task System</a:t>
            </a:r>
          </a:p>
        </p:txBody>
      </p:sp>
      <p:sp>
        <p:nvSpPr>
          <p:cNvPr id="896" name="Slide Number"/>
          <p:cNvSpPr txBox="1"/>
          <p:nvPr>
            <p:ph type="sldNum" sz="quarter" idx="2"/>
          </p:nvPr>
        </p:nvSpPr>
        <p:spPr>
          <a:xfrm>
            <a:off x="12044308" y="12934946"/>
            <a:ext cx="314453"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897"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pic>
        <p:nvPicPr>
          <p:cNvPr id="898" name="Image" descr="Image"/>
          <p:cNvPicPr>
            <a:picLocks noChangeAspect="1"/>
          </p:cNvPicPr>
          <p:nvPr/>
        </p:nvPicPr>
        <p:blipFill>
          <a:blip r:embed="rId3">
            <a:extLst/>
          </a:blip>
          <a:stretch>
            <a:fillRect/>
          </a:stretch>
        </p:blipFill>
        <p:spPr>
          <a:xfrm>
            <a:off x="9031329" y="1836739"/>
            <a:ext cx="6365837" cy="10769601"/>
          </a:xfrm>
          <a:prstGeom prst="rect">
            <a:avLst/>
          </a:prstGeom>
          <a:ln w="12700">
            <a:miter lim="400000"/>
          </a:ln>
        </p:spPr>
      </p:pic>
    </p:spTree>
  </p:cSld>
  <p:clrMapOvr>
    <a:masterClrMapping/>
  </p:clrMapOvr>
  <p:transition xmlns:p14="http://schemas.microsoft.com/office/powerpoint/2010/main" spd="fast"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00"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901"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902"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903" name="Building a Task System"/>
          <p:cNvSpPr txBox="1"/>
          <p:nvPr>
            <p:ph type="title"/>
          </p:nvPr>
        </p:nvSpPr>
        <p:spPr>
          <a:xfrm>
            <a:off x="609600" y="368300"/>
            <a:ext cx="23182917" cy="822325"/>
          </a:xfrm>
          <a:prstGeom prst="rect">
            <a:avLst/>
          </a:prstGeom>
        </p:spPr>
        <p:txBody>
          <a:bodyPr/>
          <a:lstStyle>
            <a:lvl1pPr>
              <a:defRPr sz="4200"/>
            </a:lvl1pPr>
          </a:lstStyle>
          <a:p>
            <a:pPr/>
            <a:r>
              <a:t>Building a Task System</a:t>
            </a:r>
          </a:p>
        </p:txBody>
      </p:sp>
      <p:sp>
        <p:nvSpPr>
          <p:cNvPr id="904" name="class notification_queue {…"/>
          <p:cNvSpPr txBox="1"/>
          <p:nvPr>
            <p:ph type="body" idx="1"/>
          </p:nvPr>
        </p:nvSpPr>
        <p:spPr>
          <a:prstGeom prst="rect">
            <a:avLst/>
          </a:prstGeom>
        </p:spPr>
        <p:txBody>
          <a:bodyPr/>
          <a:lstStyle/>
          <a:p>
            <a:pPr marL="0" indent="0" defTabSz="457200">
              <a:spcBef>
                <a:spcPts val="0"/>
              </a:spcBef>
              <a:buClrTx/>
              <a:buSzTx/>
              <a:buNone/>
              <a:tabLst>
                <a:tab pos="419100" algn="l"/>
              </a:tabLst>
              <a:defRPr sz="2400">
                <a:uFillTx/>
                <a:latin typeface="Menlo Regular"/>
                <a:ea typeface="Menlo Regular"/>
                <a:cs typeface="Menlo Regular"/>
                <a:sym typeface="Menlo Regular"/>
              </a:defRPr>
            </a:pPr>
            <a:r>
              <a:rPr>
                <a:solidFill>
                  <a:srgbClr val="BB2CA2"/>
                </a:solidFill>
              </a:rPr>
              <a:t>class</a:t>
            </a:r>
            <a:r>
              <a:t> notification_queue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703DAA"/>
                </a:solidFill>
              </a:rPr>
              <a:t>deque</a:t>
            </a:r>
            <a:r>
              <a:t>&lt;</a:t>
            </a:r>
            <a:r>
              <a:rPr>
                <a:solidFill>
                  <a:srgbClr val="703DAA"/>
                </a:solidFill>
              </a:rPr>
              <a:t>function</a:t>
            </a:r>
            <a:r>
              <a:t>&lt;</a:t>
            </a:r>
            <a:r>
              <a:rPr>
                <a:solidFill>
                  <a:srgbClr val="BB2CA2"/>
                </a:solidFill>
              </a:rPr>
              <a:t>void</a:t>
            </a:r>
            <a:r>
              <a:t>()&gt;&gt; _q;</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bool</a:t>
            </a:r>
            <a:r>
              <a:t>                    _done{</a:t>
            </a:r>
            <a:r>
              <a:rPr>
                <a:solidFill>
                  <a:srgbClr val="BB2CA2"/>
                </a:solidFill>
              </a:rPr>
              <a:t>false</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703DAA"/>
                </a:solidFill>
              </a:rPr>
              <a:t>mutex</a:t>
            </a:r>
            <a:r>
              <a:t>                   _mutex;</a:t>
            </a:r>
          </a:p>
          <a:p>
            <a:pPr marL="0" indent="0" defTabSz="457200">
              <a:spcBef>
                <a:spcPts val="0"/>
              </a:spcBef>
              <a:buClrTx/>
              <a:buSzTx/>
              <a:buNone/>
              <a:tabLst>
                <a:tab pos="419100" algn="l"/>
              </a:tabLst>
              <a:defRPr sz="2400">
                <a:solidFill>
                  <a:srgbClr val="703DAA"/>
                </a:solidFill>
                <a:uFillTx/>
                <a:latin typeface="Menlo Regular"/>
                <a:ea typeface="Menlo Regular"/>
                <a:cs typeface="Menlo Regular"/>
                <a:sym typeface="Menlo Regular"/>
              </a:defRPr>
            </a:pPr>
            <a:r>
              <a:rPr>
                <a:solidFill>
                  <a:srgbClr val="000000"/>
                </a:solidFill>
              </a:rPr>
              <a:t>    </a:t>
            </a:r>
            <a:r>
              <a:t>condition_variable</a:t>
            </a:r>
            <a:r>
              <a:rPr>
                <a:solidFill>
                  <a:srgbClr val="000000"/>
                </a:solidFill>
              </a:rPr>
              <a:t>      _ready;</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public</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bool</a:t>
            </a:r>
            <a:r>
              <a:t> try_pop(</a:t>
            </a:r>
            <a:r>
              <a:rPr>
                <a:solidFill>
                  <a:srgbClr val="703DAA"/>
                </a:solidFill>
              </a:rPr>
              <a:t>function</a:t>
            </a:r>
            <a:r>
              <a:t>&lt;</a:t>
            </a:r>
            <a:r>
              <a:rPr>
                <a:solidFill>
                  <a:srgbClr val="BB2CA2"/>
                </a:solidFill>
              </a:rPr>
              <a:t>void</a:t>
            </a:r>
            <a:r>
              <a:t>()&gt;&amp; x) {</a:t>
            </a:r>
          </a:p>
          <a:p>
            <a:pPr marL="0" indent="0" defTabSz="457200">
              <a:spcBef>
                <a:spcPts val="0"/>
              </a:spcBef>
              <a:buClrTx/>
              <a:buSzTx/>
              <a:buNone/>
              <a:tabLst>
                <a:tab pos="419100" algn="l"/>
              </a:tabLst>
              <a:defRPr sz="2400">
                <a:solidFill>
                  <a:srgbClr val="703DAA"/>
                </a:solidFill>
                <a:uFillTx/>
                <a:latin typeface="Menlo Regular"/>
                <a:ea typeface="Menlo Regular"/>
                <a:cs typeface="Menlo Regular"/>
                <a:sym typeface="Menlo Regular"/>
              </a:defRPr>
            </a:pPr>
            <a:r>
              <a:rPr>
                <a:solidFill>
                  <a:srgbClr val="000000"/>
                </a:solidFill>
              </a:rPr>
              <a:t>        </a:t>
            </a:r>
            <a:r>
              <a:rPr>
                <a:solidFill>
                  <a:srgbClr val="4F8187"/>
                </a:solidFill>
              </a:rPr>
              <a:t>lock_t</a:t>
            </a:r>
            <a:r>
              <a:rPr>
                <a:solidFill>
                  <a:srgbClr val="000000"/>
                </a:solidFill>
              </a:rPr>
              <a:t> lock{</a:t>
            </a:r>
            <a:r>
              <a:rPr>
                <a:solidFill>
                  <a:srgbClr val="4F8187"/>
                </a:solidFill>
              </a:rPr>
              <a:t>_mutex</a:t>
            </a:r>
            <a:r>
              <a:rPr>
                <a:solidFill>
                  <a:srgbClr val="000000"/>
                </a:solidFill>
              </a:rPr>
              <a:t>, </a:t>
            </a:r>
            <a:r>
              <a:t>try_to_lock</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if</a:t>
            </a:r>
            <a:r>
              <a:t> (!lock || </a:t>
            </a:r>
            <a:r>
              <a:rPr>
                <a:solidFill>
                  <a:srgbClr val="4F8187"/>
                </a:solidFill>
              </a:rPr>
              <a:t>_q</a:t>
            </a:r>
            <a:r>
              <a:t>.</a:t>
            </a:r>
            <a:r>
              <a:rPr>
                <a:solidFill>
                  <a:srgbClr val="3D1D81"/>
                </a:solidFill>
              </a:rPr>
              <a:t>empty</a:t>
            </a:r>
            <a:r>
              <a:t>()) </a:t>
            </a:r>
            <a:r>
              <a:rPr>
                <a:solidFill>
                  <a:srgbClr val="BB2CA2"/>
                </a:solidFill>
              </a:rPr>
              <a:t>return</a:t>
            </a:r>
            <a:r>
              <a:t> </a:t>
            </a:r>
            <a:r>
              <a:rPr>
                <a:solidFill>
                  <a:srgbClr val="BB2CA2"/>
                </a:solidFill>
              </a:rPr>
              <a:t>false</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x = </a:t>
            </a:r>
            <a:r>
              <a:rPr>
                <a:solidFill>
                  <a:srgbClr val="3D1D81"/>
                </a:solidFill>
              </a:rPr>
              <a:t>move</a:t>
            </a:r>
            <a:r>
              <a:t>(</a:t>
            </a:r>
            <a:r>
              <a:rPr>
                <a:solidFill>
                  <a:srgbClr val="4F8187"/>
                </a:solidFill>
              </a:rPr>
              <a:t>_q</a:t>
            </a:r>
            <a:r>
              <a:t>.</a:t>
            </a:r>
            <a:r>
              <a:rPr>
                <a:solidFill>
                  <a:srgbClr val="3D1D81"/>
                </a:solidFill>
              </a:rPr>
              <a:t>front</a:t>
            </a:r>
            <a:r>
              <a:t>());</a:t>
            </a:r>
          </a:p>
          <a:p>
            <a:pPr marL="0" indent="0" defTabSz="457200">
              <a:spcBef>
                <a:spcPts val="0"/>
              </a:spcBef>
              <a:buClrTx/>
              <a:buSzTx/>
              <a:buNone/>
              <a:tabLst>
                <a:tab pos="419100" algn="l"/>
              </a:tabLst>
              <a:defRPr sz="2400">
                <a:solidFill>
                  <a:srgbClr val="3D1D81"/>
                </a:solidFill>
                <a:uFillTx/>
                <a:latin typeface="Menlo Regular"/>
                <a:ea typeface="Menlo Regular"/>
                <a:cs typeface="Menlo Regular"/>
                <a:sym typeface="Menlo Regular"/>
              </a:defRPr>
            </a:pPr>
            <a:r>
              <a:rPr>
                <a:solidFill>
                  <a:srgbClr val="000000"/>
                </a:solidFill>
              </a:rPr>
              <a:t>        </a:t>
            </a:r>
            <a:r>
              <a:rPr>
                <a:solidFill>
                  <a:srgbClr val="4F8187"/>
                </a:solidFill>
              </a:rPr>
              <a:t>_q</a:t>
            </a:r>
            <a:r>
              <a:rPr>
                <a:solidFill>
                  <a:srgbClr val="000000"/>
                </a:solidFill>
              </a:rPr>
              <a:t>.</a:t>
            </a:r>
            <a:r>
              <a:t>pop_front</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return</a:t>
            </a:r>
            <a:r>
              <a:t> </a:t>
            </a:r>
            <a:r>
              <a:rPr>
                <a:solidFill>
                  <a:srgbClr val="BB2CA2"/>
                </a:solidFill>
              </a:rPr>
              <a:t>true</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&lt;</a:t>
            </a:r>
            <a:r>
              <a:t>typename</a:t>
            </a:r>
            <a:r>
              <a:rPr>
                <a:solidFill>
                  <a:srgbClr val="000000"/>
                </a:solidFill>
              </a:rPr>
              <a:t> F&gt;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bool</a:t>
            </a:r>
            <a:r>
              <a:t> try_push(F&amp;&amp; f)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lock_t</a:t>
            </a:r>
            <a:r>
              <a:t> lock{</a:t>
            </a:r>
            <a:r>
              <a:rPr>
                <a:solidFill>
                  <a:srgbClr val="4F8187"/>
                </a:solidFill>
              </a:rPr>
              <a:t>_mutex</a:t>
            </a:r>
            <a:r>
              <a:t>, </a:t>
            </a:r>
            <a:r>
              <a:rPr>
                <a:solidFill>
                  <a:srgbClr val="703DAA"/>
                </a:solidFill>
              </a:rPr>
              <a:t>try_to_lock</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if</a:t>
            </a:r>
            <a:r>
              <a:t> (!lock) </a:t>
            </a:r>
            <a:r>
              <a:rPr>
                <a:solidFill>
                  <a:srgbClr val="BB2CA2"/>
                </a:solidFill>
              </a:rPr>
              <a:t>return</a:t>
            </a:r>
            <a:r>
              <a:t> </a:t>
            </a:r>
            <a:r>
              <a:rPr>
                <a:solidFill>
                  <a:srgbClr val="BB2CA2"/>
                </a:solidFill>
              </a:rPr>
              <a:t>false</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_q</a:t>
            </a:r>
            <a:r>
              <a:t>.emplace_back(forward&lt;F&gt;(f));</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solidFill>
                  <a:srgbClr val="3D1D81"/>
                </a:solidFill>
                <a:uFillTx/>
                <a:latin typeface="Menlo Regular"/>
                <a:ea typeface="Menlo Regular"/>
                <a:cs typeface="Menlo Regular"/>
                <a:sym typeface="Menlo Regular"/>
              </a:defRPr>
            </a:pPr>
            <a:r>
              <a:rPr>
                <a:solidFill>
                  <a:srgbClr val="000000"/>
                </a:solidFill>
              </a:rPr>
              <a:t>        </a:t>
            </a:r>
            <a:r>
              <a:rPr>
                <a:solidFill>
                  <a:srgbClr val="4F8187"/>
                </a:solidFill>
              </a:rPr>
              <a:t>_ready</a:t>
            </a:r>
            <a:r>
              <a:rPr>
                <a:solidFill>
                  <a:srgbClr val="000000"/>
                </a:solidFill>
              </a:rPr>
              <a:t>.</a:t>
            </a:r>
            <a:r>
              <a:t>notify_one</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return</a:t>
            </a:r>
            <a:r>
              <a:t> </a:t>
            </a:r>
            <a:r>
              <a:rPr>
                <a:solidFill>
                  <a:srgbClr val="BB2CA2"/>
                </a:solidFill>
              </a:rPr>
              <a:t>true</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void</a:t>
            </a:r>
            <a:r>
              <a:t> done()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703DAA"/>
                </a:solidFill>
              </a:rPr>
              <a:t>unique_lock</a:t>
            </a:r>
            <a:r>
              <a:t>&lt;</a:t>
            </a:r>
            <a:r>
              <a:rPr>
                <a:solidFill>
                  <a:srgbClr val="703DAA"/>
                </a:solidFill>
              </a:rPr>
              <a:t>mutex</a:t>
            </a:r>
            <a:r>
              <a:t>&gt; lock{</a:t>
            </a:r>
            <a:r>
              <a:rPr>
                <a:solidFill>
                  <a:srgbClr val="4F8187"/>
                </a:solidFill>
              </a:rPr>
              <a:t>_mutex</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_done</a:t>
            </a:r>
            <a:r>
              <a:t> = </a:t>
            </a:r>
            <a:r>
              <a:rPr>
                <a:solidFill>
                  <a:srgbClr val="BB2CA2"/>
                </a:solidFill>
              </a:rPr>
              <a:t>true</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solidFill>
                  <a:srgbClr val="3D1D81"/>
                </a:solidFill>
                <a:uFillTx/>
                <a:latin typeface="Menlo Regular"/>
                <a:ea typeface="Menlo Regular"/>
                <a:cs typeface="Menlo Regular"/>
                <a:sym typeface="Menlo Regular"/>
              </a:defRPr>
            </a:pPr>
            <a:r>
              <a:rPr>
                <a:solidFill>
                  <a:srgbClr val="000000"/>
                </a:solidFill>
              </a:rPr>
              <a:t>        </a:t>
            </a:r>
            <a:r>
              <a:rPr>
                <a:solidFill>
                  <a:srgbClr val="4F8187"/>
                </a:solidFill>
              </a:rPr>
              <a:t>_ready</a:t>
            </a:r>
            <a:r>
              <a:rPr>
                <a:solidFill>
                  <a:srgbClr val="000000"/>
                </a:solidFill>
              </a:rPr>
              <a:t>.</a:t>
            </a:r>
            <a:r>
              <a:t>notify_all</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bool</a:t>
            </a:r>
            <a:r>
              <a:t> pop(</a:t>
            </a:r>
            <a:r>
              <a:rPr>
                <a:solidFill>
                  <a:srgbClr val="703DAA"/>
                </a:solidFill>
              </a:rPr>
              <a:t>function</a:t>
            </a:r>
            <a:r>
              <a:t>&lt;</a:t>
            </a:r>
            <a:r>
              <a:rPr>
                <a:solidFill>
                  <a:srgbClr val="BB2CA2"/>
                </a:solidFill>
              </a:rPr>
              <a:t>void</a:t>
            </a:r>
            <a:r>
              <a:t>()&gt;&amp; x)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lock_t</a:t>
            </a:r>
            <a:r>
              <a:t> lock{</a:t>
            </a:r>
            <a:r>
              <a:rPr>
                <a:solidFill>
                  <a:srgbClr val="4F8187"/>
                </a:solidFill>
              </a:rPr>
              <a:t>_mutex</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while</a:t>
            </a:r>
            <a:r>
              <a:t> (</a:t>
            </a:r>
            <a:r>
              <a:rPr>
                <a:solidFill>
                  <a:srgbClr val="4F8187"/>
                </a:solidFill>
              </a:rPr>
              <a:t>_q</a:t>
            </a:r>
            <a:r>
              <a:t>.</a:t>
            </a:r>
            <a:r>
              <a:rPr>
                <a:solidFill>
                  <a:srgbClr val="3D1D81"/>
                </a:solidFill>
              </a:rPr>
              <a:t>empty</a:t>
            </a:r>
            <a:r>
              <a:t>() &amp;&amp; !</a:t>
            </a:r>
            <a:r>
              <a:rPr>
                <a:solidFill>
                  <a:srgbClr val="4F8187"/>
                </a:solidFill>
              </a:rPr>
              <a:t>_done</a:t>
            </a:r>
            <a:r>
              <a:t>) </a:t>
            </a:r>
            <a:r>
              <a:rPr>
                <a:solidFill>
                  <a:srgbClr val="4F8187"/>
                </a:solidFill>
              </a:rPr>
              <a:t>_ready</a:t>
            </a:r>
            <a:r>
              <a:t>.</a:t>
            </a:r>
            <a:r>
              <a:rPr>
                <a:solidFill>
                  <a:srgbClr val="3D1D81"/>
                </a:solidFill>
              </a:rPr>
              <a:t>wait</a:t>
            </a:r>
            <a:r>
              <a:t>(lock);</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if</a:t>
            </a:r>
            <a:r>
              <a:t> (</a:t>
            </a:r>
            <a:r>
              <a:rPr>
                <a:solidFill>
                  <a:srgbClr val="4F8187"/>
                </a:solidFill>
              </a:rPr>
              <a:t>_q</a:t>
            </a:r>
            <a:r>
              <a:t>.</a:t>
            </a:r>
            <a:r>
              <a:rPr>
                <a:solidFill>
                  <a:srgbClr val="3D1D81"/>
                </a:solidFill>
              </a:rPr>
              <a:t>empty</a:t>
            </a:r>
            <a:r>
              <a:t>()) </a:t>
            </a:r>
            <a:r>
              <a:rPr>
                <a:solidFill>
                  <a:srgbClr val="BB2CA2"/>
                </a:solidFill>
              </a:rPr>
              <a:t>return</a:t>
            </a:r>
            <a:r>
              <a:t> </a:t>
            </a:r>
            <a:r>
              <a:rPr>
                <a:solidFill>
                  <a:srgbClr val="BB2CA2"/>
                </a:solidFill>
              </a:rPr>
              <a:t>false</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x = </a:t>
            </a:r>
            <a:r>
              <a:rPr>
                <a:solidFill>
                  <a:srgbClr val="3D1D81"/>
                </a:solidFill>
              </a:rPr>
              <a:t>move</a:t>
            </a:r>
            <a:r>
              <a:t>(</a:t>
            </a:r>
            <a:r>
              <a:rPr>
                <a:solidFill>
                  <a:srgbClr val="4F8187"/>
                </a:solidFill>
              </a:rPr>
              <a:t>_q</a:t>
            </a:r>
            <a:r>
              <a:t>.</a:t>
            </a:r>
            <a:r>
              <a:rPr>
                <a:solidFill>
                  <a:srgbClr val="3D1D81"/>
                </a:solidFill>
              </a:rPr>
              <a:t>front</a:t>
            </a:r>
            <a:r>
              <a:t>());</a:t>
            </a:r>
          </a:p>
          <a:p>
            <a:pPr marL="0" indent="0" defTabSz="457200">
              <a:spcBef>
                <a:spcPts val="0"/>
              </a:spcBef>
              <a:buClrTx/>
              <a:buSzTx/>
              <a:buNone/>
              <a:tabLst>
                <a:tab pos="419100" algn="l"/>
              </a:tabLst>
              <a:defRPr sz="2400">
                <a:solidFill>
                  <a:srgbClr val="3D1D81"/>
                </a:solidFill>
                <a:uFillTx/>
                <a:latin typeface="Menlo Regular"/>
                <a:ea typeface="Menlo Regular"/>
                <a:cs typeface="Menlo Regular"/>
                <a:sym typeface="Menlo Regular"/>
              </a:defRPr>
            </a:pPr>
            <a:r>
              <a:rPr>
                <a:solidFill>
                  <a:srgbClr val="000000"/>
                </a:solidFill>
              </a:rPr>
              <a:t>        </a:t>
            </a:r>
            <a:r>
              <a:rPr>
                <a:solidFill>
                  <a:srgbClr val="4F8187"/>
                </a:solidFill>
              </a:rPr>
              <a:t>_q</a:t>
            </a:r>
            <a:r>
              <a:rPr>
                <a:solidFill>
                  <a:srgbClr val="000000"/>
                </a:solidFill>
              </a:rPr>
              <a:t>.</a:t>
            </a:r>
            <a:r>
              <a:t>pop_front</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return</a:t>
            </a:r>
            <a:r>
              <a:t> </a:t>
            </a:r>
            <a:r>
              <a:rPr>
                <a:solidFill>
                  <a:srgbClr val="BB2CA2"/>
                </a:solidFill>
              </a:rPr>
              <a:t>true</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&lt;</a:t>
            </a:r>
            <a:r>
              <a:t>typename</a:t>
            </a:r>
            <a:r>
              <a:rPr>
                <a:solidFill>
                  <a:srgbClr val="000000"/>
                </a:solidFill>
              </a:rPr>
              <a:t> F&gt;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void</a:t>
            </a:r>
            <a:r>
              <a:t> push(F&amp;&amp; f)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lock_t</a:t>
            </a:r>
            <a:r>
              <a:t> lock{</a:t>
            </a:r>
            <a:r>
              <a:rPr>
                <a:solidFill>
                  <a:srgbClr val="4F8187"/>
                </a:solidFill>
              </a:rPr>
              <a:t>_mutex</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_q</a:t>
            </a:r>
            <a:r>
              <a:t>.emplace_back(forward&lt;F&gt;(f));</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solidFill>
                  <a:srgbClr val="3D1D81"/>
                </a:solidFill>
                <a:uFillTx/>
                <a:latin typeface="Menlo Regular"/>
                <a:ea typeface="Menlo Regular"/>
                <a:cs typeface="Menlo Regular"/>
                <a:sym typeface="Menlo Regular"/>
              </a:defRPr>
            </a:pPr>
            <a:r>
              <a:rPr>
                <a:solidFill>
                  <a:srgbClr val="000000"/>
                </a:solidFill>
              </a:rPr>
              <a:t>        </a:t>
            </a:r>
            <a:r>
              <a:rPr>
                <a:solidFill>
                  <a:srgbClr val="4F8187"/>
                </a:solidFill>
              </a:rPr>
              <a:t>_ready</a:t>
            </a:r>
            <a:r>
              <a:rPr>
                <a:solidFill>
                  <a:srgbClr val="000000"/>
                </a:solidFill>
              </a:rPr>
              <a:t>.</a:t>
            </a:r>
            <a:r>
              <a:t>notify_one</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a:t>
            </a:r>
          </a:p>
        </p:txBody>
      </p:sp>
      <p:sp>
        <p:nvSpPr>
          <p:cNvPr id="905" name="Slide Number"/>
          <p:cNvSpPr txBox="1"/>
          <p:nvPr>
            <p:ph type="sldNum" sz="quarter" idx="2"/>
          </p:nvPr>
        </p:nvSpPr>
        <p:spPr>
          <a:xfrm>
            <a:off x="12038212" y="12934946"/>
            <a:ext cx="326645"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906"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
        <p:nvSpPr>
          <p:cNvPr id="907" name="Rounded Rectangle"/>
          <p:cNvSpPr/>
          <p:nvPr/>
        </p:nvSpPr>
        <p:spPr>
          <a:xfrm>
            <a:off x="294522" y="4527501"/>
            <a:ext cx="168853" cy="2527005"/>
          </a:xfrm>
          <a:prstGeom prst="roundRect">
            <a:avLst>
              <a:gd name="adj" fmla="val 47636"/>
            </a:avLst>
          </a:prstGeom>
          <a:solidFill>
            <a:srgbClr val="CCDC3C"/>
          </a:solidFill>
          <a:ln w="12700">
            <a:miter lim="400000"/>
          </a:ln>
        </p:spPr>
        <p:txBody>
          <a:bodyPr lIns="50800" tIns="50800" rIns="50800" bIns="50800" anchor="ctr"/>
          <a:lstStyle/>
          <a:p>
            <a:pPr lvl="1"/>
          </a:p>
        </p:txBody>
      </p:sp>
      <p:sp>
        <p:nvSpPr>
          <p:cNvPr id="908" name="Rounded Rectangle"/>
          <p:cNvSpPr/>
          <p:nvPr/>
        </p:nvSpPr>
        <p:spPr>
          <a:xfrm>
            <a:off x="294522" y="7379944"/>
            <a:ext cx="168853" cy="3612012"/>
          </a:xfrm>
          <a:prstGeom prst="roundRect">
            <a:avLst>
              <a:gd name="adj" fmla="val 50000"/>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9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908"/>
                                        </p:tgtEl>
                                        <p:attrNameLst>
                                          <p:attrName>style.visibility</p:attrName>
                                        </p:attrNameLst>
                                      </p:cBhvr>
                                      <p:to>
                                        <p:strVal val="visible"/>
                                      </p:to>
                                    </p:set>
                                  </p:childTnLst>
                                </p:cTn>
                              </p:par>
                            </p:childTnLst>
                          </p:cTn>
                        </p:par>
                        <p:par>
                          <p:cTn id="11" fill="hold">
                            <p:stCondLst>
                              <p:cond delay="0"/>
                            </p:stCondLst>
                            <p:childTnLst>
                              <p:par>
                                <p:cTn id="12" presetClass="exit" nodeType="afterEffect" presetSubtype="0" presetID="1" grpId="3" fill="hold">
                                  <p:stCondLst>
                                    <p:cond delay="0"/>
                                  </p:stCondLst>
                                  <p:iterate type="el" backwards="0">
                                    <p:tmAbs val="0"/>
                                  </p:iterate>
                                  <p:childTnLst>
                                    <p:set>
                                      <p:cBhvr>
                                        <p:cTn id="13" fill="hold">
                                          <p:stCondLst>
                                            <p:cond delay="0"/>
                                          </p:stCondLst>
                                        </p:cTn>
                                        <p:tgtEl>
                                          <p:spTgt spid="90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07" grpId="3"/>
      <p:bldP build="whole" bldLvl="1" animBg="1" rev="0" advAuto="0" spid="907" grpId="1"/>
      <p:bldP build="whole" bldLvl="1" animBg="1" rev="0" advAuto="0" spid="908" grpId="2"/>
    </p:bldLst>
  </p:timing>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0"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911"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912"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913" name="Building a Task System"/>
          <p:cNvSpPr txBox="1"/>
          <p:nvPr>
            <p:ph type="title"/>
          </p:nvPr>
        </p:nvSpPr>
        <p:spPr>
          <a:xfrm>
            <a:off x="609600" y="368300"/>
            <a:ext cx="23182917" cy="822325"/>
          </a:xfrm>
          <a:prstGeom prst="rect">
            <a:avLst/>
          </a:prstGeom>
        </p:spPr>
        <p:txBody>
          <a:bodyPr/>
          <a:lstStyle>
            <a:lvl1pPr>
              <a:defRPr sz="4200"/>
            </a:lvl1pPr>
          </a:lstStyle>
          <a:p>
            <a:pPr/>
            <a:r>
              <a:t>Building a Task System</a:t>
            </a:r>
          </a:p>
        </p:txBody>
      </p:sp>
      <p:sp>
        <p:nvSpPr>
          <p:cNvPr id="914" name="void run(unsigned i) {…"/>
          <p:cNvSpPr txBox="1"/>
          <p:nvPr>
            <p:ph type="body" idx="1"/>
          </p:nvPr>
        </p:nvSpPr>
        <p:spPr>
          <a:xfrm>
            <a:off x="600541" y="1974850"/>
            <a:ext cx="23182918" cy="10363200"/>
          </a:xfrm>
          <a:prstGeom prst="rect">
            <a:avLst/>
          </a:prstGeom>
        </p:spPr>
        <p:txBody>
          <a:bodyPr/>
          <a:lstStyle/>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void </a:t>
            </a:r>
            <a:r>
              <a:t>run(</a:t>
            </a:r>
            <a:r>
              <a:t>unsigned</a:t>
            </a:r>
            <a:r>
              <a:t> i)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while</a:t>
            </a:r>
            <a:r>
              <a:t> (</a:t>
            </a:r>
            <a:r>
              <a:rPr>
                <a:solidFill>
                  <a:srgbClr val="BB2CA2"/>
                </a:solidFill>
              </a:rPr>
              <a:t>true</a:t>
            </a: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703DAA"/>
                </a:solidFill>
              </a:rPr>
              <a:t>function</a:t>
            </a:r>
            <a:r>
              <a:t>&lt;</a:t>
            </a:r>
            <a:r>
              <a:rPr>
                <a:solidFill>
                  <a:srgbClr val="BB2CA2"/>
                </a:solidFill>
              </a:rPr>
              <a:t>void</a:t>
            </a:r>
            <a:r>
              <a:t>()&gt; f;</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for</a:t>
            </a:r>
            <a:r>
              <a:t> (</a:t>
            </a:r>
            <a:r>
              <a:rPr>
                <a:solidFill>
                  <a:srgbClr val="BB2CA2"/>
                </a:solidFill>
              </a:rPr>
              <a:t>unsigned</a:t>
            </a:r>
            <a:r>
              <a:t> n = </a:t>
            </a:r>
            <a:r>
              <a:rPr>
                <a:solidFill>
                  <a:srgbClr val="272AD8"/>
                </a:solidFill>
              </a:rPr>
              <a:t>0</a:t>
            </a:r>
            <a:r>
              <a:t>; n != </a:t>
            </a:r>
            <a:r>
              <a:rPr>
                <a:solidFill>
                  <a:srgbClr val="4F8187"/>
                </a:solidFill>
              </a:rPr>
              <a:t>_count</a:t>
            </a:r>
            <a:r>
              <a:t>; ++n)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if</a:t>
            </a:r>
            <a:r>
              <a:t> (</a:t>
            </a:r>
            <a:r>
              <a:rPr>
                <a:solidFill>
                  <a:srgbClr val="4F8187"/>
                </a:solidFill>
              </a:rPr>
              <a:t>_q</a:t>
            </a:r>
            <a:r>
              <a:t>[(</a:t>
            </a:r>
            <a:r>
              <a:rPr>
                <a:solidFill>
                  <a:srgbClr val="3D1D81"/>
                </a:solidFill>
              </a:rPr>
              <a:t>i</a:t>
            </a:r>
            <a:r>
              <a:t> + </a:t>
            </a:r>
            <a:r>
              <a:rPr>
                <a:solidFill>
                  <a:srgbClr val="3D1D81"/>
                </a:solidFill>
              </a:rPr>
              <a:t>n</a:t>
            </a:r>
            <a:r>
              <a:t>) % </a:t>
            </a:r>
            <a:r>
              <a:rPr>
                <a:solidFill>
                  <a:srgbClr val="3D1D81"/>
                </a:solidFill>
              </a:rPr>
              <a:t>_count</a:t>
            </a:r>
            <a:r>
              <a:t>].</a:t>
            </a:r>
            <a:r>
              <a:rPr>
                <a:solidFill>
                  <a:srgbClr val="31595D"/>
                </a:solidFill>
              </a:rPr>
              <a:t>try_pop</a:t>
            </a:r>
            <a:r>
              <a:t>(f)) </a:t>
            </a:r>
            <a:r>
              <a:rPr>
                <a:solidFill>
                  <a:srgbClr val="BB2CA2"/>
                </a:solidFill>
              </a:rPr>
              <a:t>break</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if</a:t>
            </a:r>
            <a:r>
              <a:t> (!f &amp;&amp; !</a:t>
            </a:r>
            <a:r>
              <a:rPr>
                <a:solidFill>
                  <a:srgbClr val="4F8187"/>
                </a:solidFill>
              </a:rPr>
              <a:t>_q</a:t>
            </a:r>
            <a:r>
              <a:t>[</a:t>
            </a:r>
            <a:r>
              <a:rPr>
                <a:solidFill>
                  <a:srgbClr val="3D1D81"/>
                </a:solidFill>
              </a:rPr>
              <a:t>i</a:t>
            </a:r>
            <a:r>
              <a:t>].</a:t>
            </a:r>
            <a:r>
              <a:rPr>
                <a:solidFill>
                  <a:srgbClr val="31595D"/>
                </a:solidFill>
              </a:rPr>
              <a:t>pop</a:t>
            </a:r>
            <a:r>
              <a:t>(f)) </a:t>
            </a:r>
            <a:r>
              <a:rPr>
                <a:solidFill>
                  <a:srgbClr val="BB2CA2"/>
                </a:solidFill>
              </a:rPr>
              <a:t>break</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f();</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public</a:t>
            </a:r>
            <a:r>
              <a:rPr>
                <a:solidFill>
                  <a:srgbClr val="000000"/>
                </a:solidFill>
              </a:rPr>
              <a: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task_system() {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~task_system() {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 &lt;</a:t>
            </a:r>
            <a:r>
              <a:t>typename</a:t>
            </a:r>
            <a:r>
              <a:rPr>
                <a:solidFill>
                  <a:srgbClr val="000000"/>
                </a:solidFill>
              </a:rPr>
              <a:t> F&gt;</a:t>
            </a:r>
            <a:endParaRPr>
              <a:solidFill>
                <a:srgbClr val="000000"/>
              </a:solidFill>
            </a:endParaR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void</a:t>
            </a:r>
            <a:r>
              <a:t> async_(F&amp;&amp; f)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auto</a:t>
            </a:r>
            <a:r>
              <a:t> i = </a:t>
            </a:r>
            <a:r>
              <a:rPr>
                <a:solidFill>
                  <a:srgbClr val="4F8187"/>
                </a:solidFill>
              </a:rPr>
              <a:t>_index</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for</a:t>
            </a:r>
            <a:r>
              <a:t> (</a:t>
            </a:r>
            <a:r>
              <a:rPr>
                <a:solidFill>
                  <a:srgbClr val="BB2CA2"/>
                </a:solidFill>
              </a:rPr>
              <a:t>unsigned</a:t>
            </a:r>
            <a:r>
              <a:t> n = </a:t>
            </a:r>
            <a:r>
              <a:rPr>
                <a:solidFill>
                  <a:srgbClr val="272AD8"/>
                </a:solidFill>
              </a:rPr>
              <a:t>0</a:t>
            </a:r>
            <a:r>
              <a:t>; n != </a:t>
            </a:r>
            <a:r>
              <a:rPr>
                <a:solidFill>
                  <a:srgbClr val="4F8187"/>
                </a:solidFill>
              </a:rPr>
              <a:t>_count </a:t>
            </a:r>
            <a:r>
              <a:t>* </a:t>
            </a:r>
            <a:r>
              <a:rPr>
                <a:solidFill>
                  <a:schemeClr val="accent5"/>
                </a:solidFill>
              </a:rPr>
              <a:t>K</a:t>
            </a:r>
            <a:r>
              <a:t>; ++n)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BB2CA2"/>
                </a:solidFill>
              </a:rPr>
              <a:t>if</a:t>
            </a:r>
            <a:r>
              <a:t> (</a:t>
            </a:r>
            <a:r>
              <a:rPr>
                <a:solidFill>
                  <a:srgbClr val="4F8187"/>
                </a:solidFill>
              </a:rPr>
              <a:t>_q</a:t>
            </a:r>
            <a:r>
              <a:t>[(</a:t>
            </a:r>
            <a:r>
              <a:rPr>
                <a:solidFill>
                  <a:srgbClr val="3D1D81"/>
                </a:solidFill>
              </a:rPr>
              <a:t>i</a:t>
            </a:r>
            <a:r>
              <a:t> + </a:t>
            </a:r>
            <a:r>
              <a:rPr>
                <a:solidFill>
                  <a:srgbClr val="3D1D81"/>
                </a:solidFill>
              </a:rPr>
              <a:t>n</a:t>
            </a:r>
            <a:r>
              <a:t>) % </a:t>
            </a:r>
            <a:r>
              <a:rPr>
                <a:solidFill>
                  <a:srgbClr val="3D1D81"/>
                </a:solidFill>
              </a:rPr>
              <a:t>_count</a:t>
            </a:r>
            <a:r>
              <a:t>].try_push(forward&lt;F&gt;(f))) </a:t>
            </a:r>
            <a:r>
              <a:rPr>
                <a:solidFill>
                  <a:srgbClr val="BB2CA2"/>
                </a:solidFill>
              </a:rPr>
              <a:t>return</a:t>
            </a:r>
            <a:r>
              <a:t>;</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r>
              <a:rPr>
                <a:solidFill>
                  <a:srgbClr val="4F8187"/>
                </a:solidFill>
              </a:rPr>
              <a:t>_q</a:t>
            </a:r>
            <a:r>
              <a:t>[</a:t>
            </a:r>
            <a:r>
              <a:rPr>
                <a:solidFill>
                  <a:srgbClr val="3D1D81"/>
                </a:solidFill>
              </a:rPr>
              <a:t>i</a:t>
            </a:r>
            <a:r>
              <a:t> % </a:t>
            </a:r>
            <a:r>
              <a:rPr>
                <a:solidFill>
                  <a:srgbClr val="3D1D81"/>
                </a:solidFill>
              </a:rPr>
              <a:t>_count</a:t>
            </a:r>
            <a:r>
              <a:t>].push(forward&lt;F&gt;(f));</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400">
                <a:uFillTx/>
                <a:latin typeface="Menlo Regular"/>
                <a:ea typeface="Menlo Regular"/>
                <a:cs typeface="Menlo Regular"/>
                <a:sym typeface="Menlo Regular"/>
              </a:defRPr>
            </a:pPr>
            <a:r>
              <a:t>};</a:t>
            </a:r>
          </a:p>
        </p:txBody>
      </p:sp>
      <p:sp>
        <p:nvSpPr>
          <p:cNvPr id="915"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916"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
        <p:nvSpPr>
          <p:cNvPr id="917" name="Rounded Rectangle"/>
          <p:cNvSpPr/>
          <p:nvPr/>
        </p:nvSpPr>
        <p:spPr>
          <a:xfrm>
            <a:off x="294522" y="3406539"/>
            <a:ext cx="168853" cy="1398207"/>
          </a:xfrm>
          <a:prstGeom prst="roundRect">
            <a:avLst>
              <a:gd name="adj" fmla="val 47636"/>
            </a:avLst>
          </a:prstGeom>
          <a:solidFill>
            <a:srgbClr val="CCDC3C"/>
          </a:solidFill>
          <a:ln w="12700">
            <a:miter lim="400000"/>
          </a:ln>
        </p:spPr>
        <p:txBody>
          <a:bodyPr lIns="50800" tIns="50800" rIns="50800" bIns="50800" anchor="ctr"/>
          <a:lstStyle/>
          <a:p>
            <a:pPr lvl="1"/>
          </a:p>
        </p:txBody>
      </p:sp>
      <p:pic>
        <p:nvPicPr>
          <p:cNvPr id="918" name="Image" descr="Image"/>
          <p:cNvPicPr>
            <a:picLocks noChangeAspect="1"/>
          </p:cNvPicPr>
          <p:nvPr/>
        </p:nvPicPr>
        <p:blipFill>
          <a:blip r:embed="rId4">
            <a:extLst/>
          </a:blip>
          <a:stretch>
            <a:fillRect/>
          </a:stretch>
        </p:blipFill>
        <p:spPr>
          <a:xfrm>
            <a:off x="4284133" y="7067550"/>
            <a:ext cx="279401" cy="228600"/>
          </a:xfrm>
          <a:prstGeom prst="rect">
            <a:avLst/>
          </a:prstGeom>
          <a:ln w="12700">
            <a:miter lim="400000"/>
          </a:ln>
        </p:spPr>
      </p:pic>
      <p:sp>
        <p:nvSpPr>
          <p:cNvPr id="919" name="Rounded Rectangle"/>
          <p:cNvSpPr/>
          <p:nvPr/>
        </p:nvSpPr>
        <p:spPr>
          <a:xfrm>
            <a:off x="294522" y="9805644"/>
            <a:ext cx="168853" cy="1190256"/>
          </a:xfrm>
          <a:prstGeom prst="roundRect">
            <a:avLst>
              <a:gd name="adj" fmla="val 50000"/>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pic>
        <p:nvPicPr>
          <p:cNvPr id="920" name="Image" descr="Image"/>
          <p:cNvPicPr>
            <a:picLocks noChangeAspect="1"/>
          </p:cNvPicPr>
          <p:nvPr/>
        </p:nvPicPr>
        <p:blipFill>
          <a:blip r:embed="rId4">
            <a:extLst/>
          </a:blip>
          <a:stretch>
            <a:fillRect/>
          </a:stretch>
        </p:blipFill>
        <p:spPr>
          <a:xfrm>
            <a:off x="4455583" y="7776637"/>
            <a:ext cx="279401" cy="228601"/>
          </a:xfrm>
          <a:prstGeom prst="rect">
            <a:avLst/>
          </a:prstGeom>
          <a:ln w="12700">
            <a:miter lim="400000"/>
          </a:ln>
        </p:spPr>
      </p:pic>
      <p:pic>
        <p:nvPicPr>
          <p:cNvPr id="921" name="Image" descr="Image"/>
          <p:cNvPicPr>
            <a:picLocks noChangeAspect="1"/>
          </p:cNvPicPr>
          <p:nvPr/>
        </p:nvPicPr>
        <p:blipFill>
          <a:blip r:embed="rId4">
            <a:extLst/>
          </a:blip>
          <a:stretch>
            <a:fillRect/>
          </a:stretch>
        </p:blipFill>
        <p:spPr>
          <a:xfrm>
            <a:off x="12043902" y="1860550"/>
            <a:ext cx="279401" cy="228600"/>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9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919"/>
                                        </p:tgtEl>
                                        <p:attrNameLst>
                                          <p:attrName>style.visibility</p:attrName>
                                        </p:attrNameLst>
                                      </p:cBhvr>
                                      <p:to>
                                        <p:strVal val="visible"/>
                                      </p:to>
                                    </p:set>
                                  </p:childTnLst>
                                </p:cTn>
                              </p:par>
                            </p:childTnLst>
                          </p:cTn>
                        </p:par>
                        <p:par>
                          <p:cTn id="11" fill="hold">
                            <p:stCondLst>
                              <p:cond delay="0"/>
                            </p:stCondLst>
                            <p:childTnLst>
                              <p:par>
                                <p:cTn id="12" presetClass="exit" nodeType="afterEffect" presetSubtype="0" presetID="1" grpId="3" fill="hold">
                                  <p:stCondLst>
                                    <p:cond delay="0"/>
                                  </p:stCondLst>
                                  <p:iterate type="el" backwards="0">
                                    <p:tmAbs val="0"/>
                                  </p:iterate>
                                  <p:childTnLst>
                                    <p:set>
                                      <p:cBhvr>
                                        <p:cTn id="13" fill="hold">
                                          <p:stCondLst>
                                            <p:cond delay="0"/>
                                          </p:stCondLst>
                                        </p:cTn>
                                        <p:tgtEl>
                                          <p:spTgt spid="91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17" grpId="1"/>
      <p:bldP build="whole" bldLvl="1" animBg="1" rev="0" advAuto="0" spid="919" grpId="2"/>
      <p:bldP build="whole" bldLvl="1" animBg="1" rev="0" advAuto="0" spid="917" grpId="3"/>
    </p:bldLst>
  </p:timing>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5"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926"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927"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928" name="Building a Task System"/>
          <p:cNvSpPr txBox="1"/>
          <p:nvPr>
            <p:ph type="title"/>
          </p:nvPr>
        </p:nvSpPr>
        <p:spPr>
          <a:xfrm>
            <a:off x="609600" y="368300"/>
            <a:ext cx="23182917" cy="822325"/>
          </a:xfrm>
          <a:prstGeom prst="rect">
            <a:avLst/>
          </a:prstGeom>
        </p:spPr>
        <p:txBody>
          <a:bodyPr/>
          <a:lstStyle>
            <a:lvl1pPr>
              <a:defRPr sz="4200"/>
            </a:lvl1pPr>
          </a:lstStyle>
          <a:p>
            <a:pPr/>
            <a:r>
              <a:t>Building a Task System</a:t>
            </a:r>
          </a:p>
        </p:txBody>
      </p:sp>
      <p:sp>
        <p:nvSpPr>
          <p:cNvPr id="929" name="Slide Number"/>
          <p:cNvSpPr txBox="1"/>
          <p:nvPr>
            <p:ph type="sldNum" sz="quarter" idx="2"/>
          </p:nvPr>
        </p:nvSpPr>
        <p:spPr>
          <a:xfrm>
            <a:off x="12043393" y="12934946"/>
            <a:ext cx="316282"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930"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pic>
        <p:nvPicPr>
          <p:cNvPr id="931" name="Image" descr="Image"/>
          <p:cNvPicPr>
            <a:picLocks noChangeAspect="1"/>
          </p:cNvPicPr>
          <p:nvPr/>
        </p:nvPicPr>
        <p:blipFill>
          <a:blip r:embed="rId3">
            <a:extLst/>
          </a:blip>
          <a:stretch>
            <a:fillRect/>
          </a:stretch>
        </p:blipFill>
        <p:spPr>
          <a:xfrm>
            <a:off x="9031329" y="1836739"/>
            <a:ext cx="6365837" cy="10769601"/>
          </a:xfrm>
          <a:prstGeom prst="rect">
            <a:avLst/>
          </a:prstGeom>
          <a:ln w="12700">
            <a:miter lim="400000"/>
          </a:ln>
        </p:spPr>
      </p:pic>
      <p:pic>
        <p:nvPicPr>
          <p:cNvPr id="932" name="speedometer-background.png" descr="speedometer-background.png"/>
          <p:cNvPicPr>
            <a:picLocks noChangeAspect="1"/>
          </p:cNvPicPr>
          <p:nvPr/>
        </p:nvPicPr>
        <p:blipFill>
          <a:blip r:embed="rId4">
            <a:extLst/>
          </a:blip>
          <a:stretch>
            <a:fillRect/>
          </a:stretch>
        </p:blipFill>
        <p:spPr>
          <a:xfrm>
            <a:off x="19536764" y="8114219"/>
            <a:ext cx="3625954" cy="3474873"/>
          </a:xfrm>
          <a:prstGeom prst="rect">
            <a:avLst/>
          </a:prstGeom>
          <a:ln w="12700">
            <a:miter lim="400000"/>
          </a:ln>
        </p:spPr>
      </p:pic>
      <p:pic>
        <p:nvPicPr>
          <p:cNvPr id="933" name="Image" descr="Image"/>
          <p:cNvPicPr>
            <a:picLocks noChangeAspect="1"/>
          </p:cNvPicPr>
          <p:nvPr/>
        </p:nvPicPr>
        <p:blipFill>
          <a:blip r:embed="rId5">
            <a:extLst/>
          </a:blip>
          <a:stretch>
            <a:fillRect/>
          </a:stretch>
        </p:blipFill>
        <p:spPr>
          <a:xfrm rot="18874283">
            <a:off x="20165852" y="10104547"/>
            <a:ext cx="1628390" cy="341762"/>
          </a:xfrm>
          <a:prstGeom prst="rect">
            <a:avLst/>
          </a:prstGeom>
          <a:ln w="12700">
            <a:miter lim="400000"/>
          </a:ln>
        </p:spPr>
      </p:pic>
      <p:pic>
        <p:nvPicPr>
          <p:cNvPr id="934" name="Image" descr="Image"/>
          <p:cNvPicPr>
            <a:picLocks noChangeAspect="1"/>
          </p:cNvPicPr>
          <p:nvPr/>
        </p:nvPicPr>
        <p:blipFill>
          <a:blip r:embed="rId6">
            <a:extLst/>
          </a:blip>
          <a:stretch>
            <a:fillRect/>
          </a:stretch>
        </p:blipFill>
        <p:spPr>
          <a:xfrm>
            <a:off x="21317991" y="9815301"/>
            <a:ext cx="63501" cy="63501"/>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mph" nodeType="clickEffect" presetSubtype="0" presetID="8" grpId="1" accel="50000" decel="50000" fill="hold">
                                  <p:stCondLst>
                                    <p:cond delay="0"/>
                                  </p:stCondLst>
                                  <p:childTnLst>
                                    <p:animRot by="13179823">
                                      <p:cBhvr>
                                        <p:cTn id="6" dur="1000" fill="hold"/>
                                        <p:tgtEl>
                                          <p:spTgt spid="933"/>
                                        </p:tgtEl>
                                        <p:attrNameLst>
                                          <p:attrName>r</p:attrName>
                                        </p:attrNameLst>
                                      </p:cBhvr>
                                    </p:animRot>
                                  </p:childTnLst>
                                </p:cTn>
                              </p:par>
                            </p:childTnLst>
                          </p:cTn>
                        </p:par>
                        <p:par>
                          <p:cTn id="7" fill="hold">
                            <p:stCondLst>
                              <p:cond delay="0"/>
                            </p:stCondLst>
                            <p:childTnLst>
                              <p:par>
                                <p:cTn id="8" presetClass="path" nodeType="withEffect" presetSubtype="0" presetID="-1" grpId="2" accel="50000" decel="50000" fill="hold">
                                  <p:stCondLst>
                                    <p:cond delay="0"/>
                                  </p:stCondLst>
                                  <p:childTnLst>
                                    <p:animMotion path="M 0.000000 0.000000 C -0.008321 -0.011628 -0.010727 -0.032105 -0.005827 -0.048782 C 0.000239 -0.069426 0.012803 -0.077424 0.023890 -0.071162 C 0.031823 -0.066680 0.037859 -0.055140 0.039901 -0.040794" origin="layout" pathEditMode="relative">
                                      <p:cBhvr>
                                        <p:cTn id="9" dur="1000" fill="hold"/>
                                        <p:tgtEl>
                                          <p:spTgt spid="933"/>
                                        </p:tgtEl>
                                        <p:attrNameLst>
                                          <p:attrName>ppt_x</p:attrName>
                                          <p:attrName>ppt_y</p:attrName>
                                        </p:attrNameLst>
                                      </p:cBhvr>
                                    </p:animMotion>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33" grpId="1"/>
    </p:bldLst>
  </p:timing>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6"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937"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938"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939" name="Task System"/>
          <p:cNvSpPr txBox="1"/>
          <p:nvPr>
            <p:ph type="title"/>
          </p:nvPr>
        </p:nvSpPr>
        <p:spPr>
          <a:xfrm>
            <a:off x="609600" y="368300"/>
            <a:ext cx="23182917" cy="822325"/>
          </a:xfrm>
          <a:prstGeom prst="rect">
            <a:avLst/>
          </a:prstGeom>
        </p:spPr>
        <p:txBody>
          <a:bodyPr/>
          <a:lstStyle>
            <a:lvl1pPr>
              <a:defRPr sz="4200"/>
            </a:lvl1pPr>
          </a:lstStyle>
          <a:p>
            <a:pPr/>
            <a:r>
              <a:t>Task System</a:t>
            </a:r>
          </a:p>
        </p:txBody>
      </p:sp>
      <p:sp>
        <p:nvSpPr>
          <p:cNvPr id="940" name="Compared to Apple’s Grand Central Dispatch (libdispatch)"/>
          <p:cNvSpPr txBox="1"/>
          <p:nvPr>
            <p:ph type="body" idx="1"/>
          </p:nvPr>
        </p:nvSpPr>
        <p:spPr>
          <a:prstGeom prst="rect">
            <a:avLst/>
          </a:prstGeom>
        </p:spPr>
        <p:txBody>
          <a:bodyPr/>
          <a:lstStyle/>
          <a:p>
            <a:pPr/>
            <a:r>
              <a:t>Compared to Apple’s Grand Central Dispatch (libdispatch)</a:t>
            </a:r>
          </a:p>
        </p:txBody>
      </p:sp>
      <p:sp>
        <p:nvSpPr>
          <p:cNvPr id="941" name="Slide Number"/>
          <p:cNvSpPr txBox="1"/>
          <p:nvPr>
            <p:ph type="sldNum" sz="quarter" idx="2"/>
          </p:nvPr>
        </p:nvSpPr>
        <p:spPr>
          <a:xfrm>
            <a:off x="12043393" y="12934946"/>
            <a:ext cx="316282"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942"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pic>
        <p:nvPicPr>
          <p:cNvPr id="943" name="Image" descr="Image"/>
          <p:cNvPicPr>
            <a:picLocks noChangeAspect="1"/>
          </p:cNvPicPr>
          <p:nvPr/>
        </p:nvPicPr>
        <p:blipFill>
          <a:blip r:embed="rId3">
            <a:extLst/>
          </a:blip>
          <a:stretch>
            <a:fillRect/>
          </a:stretch>
        </p:blipFill>
        <p:spPr>
          <a:xfrm>
            <a:off x="12160250" y="8992671"/>
            <a:ext cx="63501" cy="63501"/>
          </a:xfrm>
          <a:prstGeom prst="rect">
            <a:avLst/>
          </a:prstGeom>
          <a:ln w="12700">
            <a:miter lim="400000"/>
          </a:ln>
        </p:spPr>
      </p:pic>
      <p:pic>
        <p:nvPicPr>
          <p:cNvPr id="944" name="speedometer-background.png" descr="speedometer-background.png"/>
          <p:cNvPicPr>
            <a:picLocks noChangeAspect="1"/>
          </p:cNvPicPr>
          <p:nvPr/>
        </p:nvPicPr>
        <p:blipFill>
          <a:blip r:embed="rId4">
            <a:extLst/>
          </a:blip>
          <a:stretch>
            <a:fillRect/>
          </a:stretch>
        </p:blipFill>
        <p:spPr>
          <a:xfrm>
            <a:off x="19536764" y="8114219"/>
            <a:ext cx="3625954" cy="3474873"/>
          </a:xfrm>
          <a:prstGeom prst="rect">
            <a:avLst/>
          </a:prstGeom>
          <a:ln w="12700">
            <a:miter lim="400000"/>
          </a:ln>
        </p:spPr>
      </p:pic>
      <p:pic>
        <p:nvPicPr>
          <p:cNvPr id="945" name="Image" descr="Image"/>
          <p:cNvPicPr>
            <a:picLocks noChangeAspect="1"/>
          </p:cNvPicPr>
          <p:nvPr/>
        </p:nvPicPr>
        <p:blipFill>
          <a:blip r:embed="rId5">
            <a:extLst/>
          </a:blip>
          <a:stretch>
            <a:fillRect/>
          </a:stretch>
        </p:blipFill>
        <p:spPr>
          <a:xfrm rot="18874283">
            <a:off x="20165852" y="10104547"/>
            <a:ext cx="1628390" cy="341762"/>
          </a:xfrm>
          <a:prstGeom prst="rect">
            <a:avLst/>
          </a:prstGeom>
          <a:ln w="12700">
            <a:miter lim="400000"/>
          </a:ln>
        </p:spPr>
      </p:pic>
      <p:pic>
        <p:nvPicPr>
          <p:cNvPr id="946" name="Image" descr="Image"/>
          <p:cNvPicPr>
            <a:picLocks noChangeAspect="1"/>
          </p:cNvPicPr>
          <p:nvPr/>
        </p:nvPicPr>
        <p:blipFill>
          <a:blip r:embed="rId3">
            <a:extLst/>
          </a:blip>
          <a:stretch>
            <a:fillRect/>
          </a:stretch>
        </p:blipFill>
        <p:spPr>
          <a:xfrm>
            <a:off x="21317991" y="9815301"/>
            <a:ext cx="63501" cy="63501"/>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mph" nodeType="clickEffect" presetSubtype="0" presetID="8" grpId="1" accel="50000" decel="50000" fill="hold">
                                  <p:stCondLst>
                                    <p:cond delay="0"/>
                                  </p:stCondLst>
                                  <p:childTnLst>
                                    <p:animRot by="16461549">
                                      <p:cBhvr>
                                        <p:cTn id="6" dur="1000" fill="hold"/>
                                        <p:tgtEl>
                                          <p:spTgt spid="945"/>
                                        </p:tgtEl>
                                        <p:attrNameLst>
                                          <p:attrName>r</p:attrName>
                                        </p:attrNameLst>
                                      </p:cBhvr>
                                    </p:animRot>
                                  </p:childTnLst>
                                </p:cTn>
                              </p:par>
                            </p:childTnLst>
                          </p:cTn>
                        </p:par>
                        <p:par>
                          <p:cTn id="7" fill="hold">
                            <p:stCondLst>
                              <p:cond delay="0"/>
                            </p:stCondLst>
                            <p:childTnLst>
                              <p:par>
                                <p:cTn id="8" presetClass="path" nodeType="withEffect" presetSubtype="0" presetID="-1" grpId="2" accel="50000" decel="50000" fill="hold">
                                  <p:stCondLst>
                                    <p:cond delay="0"/>
                                  </p:stCondLst>
                                  <p:childTnLst>
                                    <p:animMotion path="M 0.000000 0.000000 C -0.008231 -0.011734 -0.010679 -0.032127 -0.005827 -0.048782 C 0.000431 -0.070261 0.013104 -0.077886 0.023890 -0.071162 C 0.039954 -0.061147 0.046641 -0.024820 0.034172 0.000000" origin="layout" pathEditMode="relative">
                                      <p:cBhvr>
                                        <p:cTn id="9" dur="1000" fill="hold"/>
                                        <p:tgtEl>
                                          <p:spTgt spid="945"/>
                                        </p:tgtEl>
                                        <p:attrNameLst>
                                          <p:attrName>ppt_x</p:attrName>
                                          <p:attrName>ppt_y</p:attrName>
                                        </p:attrNameLst>
                                      </p:cBhvr>
                                    </p:animMotion>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45" grpId="1"/>
    </p:bldLst>
  </p:timing>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8"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949"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950" name="© 2015 Adobe Systems Incorporat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2015 Adobe Systems Incorporated.</a:t>
            </a:r>
          </a:p>
        </p:txBody>
      </p:sp>
      <p:sp>
        <p:nvSpPr>
          <p:cNvPr id="951" name="C++14 compatible async with libdispatch"/>
          <p:cNvSpPr txBox="1"/>
          <p:nvPr>
            <p:ph type="title"/>
          </p:nvPr>
        </p:nvSpPr>
        <p:spPr>
          <a:prstGeom prst="rect">
            <a:avLst/>
          </a:prstGeom>
        </p:spPr>
        <p:txBody>
          <a:bodyPr lIns="76200" tIns="76200" rIns="76200" bIns="76200"/>
          <a:lstStyle>
            <a:lvl1pPr>
              <a:defRPr sz="4000"/>
            </a:lvl1pPr>
          </a:lstStyle>
          <a:p>
            <a:pPr/>
            <a:r>
              <a:t>C++14 compatible async with libdispatch</a:t>
            </a:r>
          </a:p>
        </p:txBody>
      </p:sp>
      <p:sp>
        <p:nvSpPr>
          <p:cNvPr id="952" name="template &lt;class Function, class... Args&gt;…"/>
          <p:cNvSpPr txBox="1"/>
          <p:nvPr>
            <p:ph type="body" idx="1"/>
          </p:nvPr>
        </p:nvSpPr>
        <p:spPr>
          <a:prstGeom prst="rect">
            <a:avLst/>
          </a:prstGeom>
        </p:spPr>
        <p:txBody>
          <a:bodyPr lIns="76200" tIns="76200" rIns="76200" bIns="76200"/>
          <a:lstStyle/>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template</a:t>
            </a:r>
            <a:r>
              <a:t> &lt;</a:t>
            </a:r>
            <a:r>
              <a:rPr>
                <a:solidFill>
                  <a:srgbClr val="BB2CA2"/>
                </a:solidFill>
              </a:rPr>
              <a:t>class</a:t>
            </a:r>
            <a:r>
              <a:t> Function, </a:t>
            </a:r>
            <a:r>
              <a:rPr>
                <a:solidFill>
                  <a:srgbClr val="BB2CA2"/>
                </a:solidFill>
              </a:rPr>
              <a:t>class</a:t>
            </a:r>
            <a:r>
              <a:t>... Args&gt;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auto</a:t>
            </a:r>
            <a:r>
              <a:t> async(Function&amp;&amp; f, Args&amp;&amp;... args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using</a:t>
            </a:r>
            <a:r>
              <a:t> result_type = </a:t>
            </a:r>
            <a:r>
              <a:rPr>
                <a:solidFill>
                  <a:srgbClr val="703DAA"/>
                </a:solidFill>
              </a:rPr>
              <a:t>std</a:t>
            </a:r>
            <a:r>
              <a:t>::result_of_t&lt;</a:t>
            </a:r>
            <a:r>
              <a:rPr>
                <a:solidFill>
                  <a:srgbClr val="703DAA"/>
                </a:solidFill>
              </a:rPr>
              <a:t>std</a:t>
            </a:r>
            <a:r>
              <a:t>::decay_t&lt;Function&gt;(</a:t>
            </a:r>
            <a:r>
              <a:rPr>
                <a:solidFill>
                  <a:srgbClr val="703DAA"/>
                </a:solidFill>
              </a:rPr>
              <a:t>std</a:t>
            </a:r>
            <a:r>
              <a:t>::decay_t&lt;Args&gt;...)&gt;;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using</a:t>
            </a:r>
            <a:r>
              <a:t> packaged_type = </a:t>
            </a:r>
            <a:r>
              <a:rPr>
                <a:solidFill>
                  <a:srgbClr val="703DAA"/>
                </a:solidFill>
              </a:rPr>
              <a:t>std</a:t>
            </a:r>
            <a:r>
              <a:t>::</a:t>
            </a:r>
            <a:r>
              <a:rPr>
                <a:solidFill>
                  <a:srgbClr val="703DAA"/>
                </a:solidFill>
              </a:rPr>
              <a:t>packaged_task</a:t>
            </a:r>
            <a:r>
              <a:t>&lt;</a:t>
            </a:r>
            <a:r>
              <a:rPr>
                <a:solidFill>
                  <a:srgbClr val="4F8187"/>
                </a:solidFill>
              </a:rPr>
              <a:t>result_type</a:t>
            </a:r>
            <a:r>
              <a:t>()&gt;;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auto</a:t>
            </a:r>
            <a:r>
              <a:t> _p = </a:t>
            </a:r>
            <a:r>
              <a:rPr>
                <a:solidFill>
                  <a:srgbClr val="BB2CA2"/>
                </a:solidFill>
              </a:rPr>
              <a:t>new</a:t>
            </a:r>
            <a:r>
              <a:t> </a:t>
            </a:r>
            <a:r>
              <a:rPr>
                <a:solidFill>
                  <a:srgbClr val="4F8187"/>
                </a:solidFill>
              </a:rPr>
              <a:t>packaged_type</a:t>
            </a:r>
            <a:r>
              <a:t>(</a:t>
            </a:r>
            <a:r>
              <a:rPr>
                <a:solidFill>
                  <a:srgbClr val="703DAA"/>
                </a:solidFill>
              </a:rPr>
              <a:t>std</a:t>
            </a:r>
            <a:r>
              <a:t>::bind([_f = std::forward&lt;Function&gt;(f)](Args&amp;... args)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return</a:t>
            </a:r>
            <a:r>
              <a:t> _f(</a:t>
            </a:r>
            <a:r>
              <a:rPr>
                <a:solidFill>
                  <a:srgbClr val="703DAA"/>
                </a:solidFill>
              </a:rPr>
              <a:t>std</a:t>
            </a:r>
            <a:r>
              <a:t>::move(args)...);</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 </a:t>
            </a:r>
            <a:r>
              <a:rPr>
                <a:solidFill>
                  <a:srgbClr val="703DAA"/>
                </a:solidFill>
              </a:rPr>
              <a:t>std</a:t>
            </a:r>
            <a:r>
              <a:t>::forward&lt;Args&gt;(args)...));</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auto</a:t>
            </a:r>
            <a:r>
              <a:t> result = _p-&gt;get_future();</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78492A"/>
                </a:solidFill>
                <a:uFillTx/>
                <a:latin typeface="Menlo Regular"/>
                <a:ea typeface="Menlo Regular"/>
                <a:cs typeface="Menlo Regular"/>
                <a:sym typeface="Menlo Regular"/>
              </a:defRPr>
            </a:pPr>
            <a:r>
              <a:rPr>
                <a:solidFill>
                  <a:srgbClr val="000000"/>
                </a:solidFill>
              </a:rPr>
              <a:t>    dispatch_async_f(</a:t>
            </a:r>
            <a:r>
              <a:rPr>
                <a:solidFill>
                  <a:srgbClr val="3D1D81"/>
                </a:solidFill>
              </a:rPr>
              <a:t>dispatch_get_global_queue</a:t>
            </a:r>
            <a:r>
              <a:rPr>
                <a:solidFill>
                  <a:srgbClr val="000000"/>
                </a:solidFill>
              </a:rPr>
              <a:t>(</a:t>
            </a:r>
            <a:r>
              <a:t>DISPATCH_QUEUE_PRIORITY_DEFAULT</a:t>
            </a:r>
            <a:r>
              <a:rPr>
                <a:solidFill>
                  <a:srgbClr val="000000"/>
                </a:solidFill>
              </a:rPr>
              <a:t>, </a:t>
            </a:r>
            <a:r>
              <a:rPr>
                <a:solidFill>
                  <a:srgbClr val="272AD8"/>
                </a:solidFill>
              </a:rPr>
              <a:t>0</a:t>
            </a:r>
            <a:r>
              <a:rPr>
                <a:solidFill>
                  <a:srgbClr val="000000"/>
                </a:solidFill>
              </a:rPr>
              <a: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_p, [](</a:t>
            </a:r>
            <a:r>
              <a:rPr>
                <a:solidFill>
                  <a:srgbClr val="BB2CA2"/>
                </a:solidFill>
              </a:rPr>
              <a:t>void</a:t>
            </a:r>
            <a:r>
              <a:t>* p)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auto</a:t>
            </a:r>
            <a:r>
              <a:t> _p = </a:t>
            </a:r>
            <a:r>
              <a:rPr>
                <a:solidFill>
                  <a:srgbClr val="BB2CA2"/>
                </a:solidFill>
              </a:rPr>
              <a:t>static_cast</a:t>
            </a:r>
            <a:r>
              <a:t>&lt;</a:t>
            </a:r>
            <a:r>
              <a:rPr>
                <a:solidFill>
                  <a:srgbClr val="4F8187"/>
                </a:solidFill>
              </a:rPr>
              <a:t>packaged_type</a:t>
            </a:r>
            <a:r>
              <a:t>*&gt;(p);</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(*_p)();</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delete</a:t>
            </a:r>
            <a:r>
              <a:t> _p;</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return</a:t>
            </a:r>
            <a:r>
              <a:t> result;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953" name="Slide Number"/>
          <p:cNvSpPr txBox="1"/>
          <p:nvPr>
            <p:ph type="sldNum" sz="quarter" idx="2"/>
          </p:nvPr>
        </p:nvSpPr>
        <p:spPr>
          <a:xfrm>
            <a:off x="12014945" y="12909546"/>
            <a:ext cx="373178"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pic>
        <p:nvPicPr>
          <p:cNvPr id="954"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8"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959"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960"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961" name="Task System"/>
          <p:cNvSpPr txBox="1"/>
          <p:nvPr>
            <p:ph type="title"/>
          </p:nvPr>
        </p:nvSpPr>
        <p:spPr>
          <a:xfrm>
            <a:off x="609600" y="368300"/>
            <a:ext cx="23182917" cy="822325"/>
          </a:xfrm>
          <a:prstGeom prst="rect">
            <a:avLst/>
          </a:prstGeom>
        </p:spPr>
        <p:txBody>
          <a:bodyPr/>
          <a:lstStyle>
            <a:lvl1pPr>
              <a:defRPr sz="4200"/>
            </a:lvl1pPr>
          </a:lstStyle>
          <a:p>
            <a:pPr/>
            <a:r>
              <a:t>Task System</a:t>
            </a:r>
          </a:p>
        </p:txBody>
      </p:sp>
      <p:sp>
        <p:nvSpPr>
          <p:cNvPr id="962" name="Written with ASIO (Boost 1.62.0)…"/>
          <p:cNvSpPr txBox="1"/>
          <p:nvPr>
            <p:ph type="body" idx="1"/>
          </p:nvPr>
        </p:nvSpPr>
        <p:spPr>
          <a:prstGeom prst="rect">
            <a:avLst/>
          </a:prstGeom>
        </p:spPr>
        <p:txBody>
          <a:bodyPr/>
          <a:lstStyle/>
          <a:p>
            <a:pPr/>
            <a:r>
              <a:t>Written with ASIO (Boost 1.62.0)</a:t>
            </a:r>
          </a:p>
          <a:p>
            <a:pPr marL="0" indent="0" defTabSz="457200">
              <a:spcBef>
                <a:spcPts val="0"/>
              </a:spcBef>
              <a:buClrTx/>
              <a:buSzTx/>
              <a:buNone/>
              <a:tabLst>
                <a:tab pos="558800" algn="l"/>
              </a:tabLst>
              <a:defRPr sz="2700">
                <a:solidFill>
                  <a:srgbClr val="0433FF"/>
                </a:solidFill>
                <a:uFillTx/>
                <a:latin typeface="Menlo Regular"/>
                <a:ea typeface="Menlo Regular"/>
                <a:cs typeface="Menlo Regular"/>
                <a:sym typeface="Menlo Regular"/>
              </a:defRPr>
            </a:p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class</a:t>
            </a:r>
            <a:r>
              <a:t> task_system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io_service</a:t>
            </a:r>
            <a:r>
              <a:t>                      _service;</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vector</a:t>
            </a:r>
            <a:r>
              <a:t>&lt;</a:t>
            </a:r>
            <a:r>
              <a:rPr>
                <a:solidFill>
                  <a:srgbClr val="703DAA"/>
                </a:solidFill>
              </a:rPr>
              <a:t>thread</a:t>
            </a:r>
            <a:r>
              <a:t>&gt;                  _threads;</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unique_ptr</a:t>
            </a:r>
            <a:r>
              <a:t>&lt;</a:t>
            </a:r>
            <a:r>
              <a:rPr>
                <a:solidFill>
                  <a:srgbClr val="703DAA"/>
                </a:solidFill>
              </a:rPr>
              <a:t>io_service</a:t>
            </a:r>
            <a:r>
              <a:t>::</a:t>
            </a:r>
            <a:r>
              <a:rPr>
                <a:solidFill>
                  <a:srgbClr val="703DAA"/>
                </a:solidFill>
              </a:rPr>
              <a:t>work</a:t>
            </a:r>
            <a:r>
              <a:t>&gt;    _work{make_unique&lt;io_service::work&gt;(_service)};</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public</a:t>
            </a:r>
            <a:r>
              <a:rPr>
                <a:solidFill>
                  <a:srgbClr val="000000"/>
                </a:solidFill>
              </a:rPr>
              <a: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task_system() {</a:t>
            </a:r>
          </a:p>
          <a:p>
            <a:pPr marL="0" indent="0" defTabSz="457200">
              <a:spcBef>
                <a:spcPts val="0"/>
              </a:spcBef>
              <a:buClrTx/>
              <a:buSzTx/>
              <a:buNone/>
              <a:tabLst>
                <a:tab pos="546100" algn="l"/>
              </a:tabLst>
              <a:defRPr sz="2400">
                <a:solidFill>
                  <a:srgbClr val="3D1D81"/>
                </a:solidFill>
                <a:uFillTx/>
                <a:latin typeface="Menlo Regular"/>
                <a:ea typeface="Menlo Regular"/>
                <a:cs typeface="Menlo Regular"/>
                <a:sym typeface="Menlo Regular"/>
              </a:defRPr>
            </a:pPr>
            <a:r>
              <a:rPr>
                <a:solidFill>
                  <a:srgbClr val="000000"/>
                </a:solidFill>
              </a:rPr>
              <a:t>        </a:t>
            </a:r>
            <a:r>
              <a:rPr>
                <a:solidFill>
                  <a:srgbClr val="BB2CA2"/>
                </a:solidFill>
              </a:rPr>
              <a:t>for</a:t>
            </a:r>
            <a:r>
              <a:rPr>
                <a:solidFill>
                  <a:srgbClr val="000000"/>
                </a:solidFill>
              </a:rPr>
              <a:t> (</a:t>
            </a:r>
            <a:r>
              <a:rPr>
                <a:solidFill>
                  <a:srgbClr val="BB2CA2"/>
                </a:solidFill>
              </a:rPr>
              <a:t>unsigned</a:t>
            </a:r>
            <a:r>
              <a:rPr>
                <a:solidFill>
                  <a:srgbClr val="000000"/>
                </a:solidFill>
              </a:rPr>
              <a:t> n = </a:t>
            </a:r>
            <a:r>
              <a:rPr>
                <a:solidFill>
                  <a:srgbClr val="272AD8"/>
                </a:solidFill>
              </a:rPr>
              <a:t>0</a:t>
            </a:r>
            <a:r>
              <a:rPr>
                <a:solidFill>
                  <a:srgbClr val="000000"/>
                </a:solidFill>
              </a:rPr>
              <a:t>; n != </a:t>
            </a:r>
            <a:r>
              <a:rPr>
                <a:solidFill>
                  <a:srgbClr val="703DAA"/>
                </a:solidFill>
              </a:rPr>
              <a:t>thread</a:t>
            </a:r>
            <a:r>
              <a:rPr>
                <a:solidFill>
                  <a:srgbClr val="000000"/>
                </a:solidFill>
              </a:rPr>
              <a:t>::</a:t>
            </a:r>
            <a:r>
              <a:t>hardware_concurrency</a:t>
            </a:r>
            <a:r>
              <a:rPr>
                <a:solidFill>
                  <a:srgbClr val="000000"/>
                </a:solidFill>
              </a:rPr>
              <a:t>(); ++n) {</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4F8187"/>
                </a:solidFill>
              </a:rPr>
              <a:t>_threads</a:t>
            </a:r>
            <a:r>
              <a:t>.</a:t>
            </a:r>
            <a:r>
              <a:rPr>
                <a:solidFill>
                  <a:srgbClr val="3D1D81"/>
                </a:solidFill>
              </a:rPr>
              <a:t>emplace_back</a:t>
            </a:r>
            <a:r>
              <a:t>([&amp;]{</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4F8187"/>
                </a:solidFill>
              </a:rPr>
              <a:t>_service</a:t>
            </a:r>
            <a:r>
              <a:t>.</a:t>
            </a:r>
            <a:r>
              <a:rPr>
                <a:solidFill>
                  <a:srgbClr val="3D1D81"/>
                </a:solidFill>
              </a:rPr>
              <a:t>run</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~task_system()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4F8187"/>
                </a:solidFill>
              </a:rPr>
              <a:t>_work</a:t>
            </a:r>
            <a:r>
              <a:t>.</a:t>
            </a:r>
            <a:r>
              <a:rPr>
                <a:solidFill>
                  <a:srgbClr val="3D1D81"/>
                </a:solidFill>
              </a:rPr>
              <a:t>reset</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for</a:t>
            </a:r>
            <a:r>
              <a:t> (</a:t>
            </a:r>
            <a:r>
              <a:rPr>
                <a:solidFill>
                  <a:srgbClr val="BB2CA2"/>
                </a:solidFill>
              </a:rPr>
              <a:t>auto</a:t>
            </a:r>
            <a:r>
              <a:t>&amp; e : </a:t>
            </a:r>
            <a:r>
              <a:rPr>
                <a:solidFill>
                  <a:srgbClr val="4F8187"/>
                </a:solidFill>
              </a:rPr>
              <a:t>_threads</a:t>
            </a:r>
            <a:r>
              <a:t>) e.</a:t>
            </a:r>
            <a:r>
              <a:rPr>
                <a:solidFill>
                  <a:srgbClr val="3D1D81"/>
                </a:solidFill>
              </a:rPr>
              <a:t>join</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 &lt;</a:t>
            </a:r>
            <a:r>
              <a:t>typename</a:t>
            </a:r>
            <a:r>
              <a:rPr>
                <a:solidFill>
                  <a:srgbClr val="000000"/>
                </a:solidFill>
              </a:rPr>
              <a:t> F&gt;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void</a:t>
            </a:r>
            <a:r>
              <a:t> async_(F&amp;&amp; f)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4F8187"/>
                </a:solidFill>
              </a:rPr>
              <a:t>_service</a:t>
            </a:r>
            <a:r>
              <a:t>.post(forward&lt;F&gt;(f));</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963" name="Slide Number"/>
          <p:cNvSpPr txBox="1"/>
          <p:nvPr>
            <p:ph type="sldNum" sz="quarter" idx="2"/>
          </p:nvPr>
        </p:nvSpPr>
        <p:spPr>
          <a:xfrm>
            <a:off x="12043190" y="12934946"/>
            <a:ext cx="316688"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964"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pic>
        <p:nvPicPr>
          <p:cNvPr id="965" name="speedometer-background.png" descr="speedometer-background.png"/>
          <p:cNvPicPr>
            <a:picLocks noChangeAspect="1"/>
          </p:cNvPicPr>
          <p:nvPr/>
        </p:nvPicPr>
        <p:blipFill>
          <a:blip r:embed="rId3">
            <a:extLst/>
          </a:blip>
          <a:stretch>
            <a:fillRect/>
          </a:stretch>
        </p:blipFill>
        <p:spPr>
          <a:xfrm>
            <a:off x="19536764" y="8114219"/>
            <a:ext cx="3625954" cy="3474873"/>
          </a:xfrm>
          <a:prstGeom prst="rect">
            <a:avLst/>
          </a:prstGeom>
          <a:ln w="12700">
            <a:miter lim="400000"/>
          </a:ln>
        </p:spPr>
      </p:pic>
      <p:pic>
        <p:nvPicPr>
          <p:cNvPr id="966" name="Image" descr="Image"/>
          <p:cNvPicPr>
            <a:picLocks noChangeAspect="1"/>
          </p:cNvPicPr>
          <p:nvPr/>
        </p:nvPicPr>
        <p:blipFill>
          <a:blip r:embed="rId4">
            <a:extLst/>
          </a:blip>
          <a:stretch>
            <a:fillRect/>
          </a:stretch>
        </p:blipFill>
        <p:spPr>
          <a:xfrm rot="18874283">
            <a:off x="20165852" y="10104547"/>
            <a:ext cx="1628390" cy="341762"/>
          </a:xfrm>
          <a:prstGeom prst="rect">
            <a:avLst/>
          </a:prstGeom>
          <a:ln w="12700">
            <a:miter lim="400000"/>
          </a:ln>
        </p:spPr>
      </p:pic>
      <p:pic>
        <p:nvPicPr>
          <p:cNvPr id="967" name="Image" descr="Image"/>
          <p:cNvPicPr>
            <a:picLocks noChangeAspect="1"/>
          </p:cNvPicPr>
          <p:nvPr/>
        </p:nvPicPr>
        <p:blipFill>
          <a:blip r:embed="rId5">
            <a:extLst/>
          </a:blip>
          <a:stretch>
            <a:fillRect/>
          </a:stretch>
        </p:blipFill>
        <p:spPr>
          <a:xfrm>
            <a:off x="21317991" y="9815301"/>
            <a:ext cx="63501" cy="63501"/>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mph" nodeType="clickEffect" presetSubtype="0" presetID="8" grpId="1" accel="50000" decel="50000" fill="hold">
                                  <p:stCondLst>
                                    <p:cond delay="0"/>
                                  </p:stCondLst>
                                  <p:childTnLst>
                                    <p:animRot by="420840">
                                      <p:cBhvr>
                                        <p:cTn id="6" dur="1000" fill="hold"/>
                                        <p:tgtEl>
                                          <p:spTgt spid="966"/>
                                        </p:tgtEl>
                                        <p:attrNameLst>
                                          <p:attrName>r</p:attrName>
                                        </p:attrNameLst>
                                      </p:cBhvr>
                                    </p:animRot>
                                  </p:childTnLst>
                                </p:cTn>
                              </p:par>
                            </p:childTnLst>
                          </p:cTn>
                        </p:par>
                        <p:par>
                          <p:cTn id="7" fill="hold">
                            <p:stCondLst>
                              <p:cond delay="0"/>
                            </p:stCondLst>
                            <p:childTnLst>
                              <p:par>
                                <p:cTn id="8" presetClass="path" nodeType="withEffect" presetSubtype="0" presetID="-1" grpId="2" accel="50000" decel="50000" fill="hold">
                                  <p:stCondLst>
                                    <p:cond delay="0"/>
                                  </p:stCondLst>
                                  <p:childTnLst>
                                    <p:animMotion path="M 0.000000 0.000000 L -0.003385 -0.002744" origin="layout" pathEditMode="relative">
                                      <p:cBhvr>
                                        <p:cTn id="9" dur="1000" fill="hold"/>
                                        <p:tgtEl>
                                          <p:spTgt spid="966"/>
                                        </p:tgtEl>
                                        <p:attrNameLst>
                                          <p:attrName>ppt_x</p:attrName>
                                          <p:attrName>ppt_y</p:attrName>
                                        </p:attrNameLst>
                                      </p:cBhvr>
                                    </p:animMotion>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66" grpId="1"/>
    </p:bldLst>
  </p:timing>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969" name="Create Your Own Presentation"/>
          <p:cNvSpPr txBox="1"/>
          <p:nvPr>
            <p:ph type="title"/>
          </p:nvPr>
        </p:nvSpPr>
        <p:spPr>
          <a:prstGeom prst="rect">
            <a:avLst/>
          </a:prstGeom>
        </p:spPr>
        <p:txBody>
          <a:bodyPr lIns="76200" tIns="76200" rIns="76200" bIns="76200"/>
          <a:lstStyle>
            <a:lvl1pPr>
              <a:defRPr sz="4000"/>
            </a:lvl1pPr>
          </a:lstStyle>
          <a:p>
            <a:pPr/>
            <a:r>
              <a:t>Create Your Own Presentation</a:t>
            </a:r>
          </a:p>
        </p:txBody>
      </p:sp>
      <p:sp>
        <p:nvSpPr>
          <p:cNvPr id="970"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971" name="Build Futures"/>
          <p:cNvSpPr/>
          <p:nvPr/>
        </p:nvSpPr>
        <p:spPr>
          <a:xfrm>
            <a:off x="5193910" y="4907943"/>
            <a:ext cx="4441968" cy="1701071"/>
          </a:xfrm>
          <a:prstGeom prst="roundRect">
            <a:avLst>
              <a:gd name="adj" fmla="val 11199"/>
            </a:avLst>
          </a:prstGeom>
          <a:blipFill>
            <a:blip r:embed="rId2"/>
          </a:blipFill>
          <a:ln w="12700">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ctr"/>
          <a:lstStyle>
            <a:lvl1pPr algn="ctr">
              <a:defRPr sz="3800">
                <a:solidFill>
                  <a:srgbClr val="FFFFFF"/>
                </a:solidFill>
              </a:defRPr>
            </a:lvl1pPr>
          </a:lstStyle>
          <a:p>
            <a:pPr/>
            <a:r>
              <a:t>Build Futures</a:t>
            </a:r>
          </a:p>
        </p:txBody>
      </p:sp>
      <p:sp>
        <p:nvSpPr>
          <p:cNvPr id="972" name="Futures">
            <a:hlinkClick r:id="rId3" invalidUrl="" action="ppaction://hlinksldjump" tgtFrame="" tooltip="" history="1" highlightClick="0" endSnd="0"/>
          </p:cNvPr>
          <p:cNvSpPr/>
          <p:nvPr/>
        </p:nvSpPr>
        <p:spPr>
          <a:xfrm>
            <a:off x="14748123" y="4907943"/>
            <a:ext cx="4441968" cy="1701071"/>
          </a:xfrm>
          <a:prstGeom prst="roundRect">
            <a:avLst>
              <a:gd name="adj" fmla="val 11199"/>
            </a:avLst>
          </a:prstGeom>
          <a:blipFill>
            <a:blip r:embed="rId4"/>
          </a:blipFill>
          <a:ln w="12700">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ctr"/>
          <a:lstStyle>
            <a:lvl1pPr algn="ctr">
              <a:defRPr sz="3800">
                <a:solidFill>
                  <a:srgbClr val="FFFFFF"/>
                </a:solidFill>
              </a:defRPr>
            </a:lvl1pPr>
          </a:lstStyle>
          <a:p>
            <a:pPr/>
            <a:r>
              <a:t>Futures</a:t>
            </a:r>
          </a:p>
        </p:txBody>
      </p:sp>
    </p:spTree>
  </p:cSld>
  <p:clrMapOvr>
    <a:masterClrMapping/>
  </p:clrMapOvr>
  <p:transition xmlns:p14="http://schemas.microsoft.com/office/powerpoint/2010/main" spd="fast"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4" name="Rectangle"/>
          <p:cNvSpPr/>
          <p:nvPr/>
        </p:nvSpPr>
        <p:spPr>
          <a:xfrm>
            <a:off x="-12697" y="1"/>
            <a:ext cx="24428447"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975" name="Rectangle"/>
          <p:cNvSpPr/>
          <p:nvPr/>
        </p:nvSpPr>
        <p:spPr>
          <a:xfrm>
            <a:off x="-31752" y="12884153"/>
            <a:ext cx="24447502"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976"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985" name="Group"/>
          <p:cNvGrpSpPr/>
          <p:nvPr/>
        </p:nvGrpSpPr>
        <p:grpSpPr>
          <a:xfrm>
            <a:off x="23430479" y="13063804"/>
            <a:ext cx="356816" cy="489706"/>
            <a:chOff x="0" y="0"/>
            <a:chExt cx="356815" cy="489704"/>
          </a:xfrm>
        </p:grpSpPr>
        <p:sp>
          <p:nvSpPr>
            <p:cNvPr id="977"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978"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979"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980"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981"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982"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983"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984"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986" name="No Raw Synchronization Primitives"/>
          <p:cNvSpPr txBox="1"/>
          <p:nvPr>
            <p:ph type="title"/>
          </p:nvPr>
        </p:nvSpPr>
        <p:spPr>
          <a:prstGeom prst="rect">
            <a:avLst/>
          </a:prstGeom>
        </p:spPr>
        <p:txBody>
          <a:bodyPr lIns="76200" tIns="76200" rIns="76200" bIns="76200"/>
          <a:lstStyle>
            <a:lvl1pPr>
              <a:defRPr sz="4000"/>
            </a:lvl1pPr>
          </a:lstStyle>
          <a:p>
            <a:pPr/>
            <a:r>
              <a:t>No Raw Synchronization Primitives</a:t>
            </a:r>
          </a:p>
        </p:txBody>
      </p:sp>
      <p:sp>
        <p:nvSpPr>
          <p:cNvPr id="987"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pic>
        <p:nvPicPr>
          <p:cNvPr id="988" name="droppedImage.pdf" descr="droppedImage.pdf"/>
          <p:cNvPicPr>
            <a:picLocks noChangeAspect="1"/>
          </p:cNvPicPr>
          <p:nvPr/>
        </p:nvPicPr>
        <p:blipFill>
          <a:blip r:embed="rId3">
            <a:extLst/>
          </a:blip>
          <a:stretch>
            <a:fillRect/>
          </a:stretch>
        </p:blipFill>
        <p:spPr>
          <a:xfrm>
            <a:off x="9182100" y="3098800"/>
            <a:ext cx="2387600" cy="1244600"/>
          </a:xfrm>
          <a:prstGeom prst="rect">
            <a:avLst/>
          </a:prstGeom>
          <a:ln w="12700">
            <a:miter lim="400000"/>
          </a:ln>
        </p:spPr>
      </p:pic>
      <p:pic>
        <p:nvPicPr>
          <p:cNvPr id="989" name="droppedImage.pdf" descr="droppedImage.pdf"/>
          <p:cNvPicPr>
            <a:picLocks noChangeAspect="1"/>
          </p:cNvPicPr>
          <p:nvPr/>
        </p:nvPicPr>
        <p:blipFill>
          <a:blip r:embed="rId4">
            <a:extLst/>
          </a:blip>
          <a:stretch>
            <a:fillRect/>
          </a:stretch>
        </p:blipFill>
        <p:spPr>
          <a:xfrm>
            <a:off x="10325100" y="3911600"/>
            <a:ext cx="381000" cy="2006600"/>
          </a:xfrm>
          <a:prstGeom prst="rect">
            <a:avLst/>
          </a:prstGeom>
          <a:ln w="12700">
            <a:miter lim="400000"/>
          </a:ln>
        </p:spPr>
      </p:pic>
      <p:pic>
        <p:nvPicPr>
          <p:cNvPr id="990" name="droppedImage.pdf" descr="droppedImage.pdf"/>
          <p:cNvPicPr>
            <a:picLocks noChangeAspect="1"/>
          </p:cNvPicPr>
          <p:nvPr/>
        </p:nvPicPr>
        <p:blipFill>
          <a:blip r:embed="rId5">
            <a:extLst/>
          </a:blip>
          <a:stretch>
            <a:fillRect/>
          </a:stretch>
        </p:blipFill>
        <p:spPr>
          <a:xfrm>
            <a:off x="9182100" y="5562600"/>
            <a:ext cx="2387600" cy="2387600"/>
          </a:xfrm>
          <a:prstGeom prst="rect">
            <a:avLst/>
          </a:prstGeom>
          <a:ln w="12700">
            <a:miter lim="400000"/>
          </a:ln>
        </p:spPr>
      </p:pic>
      <p:pic>
        <p:nvPicPr>
          <p:cNvPr id="991" name="droppedImage.pdf" descr="droppedImage.pdf"/>
          <p:cNvPicPr>
            <a:picLocks noChangeAspect="1"/>
          </p:cNvPicPr>
          <p:nvPr/>
        </p:nvPicPr>
        <p:blipFill>
          <a:blip r:embed="rId6">
            <a:extLst/>
          </a:blip>
          <a:stretch>
            <a:fillRect/>
          </a:stretch>
        </p:blipFill>
        <p:spPr>
          <a:xfrm>
            <a:off x="12839700" y="3987800"/>
            <a:ext cx="2387600" cy="2819400"/>
          </a:xfrm>
          <a:prstGeom prst="rect">
            <a:avLst/>
          </a:prstGeom>
          <a:ln w="12700">
            <a:miter lim="400000"/>
          </a:ln>
        </p:spPr>
      </p:pic>
      <p:pic>
        <p:nvPicPr>
          <p:cNvPr id="992" name="droppedImage.pdf" descr="droppedImage.pdf"/>
          <p:cNvPicPr>
            <a:picLocks noChangeAspect="1"/>
          </p:cNvPicPr>
          <p:nvPr/>
        </p:nvPicPr>
        <p:blipFill>
          <a:blip r:embed="rId7">
            <a:extLst/>
          </a:blip>
          <a:stretch>
            <a:fillRect/>
          </a:stretch>
        </p:blipFill>
        <p:spPr>
          <a:xfrm>
            <a:off x="9182100" y="3911600"/>
            <a:ext cx="2387600" cy="6604000"/>
          </a:xfrm>
          <a:prstGeom prst="rect">
            <a:avLst/>
          </a:prstGeom>
          <a:ln w="12700">
            <a:miter lim="400000"/>
          </a:ln>
        </p:spPr>
      </p:pic>
      <p:pic>
        <p:nvPicPr>
          <p:cNvPr id="993" name="droppedImage.pdf" descr="droppedImage.pdf"/>
          <p:cNvPicPr>
            <a:picLocks noChangeAspect="1"/>
          </p:cNvPicPr>
          <p:nvPr/>
        </p:nvPicPr>
        <p:blipFill>
          <a:blip r:embed="rId8">
            <a:extLst/>
          </a:blip>
          <a:stretch>
            <a:fillRect/>
          </a:stretch>
        </p:blipFill>
        <p:spPr>
          <a:xfrm>
            <a:off x="12839700" y="8483600"/>
            <a:ext cx="2387600" cy="2946400"/>
          </a:xfrm>
          <a:prstGeom prst="rect">
            <a:avLst/>
          </a:prstGeom>
          <a:ln w="12700">
            <a:miter lim="400000"/>
          </a:ln>
        </p:spPr>
      </p:pic>
      <p:pic>
        <p:nvPicPr>
          <p:cNvPr id="994" name="droppedImage.pdf" descr="droppedImage.pdf"/>
          <p:cNvPicPr>
            <a:picLocks noChangeAspect="1"/>
          </p:cNvPicPr>
          <p:nvPr/>
        </p:nvPicPr>
        <p:blipFill>
          <a:blip r:embed="rId9">
            <a:extLst/>
          </a:blip>
          <a:stretch>
            <a:fillRect/>
          </a:stretch>
        </p:blipFill>
        <p:spPr>
          <a:xfrm>
            <a:off x="10401300" y="6299200"/>
            <a:ext cx="3149600" cy="1066800"/>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9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9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99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path" nodeType="clickEffect" presetSubtype="0" presetID="-1" grpId="4" accel="50000" decel="50000" fill="hold">
                                  <p:stCondLst>
                                    <p:cond delay="0"/>
                                  </p:stCondLst>
                                  <p:childTnLst>
                                    <p:animMotion path="M 0.000000 0.000000 L 0.149792 0.068519" origin="layout" pathEditMode="relative">
                                      <p:cBhvr>
                                        <p:cTn id="18" dur="1000" fill="hold"/>
                                        <p:tgtEl>
                                          <p:spTgt spid="990"/>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Class="exit" nodeType="clickEffect" presetSubtype="0" presetID="1" grpId="5" fill="hold">
                                  <p:stCondLst>
                                    <p:cond delay="0"/>
                                  </p:stCondLst>
                                  <p:iterate type="el" backwards="0">
                                    <p:tmAbs val="0"/>
                                  </p:iterate>
                                  <p:childTnLst>
                                    <p:set>
                                      <p:cBhvr>
                                        <p:cTn id="22" fill="hold">
                                          <p:stCondLst>
                                            <p:cond delay="0"/>
                                          </p:stCondLst>
                                        </p:cTn>
                                        <p:tgtEl>
                                          <p:spTgt spid="989"/>
                                        </p:tgtEl>
                                        <p:attrNameLst>
                                          <p:attrName>style.visibility</p:attrName>
                                        </p:attrNameLst>
                                      </p:cBhvr>
                                      <p:to>
                                        <p:strVal val="hidden"/>
                                      </p:to>
                                    </p:set>
                                  </p:childTnLst>
                                </p:cTn>
                              </p:par>
                            </p:childTnLst>
                          </p:cTn>
                        </p:par>
                        <p:par>
                          <p:cTn id="23" fill="hold">
                            <p:stCondLst>
                              <p:cond delay="0"/>
                            </p:stCondLst>
                            <p:childTnLst>
                              <p:par>
                                <p:cTn id="24" presetClass="entr" nodeType="afterEffect" presetSubtype="0" presetID="1" grpId="6" fill="hold">
                                  <p:stCondLst>
                                    <p:cond delay="0"/>
                                  </p:stCondLst>
                                  <p:iterate type="el" backwards="0">
                                    <p:tmAbs val="0"/>
                                  </p:iterate>
                                  <p:childTnLst>
                                    <p:set>
                                      <p:cBhvr>
                                        <p:cTn id="25" fill="hold"/>
                                        <p:tgtEl>
                                          <p:spTgt spid="992"/>
                                        </p:tgtEl>
                                        <p:attrNameLst>
                                          <p:attrName>style.visibility</p:attrName>
                                        </p:attrNameLst>
                                      </p:cBhvr>
                                      <p:to>
                                        <p:strVal val="visible"/>
                                      </p:to>
                                    </p:set>
                                  </p:childTnLst>
                                </p:cTn>
                              </p:par>
                            </p:childTnLst>
                          </p:cTn>
                        </p:par>
                        <p:par>
                          <p:cTn id="26" fill="hold">
                            <p:stCondLst>
                              <p:cond delay="0"/>
                            </p:stCondLst>
                            <p:childTnLst>
                              <p:par>
                                <p:cTn id="27" presetClass="entr" nodeType="afterEffect" presetSubtype="0" presetID="1" grpId="7" fill="hold">
                                  <p:stCondLst>
                                    <p:cond delay="0"/>
                                  </p:stCondLst>
                                  <p:iterate type="el" backwards="0">
                                    <p:tmAbs val="0"/>
                                  </p:iterate>
                                  <p:childTnLst>
                                    <p:set>
                                      <p:cBhvr>
                                        <p:cTn id="28" fill="hold"/>
                                        <p:tgtEl>
                                          <p:spTgt spid="99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0" presetID="1" grpId="8" fill="hold">
                                  <p:stCondLst>
                                    <p:cond delay="0"/>
                                  </p:stCondLst>
                                  <p:iterate type="el" backwards="0">
                                    <p:tmAbs val="0"/>
                                  </p:iterate>
                                  <p:childTnLst>
                                    <p:set>
                                      <p:cBhvr>
                                        <p:cTn id="32" fill="hold"/>
                                        <p:tgtEl>
                                          <p:spTgt spid="9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94" grpId="8"/>
      <p:bldP build="whole" bldLvl="1" animBg="1" rev="0" advAuto="0" spid="992" grpId="6"/>
      <p:bldP build="whole" bldLvl="1" animBg="1" rev="0" advAuto="0" spid="989" grpId="5"/>
      <p:bldP build="whole" bldLvl="1" animBg="1" rev="0" advAuto="0" spid="990" grpId="2"/>
      <p:bldP build="whole" bldLvl="1" animBg="1" rev="0" advAuto="0" spid="993" grpId="7"/>
      <p:bldP build="whole" bldLvl="1" animBg="1" rev="0" advAuto="0" spid="991" grpId="3"/>
      <p:bldP build="whole" bldLvl="1" animBg="1" rev="0" advAuto="0" spid="989" grpId="1"/>
    </p:bldLst>
  </p:timing>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8"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999"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00"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001" name="Futures"/>
          <p:cNvSpPr txBox="1"/>
          <p:nvPr>
            <p:ph type="title"/>
          </p:nvPr>
        </p:nvSpPr>
        <p:spPr>
          <a:xfrm>
            <a:off x="609600" y="368300"/>
            <a:ext cx="23182917" cy="822325"/>
          </a:xfrm>
          <a:prstGeom prst="rect">
            <a:avLst/>
          </a:prstGeom>
        </p:spPr>
        <p:txBody>
          <a:bodyPr/>
          <a:lstStyle>
            <a:lvl1pPr>
              <a:defRPr sz="4200"/>
            </a:lvl1pPr>
          </a:lstStyle>
          <a:p>
            <a:pPr/>
            <a:r>
              <a:t>Futures</a:t>
            </a:r>
          </a:p>
        </p:txBody>
      </p:sp>
      <p:sp>
        <p:nvSpPr>
          <p:cNvPr id="1002" name="Fibonacci is often used as an example for parallel algorithms…"/>
          <p:cNvSpPr txBox="1"/>
          <p:nvPr>
            <p:ph type="body" idx="1"/>
          </p:nvPr>
        </p:nvSpPr>
        <p:spPr>
          <a:xfrm>
            <a:off x="609600" y="1941452"/>
            <a:ext cx="23182917" cy="10363201"/>
          </a:xfrm>
          <a:prstGeom prst="rect">
            <a:avLst/>
          </a:prstGeom>
        </p:spPr>
        <p:txBody>
          <a:bodyPr/>
          <a:lstStyle/>
          <a:p>
            <a:pPr marL="0" indent="0" defTabSz="457200">
              <a:spcBef>
                <a:spcPts val="0"/>
              </a:spcBef>
              <a:buClrTx/>
              <a:buSzTx/>
              <a:buNone/>
              <a:tabLst>
                <a:tab pos="546100" algn="l"/>
              </a:tabLst>
              <a:defRPr sz="2400">
                <a:solidFill>
                  <a:srgbClr val="31595D"/>
                </a:solidFill>
                <a:uFillTx/>
                <a:latin typeface="Menlo Regular"/>
                <a:ea typeface="Menlo Regular"/>
                <a:cs typeface="Menlo Regular"/>
                <a:sym typeface="Menlo Regular"/>
              </a:defRPr>
            </a:pPr>
            <a:r>
              <a:rPr>
                <a:solidFill>
                  <a:srgbClr val="000000"/>
                </a:solidFill>
              </a:rPr>
              <a:t>    </a:t>
            </a:r>
            <a:endParaRPr>
              <a:solidFill>
                <a:srgbClr val="000000"/>
              </a:solidFill>
            </a:endParaRPr>
          </a:p>
          <a:p>
            <a:pPr marL="0" indent="0" defTabSz="457200">
              <a:spcBef>
                <a:spcPts val="0"/>
              </a:spcBef>
              <a:buClrTx/>
              <a:buSzTx/>
              <a:buNone/>
              <a:tabLst>
                <a:tab pos="546100" algn="l"/>
              </a:tabLst>
              <a:defRPr sz="2400">
                <a:solidFill>
                  <a:srgbClr val="31595D"/>
                </a:solidFill>
                <a:uFillTx/>
                <a:latin typeface="Menlo Regular"/>
                <a:ea typeface="Menlo Regular"/>
                <a:cs typeface="Menlo Regular"/>
                <a:sym typeface="Menlo Regular"/>
              </a:defRPr>
            </a:pPr>
            <a:endParaRPr>
              <a:solidFill>
                <a:srgbClr val="000000"/>
              </a:solidFill>
            </a:endParaRPr>
          </a:p>
          <a:p>
            <a:pPr marL="0" indent="0" defTabSz="457200">
              <a:spcBef>
                <a:spcPts val="0"/>
              </a:spcBef>
              <a:buClrTx/>
              <a:buSzTx/>
              <a:buNone/>
              <a:tabLst>
                <a:tab pos="546100" algn="l"/>
              </a:tabLst>
              <a:defRPr sz="2400">
                <a:solidFill>
                  <a:srgbClr val="31595D"/>
                </a:solidFill>
                <a:uFillTx/>
                <a:latin typeface="Menlo Regular"/>
                <a:ea typeface="Menlo Regular"/>
                <a:cs typeface="Menlo Regular"/>
                <a:sym typeface="Menlo Regular"/>
              </a:defRPr>
            </a:pPr>
            <a:endParaRPr>
              <a:solidFill>
                <a:srgbClr val="000000"/>
              </a:solidFill>
            </a:endParaRPr>
          </a:p>
          <a:p>
            <a:pPr marL="0" indent="0" defTabSz="457200">
              <a:spcBef>
                <a:spcPts val="0"/>
              </a:spcBef>
              <a:buClrTx/>
              <a:buSzTx/>
              <a:buNone/>
              <a:tabLst>
                <a:tab pos="546100" algn="l"/>
              </a:tabLst>
              <a:defRPr sz="2400">
                <a:solidFill>
                  <a:srgbClr val="31595D"/>
                </a:solidFill>
                <a:uFillTx/>
                <a:latin typeface="Menlo Regular"/>
                <a:ea typeface="Menlo Regular"/>
                <a:cs typeface="Menlo Regular"/>
                <a:sym typeface="Menlo Regular"/>
              </a:defRPr>
            </a:pPr>
            <a:endParaRPr>
              <a:solidFill>
                <a:srgbClr val="000000"/>
              </a:solidFill>
            </a:endParaRPr>
          </a:p>
          <a:p>
            <a:pPr marL="0" indent="0" defTabSz="457200">
              <a:spcBef>
                <a:spcPts val="0"/>
              </a:spcBef>
              <a:buClrTx/>
              <a:buSzTx/>
              <a:buNone/>
              <a:tabLst>
                <a:tab pos="546100" algn="l"/>
              </a:tabLst>
              <a:defRPr sz="2400">
                <a:solidFill>
                  <a:srgbClr val="31595D"/>
                </a:solidFill>
                <a:uFillTx/>
                <a:latin typeface="Menlo Regular"/>
                <a:ea typeface="Menlo Regular"/>
                <a:cs typeface="Menlo Regular"/>
                <a:sym typeface="Menlo Regular"/>
              </a:defRPr>
            </a:pPr>
            <a:endParaRPr>
              <a:solidFill>
                <a:srgbClr val="000000"/>
              </a:solidFill>
            </a:endParaRPr>
          </a:p>
          <a:p>
            <a:pPr marL="165511" indent="-165511" defTabSz="457200">
              <a:spcBef>
                <a:spcPts val="0"/>
              </a:spcBef>
              <a:tabLst>
                <a:tab pos="546100" algn="l"/>
              </a:tabLst>
              <a:defRPr sz="2400">
                <a:uFillTx/>
                <a:latin typeface="Menlo Regular"/>
                <a:ea typeface="Menlo Regular"/>
                <a:cs typeface="Menlo Regular"/>
                <a:sym typeface="Menlo Regular"/>
              </a:defRPr>
            </a:pPr>
          </a:p>
          <a:p>
            <a:pPr marL="165511" indent="-165511" defTabSz="457200">
              <a:spcBef>
                <a:spcPts val="0"/>
              </a:spcBef>
              <a:tabLst>
                <a:tab pos="546100" algn="l"/>
              </a:tabLst>
              <a:defRPr sz="2400">
                <a:uFillTx/>
                <a:latin typeface="Menlo Regular"/>
                <a:ea typeface="Menlo Regular"/>
                <a:cs typeface="Menlo Regular"/>
                <a:sym typeface="Menlo Regular"/>
              </a:defRPr>
            </a:pPr>
          </a:p>
          <a:p>
            <a:pPr marL="165511" indent="-165511" defTabSz="457200">
              <a:spcBef>
                <a:spcPts val="0"/>
              </a:spcBef>
              <a:tabLst>
                <a:tab pos="546100" algn="l"/>
              </a:tabLst>
              <a:defRPr sz="2400">
                <a:uFillTx/>
                <a:latin typeface="Menlo Regular"/>
                <a:ea typeface="Menlo Regular"/>
                <a:cs typeface="Menlo Regular"/>
                <a:sym typeface="Menlo Regular"/>
              </a:defRPr>
            </a:pPr>
          </a:p>
          <a:p>
            <a:pPr marL="165511" indent="-165511" defTabSz="457200">
              <a:spcBef>
                <a:spcPts val="0"/>
              </a:spcBef>
              <a:tabLst>
                <a:tab pos="546100" algn="l"/>
              </a:tabLst>
              <a:defRPr sz="2400">
                <a:uFillTx/>
                <a:latin typeface="Menlo Regular"/>
                <a:ea typeface="Menlo Regular"/>
                <a:cs typeface="Menlo Regular"/>
                <a:sym typeface="Menlo Regular"/>
              </a:defRPr>
            </a:pPr>
          </a:p>
          <a:p>
            <a:pPr marL="165511" indent="-165511" defTabSz="457200">
              <a:spcBef>
                <a:spcPts val="0"/>
              </a:spcBef>
              <a:tabLst>
                <a:tab pos="546100" algn="l"/>
              </a:tabLst>
              <a:defRPr sz="2400">
                <a:uFillTx/>
                <a:latin typeface="Menlo Regular"/>
                <a:ea typeface="Menlo Regular"/>
                <a:cs typeface="Menlo Regular"/>
                <a:sym typeface="Menlo Regular"/>
              </a:defRPr>
            </a:pPr>
          </a:p>
          <a:p>
            <a:pPr marL="165511" indent="-165511" defTabSz="457200">
              <a:spcBef>
                <a:spcPts val="0"/>
              </a:spcBef>
              <a:tabLst>
                <a:tab pos="546100" algn="l"/>
              </a:tabLst>
              <a:defRPr sz="2400">
                <a:uFillTx/>
                <a:latin typeface="Menlo Regular"/>
                <a:ea typeface="Menlo Regular"/>
                <a:cs typeface="Menlo Regular"/>
                <a:sym typeface="Menlo Regular"/>
              </a:defRPr>
            </a:pPr>
          </a:p>
          <a:p>
            <a:pPr marL="165511" indent="-165511" defTabSz="457200">
              <a:spcBef>
                <a:spcPts val="0"/>
              </a:spcBef>
              <a:tabLst>
                <a:tab pos="546100" algn="l"/>
              </a:tabLst>
              <a:defRPr sz="2400">
                <a:uFillTx/>
                <a:latin typeface="Menlo Regular"/>
                <a:ea typeface="Menlo Regular"/>
                <a:cs typeface="Menlo Regular"/>
                <a:sym typeface="Menlo Regular"/>
              </a:defRPr>
            </a:pPr>
          </a:p>
          <a:p>
            <a:pPr marL="165511" indent="-165511" defTabSz="457200">
              <a:spcBef>
                <a:spcPts val="0"/>
              </a:spcBef>
              <a:tabLst>
                <a:tab pos="546100" algn="l"/>
              </a:tabLst>
              <a:defRPr sz="2400">
                <a:uFillTx/>
                <a:latin typeface="Menlo Regular"/>
                <a:ea typeface="Menlo Regular"/>
                <a:cs typeface="Menlo Regular"/>
                <a:sym typeface="Menlo Regular"/>
              </a:defRPr>
            </a:pPr>
          </a:p>
          <a:p>
            <a:pPr marL="165511" indent="-165511" defTabSz="457200">
              <a:spcBef>
                <a:spcPts val="0"/>
              </a:spcBef>
              <a:tabLst>
                <a:tab pos="546100" algn="l"/>
              </a:tabLst>
              <a:defRPr sz="2400">
                <a:uFillTx/>
                <a:latin typeface="Menlo Regular"/>
                <a:ea typeface="Menlo Regular"/>
                <a:cs typeface="Menlo Regular"/>
                <a:sym typeface="Menlo Regular"/>
              </a:defRPr>
            </a:pPr>
          </a:p>
          <a:p>
            <a:pPr/>
            <a:r>
              <a:t>Fibonacci is often used as an example for parallel algorithms</a:t>
            </a:r>
          </a:p>
          <a:p>
            <a:pPr lvl="1"/>
            <a:r>
              <a:t>Please stop…</a:t>
            </a:r>
          </a:p>
        </p:txBody>
      </p:sp>
      <p:sp>
        <p:nvSpPr>
          <p:cNvPr id="1003" name="Slide Number"/>
          <p:cNvSpPr txBox="1"/>
          <p:nvPr>
            <p:ph type="sldNum" sz="quarter" idx="2"/>
          </p:nvPr>
        </p:nvSpPr>
        <p:spPr>
          <a:xfrm>
            <a:off x="12048372" y="12934946"/>
            <a:ext cx="306325"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004"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
        <p:nvSpPr>
          <p:cNvPr id="1005" name="future&lt;cpp_int&gt; x = async([]{ return fibonacci&lt;cpp_int&gt;(1'000'000); });…"/>
          <p:cNvSpPr txBox="1"/>
          <p:nvPr/>
        </p:nvSpPr>
        <p:spPr>
          <a:xfrm>
            <a:off x="701248" y="3415275"/>
            <a:ext cx="13877182" cy="2235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buClrTx/>
              <a:tabLst>
                <a:tab pos="546100" algn="l"/>
              </a:tabLst>
              <a:defRPr sz="2400">
                <a:solidFill>
                  <a:srgbClr val="31595D"/>
                </a:solidFill>
                <a:uFillTx/>
                <a:latin typeface="Menlo Regular"/>
                <a:ea typeface="Menlo Regular"/>
                <a:cs typeface="Menlo Regular"/>
                <a:sym typeface="Menlo Regular"/>
              </a:defRPr>
            </a:pPr>
            <a:r>
              <a:rPr>
                <a:solidFill>
                  <a:srgbClr val="703DAA"/>
                </a:solidFill>
              </a:rPr>
              <a:t>future</a:t>
            </a:r>
            <a:r>
              <a:rPr>
                <a:solidFill>
                  <a:srgbClr val="000000"/>
                </a:solidFill>
              </a:rPr>
              <a:t>&lt;</a:t>
            </a:r>
            <a:r>
              <a:rPr>
                <a:solidFill>
                  <a:srgbClr val="703DAA"/>
                </a:solidFill>
              </a:rPr>
              <a:t>cpp_int</a:t>
            </a:r>
            <a:r>
              <a:rPr>
                <a:solidFill>
                  <a:srgbClr val="000000"/>
                </a:solidFill>
              </a:rPr>
              <a:t>&gt; x = </a:t>
            </a:r>
            <a:r>
              <a:rPr>
                <a:solidFill>
                  <a:srgbClr val="3D1D81"/>
                </a:solidFill>
              </a:rPr>
              <a:t>async</a:t>
            </a:r>
            <a:r>
              <a:rPr>
                <a:solidFill>
                  <a:srgbClr val="000000"/>
                </a:solidFill>
              </a:rPr>
              <a:t>([]{ </a:t>
            </a:r>
            <a:r>
              <a:rPr>
                <a:solidFill>
                  <a:srgbClr val="BB2CA2"/>
                </a:solidFill>
              </a:rPr>
              <a:t>return</a:t>
            </a:r>
            <a:r>
              <a:rPr>
                <a:solidFill>
                  <a:srgbClr val="000000"/>
                </a:solidFill>
              </a:rPr>
              <a:t> </a:t>
            </a:r>
            <a:r>
              <a:t>fibonacci</a:t>
            </a:r>
            <a:r>
              <a:rPr>
                <a:solidFill>
                  <a:srgbClr val="000000"/>
                </a:solidFill>
              </a:rPr>
              <a:t>&lt;</a:t>
            </a:r>
            <a:r>
              <a:rPr>
                <a:solidFill>
                  <a:srgbClr val="703DAA"/>
                </a:solidFill>
              </a:rPr>
              <a:t>cpp_int</a:t>
            </a:r>
            <a:r>
              <a:rPr>
                <a:solidFill>
                  <a:srgbClr val="000000"/>
                </a:solidFill>
              </a:rPr>
              <a:t>&gt;(</a:t>
            </a:r>
            <a:r>
              <a:rPr>
                <a:solidFill>
                  <a:srgbClr val="272AD8"/>
                </a:solidFill>
              </a:rPr>
              <a:t>1'000'000</a:t>
            </a:r>
            <a:r>
              <a:rPr>
                <a:solidFill>
                  <a:srgbClr val="000000"/>
                </a:solidFill>
              </a:rPr>
              <a:t>); });</a:t>
            </a:r>
            <a:r>
              <a:t>    </a:t>
            </a:r>
          </a:p>
          <a:p>
            <a:pPr defTabSz="457200">
              <a:buClrTx/>
              <a:tabLst>
                <a:tab pos="546100" algn="l"/>
              </a:tabLst>
              <a:defRPr sz="2400">
                <a:solidFill>
                  <a:srgbClr val="31595D"/>
                </a:solidFill>
                <a:uFillTx/>
                <a:latin typeface="Menlo Regular"/>
                <a:ea typeface="Menlo Regular"/>
                <a:cs typeface="Menlo Regular"/>
                <a:sym typeface="Menlo Regular"/>
              </a:defRPr>
            </a:pPr>
          </a:p>
          <a:p>
            <a:pPr defTabSz="457200">
              <a:buClrTx/>
              <a:tabLst>
                <a:tab pos="546100" algn="l"/>
              </a:tabLst>
              <a:defRPr sz="2400">
                <a:solidFill>
                  <a:srgbClr val="008400"/>
                </a:solidFill>
                <a:uFillTx/>
                <a:latin typeface="Menlo Regular"/>
                <a:ea typeface="Menlo Regular"/>
                <a:cs typeface="Menlo Regular"/>
                <a:sym typeface="Menlo Regular"/>
              </a:defRPr>
            </a:pPr>
            <a:r>
              <a:t>// Do Something</a:t>
            </a:r>
            <a:endParaRPr>
              <a:solidFill>
                <a:srgbClr val="000000"/>
              </a:solidFill>
            </a:endParaRPr>
          </a:p>
          <a:p>
            <a:pPr defTabSz="457200">
              <a:buClrTx/>
              <a:tabLst>
                <a:tab pos="546100" algn="l"/>
              </a:tabLst>
              <a:defRPr sz="2400">
                <a:uFillTx/>
                <a:latin typeface="Menlo Regular"/>
                <a:ea typeface="Menlo Regular"/>
                <a:cs typeface="Menlo Regular"/>
                <a:sym typeface="Menlo Regular"/>
              </a:defRPr>
            </a:pPr>
          </a:p>
          <a:p>
            <a:pPr defTabSz="457200">
              <a:buClrTx/>
              <a:tabLst>
                <a:tab pos="546100" algn="l"/>
              </a:tabLst>
              <a:defRPr sz="2400">
                <a:uFillTx/>
                <a:latin typeface="Menlo Regular"/>
                <a:ea typeface="Menlo Regular"/>
                <a:cs typeface="Menlo Regular"/>
                <a:sym typeface="Menlo Regular"/>
              </a:defRPr>
            </a:pPr>
            <a:r>
              <a:rPr>
                <a:solidFill>
                  <a:srgbClr val="703DAA"/>
                </a:solidFill>
              </a:rPr>
              <a:t>cout</a:t>
            </a:r>
            <a:r>
              <a:t> &lt;&lt; x.</a:t>
            </a:r>
            <a:r>
              <a:rPr>
                <a:solidFill>
                  <a:srgbClr val="3D1D81"/>
                </a:solidFill>
              </a:rPr>
              <a:t>get</a:t>
            </a:r>
            <a:r>
              <a:t>() &lt;&lt; </a:t>
            </a:r>
            <a:r>
              <a:rPr>
                <a:solidFill>
                  <a:srgbClr val="3D1D81"/>
                </a:solidFill>
              </a:rPr>
              <a:t>endl</a:t>
            </a:r>
            <a:r>
              <a:t>;</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02" grpId="1"/>
    </p:bldLst>
  </p:timing>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9"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10"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11"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012" name="Public Service Announcement - How to Write Fibonacci"/>
          <p:cNvSpPr txBox="1"/>
          <p:nvPr>
            <p:ph type="title"/>
          </p:nvPr>
        </p:nvSpPr>
        <p:spPr>
          <a:xfrm>
            <a:off x="609600" y="368300"/>
            <a:ext cx="23182917" cy="822325"/>
          </a:xfrm>
          <a:prstGeom prst="rect">
            <a:avLst/>
          </a:prstGeom>
        </p:spPr>
        <p:txBody>
          <a:bodyPr/>
          <a:lstStyle>
            <a:lvl1pPr>
              <a:defRPr sz="4200"/>
            </a:lvl1pPr>
          </a:lstStyle>
          <a:p>
            <a:pPr/>
            <a:r>
              <a:t>Public Service Announcement - How to Write Fibonacci</a:t>
            </a:r>
          </a:p>
        </p:txBody>
      </p:sp>
      <p:sp>
        <p:nvSpPr>
          <p:cNvPr id="1013" name="template &lt;typename T, typename N, typename O&gt;…"/>
          <p:cNvSpPr txBox="1"/>
          <p:nvPr>
            <p:ph type="body" idx="1"/>
          </p:nvPr>
        </p:nvSpPr>
        <p:spPr>
          <a:xfrm>
            <a:off x="609600" y="1941452"/>
            <a:ext cx="23182917" cy="10363201"/>
          </a:xfrm>
          <a:prstGeom prst="rect">
            <a:avLst/>
          </a:prstGeom>
        </p:spPr>
        <p:txBody>
          <a:bodyPr/>
          <a:lstStyle/>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T, </a:t>
            </a:r>
            <a:r>
              <a:t>typename</a:t>
            </a:r>
            <a:r>
              <a:rPr>
                <a:solidFill>
                  <a:srgbClr val="000000"/>
                </a:solidFill>
              </a:rPr>
              <a:t> N, </a:t>
            </a:r>
            <a:r>
              <a:t>typename</a:t>
            </a:r>
            <a:r>
              <a:rPr>
                <a:solidFill>
                  <a:srgbClr val="000000"/>
                </a:solidFill>
              </a:rPr>
              <a:t> O&gt;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T power(T x, N n, O op)</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if</a:t>
            </a:r>
            <a:r>
              <a:t> (n == </a:t>
            </a:r>
            <a:r>
              <a:rPr>
                <a:solidFill>
                  <a:srgbClr val="272AD8"/>
                </a:solidFill>
              </a:rPr>
              <a:t>0</a:t>
            </a:r>
            <a:r>
              <a:t>) </a:t>
            </a:r>
            <a:r>
              <a:rPr>
                <a:solidFill>
                  <a:srgbClr val="BB2CA2"/>
                </a:solidFill>
              </a:rPr>
              <a:t>return</a:t>
            </a:r>
            <a:r>
              <a:t> identity_element(op);</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while</a:t>
            </a:r>
            <a:r>
              <a:t> ((n &amp; </a:t>
            </a:r>
            <a:r>
              <a:rPr>
                <a:solidFill>
                  <a:srgbClr val="272AD8"/>
                </a:solidFill>
              </a:rPr>
              <a:t>1</a:t>
            </a:r>
            <a:r>
              <a:t>) == </a:t>
            </a:r>
            <a:r>
              <a:rPr>
                <a:solidFill>
                  <a:srgbClr val="272AD8"/>
                </a:solidFill>
              </a:rPr>
              <a:t>0</a:t>
            </a: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n &gt;&gt;= </a:t>
            </a:r>
            <a:r>
              <a:rPr>
                <a:solidFill>
                  <a:srgbClr val="272AD8"/>
                </a:solidFill>
              </a:rPr>
              <a:t>1</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x = op(x, x);</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T result = x;</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n &gt;&gt;= </a:t>
            </a:r>
            <a:r>
              <a:rPr>
                <a:solidFill>
                  <a:srgbClr val="272AD8"/>
                </a:solidFill>
              </a:rPr>
              <a:t>1</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while</a:t>
            </a:r>
            <a:r>
              <a:t> (n != </a:t>
            </a:r>
            <a:r>
              <a:rPr>
                <a:solidFill>
                  <a:srgbClr val="272AD8"/>
                </a:solidFill>
              </a:rPr>
              <a:t>0</a:t>
            </a: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x = op(x, x);</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if</a:t>
            </a:r>
            <a:r>
              <a:t> ((n &amp; </a:t>
            </a:r>
            <a:r>
              <a:rPr>
                <a:solidFill>
                  <a:srgbClr val="272AD8"/>
                </a:solidFill>
              </a:rPr>
              <a:t>1</a:t>
            </a:r>
            <a:r>
              <a:t>) != </a:t>
            </a:r>
            <a:r>
              <a:rPr>
                <a:solidFill>
                  <a:srgbClr val="272AD8"/>
                </a:solidFill>
              </a:rPr>
              <a:t>0</a:t>
            </a:r>
            <a:r>
              <a:t>) result = op(result, x);</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n &gt;&gt;= </a:t>
            </a:r>
            <a:r>
              <a:rPr>
                <a:solidFill>
                  <a:srgbClr val="272AD8"/>
                </a:solidFill>
              </a:rPr>
              <a:t>1</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return</a:t>
            </a:r>
            <a:r>
              <a:t> result;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1014" name="Slide Number"/>
          <p:cNvSpPr txBox="1"/>
          <p:nvPr>
            <p:ph type="sldNum" sz="quarter" idx="2"/>
          </p:nvPr>
        </p:nvSpPr>
        <p:spPr>
          <a:xfrm>
            <a:off x="12039939" y="12934946"/>
            <a:ext cx="32319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015"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
        <p:nvSpPr>
          <p:cNvPr id="1016" name="Egyptian Multiplication (Russian Peasant Algorithm)…"/>
          <p:cNvSpPr txBox="1"/>
          <p:nvPr/>
        </p:nvSpPr>
        <p:spPr>
          <a:xfrm>
            <a:off x="4636998" y="9534594"/>
            <a:ext cx="15110004" cy="1244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Egyptian Multiplication (Russian Peasant Algorithm)</a:t>
            </a:r>
          </a:p>
          <a:p>
            <a:pPr/>
            <a:r>
              <a:t>See “From Mathematics to Generic Programming” - Alex Stepanov and Dan Rose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16" grpId="1"/>
    </p:bldLst>
  </p:timing>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8"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19"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20"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021" name="Public Service Announcement - How to Write Fibonacci"/>
          <p:cNvSpPr txBox="1"/>
          <p:nvPr>
            <p:ph type="title"/>
          </p:nvPr>
        </p:nvSpPr>
        <p:spPr>
          <a:xfrm>
            <a:off x="609600" y="368300"/>
            <a:ext cx="23182917" cy="822325"/>
          </a:xfrm>
          <a:prstGeom prst="rect">
            <a:avLst/>
          </a:prstGeom>
        </p:spPr>
        <p:txBody>
          <a:bodyPr/>
          <a:lstStyle>
            <a:lvl1pPr>
              <a:defRPr sz="4200"/>
            </a:lvl1pPr>
          </a:lstStyle>
          <a:p>
            <a:pPr/>
            <a:r>
              <a:t>Public Service Announcement - How to Write Fibonacci</a:t>
            </a:r>
          </a:p>
        </p:txBody>
      </p:sp>
      <p:sp>
        <p:nvSpPr>
          <p:cNvPr id="1022" name="template &lt;typename N&gt;…"/>
          <p:cNvSpPr txBox="1"/>
          <p:nvPr>
            <p:ph type="body" idx="1"/>
          </p:nvPr>
        </p:nvSpPr>
        <p:spPr>
          <a:prstGeom prst="rect">
            <a:avLst/>
          </a:prstGeom>
        </p:spPr>
        <p:txBody>
          <a:bodyPr/>
          <a:lstStyle/>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N&gt;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struct</a:t>
            </a:r>
            <a:r>
              <a:t> multiply_2x2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rPr>
                <a:solidFill>
                  <a:srgbClr val="703DAA"/>
                </a:solidFill>
              </a:rPr>
              <a:t>array</a:t>
            </a:r>
            <a:r>
              <a:rPr>
                <a:solidFill>
                  <a:srgbClr val="000000"/>
                </a:solidFill>
              </a:rPr>
              <a:t>&lt;N, </a:t>
            </a:r>
            <a:r>
              <a:rPr>
                <a:solidFill>
                  <a:srgbClr val="272AD8"/>
                </a:solidFill>
              </a:rPr>
              <a:t>4</a:t>
            </a:r>
            <a:r>
              <a:rPr>
                <a:solidFill>
                  <a:srgbClr val="000000"/>
                </a:solidFill>
              </a:rPr>
              <a:t>&gt; </a:t>
            </a:r>
            <a:r>
              <a:t>operator</a:t>
            </a:r>
            <a:r>
              <a:rPr>
                <a:solidFill>
                  <a:srgbClr val="000000"/>
                </a:solidFill>
              </a:rPr>
              <a:t>()(</a:t>
            </a:r>
            <a:r>
              <a:t>const</a:t>
            </a:r>
            <a:r>
              <a:rPr>
                <a:solidFill>
                  <a:srgbClr val="000000"/>
                </a:solidFill>
              </a:rPr>
              <a:t> </a:t>
            </a:r>
            <a:r>
              <a:rPr>
                <a:solidFill>
                  <a:srgbClr val="703DAA"/>
                </a:solidFill>
              </a:rPr>
              <a:t>array</a:t>
            </a:r>
            <a:r>
              <a:rPr>
                <a:solidFill>
                  <a:srgbClr val="000000"/>
                </a:solidFill>
              </a:rPr>
              <a:t>&lt;N, </a:t>
            </a:r>
            <a:r>
              <a:rPr>
                <a:solidFill>
                  <a:srgbClr val="272AD8"/>
                </a:solidFill>
              </a:rPr>
              <a:t>4</a:t>
            </a:r>
            <a:r>
              <a:rPr>
                <a:solidFill>
                  <a:srgbClr val="000000"/>
                </a:solidFill>
              </a:rPr>
              <a:t>&gt;&amp; x, </a:t>
            </a:r>
            <a:r>
              <a:t>const</a:t>
            </a:r>
            <a:r>
              <a:rPr>
                <a:solidFill>
                  <a:srgbClr val="000000"/>
                </a:solidFill>
              </a:rPr>
              <a:t> </a:t>
            </a:r>
            <a:r>
              <a:rPr>
                <a:solidFill>
                  <a:srgbClr val="703DAA"/>
                </a:solidFill>
              </a:rPr>
              <a:t>array</a:t>
            </a:r>
            <a:r>
              <a:rPr>
                <a:solidFill>
                  <a:srgbClr val="000000"/>
                </a:solidFill>
              </a:rPr>
              <a:t>&lt;N, </a:t>
            </a:r>
            <a:r>
              <a:rPr>
                <a:solidFill>
                  <a:srgbClr val="272AD8"/>
                </a:solidFill>
              </a:rPr>
              <a:t>4</a:t>
            </a:r>
            <a:r>
              <a:rPr>
                <a:solidFill>
                  <a:srgbClr val="000000"/>
                </a:solidFill>
              </a:rPr>
              <a:t>&gt;&amp; y)</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return</a:t>
            </a:r>
            <a:r>
              <a:t> { x[</a:t>
            </a:r>
            <a:r>
              <a:rPr>
                <a:solidFill>
                  <a:srgbClr val="272AD8"/>
                </a:solidFill>
              </a:rPr>
              <a:t>0</a:t>
            </a:r>
            <a:r>
              <a:t>] * y[</a:t>
            </a:r>
            <a:r>
              <a:rPr>
                <a:solidFill>
                  <a:srgbClr val="272AD8"/>
                </a:solidFill>
              </a:rPr>
              <a:t>0</a:t>
            </a:r>
            <a:r>
              <a:t>] + x[</a:t>
            </a:r>
            <a:r>
              <a:rPr>
                <a:solidFill>
                  <a:srgbClr val="272AD8"/>
                </a:solidFill>
              </a:rPr>
              <a:t>1</a:t>
            </a:r>
            <a:r>
              <a:t>] * y[</a:t>
            </a:r>
            <a:r>
              <a:rPr>
                <a:solidFill>
                  <a:srgbClr val="272AD8"/>
                </a:solidFill>
              </a:rPr>
              <a:t>2</a:t>
            </a:r>
            <a:r>
              <a:t>], x[</a:t>
            </a:r>
            <a:r>
              <a:rPr>
                <a:solidFill>
                  <a:srgbClr val="272AD8"/>
                </a:solidFill>
              </a:rPr>
              <a:t>0</a:t>
            </a:r>
            <a:r>
              <a:t>] * y[</a:t>
            </a:r>
            <a:r>
              <a:rPr>
                <a:solidFill>
                  <a:srgbClr val="272AD8"/>
                </a:solidFill>
              </a:rPr>
              <a:t>1</a:t>
            </a:r>
            <a:r>
              <a:t>] + x[</a:t>
            </a:r>
            <a:r>
              <a:rPr>
                <a:solidFill>
                  <a:srgbClr val="272AD8"/>
                </a:solidFill>
              </a:rPr>
              <a:t>1</a:t>
            </a:r>
            <a:r>
              <a:t>] * y[</a:t>
            </a:r>
            <a:r>
              <a:rPr>
                <a:solidFill>
                  <a:srgbClr val="272AD8"/>
                </a:solidFill>
              </a:rPr>
              <a:t>3</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x[</a:t>
            </a:r>
            <a:r>
              <a:rPr>
                <a:solidFill>
                  <a:srgbClr val="272AD8"/>
                </a:solidFill>
              </a:rPr>
              <a:t>2</a:t>
            </a:r>
            <a:r>
              <a:t>] * y[</a:t>
            </a:r>
            <a:r>
              <a:rPr>
                <a:solidFill>
                  <a:srgbClr val="272AD8"/>
                </a:solidFill>
              </a:rPr>
              <a:t>0</a:t>
            </a:r>
            <a:r>
              <a:t>] + x[</a:t>
            </a:r>
            <a:r>
              <a:rPr>
                <a:solidFill>
                  <a:srgbClr val="272AD8"/>
                </a:solidFill>
              </a:rPr>
              <a:t>3</a:t>
            </a:r>
            <a:r>
              <a:t>] * y[</a:t>
            </a:r>
            <a:r>
              <a:rPr>
                <a:solidFill>
                  <a:srgbClr val="272AD8"/>
                </a:solidFill>
              </a:rPr>
              <a:t>2</a:t>
            </a:r>
            <a:r>
              <a:t>], x[</a:t>
            </a:r>
            <a:r>
              <a:rPr>
                <a:solidFill>
                  <a:srgbClr val="272AD8"/>
                </a:solidFill>
              </a:rPr>
              <a:t>2</a:t>
            </a:r>
            <a:r>
              <a:t>] * y[</a:t>
            </a:r>
            <a:r>
              <a:rPr>
                <a:solidFill>
                  <a:srgbClr val="272AD8"/>
                </a:solidFill>
              </a:rPr>
              <a:t>1</a:t>
            </a:r>
            <a:r>
              <a:t>] + x[</a:t>
            </a:r>
            <a:r>
              <a:rPr>
                <a:solidFill>
                  <a:srgbClr val="272AD8"/>
                </a:solidFill>
              </a:rPr>
              <a:t>3</a:t>
            </a:r>
            <a:r>
              <a:t>] * y[</a:t>
            </a:r>
            <a:r>
              <a:rPr>
                <a:solidFill>
                  <a:srgbClr val="272AD8"/>
                </a:solidFill>
              </a:rPr>
              <a:t>3</a:t>
            </a: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N&gt;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703DAA"/>
                </a:solidFill>
              </a:rPr>
              <a:t>array</a:t>
            </a:r>
            <a:r>
              <a:t>&lt;N, </a:t>
            </a:r>
            <a:r>
              <a:rPr>
                <a:solidFill>
                  <a:srgbClr val="272AD8"/>
                </a:solidFill>
              </a:rPr>
              <a:t>4</a:t>
            </a:r>
            <a:r>
              <a:t>&gt; identity_element(</a:t>
            </a:r>
            <a:r>
              <a:rPr>
                <a:solidFill>
                  <a:srgbClr val="BB2CA2"/>
                </a:solidFill>
              </a:rPr>
              <a:t>const</a:t>
            </a:r>
            <a:r>
              <a:t> </a:t>
            </a:r>
            <a:r>
              <a:rPr>
                <a:solidFill>
                  <a:srgbClr val="4F8187"/>
                </a:solidFill>
              </a:rPr>
              <a:t>multiply_2x2</a:t>
            </a:r>
            <a:r>
              <a:t>&lt;N&gt;&amp;) { </a:t>
            </a:r>
            <a:r>
              <a:rPr>
                <a:solidFill>
                  <a:srgbClr val="BB2CA2"/>
                </a:solidFill>
              </a:rPr>
              <a:t>return</a:t>
            </a:r>
            <a:r>
              <a:t> { N(</a:t>
            </a:r>
            <a:r>
              <a:rPr>
                <a:solidFill>
                  <a:srgbClr val="272AD8"/>
                </a:solidFill>
              </a:rPr>
              <a:t>1</a:t>
            </a:r>
            <a:r>
              <a:t>), N(</a:t>
            </a:r>
            <a:r>
              <a:rPr>
                <a:solidFill>
                  <a:srgbClr val="272AD8"/>
                </a:solidFill>
              </a:rPr>
              <a:t>0</a:t>
            </a:r>
            <a:r>
              <a:t>), N(</a:t>
            </a:r>
            <a:r>
              <a:rPr>
                <a:solidFill>
                  <a:srgbClr val="272AD8"/>
                </a:solidFill>
              </a:rPr>
              <a:t>0</a:t>
            </a:r>
            <a:r>
              <a:t>), N(</a:t>
            </a:r>
            <a:r>
              <a:rPr>
                <a:solidFill>
                  <a:srgbClr val="272AD8"/>
                </a:solidFill>
              </a:rPr>
              <a:t>1</a:t>
            </a:r>
            <a:r>
              <a:t>)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R, </a:t>
            </a:r>
            <a:r>
              <a:t>typename</a:t>
            </a:r>
            <a:r>
              <a:rPr>
                <a:solidFill>
                  <a:srgbClr val="000000"/>
                </a:solidFill>
              </a:rPr>
              <a:t> N&gt;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R fibonacci(N n)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if</a:t>
            </a:r>
            <a:r>
              <a:t> (n == </a:t>
            </a:r>
            <a:r>
              <a:rPr>
                <a:solidFill>
                  <a:srgbClr val="272AD8"/>
                </a:solidFill>
              </a:rPr>
              <a:t>0</a:t>
            </a:r>
            <a:r>
              <a:t>) </a:t>
            </a:r>
            <a:r>
              <a:rPr>
                <a:solidFill>
                  <a:srgbClr val="BB2CA2"/>
                </a:solidFill>
              </a:rPr>
              <a:t>return</a:t>
            </a:r>
            <a:r>
              <a:t> R(</a:t>
            </a:r>
            <a:r>
              <a:rPr>
                <a:solidFill>
                  <a:srgbClr val="272AD8"/>
                </a:solidFill>
              </a:rPr>
              <a:t>0</a:t>
            </a:r>
            <a:r>
              <a:t>);</a:t>
            </a:r>
          </a:p>
          <a:p>
            <a:pPr marL="0" indent="0" defTabSz="457200">
              <a:spcBef>
                <a:spcPts val="0"/>
              </a:spcBef>
              <a:buClrTx/>
              <a:buSzTx/>
              <a:buNone/>
              <a:tabLst>
                <a:tab pos="546100" algn="l"/>
              </a:tabLst>
              <a:defRPr sz="2400">
                <a:solidFill>
                  <a:srgbClr val="4F8187"/>
                </a:solidFill>
                <a:uFillTx/>
                <a:latin typeface="Menlo Regular"/>
                <a:ea typeface="Menlo Regular"/>
                <a:cs typeface="Menlo Regular"/>
                <a:sym typeface="Menlo Regular"/>
              </a:defRPr>
            </a:pPr>
            <a:r>
              <a:rPr>
                <a:solidFill>
                  <a:srgbClr val="000000"/>
                </a:solidFill>
              </a:rPr>
              <a:t>    </a:t>
            </a:r>
            <a:r>
              <a:rPr>
                <a:solidFill>
                  <a:srgbClr val="BB2CA2"/>
                </a:solidFill>
              </a:rPr>
              <a:t>return</a:t>
            </a:r>
            <a:r>
              <a:rPr>
                <a:solidFill>
                  <a:srgbClr val="000000"/>
                </a:solidFill>
              </a:rPr>
              <a:t> power(</a:t>
            </a:r>
            <a:r>
              <a:rPr>
                <a:solidFill>
                  <a:srgbClr val="703DAA"/>
                </a:solidFill>
              </a:rPr>
              <a:t>array</a:t>
            </a:r>
            <a:r>
              <a:rPr>
                <a:solidFill>
                  <a:srgbClr val="000000"/>
                </a:solidFill>
              </a:rPr>
              <a:t>&lt;R, </a:t>
            </a:r>
            <a:r>
              <a:rPr>
                <a:solidFill>
                  <a:srgbClr val="272AD8"/>
                </a:solidFill>
              </a:rPr>
              <a:t>4</a:t>
            </a:r>
            <a:r>
              <a:rPr>
                <a:solidFill>
                  <a:srgbClr val="000000"/>
                </a:solidFill>
              </a:rPr>
              <a:t>&gt;{ </a:t>
            </a:r>
            <a:r>
              <a:rPr>
                <a:solidFill>
                  <a:srgbClr val="272AD8"/>
                </a:solidFill>
              </a:rPr>
              <a:t>1</a:t>
            </a:r>
            <a:r>
              <a:rPr>
                <a:solidFill>
                  <a:srgbClr val="000000"/>
                </a:solidFill>
              </a:rPr>
              <a:t>, </a:t>
            </a:r>
            <a:r>
              <a:rPr>
                <a:solidFill>
                  <a:srgbClr val="272AD8"/>
                </a:solidFill>
              </a:rPr>
              <a:t>1</a:t>
            </a:r>
            <a:r>
              <a:rPr>
                <a:solidFill>
                  <a:srgbClr val="000000"/>
                </a:solidFill>
              </a:rPr>
              <a:t>, </a:t>
            </a:r>
            <a:r>
              <a:rPr>
                <a:solidFill>
                  <a:srgbClr val="272AD8"/>
                </a:solidFill>
              </a:rPr>
              <a:t>1</a:t>
            </a:r>
            <a:r>
              <a:rPr>
                <a:solidFill>
                  <a:srgbClr val="000000"/>
                </a:solidFill>
              </a:rPr>
              <a:t>, </a:t>
            </a:r>
            <a:r>
              <a:rPr>
                <a:solidFill>
                  <a:srgbClr val="272AD8"/>
                </a:solidFill>
              </a:rPr>
              <a:t>0</a:t>
            </a:r>
            <a:r>
              <a:rPr>
                <a:solidFill>
                  <a:srgbClr val="000000"/>
                </a:solidFill>
              </a:rPr>
              <a:t> }, N(n - </a:t>
            </a:r>
            <a:r>
              <a:rPr>
                <a:solidFill>
                  <a:srgbClr val="272AD8"/>
                </a:solidFill>
              </a:rPr>
              <a:t>1</a:t>
            </a:r>
            <a:r>
              <a:rPr>
                <a:solidFill>
                  <a:srgbClr val="000000"/>
                </a:solidFill>
              </a:rPr>
              <a:t>), </a:t>
            </a:r>
            <a:r>
              <a:t>multiply_2x2</a:t>
            </a:r>
            <a:r>
              <a:rPr>
                <a:solidFill>
                  <a:srgbClr val="000000"/>
                </a:solidFill>
              </a:rPr>
              <a:t>&lt;R&gt;())[</a:t>
            </a:r>
            <a:r>
              <a:rPr>
                <a:solidFill>
                  <a:srgbClr val="272AD8"/>
                </a:solidFill>
              </a:rPr>
              <a:t>0</a:t>
            </a:r>
            <a:r>
              <a:rPr>
                <a:solidFill>
                  <a:srgbClr val="000000"/>
                </a:solidFill>
              </a:rPr>
              <a: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1023" name="Slide Number"/>
          <p:cNvSpPr txBox="1"/>
          <p:nvPr>
            <p:ph type="sldNum" sz="quarter" idx="2"/>
          </p:nvPr>
        </p:nvSpPr>
        <p:spPr>
          <a:xfrm>
            <a:off x="12041361" y="12934946"/>
            <a:ext cx="320346"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024"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pic>
        <p:nvPicPr>
          <p:cNvPr id="1025" name="Image" descr="Image"/>
          <p:cNvPicPr>
            <a:picLocks noChangeAspect="1"/>
          </p:cNvPicPr>
          <p:nvPr/>
        </p:nvPicPr>
        <p:blipFill>
          <a:blip r:embed="rId4">
            <a:extLst/>
          </a:blip>
          <a:stretch>
            <a:fillRect/>
          </a:stretch>
        </p:blipFill>
        <p:spPr>
          <a:xfrm>
            <a:off x="16045305" y="6224589"/>
            <a:ext cx="7442201" cy="1993901"/>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25" grpId="1"/>
    </p:bldLst>
  </p:timing>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9"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30"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31"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032" name="Futures"/>
          <p:cNvSpPr txBox="1"/>
          <p:nvPr>
            <p:ph type="title"/>
          </p:nvPr>
        </p:nvSpPr>
        <p:spPr>
          <a:xfrm>
            <a:off x="609600" y="368300"/>
            <a:ext cx="23182917" cy="822325"/>
          </a:xfrm>
          <a:prstGeom prst="rect">
            <a:avLst/>
          </a:prstGeom>
        </p:spPr>
        <p:txBody>
          <a:bodyPr/>
          <a:lstStyle>
            <a:lvl1pPr>
              <a:defRPr sz="4200"/>
            </a:lvl1pPr>
          </a:lstStyle>
          <a:p>
            <a:pPr/>
            <a:r>
              <a:t>Futures</a:t>
            </a:r>
          </a:p>
        </p:txBody>
      </p:sp>
      <p:sp>
        <p:nvSpPr>
          <p:cNvPr id="1033" name="Slide Number"/>
          <p:cNvSpPr txBox="1"/>
          <p:nvPr>
            <p:ph type="sldNum" sz="quarter" idx="2"/>
          </p:nvPr>
        </p:nvSpPr>
        <p:spPr>
          <a:xfrm>
            <a:off x="12042073" y="12934946"/>
            <a:ext cx="318923"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034"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
        <p:nvSpPr>
          <p:cNvPr id="1035" name="future&lt;cpp_int&gt; x = async([]{ return fibonacci&lt;cpp_int&gt;(1'000'000); });…"/>
          <p:cNvSpPr txBox="1"/>
          <p:nvPr/>
        </p:nvSpPr>
        <p:spPr>
          <a:xfrm>
            <a:off x="701248" y="3415275"/>
            <a:ext cx="13877182" cy="2235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buClrTx/>
              <a:tabLst>
                <a:tab pos="546100" algn="l"/>
              </a:tabLst>
              <a:defRPr sz="2400">
                <a:solidFill>
                  <a:srgbClr val="31595D"/>
                </a:solidFill>
                <a:uFillTx/>
                <a:latin typeface="Menlo Regular"/>
                <a:ea typeface="Menlo Regular"/>
                <a:cs typeface="Menlo Regular"/>
                <a:sym typeface="Menlo Regular"/>
              </a:defRPr>
            </a:pPr>
            <a:r>
              <a:rPr>
                <a:solidFill>
                  <a:srgbClr val="703DAA"/>
                </a:solidFill>
              </a:rPr>
              <a:t>future</a:t>
            </a:r>
            <a:r>
              <a:rPr>
                <a:solidFill>
                  <a:srgbClr val="000000"/>
                </a:solidFill>
              </a:rPr>
              <a:t>&lt;</a:t>
            </a:r>
            <a:r>
              <a:rPr>
                <a:solidFill>
                  <a:srgbClr val="703DAA"/>
                </a:solidFill>
              </a:rPr>
              <a:t>cpp_int</a:t>
            </a:r>
            <a:r>
              <a:rPr>
                <a:solidFill>
                  <a:srgbClr val="000000"/>
                </a:solidFill>
              </a:rPr>
              <a:t>&gt; x = </a:t>
            </a:r>
            <a:r>
              <a:rPr>
                <a:solidFill>
                  <a:srgbClr val="3D1D81"/>
                </a:solidFill>
              </a:rPr>
              <a:t>async</a:t>
            </a:r>
            <a:r>
              <a:rPr>
                <a:solidFill>
                  <a:srgbClr val="000000"/>
                </a:solidFill>
              </a:rPr>
              <a:t>([]{ </a:t>
            </a:r>
            <a:r>
              <a:rPr>
                <a:solidFill>
                  <a:srgbClr val="BB2CA2"/>
                </a:solidFill>
              </a:rPr>
              <a:t>return</a:t>
            </a:r>
            <a:r>
              <a:rPr>
                <a:solidFill>
                  <a:srgbClr val="000000"/>
                </a:solidFill>
              </a:rPr>
              <a:t> </a:t>
            </a:r>
            <a:r>
              <a:t>fibonacci</a:t>
            </a:r>
            <a:r>
              <a:rPr>
                <a:solidFill>
                  <a:srgbClr val="000000"/>
                </a:solidFill>
              </a:rPr>
              <a:t>&lt;</a:t>
            </a:r>
            <a:r>
              <a:rPr>
                <a:solidFill>
                  <a:srgbClr val="703DAA"/>
                </a:solidFill>
              </a:rPr>
              <a:t>cpp_int</a:t>
            </a:r>
            <a:r>
              <a:rPr>
                <a:solidFill>
                  <a:srgbClr val="000000"/>
                </a:solidFill>
              </a:rPr>
              <a:t>&gt;(</a:t>
            </a:r>
            <a:r>
              <a:rPr>
                <a:solidFill>
                  <a:srgbClr val="272AD8"/>
                </a:solidFill>
              </a:rPr>
              <a:t>1'000'000</a:t>
            </a:r>
            <a:r>
              <a:rPr>
                <a:solidFill>
                  <a:srgbClr val="000000"/>
                </a:solidFill>
              </a:rPr>
              <a:t>); });</a:t>
            </a:r>
            <a:r>
              <a:t>    </a:t>
            </a:r>
          </a:p>
          <a:p>
            <a:pPr defTabSz="457200">
              <a:buClrTx/>
              <a:tabLst>
                <a:tab pos="546100" algn="l"/>
              </a:tabLst>
              <a:defRPr sz="2400">
                <a:uFillTx/>
                <a:latin typeface="Menlo Regular"/>
                <a:ea typeface="Menlo Regular"/>
                <a:cs typeface="Menlo Regular"/>
                <a:sym typeface="Menlo Regular"/>
              </a:defRPr>
            </a:pPr>
            <a:r>
              <a:t>    </a:t>
            </a:r>
          </a:p>
          <a:p>
            <a:pPr defTabSz="457200">
              <a:buClrTx/>
              <a:tabLst>
                <a:tab pos="546100" algn="l"/>
              </a:tabLst>
              <a:defRPr sz="2400">
                <a:solidFill>
                  <a:srgbClr val="008400"/>
                </a:solidFill>
                <a:uFillTx/>
                <a:latin typeface="Menlo Regular"/>
                <a:ea typeface="Menlo Regular"/>
                <a:cs typeface="Menlo Regular"/>
                <a:sym typeface="Menlo Regular"/>
              </a:defRPr>
            </a:pPr>
            <a:r>
              <a:t>// Do Something</a:t>
            </a:r>
            <a:endParaRPr>
              <a:solidFill>
                <a:srgbClr val="000000"/>
              </a:solidFill>
            </a:endParaRPr>
          </a:p>
          <a:p>
            <a:pPr defTabSz="457200">
              <a:buClrTx/>
              <a:tabLst>
                <a:tab pos="546100" algn="l"/>
              </a:tabLst>
              <a:defRPr sz="2400">
                <a:uFillTx/>
                <a:latin typeface="Menlo Regular"/>
                <a:ea typeface="Menlo Regular"/>
                <a:cs typeface="Menlo Regular"/>
                <a:sym typeface="Menlo Regular"/>
              </a:defRPr>
            </a:pPr>
          </a:p>
          <a:p>
            <a:pPr defTabSz="457200">
              <a:buClrTx/>
              <a:tabLst>
                <a:tab pos="546100" algn="l"/>
              </a:tabLst>
              <a:defRPr sz="2400">
                <a:uFillTx/>
                <a:latin typeface="Menlo Regular"/>
                <a:ea typeface="Menlo Regular"/>
                <a:cs typeface="Menlo Regular"/>
                <a:sym typeface="Menlo Regular"/>
              </a:defRPr>
            </a:pPr>
            <a:r>
              <a:rPr>
                <a:solidFill>
                  <a:srgbClr val="703DAA"/>
                </a:solidFill>
              </a:rPr>
              <a:t>cout</a:t>
            </a:r>
            <a:r>
              <a:t> &lt;&lt; x.</a:t>
            </a:r>
            <a:r>
              <a:rPr>
                <a:solidFill>
                  <a:srgbClr val="3D1D81"/>
                </a:solidFill>
              </a:rPr>
              <a:t>get</a:t>
            </a:r>
            <a:r>
              <a:t>() &lt;&lt; </a:t>
            </a:r>
            <a:r>
              <a:rPr>
                <a:solidFill>
                  <a:srgbClr val="3D1D81"/>
                </a:solidFill>
              </a:rPr>
              <a:t>endl</a:t>
            </a:r>
            <a:r>
              <a:t>;</a:t>
            </a:r>
          </a:p>
        </p:txBody>
      </p:sp>
    </p:spTree>
  </p:cSld>
  <p:clrMapOvr>
    <a:masterClrMapping/>
  </p:clrMapOvr>
  <p:transition xmlns:p14="http://schemas.microsoft.com/office/powerpoint/2010/main" spd="fast" advClick="1"/>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9"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40"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41"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042" name="Futures"/>
          <p:cNvSpPr txBox="1"/>
          <p:nvPr>
            <p:ph type="title"/>
          </p:nvPr>
        </p:nvSpPr>
        <p:spPr>
          <a:xfrm>
            <a:off x="609600" y="368300"/>
            <a:ext cx="23182917" cy="822325"/>
          </a:xfrm>
          <a:prstGeom prst="rect">
            <a:avLst/>
          </a:prstGeom>
        </p:spPr>
        <p:txBody>
          <a:bodyPr/>
          <a:lstStyle>
            <a:lvl1pPr>
              <a:defRPr sz="4200"/>
            </a:lvl1pPr>
          </a:lstStyle>
          <a:p>
            <a:pPr/>
            <a:r>
              <a:t>Futures</a:t>
            </a:r>
          </a:p>
        </p:txBody>
      </p:sp>
      <p:sp>
        <p:nvSpPr>
          <p:cNvPr id="1043" name="19532821287077577316320149475962563324435429965918733969534051945716252578870156947666419876341501461288795243352202360846255109120195602337440154381151966361569199621256428943033701138278006380027674115279274666698655783793188228320612714975832303348548"/>
          <p:cNvSpPr txBox="1"/>
          <p:nvPr>
            <p:ph type="body" idx="1"/>
          </p:nvPr>
        </p:nvSpPr>
        <p:spPr>
          <a:xfrm>
            <a:off x="622789" y="1727200"/>
            <a:ext cx="23182917" cy="819282557"/>
          </a:xfrm>
          <a:prstGeom prst="rect">
            <a:avLst/>
          </a:prstGeom>
        </p:spPr>
        <p:txBody>
          <a:bodyPr/>
          <a:lstStyle>
            <a:lvl1pPr marL="0" indent="0" defTabSz="457200">
              <a:spcBef>
                <a:spcPts val="0"/>
              </a:spcBef>
              <a:buClrTx/>
              <a:buSzTx/>
              <a:buNone/>
              <a:tabLst>
                <a:tab pos="546100" algn="l"/>
              </a:tabLst>
              <a:defRPr b="1" sz="2800">
                <a:uFillTx/>
                <a:latin typeface="Menlo Regular"/>
                <a:ea typeface="Menlo Regular"/>
                <a:cs typeface="Menlo Regular"/>
                <a:sym typeface="Menlo Regular"/>
              </a:defRPr>
            </a:lvl1pPr>
          </a:lstStyle>
          <a:p>
            <a:pPr/>
            <a:r>
              <a:t>19532821287077577316320149475962563324435429965918733969534051945716252578870156947666419876341501461288795243352202360846255109120195602337440154381151966361569199621256428943033701138278006380027674115279274666698655783793188228320612714975832303348548934895725992307229129019282092643316275217308614600179125820426996599360209593392020051848620284024473431398113674187202038684801753185386211128781082406177413832935545616876064540651259547180291265479428940369816592063610193592913521354103767990829403201557027161153950319759732477821629576316296533566947776632850623452455934606475750259358134434578167676462587885901137272990737294785114480895724561915035070255895291168685500088020132334587472177947814475467920160901706425856293597475465327575757400774320349134287851897953543047345603077650789387672865391667992328174493619915237681495576320853710478597061884387315305823956275608790631078190049751695947097367138917457045552021351233507944033607120305041446852210415650373210679322756258647511914611417360349681217380234224786080292021093192496490409832397066832470544417635125267324552754195016838452060230073949598542792982978312043821157576457876924955833514025221527206624418090032593807536284917966809529711850719137983367887377045991363933395581421203699026161797211325091840023055327607104316478190974300434647793363287601469996128023925829471557316688943339455429292871877487747892042961663565366107960239197021097284729667094273345863447980486339446352116549715072613427682054793209317507988801013041602798250635418234403455874223670128266635693461129461312312838906003654732766024569315151850018328483150645480029978935985161237074046158229354440701748339514575869547491750264542126364262224720600488554625899611904758921012242805428986215946466624785643735722177755498760876859120301185516356689020103446399839773266388890365078416180709154525299275973521395741547772914600879431433915606044582510782351166271892637923313014643880597879468444879060576786297460989627426663569682474293386740207436559426057944790711930522589315907193865455258804291397471401818491697338381384461548430631236492908355842780784561319364575591172213694633818031160030789621166865289595377843646440238251636244971819738544414956313171400285033892822274134603018094224837216321854717270452813824078425638747365249141118080783866506339945376239206700513391873331071360696981896282847632454232993062728704579912932457411675339022744999630965666809222625164685825445578513498241441272612401581575381809846666714500698883917855180089437018902572199248520874291556026191775228124660628996787166529678487268484905041328497297712688011639978376434280202452251550102240354169885185375015846738811940476197206196031265344967599178932444781707029044465895719502288091577938976424237518140209989995816123147790229578110016867018673861986179713813985466628196954855374070735622861616553942807641840809212047932816683005984504787929406356318097479755152035094682765918741610907637506902765294367561539803261388901944859410045292275418809457356207954218996629634413463969559809913750100537602594401136172191768811472647135498087560233984759011932754738925753084798049073358372367268170337326650466293577654655686956446137237206007272970374756751781604380114131844687870911594979938777781128264326798279051570834173895471133031409372436803880906566595766787075514018743719768827874371468730850359271665549721196784130412650383973567296441072675534867583350405142738245998707414685317897838502526496656325426833507169940199189676117784765028788679334506639170422673773246857633621190971175445916219735440612809994162559376843478887835657527774019727918513993830659000183040333701319368945967228872860733043459136583011338233204130753618234450087661457072523768694579629736468411076297289773202785082828195507544630846848475614381175736950145150613568790195540170045947861126027141658551071088345832529082512441105583375897863704748059860453472515002576209591084137302113274084462022683663213353775766378946313883274691172320590295400249563180463962904282511861823069631606413805768566669887175825733183772626866700352264675453451098670176158920724564681466379040482539781408925913175892496646873486705631883193817545825928711969042296020593122261312832308397380320697475782326926053089803117700339175622833079636022878074828990936449684079165607521124185121357011494106314604057388041694756710022316460900537114702107843824390119835179001398257490296445050281525127250892130240862522693038168620273414718216156545123737064349113430883889850229638173175753146504106383861733729843188195339335336422986359916889036204117868543826798712986683052621123913878725711808354320132081283462860456188900899601857681067764060041206892228733050007268703812017629122625174148602209091587019278541185007110110948073032156270509275156383949764826117579719162060093515954412129389122423843836521385907076938747818598648961410132463700675457719970781802401938051763343680816656390378301005573606506402411583703083367521602548032920856128677323133733623794249222948646769255675582510082542731697796399173023320969866535911843612180992984165461621231456044704709851970488982195754122408484430431491947020914293848847005014091351477163750465039879365139122322975356679688686607309936448710011827024346701515293914443313082525027131273969844166806703170929367543705403502999906074781067717930123916380180347981940855924023118494881276803714051624334119261781419796030211868955123277401243785470662133245830166075037988621636926561326802921156544795730058589912408903987073678681602474336901548278508688694000572206826164500210989598907700306090410050620588150196997459168362808231108618529429700616082103280758914076323989760370490897583646216117942955868556789655060405033201294649659162972098935072487426583547183554893834362382683027261391459804683447820578745317784833002937618309028920627335819276363353000960944334206013318790983354723911941475441247732915646148560842439512600507960500976384006973642399124879224985501650736970596699620737469162723011407852512134136404264361205459217481822659775475887871576449973889045227199530567088413439341640459264765471377410467325758511555351607047989570470051031947704811185283699859483563175142378151957939359021464769229769305342995712046209948535535809178192319846268597639266642348134192443088252336345215196896433254512041433531641934079232856234992947398757207370582426056935826222604770315685258560219881427081247798675089410305480337787381222570790421531557085624483556442893915267627292343902087150071599564528146503541159447689796260910868490306046867047415359591753526449950592391971500657315152136942204283404241976033805212729390513346307430964069204937782597954222292822046953267373341633666858884645707996639584255020761023933111981405571726833349548529626786949017605413011750847009009750867278596843438297631820231924418799454522134009862200104136970214346334283001737480266605361624054207669073870417230047808745914430008416374397456627900795807599264543387138394543634400834346482641720743526604228410985636181020232677651483947894203365961369274520742057602073449747644976017294371967560216536789473872182777221675063261133604879192963575090789683905096256833029228840056316421691353529726464136042063904527578327411071959813216206422039588226486951763832235329234801161088131126110627126768503508728385476402666093443296934809989671667836759524374521441984448175817202349208255067791489207515836875157192596112437298314705649836231024852287819286995967594699820129185812218893384140805254655722155162074200656494866170768106340328552080962736995604867477416863836160552651840281914266633207017784410232366449260208163723289932768849086897087455901247050366710191801625285813312865597398408146967225578322237221008369823724810801701502552414659123888782719271015241494238142097336183780160615527079899755242253877823574838633722389675126100481979503656390001966921225298825053707463577721409963345249306902797142637355729786696103181924064929014879859823698251210941243604977424081311919747146820089972044784662354483098072919727134248359742000141210790512272607545793569747119369740025702639644852886646897668469047722085373795350484170327735814242215608024951592025328117483681291005771672871823404200932279892203154293354665763986678884236640253460478081377253289679941566089126066160665059676769689809422861414719951460853012335197017608571745603021793935477496677909431455375826333240794712978963726284696856867812785367444458582928650492831303328273869597484296398887291698010635535948384180709526854277282951652925364366489085006189329090227070932007672797131397118516172543653291844538594293012950757678265170331381013864461898950263792943350669105343381275505184471848272339218088194479150576898067455513181781442747309525171675712234873312398126192348545242117513083159200827006221576637913424361565343234933617458123834079320424775237839421253474372583854417860026599779016390446555142364809853536777856758108774102478101131158845753165207058284840622184940249901494988174748347156008793203007912646199474538401598458386480755563979675664965698565688348428291612495185492835844928187327514938318234972375725445572814053803690612314056825542803287546432402794146612889642395407132594540016033922048782674279314508748147188464655317445240455293730594878762362977301997225319760734656087036477702239506823719190951722610756230575201260314376821926242743756757648915406624267665496118653683057883637121552442708112473893497797581500868741858398234646901949154504838739579637698958457478209224202505650923346097336955280588636665432126073146997315896233834417136714226478797575974778337571284915933140599829590553605427794907424795807597825708942857162001975829946273804093031811207581712325762868552650674410567172505451587691855805247572354750160688939324356696765389811271744739152302409627425992944754147635793320275767817343023843039081547114199183077685987075408373214161470787997803785156176137540031377906230425296895917082401819515977729111581600783799692571368512687500759690052023056741571294471499992013799301505123176186874347152234084046070295532950058491204911395548472242446178038719988141098521899414872599790350053380781575156712625243591087138504440728672767146113565284580638373320683171248800914798556063000814881951693894412767176544893086290847787297320039904401426048032433105831426065071002940908396423007919460944688356737769593361623240957317412681799526236585636752506102364485527551490728919098181736875085621543713958569462579635511373166144733581050372423790956012730888988126241092345867231776187568964559559493693419174377216985475013378102936987343113111650174173980163298364750521273498779032395177050489157397372200583074959792936112841973072792608558696696631911652784237371680116041341610275421030048412695019435298417903190172318972642428637967169909030635532572951696776963774050940986535866663260579835379660177638050218379908418095404354259328256869543425889636385249319903620082186533902716881472378858539901562274997367050493217222198063734171936919041899005795138057167440869419345414080701204726094480024222755388369585720281827299346832771742379260496899003881191900094986997174394148588628262248653850480004275896571557388600787958075314102690314856808827632084237054213435479886958257382372459296580475109264358567793309861569419867302355666247973111904160681169913637566543526883415978967585613712360992907999179828778435773257067909387273925444603755290214928891719459969737162932396408224904386192223282178152834694789119732217147927054725793051687779405765180398818543858058859217503381046522587060736373933592177560884915260622118973088888155068350889897096605632963592336253119105083145031641783341540370370912793766996353124026043365652822002261419467613223333204661830504816556994688777322663682257631958470456369792465220016948829658555113628515643765153564982272437505516998192972989891158551059047147616322662482461189516934898673979407596916979624954823806387790338002833725053288993800516909782342331262412499335822345640468349550661368987412827680029783405825256835967743928748335830691728703998562635463340828100689084703976206414821817408736947199105874719738918144301779590743338296090546423109871518623785129180369966547168061982355728732049440535967290510852088346639929977857619421482101950335404414241939675768045652469707466543792702464292481809810384952601580425138896021787118667251867113321692078057609886442218021299467854704651386278005425001854708809780116567359730935616689814784456346091475765704210287969960108219836243521735365379579784176614195974104335459870737515446202485060040024256499463841767274789013746023580474280911248428689777010427030237842572967215640947079594017293121739599490047165364683043750948950104944970072442236624487933438370818900648296019386730580996814896490426743935484275646157671392564524021842367803968803679400179011304959508510685679605431930709738906345693680915279193509582247741450400892483825154006950486506329629063215496612899735898556153229100904068445249388577143447919255217524731461436910739385086175958419649219105168741799282774726366240921064779689264048975313923282695913621159037633030541515317717920738217522942753488081527148005112835968823924537677691428004870842127378277477867484081770497066744703099587509859835949007421431985601892206572450607581412431060485856741838754165711833791083629569846862595469415736762593489140235974889870026998315497889090475578610331713208265105019755791189401904101795336009342956971807880509074491870630421213685630446861626489884433310639993241749841010375603472835803825784169870258119691174755537263864384920009801833679636517794372041396465909428137680889642029543651780950819611871455638346454063523711470593990657699079602273251837289933171765619964800286900160535914977692772172854077878031210794136551888499610250235974454583997788449828034621820895473251006092511772487845842145190210094112417505990569601355718166688615316200344802072581577030474407302225985493350381189266663353502153589541725659493383109089219489609056920272363989070562270023858591263410965482943836874483033918688298780841895000947133861995743941795022119254484642537181633284140202228339355845226836941906916741620185907172540151119469789094453529958485401445783500669682262293086983530485159408133186708674378370247700857406223270685813865634012833439272185255447453282302751132002160904913115138726603978703776397984852019647268340150088951726380759166566811169826582799248391450872777953242076971339628857294468502462799146322505804758856677473158996439696985773389703021691021913979420112754716503558435228394836202492796848035755507765392354163270352650544014605512467349948693828110999901686592460782161338448682579904178982956863442447182309116826990472258624767650908052905627700552984628050421920295747241251545833213707448645179964069739724593528657550452025145720242619004798851592128443497386324353885246283458678870199265843479269809594321844551765192842509746961019075635379961616953985601203034965491950309543341346125929144574175808832827840334451695611398940716715666420233237282161003878262006081636680720505091443915556178986928532992562966106304409634569554668720543834527947193772712178554684430921970633962942852578200654758262913739465896701560181502635422282725115126804113746349883930969128690609335458900957050829127278412796359724790317315399998567317460885254444715295585634396797929004410788420752930270708847078753585200019212616440350269177573936083767614913475140835471596784414550715461884662569363139506021061100259778914476862706751631265769648279411768082270556609776740942160225162271732635498104919300371876819367809937794707206431212970078575081730776137031603740225023213424808575960431694507612025228437932061767341871076227432755735996865147439240777002698324835122079871759022821245061524742038934446498024987876660034681929840515800888129765697892839912686036610984065336042259161361007850667248524869823324499612822042268257996981471503020843968783976782899398007428473525798781564131686220300626016450047943425210523812140155323192689675777458587366439003474008608232813910673559100925920908121704227182581817382744480499517606322590859276791085240996730730381356337371556867616226666837338074329600051614859821530047860280919335973194955429586708867803958596750463136582424905289152612026908481279462916821112344747410457730273518844234267229877728952331119257871155595764813946967669390191344232336190530236197741894531920362565963202710465592704798144212032397192357364082297924837659731907526505252940276774935318297306652869981404604158052313094891991350884558290858200300446652585066075141579441063491526740012722181493444607191183892069517867022565653247722183800322961180684057578196763863943697138038181127769780676469288297635488951584161027206117474716227214602110247897721796238698336616123723843598756758115523117576612192860179359448226833364954587152303996772565742643025019941531725597536619952189050276390780211368305560983699616590654715919708451930123652859887859953005741271911068846848476451607855153340423402168058258251385693333675669779339066406603280360061358800980649593543071678043423774167623075939211392012080337222912036281619205773587371742600778478843417705003864951541572207937899175038239504706501377035542138411652633747437801216804599003241069907982880972508590939704873646619422760350321477968293917544482070260326678743594379267605778522858577053541040754946922547827404227135781120648787860967654270901676773036318720427226941597451665689969928791190759789037196631457215341254311371471512051809224650146698742741413699420106697912559258909209325096612512328794262868060692455960117657064762397936006021629684672694271428754676763077548152563163634899817302728133851939683846810099123052677337796694856075312164771254216946472372080102817023001292963374996469587711982351783843674653427495809893467896995099347923816665581450094674493931687645590934681523861638083361498669688820960378159397608206121826470550027165749646307804303703893042196604966559202557073738547312374284251549655655201738653950375706632918697318448654048237816231441614288876740595492554381280750081561479554340407393633967517271706220855268912514253078189621816018760785705012203556398079125543001636467773459922914537661648874136540504710769342904110363034790377520592882355983398384247457271915029453629284168686457167958327996202012838708705661039048508843776792516917016182821872828587217891518575205268031306165587626888689483150951534735697676587498710211232883604406475635560522532104700044108396080501925286992973693732723783398145024598374625361524779141917057615519399786743860135794414878274931770896962579496476076403622291130543844519502419138254910041763897829928389227696342650318153224703155217130435641554361506069022634007510317736895282557422998736504850303814478948576263995168029970123605999164140777869508547476060106958847334554900373212933510283755038621203679508381502251048089027378338794822710816848219051517160593763123173781779353275780788332542727273766457279831300455055543778307678883669056820792417125695917442456746042853323970626184028190777627557079589080768358880710304675136619528382813023422341900183643691565505935300641340426675577158070357264506466072125589407515687503606243399440968684597968135194779047653980135273843794197862277213180674990420560040187575618982273181271043865823417551615233847258336965003944128318328992842507688939565016724214963639252425822026187302172512361384769534827850804713101816314798008202746841979426112128717053542178042730711404827442102944587712442047656992296252334539007574455314383740787648048809094303698171865886662885674979865165891370909199891173175284881958359967945354771627889586512729867344696950520487778678858194187751724140101740951138055953726846172328685801316194357831217197772845079166391096973240899071428799728206323581674158736320825803331664226799638238272600310688864625698878891513452386926268145285448710180872820720506346062536070217837734752627566358774734069108357047822708713655315738407194413777923568770661271636798205444523209980812326909710373199781797808960569209367574592631281295536462408934702954703363444449688814827345893433334311302667484013445171185747261715772188811588901664583189896222653354649433023745964066539673585011302303430960639281466001904820015520532712093119882646505917801398364690590391289158159401433782241061027526871939382511203952625724480638086611299185631620345522289618540246234933003923772444755247418985421517126741293823302220730147045377798763299993021175193229348826837924782822199418580189269710055428437524697839440225495439684058966478319776885882142502882888687224977598364522933192057820874315946553981699390542581385245628708673844796740402623232201501967495093026408968291769200931924148671242196527371664668850423871301969851548802744446200956540503011008371856896899093325079010972715066118124457792077930253718182660196188949885351785782270536946874537273562206189754822221624481995029235197986425592858793647141654237674638717303935912105920811107134482026021814623736446170857498202734422155489119523715254750999145157685219032510592768402937566635739699827773390881414532759654735559894645478729755086480781089436181006172360463808998120896378832057068624326036890770092398100637598811712518265905958813605353847230689702535883375183111732325045886135899421411809069635414125412365782721408256917043623428744563135060416906896701292577201555903548244292237625406252577860867468228241773070870048357136384276145438595709400401345875882427215560027590881008015349440028784742867853667105895576460733812792517458606997772417444224366047241207544933851799320463271548497902660458720133552653072688363280324291553017347080837945968498270752816056723671956358312921631679677247430819274156054574633697227918665019807281729069856947325610556388172387552950538148022890007861468150497867896690799807816743085948886655685063668992568118843586736420275799919706667080916564967160254333609467834712530429270850847754598279270246083121141576760105013339223082477672643163056327757911829341529498122069608533317436666386585124344383885950780050551319155599661698216490669248132440671458227151421888803693314694708400874957514275351039996866800432884101443720497483881526933991668211118402225301598273775559541374392055105239941878113239572706772961236337090951992812581645459796744411288540209924619182050951472962086499214880164028980020011548891879863320034257459422840347414300262733208897639052290009006077874172595021622378623938183810392911489202674916783172995013589163863932764298547738114958913203074426161246107015334655586449600827966205355476110572440765410218967011351850431845525561250392975797039490507287016235593335472249354805997114488215477819865576130783286420393499013074976459668668252364271146654386687926231506682369660291500538430768300687714635841592999635395700724653004603126196744813000316366727889817798162519840442535476324661456502617987670251329296775158377429776994474262540205213211792963145753364668028791474116988811887653352920960637361144442438316641609910902414038844178035891312526217253766029936739172584707371887588553299652932996805715301889693119661966480804011727652912879641342428077599065715175694889257427588917120049557520411015425230417935343122555197530996356965386060689427401453198686978969635502899536809475109190597955206595534718239650988332879893649353217541267218527336402409843925305201859318720376447322395650645277529735873432950251888634855142029762183884660966769652344248627796720572341569275679926651331874679109920251907044788210811556553020166610642327561146290885737746924439075528545968047102439309927828200613548320149727668961597343770424320011823882287770387005064934082504848610532976385610240526540009985395854971901193301814990644759730003937821293240552691875530333364794821470093759967200885146685683995800162935426790713139580744739708303212430756150346220803815177350979081082425545538332678888025863986442161510202766050837987568102621480489000376789910177155592676644761057564632382936702429195679766163668393050137763047922042093987843618233814542161398590353709689664515052196585059722718758802988989895086135047035728030261474133339722886672801494391378541498117879379998484259999496944893699273838166479794856605920915609286889305461291213744749072804466859550429398912169372811583846324115572845110671658615119059724158386211915204001218168561975481969538353435326435302734756548698380541052200733573358026241530162172896835607519552586427771147318672896492975285708574771328188113532148239594950246765780851746632290608260759792769698177240992866235979984815119891653455938574081852747349287585941059640841136798756057181552190118125864838184966350731902457906061335174417453705397321733308047497329505697501693042857089996795435801176846313849817723661491862654073740986047790766828966140493696841763256766171082239865584067835699125712314726249563499735444782367260097574308949493606041581173571905641428264846171690374906515759201718842016547289258674171766384161342420014535043094273571143137256282123222066298226806807456837805290559085667937644725438507057097805179625143268297491876546768704734062081749962221070227762647544988977952224584451993145231524855897413475328884706329178310881030620298963737777150547949055078608766796303840948428493714153703592868152737185772751840445640707523560699447851024211246532752508422777997579644420211941939270429523758973121457657679179458674579162026635480372486466607874200666943079695571147877496880676660585188929609444699942655227026854405657776845822108383312810570629382766407832671309334933971788578967689828916594391731747175627569852370788733508188128928196000900794043792819923452598943992610886838847344394195278607521489792998383113226171663771265651129042877309477726619328416441341658411907204931474330262021100416615675028817047268874750309978635927522618787082608316085423872734420671546902794680358554673033154148555922650777413041389148852156576169003143282279526450203160270293599451356020550540850300567362338594198833244675010968074277628324166150346037764452301950685523594430059034366682468599967535727786409186713162415688827043137950878448384485074393525491363494199246423571519463969178896947303044815394522014816819187588387264210496130834414637040246494505023447130261102089605938271655452794136197219484915797041759823815169019060750382009421128661741750328717385814787461650387015285330964264387363955417743044075236602300325705970211427104389413935778498390342272458776584483187356349860821873120861538229915115339557604806339925700486516155701894220521239320844538323566210308772798739930042054175418243009074482666665098625357940496153055569243063869557481125132891453886695310731643260329551735413256526060096308794582143971225850174318303493639723045670103648898545907527735919210772078029953058447625228149787955767276492352209552036205239102997782599667379687974817776824008988491981842138731971636728453444806364831396680200423153224123482731625385960223026875472778283179227844977824134697524166179177044634962163424166300246170859496594301467557055896473582739773114342730849476663984370913963934058555877976902730576483762507936651095721646653409854567134551475490091746452348065578485400419170282047242914330406448493435581741156887093189374451857824383603312156095438010122145246320506399569349354395504292513460563813990748036792149785518594623780807326100520165933374756831137619812074502800716793088657223232761622113455720110236824790836940569549695468377730094359242481606765093399103541611286539631681202320760200341621458853918681778220888980467556634420652118672711499829446770500454227797023153547148390872174625478730825916293245563009920153098736133572931408195874034984277358687747416252981485334954780210330398939811517716932045788276872122525732353134179349298937401893815801499388812598643582727397627816072896996781107656586481862240055270947301675536703371511250184040678972866404743204294243446561729607214040697514484477988196741648235140232047691399200486653691246676596507321442778521402108993552497323599124328729606309435900019855307963577890663871950776459405371080481457856958816675456318574370373417102137825145240510463323250128772405591910950346755184730034316384098009674960915382846421146642665315894457882365176164131149431813803797899455723792984628193515927322136218573286530183272854303456518690763712068208759132244893758701041751519893280296569057643317460054322464974328323951680955126859310996485130875730422536160339492236090709269743786647635725221585553247188784351265621943902553183569657091041846935985244661860543704782467820474798001829698214883988057993911374976771604696723170569750321686860584217297561688793477274242144042590535938808062248661113745442857046135727565724416669151839047776619503417213085098725239183244731962088047703798299068321179181906729807291213312488533781211577701223183505097343754085409091932398266236712888002782647032404217006370606927378892561980713705442894618447952298044010796624096922398096032548303953848170472291564760423886777289103775517947593647249899341842773088890299418330667810633486094106543980338790929177271344542801275693661497830736970166783589311525899388981423329581284436680354846117259970765236503109571907198488273111618619377843896481331371332504461335362672913038347731792670810712762679271448425876672385591889926214254655489179528725301901240396098148057735051656116400943227634045546792230603855234728286800974993293766190265783922970768106696081356246205687546962431907674546844761676266002082362170628090036809156866376089560901318712756944092061125155864561240821145280084150120958402874752935404354249672268179836266991590518093626587256595873752515454187188680074800632952704382295286911366691878293842539828533356862994930520439062676681913328453601393466338465814993085922425399263930901807654364026560664656446978414181123131590501538116411659198804179978205275829642190690426301480255291305989312205650149412508012300960572217313259450237346376570181852426492395511076824115789219849665067278706144681094154368680193816350571502993453870624105236202129123358070988270688792006809711559462210817284468012751667839744297283230560074839812284358932525391624380762464380168740882453741252924033294822987864430114821603377942901977885435199392583304185851219530038875051381431446014746268071156958018524119857507471979328113627013834829195218838961404656454259888386514254197149109232609389723215554772391100856559435487714911060929479455637505084361395860401789553118712912593901674015789328238706892678729536040223870339645427923612234559114928208483153946225414686847927318057653575204116977020542596602863635535993889201884789481117328186732775471113692314086617018634304110437391021444788080826400274604022844615968764342673340778050391650728342426358368821003703044781102609279837798326615064213716801556680911813611382134787953035739633136203258781515828753787594473074849013680951426139298114031467597019658149906702220608444322261658034198087104640804778252407325333452009764107420213660863665846245230222352108353481603679032535157716196704746268450849692449016812055854132643968555141535584108727663216903801557385609156465472483249806796167158047990624741994274503866686402751643916518229686399069106818704590768467922256288544526540828522590406716505091819222197800554978363426206429085610417819669856210807616782760628218496585276071794873240773639556281960178549979846398460887895496408380207911641285156045638690590576359043712546166977987829113604082820931893884515830548060273651894194445904288365347513236993746270112508984376195531259057391582592439183665533697718467195381410720631356212652680340928887577004118837346322125409458659065396912561510056045444479457765892658215140651116292569831550835256262460086616303547756859894931497377049396720443316082961682665505375967297879665148823283375181355501011873273059734171576090908324232828693393832236266301121656679441302920347349063894239288004725858405745176434318469079907970767212089907127301584929060341058299569393599734730618009507276663875326666490285741351942399258966980155377245171226940628472424626029175823140641859282754510624128341713710119665318729049989124184344185898558080781824031594649698923214535315636373685700465592087236996608992514024338186423716234335088644328052614213375797304166524953739898809265381592817504826101701935825710756729638502217764832513069527627322174754355039186158493066480092023360118152525645110546072653938309036108629703775516455023915698316990404509115342101925805984523606783154907900805711748952716009593206776634740718764280968798593034352192020201605657577629212078448141596856396350476136108288811085308328322058979608200648710797458872656604370189792004028568679330330262434993938377683994412312140252986711693705382441845312112839959610950204585146813749964314992305693245673789491115792938270801804756661997892358588056984447097935129535349868454673254105762610422010610841402324081974110009750662794155269746841155883823524300508495694422563290620128086726306018646835802822228937625895675920276646948345844083077085136429233848173699151897822737282952551387899711465448620858662794229511702153746673128068333805333291102607813613459341375749149111690029587013614131063568323748398974387051148461350740331370308802920589725632490820961835868102247238165014322328288577507963703839584374668802514912291092672861675205824379441455214375618851287759040093609768095470298813164395659291797496536329992489530320053824089270011385652575240822800182309687143237408871343331044298290847302589627145755914618229902934559862610018395512596043362882925720799237493197348885847493053609108033500667532585376303834823106755851223585131810557777389991535350626031292932113792036129413649209561935293149195903179744607447576533332358242526797869279456595689539869257535502633255414572735498102528905761463966726374102538886197560795463480265434370868947085177790065658584131521330870886860396354782658029278130892786476478507495386943900518061633185728476733629516191232320398542158475115979365704013199671449051180281610659179706829141731249863009284457285725703573239798775348850646940522958800126717374590342782974140054112458166101613782024448627665233525729009383971950774893482837753996623606252365601086744129563962761619270802362535609697033269591661385129975104607104481352301024096441623062391760891233319273283765286364683875755067758291541686731018458583145648610653640487049389439110796862218715123242931303220606307478197206189377115578514442821668056281289662641132605751487768684576100999219460816269168962986628459466222310923350514802946177477907824167848354232974190584466014503200743501520606787447937610147245520345971172673745403606320456820149851822346211778719522208803876483632573416225733384376723539826939820576061876099607404094959865138241412402527835195598292806002879480455386374202177338551901978184677958248013629721045436221950646858451417356733916460740694680400643891513632607738729755752233160805104874971497571182675749992719888824580981628970192636416976565726400885024011319090010315129979264549534360760501758122040718607589420586309882801469834317317828914156192264761048497414560960500412280304131929822157972765400668911261230508426962681266293353644688641287945672879514182310109128994604376274088422373148053551404578350001169188483946962416531758534882773425235456601080915050692765158436015786160634863643624058121818724768450675362958530684103812064966134209836078917048640432027602079019009365680452377734779050863438332569424467132147008745325804612921069518906948553764948235119040109337554522799459917826448525914337096425012725541585181594093185044480367817621116395979187652440248770107684280484022181519513036876858204036918325578393018161785908496047444365782925800276621178855338064402271845572666914550121710447233877057217188003707034457159654537404554882122557730956893077793507386227303428012212810706800306588247177283397692004867826082441817499360358303928807043326816989558841558278117205884081672750609525961453588918744789255116049130750974506644766067656577572576671778382890051827233057348533854706066544392099519880874769461884377293924293739402014517695909921442161183513839052636526609387400549366244790068456700447249782705482389533556140607085755888029332138901364969597471106728783394171147466907456653398378979672266386126075330536067245683038987331905502668251628886845683414392084750183039189641899416161618811142348234829911008309152873368957357859667502060327692090497605790220359884620936063697426348098322831643628808683184668577881781169297472788963724466623110017275448602830474503001396944534678898136047664185363023331199007470926808589373353767923249257880585987496020212132104519818569736467797544634945099838458165067580844381881206522895158718680001420880639456593009276414489726597523512339979098456343762231550740638213746492982816575167838261391626605552450777122455755584292768232156003701137928007363343849346309167573952186433286151035158404660880889825547489846079463149696341409002156958091163327920332843188621574551372533939132299837760439696286535379445721804557788315333103853519602634125765832608733348339365283831664301487404308152732419876455804589328790621666188375330733323442544057175395611572780562142683197709432584939379416315642240792375806510595622629020028360337894431366175988843882273342387104257068281399780207049697340944907924949597298027966120968426287744531690450410138738690003102503518566684971366120803122153959533288217801946195991729896656711916200213588601269247235586362455182586548724111187520996534618668435663019606923164111638798741823063855224039985263589909357998265549095775143328153024292224342942741847084925047883398321492599704348871701130038087632057136496155484605764097292152849902175356226126783645870288448247267737676407224036905181775065765152181053887075913788878094011242749300433774583049908615081950844848648302895700565272495894680874905047742305665695993640087008636007677327108001353568965484230848873368390332404305266459792891296057832728244226787511117247008436246231334355815495949072586114063590799162237035171084475158884075739128590394398767201696536096923343635194051449077071676018122119664506706315846552176732850707737058670395086852764025790945293183472784772261673676247141065197339256559940888113210189728707858974255121272640509643963684131011542198436052966456277103108342841222230666347254767648249096681242096421382017002478837786831956768038350048424544883212707461972439779382283978722931417057450899243218922642413652445420504585298488058946614156417854288291437126851161047779253248510349416386508317131933942308980294798174998506973184374136884680901924725555297980167738597190568073350021278364964371917782896713682047684996558811922339811523098669166222187943773508478380880678654046309274414886519556153918996204600995802054640778325631605110624165214418510285185713933189608101346647007954406898828218030701968640934219818042969803781363778729834520515135031225549937983575788436546097988102529479831100714467253341315657852855223615570977726232074170730155690271505085321872928481534934150696552175934029578827625417403836893952335261425791323687058787580527256349447053014833039431331683874035912006417530291688390481216030156309267258007973334967819173146341349958298407413284358718539438449945010830715712679542961017289464834728859956149605652185746140425905037321726373917343202194561820844847303330564241232604208294295238527987335205197006350401862916906051918098539338968828918707161160437555256995772373549010931103333609333269959157417119170138039455564745096786145885958340293082742115676446465333512695921280238661633931999753825245736306547074210012953043803726023420426110292690777681217955896904455330802254801527004119356066047017520452709107503927525363758277821332304028912772252820685838417984118067554728868180576061745078044198551592377422045543303809599966535466088657740493636807264857527315472141941738792868756389373236403722332846357350893116056761991733952642721594462456353895846448556402590759492808239266547557972398080088002292808045207899487314280453337653576065343193754044552024431458101221958867191825270746398908375014901239611299532442072378285173360512655477382956610768419501090426100004764431172434175716406906894803063537326638857350007593339730948625606988230234940911855315734029389149293495611033313781050561473509205538120923445224967818262794616180098333003230313732781557883491312831532091110173699243394434418262216220828776325391907857329644421417545162380712597424052934826439804114971998712348941528730200667153202411626847340652725765304319337668866358797474070064539616921402591572481402695843068268506664300182093766262163131797048730444436342517880848034460140935679617449894104493496478700924485697314354598313991064663459857425037528957268015306332124333677821823881765126752400539125974602001905118110553797737581664920644334051916189037960631904599817038494837401802706376119576716432744487379067931195942282922058257641948792145051168872910449721078867559892477232118474887171745071107731069116699796176481285536752709723214506311140296507856697815773404667203372626276469903139014985902970844365613491837118624380921726137439261972395730218739232479814396808890455578180283501256031525904242773090898420174783992918805675611244239907553915922433572755781697877074787486605443546873812294566452171976468808594461374351783498047800509977742894569805464849297568023892582452757470726446830909893967932551352517631171995121032454700997312047156450475024683469565844172646725944661186034822300144456843890631835266109620075332849056906044400628183859736743738633606502626859568040721492928149002582722231902691508082470287736113193186420147459276786922488452962278871025433607509565099138782208123312862748709668135976173953922305460556328124083314539905680171589940329589009282078609506054390974360967101783953187257099260851218976757319108462235108102444174839067882243498718915519609081482838609317512467626409097822006056438664250753114969946538164380768225732246886831131307055608116719991117083931383009945147127705323032079664175338034666562704556602031340538749962867708603666026506979821999430358699954735230938681536207870910049080577263204479396567099943612922519193919170597864165212043804599597794731906874600803972837155482071218399678431959753653003823824297910094526500220484282098556458461499498536257723250773372267391803447936904893270265884598273985487379337443847560076772832989139132014962557358168604672910224025712924716022848014758898051615618623090467618409067425328829070359002591986106267471724986539707038076557828500638661359628454401739753768235046813635599455312171977749567011098433360396956095728811376872511330799002491189830134774766040783300782072454943498405740146310011964861366761388947087820659262003180835092350930714159932710860931983382143628015628134657661879789938850046038000541539892837020155081541706828235231943103740377594003196277049779527319273909119001107516153463128663071335820486042996309661710209982255315844796115204375035964610692386602645488078300297869952524727118603447564934477986862425999372649363201269288457693600760186730293460927772790665723663802649124779042414214527688215101302918509378541113705317275092481741328669450194204336755741117886045578327214850179527907844029534491731855133085601589836408821614300782368380078951934611505965277345107995724755071712770432803300341288968332849614899150685578458089651588546163556169893996652131839246610976683673819987747452195334844565251639994007459480613291153233934636577204885423089297950000086769677712629621474341519692986509038838351087317399853574043137989681177181953131225598248328202250215920242532679271443462141954417179612866633112719910265965617854868973624307038776411166867615510521489254965728922770786256223931540679101068055522996478770476556841431644651072172670058607680563635341251584803263466825352383769518935204283230477486636674506600469899916122558040467307772995391107721369570499552913467657835121497586372928357233735187774797126436885437475369181056940230553097027612331026070855925935890222613636088291559104605182907212796308231112310318567464456733159774285924766509178898511271381891085177233184446112237536387715848861977547376289732254994932216493049570379322097597960797360722814039616895234417510802745040363610239589849036729290129330257888106296376062275180358086486635552749899650086500798897418236062961469122191744084865419607630305997500180021598828089181527137798901109681174482031323281366877543010091542624140207624461441489826978516538762544953509652554258252913175977848817095210816472914901751754272681960354509290716713528988846039457528116160890066273398468476745330956314026752260465397770370563971342735855045690482662699381292962189977628363883272848189280633187694453138389056102790267215073866866983902916921286513134888267032470721785207357448441309727506350931345518307778175241294339750565526849975333889243567901490646335634367513499791628486241711532665054352197410497533591882128482618931759023824915068578582515965098675580073399060742912002995575768568792832210949442208464266041468504408376215664648249857248388735571132003658550987650242923513013390064865902976301908248209950338733873890229122720301106518640344561157272931098926063371098392592165899924094165237442084424349137204374153179756686115211961112459398681669827671607668261837388519276115156048579875867940611219228783711349231355992531323062705712887568419401615485168350330000352987722732322528766942402737393215906300740558456701754380753694911318753443973954378804065273508412347582541368258794669453718035255832234860466809467996177358516597232183318890800865389605820308356555442443779040185887150499811412794984980382442544832064484539649473202264817033607954645496086959230445681945796099934854632300323487563956594540046176786694304989954557780180853617865392179450555638144306514225107080905552995184121724783952851897730863822080347581059234559977780927708786358453127842678354740898996779174500484029773108196369822331609947151917752221956072655820003655524782130521854508682495992166961082880651264818305026613146585132788046438232702447636296503989336909358808277381475111402154780956293626828357189663510056271130165319129486611531919465667181288164058008101886855870202718310909047939097037870500958936166555708973087059721141891304440048473631108413371344644428527729125453748107028166723925585202062655388073197979772563603057741647847157296898021609392805852757737895553737885462696190082589321626273215950882418892211486895008973618637006271698911986878155769749126290476295089535853778662940096799206963847799654806720347020153130563082383862031263277385296084581929386049597147989639262339021747996862256572050302200185051368405909081630380282856291875143075747356160689421313995985079389374447306274655845216778070877494272179802857498112130059335716649246280083784668663262777706894345365685035512396959012382875129134266745812862484120223735696767100131939069458462833832158523598477142687010008076328239154094163121739345609865923816395797187951345854235919918120130759045029799400599156511726519662926401547028326012376311988512953189254714780684215406022096334858826713575270669273508790635220376108863134068236647234581135684907245541444539271022504049346840800832177759026463437062242137939810966037954690494583020426683721632308683653577762629599353104533569845921156466761630432638545786339050129783996009825948221425439783326349725277398926082488181440185604584745393723039945652159506660617557002512419452266346389382767612196427861075008363729596804250876021419980210034884339630944234980256131763156588138635273548804718049950813952225764349298813398307412254402431328302350499302106621367127208807448682879143618972363564565400162795942599781690717331080082283740909513623841866964931398774778814641847365115503471633045277529791945343397152656852165453741685195718935903353214887802173950482605448864561900873778509835938591059508364529933802193909950038180854989418141666881055318801125518554179321512797501887564393176447724364540372228418609070694145077072766408558058193430527757205729785961823807257345545320347038578461969554936428620552007007415599879083007412140312940759046431855909105542801528998548506174604899003673170895570907317603139019814076657885035823884140195658764235318368807432650181250746484699185047949243410125489210531000227775588388598214228794641475533857382421431131703469406355632044741780688255803382448158040723345292346653261204953077355137961171974186643471763185944977682653195521909948786685450724574255902336483916376070122873689861081397612579896705106802984725020131573348830912582270337059321389652762636407967729042864594760759825742272222639520611708400956404855868540699542010885492647434783328192735847252610244009743605039477085742164397669455765405419534588272361586094085727738213355701049612915185665126936017740381597082248966847775847389267360553016551332169648502592571230662962277563978016274159850304333799036133669637901864450718585491582324213585089754409157323654152482289556670800234889000627903549268050184455239689621306482425659355906090333071947322812073321797434557834481515981487396613305898544753148028229736028651352216960229829133108929736038690220269163826450537001978159552023134558812689225547582162826255198995694943366752426812250703782288410836184213747829917922808317259242760766646653453574889329160019309008377300140511379344567473830683943586611759328145608766722500473065752259115815734865431048428791641461027930249755044578793079391772207032860878594855995893751542247780153501084623818569023612075351509879655200872519294735254769639955896061342830942045075433229403348515915313761879411366183569664111900777201102982268434129434012914871044713440353161812562343096279694342698926777842146964943980134922583673985937293107058822880711040306743596361629958631554841519981256340471474344830578180636950618827808814088622161055753062426309476967158956165587308548731160431531418281755342376506096828728614473457831611960594280802612729378727079720435726323205756271028355084557028288668988578698563166720215853018163494187677515908370325681225788878383628494622536507325191805533618133005831033763568180434149476206090964405211606602822274502870545369425409303083134212529750109809730664842555603659890115884782362109316553871753858536330962623297803287308258999879001796650239284752771996461371229054483651614294115264328696323211643489967231837437191680608767876058300221529965684409848097590582473326010138964415498752679658127596462532053467583259178742470255734423214322000783325817291364617928020774526772966620178538309623719535705974379353662823476456282744814823673290369248252151328510828877697034890271657159632701170503935324731079305094806064754159920861883492782694829862133110811640269542057928114157923525946952585202821605213533151235643067774618789085042165601553991370713311829682519722726876697048966451678784298107201593826129401108265388676213228220099417264310096346289398282830035499678682064227416509890346601308015298950486266180245626688332152250269430390996303738184780646339751529992223700373105185682418783979851738036277378514218729934636265025954884845189972079141529951999068775103676714919364172680139296309038300741515033463376857583838189554245662663933103499008821066634603147784905646879115974527331834825842885875133215224382081551990700419109160560257346689541655529909218547585432584887485873940956062715146749108520217927995972770543597245212224137360067435657238372259439336564165971873236422873563053016894386326269042058793810188519549305054429684233925831545434688324189363256389163312646877434109849352085060251396182554903160631136044827309219336419688982654647871290525916487938904611580123929791245442142768579784155112899573268269503739659724378055535158781832946706931974974761337537409216184946238814518912941773448489822816781706931694985741971252032379031717714750075739636965974355678202361676827687380230009344912010212822654837967891973338492636708676337474838633982818030877173358080722089698221112102134465651320430697203150193510058057400710461495803554959319714265748679786416162690691719371977032008159227086592469586783669799178835351114697224961505183681889606526416211305775296540446407312391831984198146264911241161467789178670320706099422014327742277857660399146437815647094697042757333434704506469232497191913486301989459918831895569832284442220945153262184310014088216705461526804943354975430067022727485728372661871479286022928954504970011360193603871728513090831099443019191363879120792377606557348605600031392765292087583079593132183326636357822894776761301233562669596172051117906473159585562894512959536783501201284195495028233211932631229628331593327224775103482357931011072601312551351425772232634889309808384009552857495392121370351748968125787715190918247872435139944351072744632240929327750136083182655420827141894135254019614567977730714797683372733460268847584139531245029690915090584997274716827857801684050697905323689382815346317627375410171628829509158824729706373093682372677815615744498222627773208714153220376110322444969588601804474081507536203946677233512721116896798779047294431350111605013016734240918834081629857286907948231555576611108018880141867598395751928139722604887301592894722143080674890159581240898404651507508244999190210701419873593423039575466214096604344231792388756435716892497808173148427742272952290855385478650516389299215460327464864295557043376553953033182138349891174155607309221710977376673281695606786181098530210890921537633883341390253145702376985885127335568935394380772996648390069569255156775880447845976329130049090798091887685186184015118340018112481549181239046796255337010703128163307536434288715228365352642495214372599008851084946610188047095927513505430982843560671318411240642657056073101855601003055038428856851320338622943819974260674535914420666710678921290457158456025026517858921388610549075946787531301227510195440315339585207887260851447183756149872736470626963903333475305679735182722263217509717622523387070229715388210377602729869075269115408415789816918284937751522806842709770006212214760942503603283055103008711176399509620257647689619955523301148436502468374440039718857043657213379321417138264440615865983273060276957430381207986110185933109198766894383813225545616976559509021466267062744998735584580327723600023493994592930015296696789205792955644353436915294614811748646249445560503095876031820360682832870163681966952849362566599559016919572543468849949196173065692897629654192870074877095063426397331323148527770389449026592972090290330034546345599329414636752903214572268593641241672311245429583047391146565020925963656058550857167570561569771408900501536582501312942088456801835214631021837518691567585724571796246629789427866168771358477114807665280051830047014204920366319088010203808205635786433203133324611723082954380419075761616443619474586320669371860435371963026736378237671628882274485175396406941897736449543986339010584037322507837169136635111998908332643130551448737386832304332259705883858443136170438035553530186384465967271375998876481984731668315572694593169204844411419170590463841721800471118399972678320230622525721648150797178500107106444108754645273670952256554444321301320229402456041578879896992073144994623991089122116157405693788040467096844136425086511697908474221617942212285391151773200820895615594706934792420641774215052337990919687907365244782241187501363463571363979968919428350155091326999143492646290181544899755913359991730582704473963496669778914164802998513242772679528157973082014867361654954674629755584996079702933820453568016455920784788201005753640922864368494686503359680233651291952877615209692523246550771158722629478206223005706300002460289968036982419951822231806316401295036457306267345637667261134404551479266426939017307449904338411113458123582745372995631501162935000358042578622156801780926122113010420162467843164035960011366963131051299011527430992063694449018907708059282710192567459619182922017462297898482573158414155297057306916566769876544146105951852280783017209972911962310740018531436066276514279748474008982863310191911378532966495480253610652541071152715922026593378108083355895360337651462335523770015139515426795612247613084943154901388962268875094353990390141389450730894563758307282398300596760998875528790178333725353222300026478881896842742370249038571788348474026685055188446801484746374744816187492131154085869243864780813347278707951910930092887609817098202414325683843769622138471385967554544936312684609443151748299301357045889086232921775287659642639070048361750198235467536741237334362575446221569587779761826705226467759889021695915804310663510415609617656305735060562778647169303454439114044930270881051580451108876635555933243228464551312382866741972229898739027632038541081700830599302537460147090064839240215013291689010861171280111661233353141637660034602386302422725580599912624478701716041267164527151811221061210234479999382463085208251358812975119219429294609681087702880356171693522753233696776308769707071573901606071132897815008816317196953668360321680458518078085195195680169649555409991805452661756935256284849381825193254911249318923950723579741063873827678705040021038038089558695796554218132506276440793987108078621364600257619450389752202469952236545156778532739437738230618613133268044611452059997362852477504136411934866938462004364005215554669022603269853849671574532606979878837280214411595895737683892834611863460514193126632929786256514137868890689082662182767137576647967390042565628360917466306907678250629908320632441250116045896081870626111888501316948099171553651947519813360456189933580034868815491423776093111235650201976220763968985473681597165656662414895754182259490478690279099443655017745395842093162628305001296259486172842655130423889019369029197651287418655241353276840848987114061328296034741274053251486138931985588945100404600354765652741725685713963609290508685806249584885247985836829571311036691684837159149511272492166488562949555344398531458656583715969034452146463199609771625775653631810611753273700273873693825561659998223911201792936210412903434275140982893478276602510115814487557744854904628999403014710296889400340831487492494863986899604903699286462711720301704177295716423175825174906313134294118953561059355996917472530955838647954795542054310049435634622751257337472619920167693604257991434889100614323979321797990492019214870452336074543496197458645297159312169626526828417261182536615796646173323226476471395391212918509929239371014842108401554251939373488447103112894819025234148342275550957257574626465143230530813158525747024589036066031024756948609309055197531215587643631102764741200723267023263403731080800793693761207279706886585925674477975534418825009826647321694757974925344843722903859551339416825950151927702463321039062558541686018884667123280926032231848478889169251540707482106637826010041337948419695549682201540367812647186505897172463827308784496448792412520926269262670133732623862815784840190944175180615839518531790505465360498595751285262349539673071623161406380264987877635581185057411566993579980463659211626806474326621569517708844150722231926186081602581479045738866074108577325625139000181870832676976740586755798156851604084065061594738590601019502858655692758439324600010174188813759983171242387907231606522995314892430402122843764272492108433360198803123663409897965245653661090714485687409437893567639727222546946077733145597654005247055547167548161737169850915496600109940777278835200872594027420718667203674526705248339483870253929087439161771010745027490186620670418247662727520992959685566820356685369609461441045298619432369726223778675667723599461022454470656660768451705973678026743394529342540271284491586379960448079890060687776214284616564156987414979445011489287200912880596529407311653213945531081108784144990808541363180066257140181438444430349989878724730199279442902369567903090024528500715209452373326934689927715483185454321714025186123681240973469173047673317754833308325360960307400349762359436018789077278562776164597760280215798586079870903055437613396028278419151999567118349895899780605263111304749724500337791604934638289858025031004612765025995630887704861306369363951405423873008450523030996933275230655582864054440502792688161224918348418329696030804214865848007024905028737970537378096255458236028812980899009427298980940383588079243743279518518786095189639628330672415016898404092342141605997324754404275838081746106211686725565860856610203404825909707405019747178960850186917771163288896050099161918618549476351061263933594587998681496564677223525914109916883736868759479028369398141940343848242962985889083812734832346396566214165348656671016608533817216293917375100204366818248455756038507363982689346905971512623024752901817360227291786239802894163987907960524213701875347736832196248389180835387360845688072990898813106812827140060503169995879738087928746622473868822726314228799971373721095099851611636068652670926475799398406024237186567168019818890752320089960100458168379774031979692652398678553666557164939158960215731626942986927198987680945413042168732948348409222619511538361868475303217143314152924681375534695405335665036151986799408653471580321858980445711909938680059781264068342233955519611337251006451954868231272958131511724989708327130379341277930122519460631140261819300898259560623648213023037795146744899236547611433395662108805425483982788095379861277030508248353273390008497881851022477546182582913273299426052335557750464926780238320968920890798465283106769465432414303681506442716637489346049815558926210672894030654025455669953762747967447489664219206271941991851418316608290200935850345558858101664548200569465116524215182572999642059808034126569573520596058949339742713836485332120574677334697043434162612048067407618048180400700077485353385878696957801509365637735618102011300991603279991147896303683011408468024106701605480632084534183445726509800353727617877830927714997042179076974970486684510770296180993735937183977931764579362969020565412436168582686901836066179219763780666626315371891580438506454461624648324990793760732059853855193251838304738842531695193102113568545043624124649665296010578526545327052834240814397512956470436341948783603869738224976334796789073593191649916724455138346134012071866024969107034005061757632210834011452586249177737481210082987272047939168425473700017654874508798915408537557057527833691671192367735201625170542357505301874620546526388462204157841455866865059494353804968497076438451732042228616896062016379191044870176608023652442848277755524944503207554521333645841068275745801612201228614642652111507919006413692669801412223320623511386567356456293574999408178344655264728862092954706436349453786101785619690541958099481413914224308451819273935778436690963772298128220085529614879060668758843454333994651295202320044581016516258716505257419465064110951618610057880959391087170607086775160791410662074547272300035156734100595381055485880390774034001926055092538487030949883898513369795787345315820788212031885131462685659496853610326740178437847861416819278782774463553123248014121205574840800592444775902530937018373979334741288485877466456398788991559158710112515402154304895235548205225898234940978645931973303911058717448993185867419212338841627524717653041178219075717742582301329359313245158946302347648514245660943806548294142155416476115186562396797331121291265927877399653681514436660321530837445877435472996936587082521462111787777632001909436657805465594927087285693093702762341688347944364178484607815243673478125212331353237812854534174068720084918098833060453339659522061992238656374145208919526021831249863804505044997604770166335624755259734653447874926015091103122570616997971209064061218133123608629440121340376871304553746550657721323023194428076669378997747322209043593406522246383497431119762913518244333451719504854536040646615021809776578108556513653282084288007099946023230833940201974275404738263584104226737582401953759799601464003431628372088296330121682469480624613423992560359146511144926723868243346196783746337588025280520110492684321167729955198260471838799495746432737885127643114030135896402294082569508315178508798012804995193029496846142517552354612356732234433555798662401161946836341782779574390166849315039234819280631602298242821490031056557561393111670516906525106513234419650411888371154772122897672284254325377419787294643183351755511263415975432659337489537828832053883981376359108617328523457665573677121686345094362082816787598870082324928296866667174979754732229916029080612612965352531147585348750309550201847400480893914857535452286703224355554339723360456049535528698371036530889180768771560132525704499168036302095885329960631917834102811216779846988172526262498427287705078295436244064638463281642932701497432721563224494651524505077655498454396089658061579242094576135372561352419157077429988681999753728964699875192359080157116852234352264540387168431590678628489404431515801282594734842147534985727800440540462591771298067944818943226132183606236419135037527657187438542294395429821759313128075358518654533671573883012906642115585649224951695559114975643265345204393418616106983633416476568483066884623771848449968709786063499314017402519351907034051658849558724430313686889088170306135402490198370690826305297135904472921997764993807634586436466244792200232905112732377669587966843290094335115163039732124644170047142351079305965887189827877378869982260526646861561185248484466427315483739474757663126325450689813197389436126558361109868604835532718016892160946448438276068816887440198403818353817067879332827063809903473753150553314988954266213840421449004049463036973791665998406418544817496964164348432367979181789381984062156332504130661905540999268530117680002038813800018868950216064738139791736928183647934832925661471928671126550432574241229438346158175964075607654206269928032467779867246808082862099619180552796993266316764614673124373906424882221335393818394308990118308988831910586899671738477805298997875734004352016033205349885439258217518091720071307669300159472290068443616754408761016519538932681253546559347456536782694229426254862542120545197445321663377936350995624813216832200557855339769418363627998250055087389697593145180825777938066148643208762382294307977468841661328847645203017914226475694859387356994266781367614140512189064394163269452521606901285864239460706420774685796756815700065980168456593420906234614147118803051970411228343514312986894629067599441492712566335390872414122675025618898405958946268962241560028839429811326299286177737157389416292701961978854506433949076986385720596197223094614234978426186682651528304841184206508580796653601148847466925624238380222603280285499745547392283980406661892062364163714104739795991325657522653069126307185339272980057220546907486648800381561475223266042140237648361458709206103156775410153621294606643558585424339029607825499420884751542856993226890599157244124243514953411055973553199980072675749421841681984206916791543260337358262458982213387847185750610455904577655175396015289126099045981081436819315875606116406088897648110875383560296143866703477144990648561842830130371710711752770087656781793378689753187869865919244420947089226353847848345025384637096938810024636002124566230461529306006339171325029541554049559140123003013836137946603974371602224657701909690428762178265310952824408348381675464320396018008792754781826809725003808956435407583054469513667314126354828979000410460569608058499419314405204498586708724702358364222637564729260454440131174286281306847888246186361061884366569970307442033195146490795915322662270172436895754094931339152503787273667944255626499249748083283936452821241338384384160919796350359920603637979353129953524921063146575837789306050531368534841695673328067882099159138005363133577794791295114565058788286994858491514079779671457226221755152142829019806302196279031897464112323989987911873384502002830509489514283477228868878243939650027234590256798326767308662967782253084243689782324250381309462508532977613947615267539422889197872770559476790244289610861698419762587982305259180938389779930171512753916229544286368741984985876398685244861149857295145947664215264913307173611567059011542387595894712361810751138520661008695640070609392597466616850201060147087822610568868239358987088797426996033218859471874488071335706078701429077637935868644917223774980785462652251777563925513254018459847251092851607385236523568088813250366713378906476217615937143433221742979520199232745254873213403798173678499525522904545329620202236927951780120527569662823333566798466052436296662180377773037070115719472517111036068161371352959919117672170573865858328895640026800640125130366185677548020497444173933954811354961156961417768600233342485498177079059699849693034800486158040511830554480602923484280704603724878900592471564046965715039062025669160782078260004635611703024195838878878400527127963949490858132071103018818107028502782744536434952554352116271636206532375827979092134334768249637775691679728622849727563659150919782596853835153659220423959468608459475625091093108167018250907950741807222713220744047368872355882464084909836429496409122543959479803330774656146135278519540724557930021208607720568776212051511360170961839085498480673659432307481177978415447066742406955226425136439112897063932440519962227986181334439240175123620553449890717986831025065717459167864377276193524352438991829741246629494496787610868904908043080927189648719116553196077789600005709126255171486065134238809238782928588858953883303079893941144685327269683146425928240783627217028463100073961964669254835467269140835167049425644373232997344648714087236820013953637506189293095556135368360975613855810759342650376781312632093883479709276795199277368433691491882022872014384628275044747566053272387158810521472015064404387719641363086253760807195375136272385987639751231905448296980769778158316865975057138950479179029255881620586774213755523694551191877231003593230496360585436274969900437471404930397512020977083390948583805656586836460842246007028036126744642007803043566599769634309219820196749413039251581281525237740014110378147389183335813735103220999008570479382110681392690207881232433277882836368224049849252867454328576616021643476425487394394212048129407614268992909058752101212732520146668028179880245244007172149408266767117945320498048344787537634904694404116426665083001162561344979215356029392473011877859375486350584486347296446609527881113183414037247523636286463849248560255678982255847172796567544308109809014766466225182712420586497531820614203094525519320525707930162185224431070507798288088879456005954525976859566102621026530138309399270694380109859967215375097228495450964469610132185075391174916118221586996505197777231293491812449959935450924438416379187631277617497356004634555881266480472158022505980048333752585478925209625062533997215841415493784731339024228184973007705134116079968026846310865172924180431839249446554494088627981391922592575592502046753623350860935886792357468761431727902570705245173653358378377686998557313108080277634373173851816981182916596752594463830726266827706322942549370605655318057596879192476447271599099204462209433913581183476172290900184001953175655973940458650132423490347185391291395941593831463888870008980997630477670225921050120832465873576122005703887693278880584244091529922066331821432093471620924575857066132484879367237340104960391361617581020921562896426852977020237860163481517063609617536918894612856663989924675703549130849927391502029132250086430063097300749867119910047110906927338255603001567631148525771398887099118517287539611139159410399995960792235794150236410724052768450251209237308135728732479512511339603010391557402547086010669032992568517571635631240621692638078692673671052750423448882325911717008670205815842612740505312771120461152142561282719489116860987788707522710751424261618122376381285337786998143056286924092455212943312600274886716090877066586555951075688821248414070625620377941512996825431573664543696429274005456526885956542217861941995967472489346940087980674722664942460777325999370983284875150202241790474761678716266291602386411602143802903845523932902739501451199858411870401258618669639071366211271133054184377906614405624387349150667739931365913779008028821094569855421731317039846615130890786133851883368918357987614223266076278986323915875733159298467313371613279377063681595818251324522042217208125846540119159204460683450802065675704044459960005502839288221557919203480373867520489009947672281609401254910646029883522566557465960085420162987744419299206117769179380392889276921173249083386465516235809440720038981122179002757000467971250356566134074242183756021555902718669279916062659751368368569807385807047773885389439095920188807368862586513535825624630565658750271697087031724870596557065725184262460467922339072166665864792259134626942684238859695178711110093248183336557614766193695514609469574022189639358985075998198345364392215265226128356908632190136085831000183042279660922790954412996636442179228223957511890030523891297129540023073201378174018869816745969748869140315655819375767956885631742354097250117930468544332419241454010267765767588117674548814567785479935668126266015417267942567681234251821291927797062526360532017764132478894435207013659786323101024029041636696916251315811196176834307323731002380369425931520143724266646489796617632326767434121163969669405067795123968268650928048805111983831857373978124737362281567220787842874092296903127689851331493875715434857010910997581886301336798184925617301829159041452141209751551730660467208023121062713585836153596486790328967600541043525026151226455860884918598337666861233106134650596926249082787175895567294051305761964690701930789165779194624186475409433683588333767332360068244370195105051887622375767635871497151327284190759585949608519432545498232211575960093772898908779483375245757117625102767335757223614364679742005029098205278148096756224097017240762317400061496620539112632387532887413482214396701818534851519442882947443351085142691574693512706721993555021949590837534413948547415973546567190049822320900863466322365251539991986830997585515069992106651032484972159060606317213012139161364539685594092731613824802627817615458809225116048716432031661942434260413441064630517364874591735921686092695870790513408467695634152461207205145998733607239008313859656069696169229076592435593734264645322894153170116159015138648481741432043894284744669027899343404894055139735063969152694455492911433395449329956462198764034822145785778587671700772611914924139503398697895643118761486515355140012404699685410291027570265077069925231586578100577355844069147182318074109138440188622255807283512760665384852947380932671144666722955404904246127998209537312157244727157370531604385972714137664570476391912983083507972560100649001944251313396538651136977497816949327462650767431413252866151518246932202681850946128188568319304598291289186220163866893012484457203286104965477996808609065372641636112787581253060563478359684905310328965883966939500987136462970258874949568567003583374382107625383331544978871167852087963678323495612207805568081313700872155795777166950657598567990555836583295521134695259759244608011054401185969690351411664051542548801723625931168154760239577438740955398502706811199883271178171588491254767747760184846541961110240413396434775915351659587217764959667536025190574681206213396101705507323185562818435746680006853613395742365178985082795521622987928468682126062337311963915088403509022664883799287923945878980338948724476784596358726549401563091154650150431442241979505312179530078491197779309405486873335695130782906300224492564922244183692497297622790093571526131280347647955988828874396540495599322549829308980002570066820038129086440778170882628561427433538540276674519471980601755884808761673192185720040476979844049612523533429987476230793637859217385387270717587361361604930394816086101500456470243983439723438263384507295557632388702271019975937474458472552398291524004833220113467828899947796766741329213626753263816741049839005419395503480192347779723831448280721990470966664985543481549680747214771016990583128659813274202641541080029984862014562032028420382035443635727902399301019234374569669511810342804637695650467706364077855650175306857044567213729479174489207459754601698521381454066784058304254852291112056189905236225093869677062164017764599908670286043437443713875548369354117077058944200679722616049992034944708322104773474441727843372724165938699590329393926764375948405459999074777199121583674594611060649445275319951886970748738380500585545419394848563254465948691679869211510453830608636182620956702539729595035723517409060574817415384437289854884512173716998517695232171505186797521488455384905836663885240734023551166733555303597292305806985431929548902413653418302189070032085447407028849769849367202509545737450869878827359686752105582105009792898902148949060781304022874155633909068501139164906074092936567782492715208727292864303405593576852750881952412621435692139677736122487903921893882348635045633724673096519162076936214850415787481037432115335242332959812862558825478663740376018208046420023807025696845074954548247375460191369705772450812954631298995396441543533289370265350892569091076302599263122706308453178144554769672293983880771503046672988626770897011173989886468208660285135743921509889606493345054048072273985627854073474838995311442219023986847051684605607172928743168974344817978895183612617321813558426462511303662955886226522732048789753424810703877864426860044639478862685566933621995794435933054152064055699383737962266195971107782464254195660804043636089675498024076083894261740506932973182731036482278122819358233646801611253839978917993314350498870032616936491460748522518080215779892378908636251640491957900875113244628520890434134352429291834984302743471572288689831388005429993691417312856834500101974546512552194478404332403990695963718258862726247629203745641048476258446519783506010196472074140544983915294445747895192164367535771086185744644123875612195884025065981352840768482250440711482834124761154357792972814384860787878417498509589732055158171700725317397572786576469720189923768957738504163286420863716632405286023836130786306733265646623512735067583879089499082464804394590224759337832186501694071523429411801746362847271031380015529107086530854527017814245263853881058040288842189101779890193957911412567265801095135781201262549445917427152850662734095121623458502263660584115751830906123580152064833128040049851480758607409406061604841720148258257211286256465195939975736958195249213792737158150766437119656997224933156553271455621571308651404627591565414088789848328202279762484846511862542046886534327913053581881808433030581804624397127598765380234097577929945580271324525589513844740169122354874584059185197252738910117326364998111152669912095011048574978380014415653907213050223107664145193405509282029530593282249582266119678750960293445123326749768149953391250091608053188613663291098910430096699464694886175744310015480034551537083894198679758219280872851956725810479279250582635063836384867927338612262261396466584960946112774172765337373179890475836569077442087424763465376964095763802527277669614273486140520949223734822603073991183257122230279364837238628132089258906973430396012614738693170102702778314660015980918745607792897103331282082031809471091151708098601090623413503367307111188428896751058076367853636950178640892101926814271237579759943731657420088045948508726443618396910092638344188308298390161476789626077338598155935829024964744619094217799573085526571534542632713000860607102033408260372282391020155207059111311535173226915224573671127733723362917112814723999982293496054448089168156377112378452697399032089955733257856093008230985701133900178537634313114445366986370896191359314771689872355140567243558633481369667136581622937598666615817821702091193040478791268905855200133020965039595283929911922802497702649875624293330508711827872300401434917993241611275135046348838885169129717182482567164504955488122433156601633261830781248566888642201113641888334476596531126369130625016794917324428011874725413467106078634186793193054381391554249884697899855000476579638714357669273912218372437496528810655709338644997652345632045356996303673067856529736423026651227937658268189496000011103178994541206023651590781004226585790959369746797394485763943311087181396633099665668873514359118744009378397397594907616766000303029624232866724056314731539858902261164589678790301040163552815600961013746314676108471974454165592213307483765330282548804742108691551695395099361547454794036059849638236392918308782290774536904094956971553140142148853720621188707706767488973812628027269427255575079626334777188804333550852665119047778349424292421265595139252193158645885039830011703026101600659103722072914628587675704831557957983726615775888172205888230471252670246491279680803862614123317864897233873220352075082882620864731452492466551601148497124145025590892547460752458622152440947662240424988750199083312464791922198670715287940960119316984293406120150029916579171734165851398964595437663868132230571888752427594010663418353226250201634641014924647492413449644257615380527268714912145602607685014106898377706934426499392805921498948224851358557620499900847718554402519514864940720074308938271390538103514941818943370868786791053505257079671129729713092677255873845369772046337845655348780685615646066137463044879709536546627278140942622324290030388237667877599748334846995636787171499488500550875492930240901379951175393344773645532058609381114102944150900407335987481061784899753460904890731845317372843393284574729146497220776347951246307626578563600081787760468500768570696153208403092836470746660212495474886880790452561214928929443523932526924668071180484930434612329298625109232089917574681088105695988156423303938238153455309767240255572492300697047017849198146940240879386798511747597464503185377323461631966748571006691023380322167941130033013169788966979199674904467079205097699077784311843475343843622690314528062701709564010762900135857089940850004474735943505881635546356864706575994171013041247463295638905257195390408219434940935168470208290821523722697866457699572678415253498671650248505714444265664586371877377484180199635768401710897130430031946418884920484251121031513632192796193439199393865500245244856135205036644577461017728203720116264470475577292430338550915251035564921595096301443843525691738176224046958666043545302792478141407960419531536803148478300305482735162459115917809501284449399692330663337349085296058721508868722640070039907877877855479037849900309988834933223315997929156269484980773547344298449396065896138184375327601349736926570718333716746751197997658327051662417619935537641264191485178568073352613075451889300952663961913700954782640344592067355017010629180333398190017444515896618019563825053838079833971638389724214702884053716279990734547666748385119313314602695143973740492360987880731446054606048896307858263749701500818866012693116540842280148370627419664173188123501645474903370640389737122362413509766252836650772044267118358175587270850696518156162215877691612401746750454345191724543424030624566484906705985696938178011289931343766043260283192343665788694319010974532201907067583043308622022028577514895245475930906735066703420295906224074315236692946734260607247663954653164458703846590900285569917038534625799267235448308499273310902360079097849037907326274711402031625711201827057645545922507183577562181308262331409315347737438497815599975762983160605541474935810164170063669825291131926166495345714494267399494199353312834769224004213646833371097137055730321664924048596013008457891655442341584287970230778010995080669831863342524281005692421008718762197324154751869522765741080421743580816758932320768883662069754831039260578847722223856375886971939734841542747289958980210807990121281551245529765878231927470392958588852321179912222926872071568752543953531373077113056495944777321900082345492078750170512140001689081913266602512482175212328222120503494408915705992546697883925379665094558696098380465424087724073497624049712291274985934272169858569354106556734151403321202757649151249674003493223083691845515050700387504093877774481932909828057887237208042207302986985021505410563529337339015194865261085319005270391398937082493718796469164596591161680170966217792210676963822891635875449739816572157521034867046612326811969077818453974208109999834804102449453167390356507071519607415138536836321033014354532779762004975019865478745171926138973987859612830003585149510252517405012182554344498477343203076571785648664946459282808600935856559255888218686349212317128426079799882013656229795703299978820683213968597394196043257723842750129458149509074508257729688758010657383176636280749466101715068849516337136578733439649450447806019170966421479010854804523418579592548513188813381193136747639168748281129774491019552087951361518463024603691893631730368304406015315459620243525471054615248587040887036027019336427580172336780570070189016257818201276275041095908669153577462964244618117258432163315442336337751790569544974565591504411527066312694593618459034751685965362164109876582076670026427837009700401779891528651232657105124776313774910628352313097600781965798659662836570253591736604030614161308764674048839744013343569578458025591491506244307558393397944170223442684875667506112075004181273866713463772604177612578889026406434849078831333285857667671968193834662809721761856178882912079769458497258676283668171605736584705752163004252812045603557909777872557498183935845482697470915913244952838689286233341940022536274725347353119564581788391023225834042276086751801080051321879930647614109119540189672357318468189510286500385536026554043822965012973593519281795956689355201686211129250113022644950773652150929389950232930977702180577870440891466397485515583121090074437577105342060494740877554116707954336185302773364908699515933645955623816899685110128266804443311035333213934759354672225070528381330115100383489277337692487367681358435856101350133796585350644248821052534411375425353165644678127408793796228394290624990301022541479497291402133245203498252930934474974406862996422932773423753412856609448834741746833296271284396392768832486246964238268647643256021736812422228867544146627369214490654177278899488585195193109800026670213335151871258665710681352213924374981046111467914379045040650282983927843121626722610133461012559681454248805051181401117108143562700580819848238224343961265717907536766708029203671916527627054343552220345805437910656607536073649694416324449828268757700731138882069292895835816527035572936903758783372688771337539884101065963429591516455099878278217549098659021741121671929425866031826911797862086605277850301070664111698684105423834823986844233490770938271918842640909651663138752091471139028577209202618397844993698142201073185148675222172490053954533095324037111774977043081334608037378943846444151031331891643696742480419657413965431309724194235839873822590867102950198880249834391232588017738530891480188897376884994180250921430442149072579248235229171449788780485918338807154385264562207259193550375379406329095279169883461280519715622349318210299434041750181355390816456799453157623909860623188613051872417814868289203554820639959256902676294829898008738006687820924689889154053985269507715114452341232418952968928167072948078147805002368726592331924022379049618016096939896188237789626269702280377661278629715657786524816241158719582617569741109183572245147256210006339214390480808028888142834779181930928874530373263361129669550620304343453728823399542247622152512099282335457995464583657585517378221669952861538023544737532397744186366808884169980783915721421469214604652601172848138744040716379134474570189066645984320639914793692524910724652494113646156924816753355333760874028514796810947754458440314556467379896192263057686192070346664253845524871233295815146527432131349771517772725221396243748882185085975626356036446828400436279707875215473061555207627748557650461282968222937233961687399461095731038725316560313475671627479057964995817825386965204694246106587781787018573402358453208506281097080392498175244586043086267635501395757348922754489174226366483315368758271345272530173969695134988298805562687539268074544924121481256822307370535122853873483076116488889700278854761891430891488912581834767830600808345859470637480091765754687537483189421506864954341296918511124162230765562390958105173830116063954178560493221988883314508169075323922383895248346974082911605077656945359459106664646948861989675738524267240563620258534925111864535029889215856197120445603975932409772482601992826992533332452538449680140876222334736023458321152040826224424779521472652345700616877754939313637027301806733653662549716888845894019716897285220730529261871771394190782271080274350301239643770875641867760937104785336886102924045605816840347849639346671918694523721968186318691951608296721977988444995381324059365184786046955940513970202452442626702318872396123927806732576792552398469446817180739634335229715917375735725475595501307958368151510083141371967956083259574648544690973186159205868873222993174428849030622939183657643303648913140782520665229907699182019095373128172539107085275412081791742446271634121177631224991255769690549790363754332799205538345106878038595994751468936862385897932049871779777814952367523887756157262600788895297621354610246894962683847737325160164609857464732841543122728440277720838519745889579395098206949003129927240547253861676842562421776097578508905642360732185181682483164798874532138814736145062768994344906415855981519680341590592580492643760317999704123838761560351392563256084046511014716967559840263048295199363077015652632243113831034860926919099264364942564885429674733461444148495503779827211443284721014993643972068146268875742702131120667748636984977904754306217306474343142094499840894230657793493617067211477803744177072343310015535830673475461475464960766126149186010784286818163455336494991197753740595126218602721176724639861771407302176150969668873468970808362685930934976406432991675463411891558750787566831482798403046230793156699235763555182925185798895851691964293688195857141842991794079636149770741970764334164285817439467668722514239277230288154235993943726357821590598003255298703460580553383111291655034881878976285679379480086576488950951739737574434304073249078554316749069788111086775601504687025266468526320385161141294660072315984652593502073071795752335957939000815589143972962753201846916096706276598575678874860221857909471474229584840452558266092067603830912357741386890085079066483380857688278691874389926391687113970275998338227391452315773331473617894683984040821898730507576844829769170878267008953319333356783350848426201314612635704288943295092432166161432595902380272911508586629605768694991901157644250619679828861882359568602274725412477481169742067591581963186903219297059344911083696767903203686508214931130166099306628301795566218646224951496427366928475025854519293867713077626945747728310362813416221691996110570294289306383018078012168600618599073798349707662331429528705564376041104321384363879134681529566172478419298906180348461335393515839153476712698720806860660454352343678962587013936256199863545888033887033389735259327802909050547344594376119029766436291466871919290636241353169832868450492112141254052248874884823854323674934252120414591797166254513134244464467805037792837090508023250345901625870232956569406370458525441444585379225383481613280565789816402279219844034658073173495245238534387321249534107669705810705690610642678811664598649496375065880469583533017182668779394022287805262941341698111746033876406220652416445582175634203314883523932523486604503888641256015331465925615163976226121670360353066357492082340007279320712152121864257480370777678054453547848251920250460672377441633990845874915287060767655398755598366929161574271930930998555171513707164790503533241724735779964032606042975297500905865468981072356350605892892326338019862394875584485306269965358764662104180152881503870804264368525764726154659598224154000821795382222971470423974972486609240181437258793487812859718002261134351966097923212320559665459016507764149581903564008320236240709197963189100782892654014436869027373693048180106334492536122657063612884506001651420783828324793422688444935651119271761918132480575059868775451642008785804905793288632556908546326778013412800371767449134784130035862704355751795330468585775993418064502263066715840122822638623495667880902075377446389926330444031433767505884550195943545371384190486564964700677368590788701057974547991008865976420701095760307527069140538868453951451202414399711651237858374554632296160602710249154295480384412200745951172592486679783820183657910210793727940205489719512754449638772810734782928362564342150171036086997294429070657138462131232218608905672299083828394014742938043301133804095215219816529171426552253952355193014191829279552546750556898530542802041660924198972093769942087058684222594517131670955602617511430743864974541180012841277212860017250821637944872863220300423032605195945298596035032610742234493364189742429559517780120986838418717600054932608213275922276007696149092551732295849633221232298162101447559003072327209298204234889144669511762761035849248068554874021960911056751671698586279818485862746957483467509729184444722478698978590997241962475347990202000637050135292215559876888320343101218629103260608773135713411916957204167078853120293256452286286862363835674902032859242685407044183012207659934001377019136496053528012268819441381542063956856931134668675847199292970623499172737002261713896933864129108995514389539312822841599656519058442916420454049261575809219663965440744456623082937243214584700962991587016495379785496852053425030643695007908685079841704035305449947408596240420297203659494784024452441029105259906033310918637149124565403952155135216626207649081131629625971313701366784528975933477555197372640134223665546380434390034612362112930153163521334039985425091969906839631197554804173710482425111300100079271584991223378666343595600097326822643581014644667944507559846105126189459161694168747096964660450973352183265333093462419406081278764366635236487052445337941214041986844957439045080439747394075905413830488195998733933111657928147041302683097458706882841476581236584739775621444270669817888598966928861102130510638733477111406534508802905323148478983148688003339678802734107457380617110631302038321673576715777237987288390778389581666296686913663468518106566723284002052666337485307712230018562510413946567590055670878231496808997037476923236251423999676331042009991340699962867910217041389587419400320775639287127289756071652404722104793113424528777981090260101688278245660168168209977825295774155468919921986935368199317985071052078857109745278332457332442755615455437474106091014504228373217898070059902484821187739824192298929610996117723898961450502471472623638754686286716741318932970336552884674536893646792560650777002163879479376364187590404778017566401370599116099699986301610928714742577199162057725229457773022552115460647962076519577378085901880879602130653117475504435474598917899118374264834403672966740038274340008597412500600198610027678311922382810847788675560427775714429960478234321129132571494897975942161719940680937343842872920953090588665602211067635038731682846857377650127396809529294333658320425913899546066233358756069231316448744223715963739076374988800267650286075847352097295181719866521241242698738279422376055257550765657902416113480797079809877104303023416741961125010990555189684100566621025410045255008211133407544547130338730162776299921902823745619703735417839676347208806649658220406955214941774409312504796340018024094275221612727553022792071704943641062123229718506368790933924341840447129710420270840332551594157898598602467369946366208750342696381809801700251043973307891022312152706341564969349146179781753880473981829982825131973203862445710443353018549700401581653113390742318994011586147083205556618213716871088313058909697760464667531188215480941914499293779065601954831817930017298498115303720592959534253984881099141228022279463214339995435129043427769211493895850455819554382274216514739711658870018781660506355765420646442235987670227061074619637950430545781534222797346458025020871395097072308968121101707038911489547291338413009112346394474459900181451344407958732643828437275518009869302681937282922120397586028646924502544651672000418225352022429439637268598976743737071889244141376984806667926125908839350766468253506658799896763223799775148034672812589234262783799109993851196594164714291492049684271329714271836564842256499959297035879593911861413134936971708983028216057370115341009773043390470094049051112879221105852675260363062778175329833116766888784809674014138786641568486578843796872384101348579242052182766000993802681131750831756407583225460970856473012493471227542372936515897283200561876868067177196327651970779306866974518429878518556860028553820970564354931674806804833773660341275029394048988992256591753461629310077294582794919977623682326986818493645490582635032897126990907163994600682281467594388101345286094383893946172027573527065124002232427881670945794472849921167053750293340513393276132353400136753793548485267583911684324678619870112251851231461217941728993105029303387583333793597884612244604093259404189989078859174277847122509725555982459389564557746087236931650084914364319754866474009782310945188631308726998827101071443886576652760946168854408308580633976355022043962947836205391525896834488680016880403083984539411111867711180187259258092341262152756999502163052781690796793748570447149658909351915487863894970947584418438596896591482052180844233868213248443511686259555987268008620719753721097245039775975254128019144915956128729298159226069672845036575036303716074829364308671872253344401110005678903932986837132101277558860464079498720304150622561336803616885126014226509955394034193026396641571551203270826959370398897343263424282840836165472630981444897438277358907568970111374560274785787788885501147051093664035090855909782501317180609195587100142620236904335869600438261094834729245189655431708336225805609596210915732645039891140339272637157470976196813186371784174355956018402647748054182189426094633084372988677797949255587268072395896837473164565547954683864635635069242448346042135939191461492173592404667094154820166337930589632714648106427347637362416886032720341927479378172319430378430156038089526810133250199533511908212721182305113406570975307702752189788058504232670120705546734783529140869517864020650022878073816552516050024586321372097554715942668285234550442725778808115411221597429345783840387845612184037566756260405274291889622369459914454456477092925859956062670308109114176928834605567900241369688214473020333422700060315526478292171496261435319755750447371185033930231178870812201613959801406594493599852864365785316822783336182428482170714377345780989751223651862353034110807254656802876963563881441890794350058602939606157297212674206777028466173872483508583057417637244188604541291585273728318877127643773935734063725631784349772198995393651758175994541010541434299494825365645002092898697895342232294251925035632370627785236021398723822485203394342125983894775309080286839876240339107321230070270975009758165074216441496039071088142569137281839400549610860665488923298532548477719159079695293483543869558903998645182291289947209304555850309158526942647111408408896294052728015297668516600091680777355836764697667447741917429959278544709400634861871935647401815128737742525587787068317282737786160895331394691077538637545084806890159025073745395073831660046285703248335749352842805875601080726000481429583316021258532695190296758893946270585773210545616348844288969594396224000498993715784250576074941851147898446230975964795377970736928024644211607876315490185705227172842889717233621497754825298330539082970534140782779347640186762529011344481199051559031758572956663813287359292545125276372540213716094819221771730958976602359278075141723058512659075131767893311014195964248223203919037276764625300973154979712803068762659204332803268583425752289055960767145445943696974587176894731897719767236406721276253789017237905809991594831782789614897093266015605369077665196024369634468118477279924859788592453672407718503505166074513539262002664663330594974909768791987041648267982074725350759607872239755043168900164161206021696472658383079372963012336115920547348262183334220315469891083253403415097933337325018725706775051218623618978694839812035105136599925413068096769207694076214270992038162166071032368370156016835663327602944678628373888376330764242533482735938348454406990811840618951039771818144073181159657854966173987774148278556233175469408483242871550678446447700619178080791054395413859764138179880445277936375082872976424352189799578008897120517598469161285647784346476644394144022780881160641700769181862371231894878156957594272728889062503996442662262216321771182398988017593371192060569607003884520632610083039018511507953931898589978722846285513076514377656893137784804526695332052915359630847058469689522931361122609922841282708541937317972491936597653290540094572593197534248082829883079253663012894621103495968161169433835342434903432687065709925666336764704207736237911418497741221172240195483264595665312502495616987131617167566947737032417292760228513949277925938408865519431978725368389892422607333352291466314060565775919559828011130041755604251535248260326542515775796948055084961877823214278169981592922258587540470676556552564857539904786988811245604149104491545887752490140799661584448550419281425400975353249031645602732137363188964808486878590193979378819428238797774274621871667952780481331997257068058163937703540891571806960274225819701895664605936511057074305081312920891240797745555367895893214508644289410740666015519577882483248542604811778252279814386816612063003788082667378034799835965009239330096506253045825391082387312753813350959713501275154875396628167713678043037799468991992254088620681343277593401838377354016092846772101553483720329171904550798930928194521932131602898155373629767425501681031309481116976475099173998217957716301287953720115506235944467035328264380342876886193767963451358094378893204554207905860168284079972072052658191311722446008054168147927927344475192575722919685574769339244063428458202779638850929248139655592051760445137666315318536922905094152791793573780242603820458654479877130698639642390220521575345000513546692159994570728920510284828812623469770488173348183569192825857590896772417424086175385993790833181353649652146591449654923640476742188383127156375316991217582935492386651546990782232262550008860021136096220762850782565907077039441201489115254396210492510324490067843604801106485812822738834574388476436352888754810684173879842443858318457026382344375016989430283043333010987585554883708566928380131974235027954492707003629815365268556014288002355071394072286155387267147855253473892706226740768108951478763540216461462794042856447104401614339039141058092543362447186719979912045995452404145397481555142732527738610109003496905290040093790637054239324809680183372752624381387776686981129280856169294712687193193683446139032972897473929733408970053258622798497431285648353214435528009590547713613392794577293803775174328322139578460930035053233662918770985684067515113618931334873025455205845817814517110753529324180339458403804000785496739421900806374825591094814246794086341328650714958633674265238374420004800118248039047306655572592161552671861347048760781861857091583081266491178873279836863922130780026425548987886470063819329423632047326554277235377253097816061274966434544214200388400839833536697477103482344528619826011417980813931204167086273769727650914626975858025783236892887541221128079568008003661002017797117192430282997618395387789430519256774789699645180194950603657326891318255241721362651987948501301635338153045027814556573822203084746671893663845783599078358699006750941740431840834383401371541158448765426502485478066800785675867613637687781904681998946604411215947999945129099331842730341630439453634486143785055850513551234112341496955192740080448861921628700013967117817986983768741997723348099362742573293656762067395277310623198314598225632128217452431357560116931810364557877295163934936136091261864464916676753007996389763844734338546982212960491987290067949238552172118526006313703678310990938378919574757004895642059482340292776497173076826781896612458064923428095956490668914260242032055965088430733342957471428927055394006895911499892186645884448822941590795240431397561812611616825161720357823311410642193533258215030194370333314902608849588765469484175250092313942120430354595536201315348199007373226261654435025698702146107439143220244255930531374034009780782616552009168172385477463750879495974605597096557952702401080353471349123488321353382962256330328260514921634130580423521404302469990945575118376942873794074180201696750740591802429312607477070336451259003721911940469330395253960263032681243289017816146377711954500202249783465571422185274367925968609264779381992904457406720739726654014715072085692260572993195510795861323931823838012251907674291780935386961761926311001052449670098748784991488833633332616803316661937225984840214231810594280231769231118815599508475360447696930743933399985446433837727690753004717345267649637304117279323893037583463012634783739768541863867967835372882090398317282376180573652567554449750052516343119895524215996907788073227871803962228834301632816166679634120247676734060950495008296617707557690936043778603861147828710990422123644523692716349475902689264179587707223403412127853820827887251801502155323439224736145616043707381989180996534745715134547001864000641866758332195803359728237627173866987104369502234621224255306780277740344656702765194427692614015724803939705993439342052383956698927780125064978741417355790758777236005471768770668182464467044341972643398371760096891748814362032017483232141365382602318007894436446132089967606748060302782728495793862943405871558095565678402822738357708417503624406959821023157346965409214895454966931574118767708730463288507316448328037432234361474440709752466329054376564529524720820944046003283035981331596119801274599565657334820735591993962885023114231869770080770854307495836885063502025490681913066556867634548523794912761620262386097385480569882583347477635827453427385248597549748904569966199520824140482099141408085016356101360411152662964404831789046554673531331715473344600157285222699013309349115740481255110655604071462514677240776834968477807128052497706023520065655157990431229048921072361128855186151342419078675048526346570217015001469286102679703773855280321771152645707172550448182546075548775651175295372248896123732991654718716454552616123507832283746038398356346316438801764311770774082654840997303687440044732777560943049274837422733327003978248144741294638373642347893138008723453344229685925759618583874935175371553491728667105013728452949203103425584380754194664382565649817610264507160417285347758471513195438778735069303151893504346883150975468228263698556447136326449249590917827144732517058881278906000209738131718688320021137853544341568416463413609488011087147596392288315155813754449279946382000180857498997420467535412180288698835249234992219518322168900382662088878245719845782194225681667698649451443665219031614672642754681377978483654942604146753305029275993811737777339985356069880575952110229755038476400840428571606011808427975313067276881278521736623955308892304349118186908464252751801396332289705577597532302167986468014830621639738644616745202686210151613749254293764847725766630235785593227465448598514128000445822394594485380059782874392870941848689893329075478929188276222233552234610362481906902276199639351555913634198178706570528531437859956657715522596962483286459209873552492342093097986869848809415895500086039271283147463626994468178751157516748661917540852347253172891682892356446688603072573543280017632017605581927216102170329110662245947943059840059650419904814130119952001356141603642537476705328550949595640667230710345984986127405930233036183024788836194966462811160087755562485999140695941733220644453549682028578663084496906775102108512477170579515409663924251277220218239171779756534046175990363731796674350888159661449060544237086632084450338430236037886052846278968409030266813990266935659056806521014355825951397543175293659462616959295397302551779135646042961430238020570740880629271130170877646612378857334525023966198743927856784927337708370037968933100539750724169447532933984071448338488444697780498629794924638761290217424420834659772547871171378927159272174114635952523491865320462244572961333093428676717560530898285921324349823447677057040461815464712736407303684416205414994775103817548359557178865182457292466601318896773308929134697644259021811789418414817538266383150372374349362449790817322219739349157314020143461347178553264098995969622979951089337995878344165655127396990909206767548687509670246697422042618175297894716453283429082120817380420379511593606352000560632586232408125549003579967290936846207860908027316970557150507012395234853916821321312350515847744270795862570556332279081984316228864315791142440514409787723488613006706408534092327787251740908592236663096950969119543080165613692437740887933499705690115281999561873408992140963669024892119734464939125600920546625877904827413706234834238221297095882375194237510979296629806116110502354129402912321832669565908520819615909792357133338457790857195773317043044511878349324771811502952928617558360961188777021768835338112324272882689718951205635025109825152551417743063723908529570869730370639992298036881870836680535450227011967595261004377973420051581409529828711139911794269529517115836008937752672983324340706481433685023625999260962527640222408352322924327011856208360712741418152568395138089015291116373464099556230130014862703717715333577337547129877851046985397281758465357908608692934018641552210509831327625842407537106150187820722165581344796191694220653057850061459958284606418381820076924322209210712302220374601809612725528942167746460998929265102502394131615874587114996058301630158476210903940408300551508741313396972202653881462023715545341791907496576723149280923563156631388834627890330035671072450018750760610228021709512237784341001331576610117380884983012963106044884663776122062267642995048655953225509027195263969183928282578663896880681754511001089944740191808912011571209542703042229171210422005617864061628824826573170640043105165508741189206755218022652458712515244303156875932306544304945812213903853057384505531495650954083279918230304063226548923451413089097008712046559370132922989970761774158784395698296319236959403311552121671275868635371124684391160536294013717474026444986098456681914300164839799620577406550224365032782776503861943145556715323240583599727211368444221035741399945288618192426746420188158585942560484996217559596921092843248344617732802391044048185839301369503677546849745166591196548298055150642237313307772076056405351676830832406697555112993572082339096676819965497830857631744120135888008847981658298472857603113297583835021275654234300818123869608559911125007034390475104044739392441345119975668623277191744002376509883465216394246182110241094555990360893240204098860967805501307720384920645233903708220594029382309448943215047644989571352447222942630644245224349243617719632911089044990531141109427360622862414484999383325059098316117762144324292845925240902793249175775349815964656508454748155490077198695386473926382592379273010277151775629369410805937746041174686085645520512952674253286958134193318528494138568407604662909899005298718422974663204405829091633379599809643602098953290360781754139647463873705648460972568128748721207402676515186472736169175652523912170235461425315588637269921999826575792560857833793952223258077715317945210729245691067343559133627179974754401523275657058549047065320454011181670134614936657585917679723744360978281425508653329084962351872485794213951015374397546186698349185089402317192359003973801846441023730024663182867501516742376197621025954121546556387022821277341852795890975621302286765438264176591758944670243295454525283410221123750090093696713838927797560565496377281230894597027731750092522073272439442699322168524194138018893084337983870850308595506458587603081124535331701230994873189649355043941399921361383938699975108174574002910995773887957127649485777697915713437782862909877420382681791918202745572419617851612804834059337776199709581750178038963051600619887867196211300399551154127337793477015370921114015779650095514206268763332021026541878971313376789825730797560352920212454721941791224767787344631737136221929353393705769916743780200690796389148742951393416014877995302791372160061733900732720875104218865847092202954192145750935743276349895322048673456119245512571732468066805198155787775833780017661522509635223074286874572031777238321053551415916289549163754755145435819219030751236846791006655683766366454651587442214924815306633071550097849213334717260259704269568322413215303139423261830865207008991889641358148837351857936598146117065538275383413456431160088112179524200821447080325539264013105593767479585058761456163929485405148118786962975173581277874297016255555893572587556332899402237486450639626085568335869938404601527645248997250694701421203751188276355382636949857391496011053007787886177973683886569157958950885909312703523887223378845657564895404936799148113680685265275855494403578315921353232505579235756568954184460928748647896747704114221971060365513391097288156199299765070326983558769410835342453356827583055141805380339942897726710531993256063754583159935308522013786938042104007304426077231878441982712494685490054674345557878645953616539267889656467165552276310641511467254478920303727565857296526444862306439971400907073628255391687841836850363212250085685440670813367061802103783783095501201733516611315457659180446203980503026096440039166992490202400701485680964896514836770951909335160881178573732635669041502935288849074886554097757380096945723340391972965724674244854123575008985741769143547842739779893218446837972886538775582140365676966138445805239249643109477712428971436734721270360302421008420386481794884020510995721992248833299725564182715406793299263036097403074264439274524385296762126267112103623069015433649068576432667538869411361920014730704550711790628106344177096016855497803145134187414503309417598400368961542742246529464172952374496644172594536997367096545231797696809736962010614551949528608615291209691818175686474904863380487316491932268667109744085194319206974591888612391190086019161092235631205212999038497586117905302570474009010098025755100379688674328591536267384781231964472185719894749940632095241469261183269651011178299371220357025885034850065252379342794811054331672669860449530150613612648591456563902854070976220872837279305814677618892345575035934582725906155282248530356368245362974889112658396352793297357032112273024040232321180435017875630051022831519225761034844217251780181593617396878279645293028774013833572180381711061182692922634638478694103062278450872569611306023242087475061607911694263718232687855574226681642389748673690211574325399056777587664882685968491811033847676239224456118250845835771634751346276167461185068296094684913807513326671978849324269816131630939748060220232408768707081288228695126768955492688263624456989219427196637126738050149305477152690620391511587811320150430919780828422821562547998495519685664355031463122279845345084453370612004139344303531412895875860877863581688145931921041726631080900064934912905583114573727116299845485389462611931513979424382416057894149135952638330997930756241898599790569893551861921568351774823952643780270727281748816379512538516961845045444445078753981822475194877538247874984377832432764846370104844781405408673877677692947513150843105136110993917773983098540957940968925877087634592346900415313647718728259689643813604813099993098618949619535698669189302725041252163758896030513147025927416035855250438585161346276173097331267029284565272060425098968941016430584234909855986762851212439624897115998834908921039772445804072197899445177794463188633363456599859357832797109381548460484054532819297677845396190929901783209320181981894670121267230928470831205767356811929261114154114921408962030219383422203914136428241463732107448772534401538061195031410627128663923474307991356004926075737038769900574385088092299345547163535859382348222375830810632975442832318424343856429428205681299810019765837722413911642723417897384699465997067342914778153899098336666846402751791506238806347895670690729638577845377889594293603239830380647726210102104595395688024737223308856889735240659625669288100146665360063811365749108864251507231792974188076370749710976926094314145402376304776508383781319659403464578717819163297909020667711426915216004962984071908588053872484170024557652922928863714673443285082982007925479605418645603964618681545866217795469873976873158946201956783842522859336636410087232296606026732693440486180380015398973413625854272949330421686693776423032302928256593174921834843287933740547704102382430152189328015970534924502673665520477609413801061105590780901947074587139459317438568091281106372502240602327408819158714723597791300343851897263600728999345233882436811614420223084405934199761805621957995121916201467264619467383391701529653680672759194587737344829342924170493910046511474888530788142729771003625280398254098074521042600955698778092473624352008598358821439477780003458969517750664334794017822680460492475393048975442928335314604091562961082341023086029897983073324031705065318759846932852287859474668970074204994957448905561009155745256527432047692459703693425597187812179813405928945336552493282470742790114205546359241595894065117390681553125575726541393049529860291225643258481184496415768175335597858296413916763247587428255581793362248199216536664890899688649849832824428044466498928714543496866558119805087168468944449922017570388077761935597947840339608168060481389365790139818151229293022000912895762463342916876881077884673545230350053181485067527749979599136785141405282180493319164745189192212146752089154993341466430651598383425439627817472777724871793030482687620795485886845620356168322114204050905475589491660282547093062062161967468519660412132754225510196637808757990135785510953886173556731643081710704501138118247740405626543048630958843453051297151971799180295525323558709613327226851644283116172803583469027947646426829346605534880074884589476474031316735816265261047044257890545943984892392546632442945631600771137466979613117471586214849039754382127466762729838891326073980302846227209693458805149378507836547691688062374918940644959072728112992733086891643292666471525553390719746616455304144397650274824814870986225709082290640506125931062405758859678667114735500201727391740146855633457726373109252345984700888328733257353601912213741152846033196891590229709566716805903949875317447301827890367949062816074590821211802068512472097634901667070928236000191055474465041946954400914248536627209792879907520816268483811502811660175666313343444288186047006923527424833356215081800565511689401138422779068475004093829340487182059914067798197864518028700197164010818167362547453901630795448950876604933041308192929757915400850562374141021138038035494825503867530822197729271979239310763687780202226919489669483704908923280420064835551978271103330368615191156717756753060286324083633163181608882437399028598621077446453041835441041947760895510169940535247240325173066804997555217903870645409029786395844366343266717680509768910415327404531211724922336480803031011233535575650101957125458196155857012217762351935714319711766151116869448879646771110493498185580376792180232639415112957621484720381664599591146991029108164840261648610195433657436484588865149204035573789758526026268697247454832038978352622089341148635762058465038412911557036860046605412335845142110801194097390810022040345150650988187613211546966501870626808413766655878424547955614818909918803056120060651168255129359902569514184282578993605150176206221306613005783546904551040234074067627094117439886451351053994800762248817616235885832037436415871424378849339200447828525373400958563992227746507566495478233076891443954308344850625787497066129879618515690252034213448762013794418230345037543011911958299471778426978667217028742333895713879289077361285912149950522514529253129987432596841090065635993909161513131711821602463906250166324936826984945505954770449787477688248299897319567579729856827461343107468824712047727167986253573735613787238949935733570768204471271755232753167417096877450558225832422873480338408036965110986425495654905132335130771773802459280935534849439566878965724242983219873905116358981245860070104204056381589707450708982274161740892938142249264159397945408452878134867438319341228045359544112835231598823821172464146679539647819282733480423336586973340769310757262480026631837715049997854373148160395242510154387129634728458997291575187228874703871306875534807896203935169731568616990747129334049618495790197407413795905895310277249453203482218173314068699734977861382912048924822915277566358115008797763264565116389881955154062658925492129676845808348486369136002270097068131759966590534469340494488889666353166030586252542917575991837118166558553604174063159374204047928972238193503283317350394259862247885603520599745398953720818719170771483342780684687290984420253316472520447029521757488167445410663249740164568823372046455560386246369138018419280684448970404968985927223564277393427419279127988896572488349056229663492704705143871946462055507944903909542912611065217637686331984522715280329134268328657447880133075079414156480782559233912845302756790814087987162829577485774523750788333761855582385477613874126427601106284816300939153944972412761961947001379775933716993684846105207973826389820418519142633865528486067829615025551284873220132302948918696180800714759007756154152518845957780691653219830123112337759122843477082056319328432800683319861586781662718109681590738652822965928729124509098269698284981947948561537470882147913148694613120447753081530275743989599349885755432770706679225968542434364099045333250912021630135595032667446437659190906761798192851091727272225494854921013643045103400044198012813773935858265523619123511182027193718835524813698644710767147321874216906928287233828039689064494666674821398364436130819854315414550539132759736521322417894555395177371476775312939472593428657270235357842124610423446745534670085466644851453060837234880266276343902850992736680112219835324898459173242285380771799953236189528000955055416163404585964204955135790768367342231981192933508872553861744711155499639879188335630860544143130258237601006719096553686576943173597773426714728115345566475480159483874770504742495772935593742601315641493634011656814301985804615363039989642093353736535860308443462190723166042999738165003948556155934521876078233220383837645691824586992610965041187062031144732592001888580977952302146020994998841304824028185764390281027631094193806059148093452661699930261025984207091094803780724134913859880184113920092078037700347325556909908265414478425793997099935963349611349702184394721434848868080080770466082355125238782403156011224674111286707442804030722467058690947131778564632790509891318792467544268490233009157507074772435942635248141226717628024861201980631692890775606706097032547367402919388809510412171538634480717643974034106967480104814898203056515955999840232321934979320830114978341600671920358945569415739958824969876096738496319296733638294583106283709290433987492794981889009402035602585879082113344986902653610752452225760385074876711990039303246746869142422639212048597197364216968699056423876678085788192567541161965838689592260618398320360533000545398823148930521283886290301189225191493518353246047190288576094754443666076579387276208306669707250887331814751329583477971076109735412369347649816684218197459196162429095596472143317454412511935104359167420998356594670839513378828816628038223262604651084764223962979409071034232230062466616893770047925660348656101797499553479350063309715609518265824646398765907570506184639157187644253847172581635153745166999558532153935538447635375458820889110519976127350043767957545298107311492079912491684597161405521789428390197852520792303967094883143498749836201298377309262774386704706955913551930288212609397546389070922237730406113886338360414548369312344222204953763771288521681910866927212545925450334945030067788220884292742404612392499180272980481937864470983571374136152844453154693430743354292753942182300259935668046196020140138785276243690799391075666273871802421492389021483697126384611364157351495887062919592543207507124139572376215002943790655454109462328947632068695079977350960021443131398057966483965362435891803518521375379504616045748301283202633861411854737267808191256453887243467847133825453314737493359142542284774006085632832417701540265706854511199069087393075061986800624612238931197243654733653988841850934436497702107195918115616390494869735755087311197234154458673330423069297244307971322484083175681523887358895781244973289751670912622317023266202758112748777690413520395245629361808689910980387858775008598536868464368970527001038270891823747887643089138500700526745213741526481796071159859733141769984446253349082146063192276333327382091602400820965386069695130555397975618243969117207223020378206002899319639453675713732254884128241961381280343418413992968976358750668106457180587244469723397167954590997404818717572269704820725123803011213387416329595383134634409325813364973818765209754295562133593751109616223108283996385801519100653067215461315961653627953062500513309657379100735744274716417629556542132119746072320885469770583320601233689838727065719955847708717207805379691731971681399243320588981804495658768803475037825282255783920337779716059923271809836487187947453580766115045616938171538864257264903345307789820297037454531323428299508891330200479339941057325981866001467416256039477347274196881083452084412077118354875326539509368880451718145232803472193243211308613516037583075508129684177842636709639699058792529392219984428241124514475978130157517397289186291428113094868730826736357431279262797156494147274118641443739983722489303935084222327795071452298032353735882543197997695821956710042971162791738723170339845582806533284750216092016316429858834367732187450154748091693205859357062875185074944306643381986353319863120880998956792306291004732411553090863908998375968659781680801970674404168656527744959895534301687358487986141568210624735130341479088357623811586909047878138996958264582126216739875377190969504571221527401905832450480459857498978827263170332826267204854976513310012841029791500019288197065943150310078914109217322908540523184334925992924204494537338433298100557235129006488250746532147277836409674311716660145431674032812893510680032738368822975252562753766619836935261406754417998066218243366738897709767997054866908034365808601271147533031449441454808411487975855424367842524000525224249207729250789583091289895094373558032154529546795789526498961396679559986812278256425954883167921075216176585293185536135579275016198197255922020861649437895170160271340070651651292268070697066678924410051725862766288159809556852252043429106796855169651338348236898834172860371638062091922186455018986700817114020183905876169250587823029389913254722686293099656992490059496398431906140390462383744333276122189186623574995404750593243899348334373657198320450555609179783586780992452957419823452940309817467819197375017569541718810543837467600220831126995880363047547753866795653951373780118533719285016083259841233196495039945482109277182191199788377606246533509396040930544568816116144039782266633921942183553874666390920870732460924678676077706117522373792251144255409655047402486223300631363358862224393052260761516075513761787940377869561455578668632695409869472832717106525913691059344032817186608845806703264396560331178771365115982022795065473326045594326143476060950935017824492632111741643888928514890828449507538338200427784704896506472667570453037260056436555302922197527863773936294639171228330742163934720141837298646419637491639402910275310984821208624077856230724400350481938699561101961563203839492453536913966646979137529717149486574935950194549945922574509053064282131306739821159944265826302103489409389745169113075578233761408428146650880813557205929395297296115504726677481988942125406151234313003022790935929658121179755098043695596877093965369233580683335294269466063570910980078207904264917445407788897916206812372162772959969137013234165732415076431537695523551498012731598615304439173597217423382276743665355132168438434728401810136088598925883058910124469218756600751485204536248603695405007956769498768394562637891581592160719468104312894860678654954383570127291939513322041499838559024788636178387471006992487756243298185812639362466158083079375486794725755675743147483573037307003811969304317889607840506456235640788414762624789313184551128344905146830096201309572583547078141899876659843537026068195122096366582099370907716733004828926543862398340927873465619832319032964018247640395051963918714349115685521353601002247078422341584215876670947294768295460321627203448848531171883640847507734698333122293114078799366765968355027061643123999057322050930988559789360507402113594427755454964842703768660781529637979031696036492487576650329688922988213035002205472067645463951742743260334000198822440982779848317053387010389170827538811140062991072764704866379491897481675539812897666758854068322756024020385043838743945127328181945136183718866136693758338928603120302265555032891351996796620132777314713611914357213117612712933202134115606484001482700913970714784014780759429762995333759318780330752638186912759734950544139473778441276240525769793707633490402226930744936589483832823841922974182232182538396894675075662516411629045980564133746018773428787579332367037527681776048614856350227506763342259744696234628116263150528312020523740974218944842067778860288636677140875550884610665316673649021307808140975365133466006626047753380420222736755047597504642437835142284731803308364558374798448627174377360509416491984437106307610085692798511149252107044384110423249642618598979782909674980900837772198408048235614375793585677008184520157214008382392975768614663175555538405100261845816286180906630001455572234893580917369377914930224841911593435005288319987568233636159387910230511123693241167129699392956832380401079800633067819234655977555593000902934837125909228391834962187809019365199825199988954979403342066202487988512665074302127785488000104088171201350466738539246379056179400054630312560919721181040075008025154951608988286401603841118193398625266823343305303855177469629226347440886089182848472773906686669896505977157802823051465101797436784972794412837379040034746256150875055763551122903050436499476485638205027056427361070855062095078309851909088058238977232002819772639897174691761167803751009723171097714846963774599300549224428238620963434117453317574633727576611924704160546070206043873606950218557240689129271094209555618731191489915576302970885597270975956756402419041617150311301455386484128030673888184530538834372308759680227728306256769174863591619847925751210971370594312271332237971582620510702241472586957947921115546869619376975300768933503355266452437410326803184124926991501167494760176289163332804628301037132797219159775972231332970300735905826941134718606796313750448938913866342376564056725156670437747690429759555118041418247306353222484199781137503026874981558245347629399970067730893898799512256154993913993558003890564071026512164899297264149897824296138801545264635697596671280164252973268025528383377313830382243448521172727175370790884395921312920085864121659648205031307631111333600083805411515031206013545128439842060473473212660570029771861336066231988775916748280301506415336200813330962637387749069964088485974491089437908871628907934497155092204662613191139223779960401426268248434712382987150613730840055857825625041732203936035596202218789175703244246994366427690284583785181593769487713665705863044037491975597745906105602083022703309219979329372466066215292615477576160652280605706560151654621596052829654187502786542366641409008292037489105340399601710893484275359606557856616825024598898083803003075355605315756036655472184906643364577632149724856264949451285865114786359858380686309592617365511376072494751068569983246884776123338505067980119017595202936805258406236948369980099653060823060581896007022138124352184345696953738934630282844165930898119426830815682344965250006167960842724998407299790491636642060761587915892372664615611001548071900553924009378345965395520522729964347006354584823112618779406577478225727687734900501290119689147611660915627808574059694182804656676667007381242431449090607962527450393507109122846110957559498231635447968934311818907294804673028972118156842337012930447675173771144550682320576029512127789038374887850421438399719501777372267263517667671360799515055138455647308726486765087535701105314058698465424459106630559313588231836758772643744872572764046684532791160232864648714054461364445606274841065736922860472577965324190081187948333730345469459928239913555079877955167521632556308722200511955410121426791425885959230963004774607906628309720272886720738501629992602694076313566003788642014260082668945209029256557970233746088506527435858571063081051298228496601937740355089853782260065880760636889535429995736949057740593485885998877381581765053251083310703326951977509679910008065739127294490641898160374795863720383189127828250328352187785823421816129118847143792216637022249532112338366516164655540796338993238066368764920700374639034911818829095985462662669266377159224574418548920622875925358370726127701681411924758489423489329700142834095290004857503377402050889942083260519644105192366806304348030095544432317831986893760548896568976426691748300618023944999080544276844073514937499526178547673146810042193460964287884693779091425409438660302566805774377835835230004925670271213130916181894429344307823918543245187380413583472786208621052485731023236827584405514626463153801259768755093035639287217709121647332573413231517938531785630282059442821863419699129456389396707942060076213275099200036679551563560535279239658772965003238894538182747564072077324791513338693540848657994353263976164099915254940703840059921467266061848469885002940226207505558844001017809358890723020785826685136212812319985605965078219322406680386462502651551753364939018864098406126955994637591103545508466473488869682751980015690093411197522973907103073530505887547715690110311389209822213039557370943258236004559441717988994518521952169405363238249644233676250275281930914651672051599533637681158824909358669461433217580098238043830234470819815336274520879282059931591538233129989427256285552849018239846760137726430435458258430891882119549486263290751438077120122956457119131198925388965490754048040716569591344872327279546500726063467717351182222293472951357579782661841224398210632596584608611501078369097002345449476905618952515175324799232705447529349145917689156363620082813168854497068925559828940200620485760546590020661979491083611907403489514317266131694849585040814625192720594607321162291927177441529176607240470272700321487077093735925586073240014521101109390269574873897706110943496252031193353291167359316572138116367135986412241398349647583076990126066419511232397890443591422300648339364063244288661233593372569863012637026443741248061466986527895907097197349892801921180700148099175063128330609049673533194083451060428767772309392326986455425619814525106626902001458770660988662666974715604807339949221060024214770245226352987117551309238227378347751479965834379547326691004827581970004538155520256006150756560025353900948543162708547219052979527133208241013182355775967539338365675145678970043207839362946778425419356296798159968613719130307731200557650841177310296284081859647361882243531175962788595433915172163356102873129198268567800214482650498844422581854257685191485565672083549322983010954828012513084362407346570136112343944166473288583534069995241609496895457764788728108603738955849655218510739910889209024711901657493413994631224260762180924388817573569354060008763393920560934429904396935509906182444028241336649438495258999647191664581504174564576181050020389752864108415031712604243452687221352363059945255957662077133848704826849420494401844879927908211561651886321941556042900307788724880098085682097080951429894308998722862103020404857316672335450412356428089149498489859062644444898870161260570205296115078953461984794216663382244749784202839592076849306367625321452780043170559707853395700920786450577575266301554626262768199774099751071139035307589827535144636901792996140991108013323122896352701987786352869412516237882644875781056818851804253796116478863217327850033212700281541394172353004081961557477291858288160551893916928748428320617525101711339818113390271259879345505420005171062800719298762160396937917920216487498022490729059939856834723628989072839742631100641371740350081012315074794200572509095148845361606514518056272407132851017494926785390559304761574401589218664658444084169797533470337880483065972573223402115852530357490309254957511130483155257656194641305448785262222703430929303680677901624770577297505761053213307596755604377017540602020063384000031151300736314241264659510730824276963766027299147122789904479558129135623343963754853661994366420906995831783672524389041600211443957328639664235886368622863396260887785674487544036179492689912477052512655870562971815581591041482881121308841551552926836235198272335414076665672520375348553210376163090667018116042797828109158325309773674856989608060018860219627781540028398023501813639749415844560298539576954809966262405875980742064916087169743115708000171197109190385435212014928111726414062810543814326449679720667367087275517809380010337674794009454494339476038871194605651295315365383869396149295232046592317746071879611068638239590634250921584648495110085981475322027961489725943376900688140717239263749482536077945070586492638900255802998620738509533483811457529470810469752717985370565588659129915420881125917023083285368977287040478968185558338765216549334119585901631310176882806623839145067834229203772426574619906231172673178400660413263855389162114158545362844716025753703928218375102574352172987807055885490144912571030276424015150900540763935384447459207731834388154597783303032575378123475875559373904139679169130122064214356410993894239290752057147470940709547338458102011177505883151450227885923889471498866788970456762854577969105832094845277716022826333977576055248660462450806951856504061659953762605596358120851554096696357660704505741431552268431170875051111980856619763468921188425743026998221349682735846028251331333513646555881723612638877916643797457828031945022653077680809120357914685931865971914194666194094949243328886618571696156052999012350767515888942600836732274627502671415592923316626766672556055141778460921864210313654956696774903610656771999029722509655922119435643848696976136039743891408773065683076864020381653436330010036768767414086304296932492904176250623348214169508284644738580770223659608514420317778578280843585605900758730720870231542381434163355048916233469424394671224906388143088539001988983397314589289010423291300123501793026283650207980002499018323343184666709186421811260628627848615958968435269198542227799461108029946693352669791022202325907794329261358562827774774954620146919148733631918887734826397756158733262947673614380349105503492887242598627869366039105422365424598183247592120391097815358289565634035870119184958227119310445025654922702922344557946356646077663638310382689272642303642428797135878636764134254983398730433011887304639475797732364191832289042857408102037582855689500377570894567633000519370390582626530582441588332336967439447306300049692339737466803906773852146095731988682664693426919037737409760881432930156722759043378818182044872692291772773873752560460474803732027169819814133128186960026006036680639182876860780731360540427879164786298526802273057884721284718718907576631388460435856421990683796733061016360597650906067133376534324973015917912235007776087583427139016617844736382367956917613087176592704806592748197188010725814818355470384441127349743302680292967869287503145994951880340504382451830548398786704802357249275000945219380237427210770112559251597003990089051238405376282469229957469286553965532361011123824020837389747698996544630405872434279610337191559731815075176643779119045460840118315868628383123908723917762689595244045926522184225603875471700548211649375669229020564411848675143261194387272895362801473590585430018445300531292473114183023249790007788389325969219499624873588781204151209944445123978940016372674379192178656334547350503072901774576051186357514652247861743926055879798986061840475064798650936217394053314044005902641509378388161449903323961008186836324121795073348417196287188696178979974166093250971794326502963672589161015799184699755161602318454033848370850063051151613867670755697121326333239655051974582160420082616028432053438256896040332695661533118830248985961200132913980480967512205370043280553358822461182819691224745392358692458687825936762786461105348682573482710008550714464486304526520050984524626127132991805717731193016858508702468907578404797867274296905769699301393208654902556302908914607644158141483001861225007201062727494783885983272795659123318637989059229804593856047805361737832431029154314181492862688318458291156402050402824896004063254199906173794411420334314459863503115269260823735722782908621735253988149817316610061070147343227008362532993137529005674186356525124640709893973539405619959124658546503401975041217873262575208726570180058388615464366650051716192695453697481404367971713519664548190251773900854692250031872628239936995229575028919438501717009147469086502954596119178081477916492338015715941526592434826165937172299078116199321483210590057168364722598277572272501156998823141264411623751904901931120101876453473830666642864972086175521896859083185807089506572607795708759998365457885204796885583544300645454410023019212177436254662306149556023362052022368676348909407010877515948314900533876480881727394151855788221672106227077956296261494308482301853518310798623466886595584100158607836991447774807845510083687801460322872707929843218583919035762909894691287314396171670612725758345788374083512634698021983563875223092014374537464245071677807616585113046608849541199604461787558832074283690764824480985304962349531120678167455155348133650209067584394791861528001262550205085116620042890254774532102717812909202246759461293208085740273339778740510750583908661334340165501763030394897699527795869610185575337717026056401220368570347432593581955193667291951426470217636280089527115784999273024427567581100682884586611524643868793488398349893019808396945440547257173134972018393816681248443387269158884997957201132249320028368934358806010401330191675061081778815704617850698315095419735656834771577517995593544708714652651562110600137877949121131845729991780379589419054973930746991872891245261245653813465498129568245377006579097041319270012055384632082012207176707162315068657839487464083107312480223191428631267668721922682274307736364019373170536057931433356579975124068467527359564912760470770575625348327905522454448393212745208733660920489757464812953175762446778977180420693811499227078740465921063799359876413699108400529810037511380801979972355774347228766400579788847927005186511341815817481305663297267073143055979686178525085431526306741691094727371139323016964272073735667294494797054832970640189723140240422426174355816585743219774756293093564351080697741209861275010382719484783008450565550891630141441983135975073613646734825594614801666948143876948253397132352164584049366344430818091620909376580005951549984412967951958715109402293705645696145076359452325993141641199313410887685304805101566839422263224438555481723073129756266395057587265355067710990361043768101058840515129004737444826727788561242581482889960776808873988788471790200181058363585451316885927611859967069640721014615497240179100477456715256602429198643054892340808510889696239882561390473949668094702200486003509660641965668971000510373840161203521544406299828624939401215825973746294091212330392362671845087457185077590731931487757193275207440949057637166644794579275733113459071955305511375004359992055297520965656967028337333360954415164862149303687186555083932418079593183608681378330503343155553336226112819294059196829925597096448517198395081876938365494588018344119967978360438831846337856911155350851951831862438539871834541059635769530290276048479779077168454819317626641823504515853765492526473299977918494793615930261838896147412613914151391600548364903177744513827999482535901051369194524424734029329985449242581757545335264067399165260437392396002317333151115077201779977897136897697878899731833733195441938773837670521358024064321362298005536502834150184473493933986724667226569878463299936329468562221903523482145837075747277153729450815925087650759795324567456173412476426052116124976245826782803383045408675189491663797275827049487786913617648649811973986429105728159569356410366140796664827223338273561365599846812335418066790645471805165085362566720468403823530670848717349381261990538947639171942903207124688840872023245230644956534061088865075563181288407030503641818244511983395452049150287540431753133304156728722384812828864643930734712966988828575256313756007709116454747660608419060938873884603146511747190308044454774948449350430627112916027760945711000605693649718316020234801228697193258825468508769308536465704771385846183485285334590478775693319207213614065088930321117701862407415311367204267639219191315765232694632511107776950926988939321046736225649631218114779651289979991784024774327534433802443895116600105057065399632637401867292992757452104446814718376061588884040748174227049343355445568927614029481861239119466435861676713707755624067712495091494565506976601117707102073080439090670822014765170716888407432811687631080820399804332216130662358504774964649256996196048243175323994941574969553070837255833075636425088185516137222320481123128511980108535999444811384626973260770872197436289111905945752224817461300758227567543932302938023126328393101598935916998732843058062594720604597832924335464850277470867021897401673611159563923992459938599875594935641001081640816911619729891030296852649157801560497841888046631703086670908320721471645050097467214621814090546824148861615436651575397078786045644121941537167452087960088741581910416157964040017273289613465732306874735350934461298653072328590702253389297528982611736656987334248375949875615569178951556669704831682278106722964356091789182747726600209360564782014791685335717422431069438906477954390535766503964234173757771265884596795167485589036020146223248971594671490252568885330538985307433301634801156155540245963713357207149397403389987691011652584037652751972406279211467434087918752750215176834612693879988776317869740167244482004166012137421576248443581305537847001800344218015955499101020462093104982650811776267129317160756994122289259179070057121719614791374737395776721137018122816075651408955678214722184365202211536453739065817182177560555261702999738914663751954451655617520119814122872645879946795323403357409200133846533580388345996222818018828700171786958954168687764841906348469651656422505885455276327179378029968044717512346183655526141893588465908076920887512908713848517614896812107792987373318327848019618920695229072155889195580626020479985173409876162978654734326566640963051522935818850957656040854333414177786969515244700874143527864804735077098394091527410755467827446109618266221871345769468378501354879067985524468827781592777569375148425415458872384160372810119064376520527031140551627172528213712823317414694545743581101459583972422420068927512586066748293020756659677633524831140709989159507817640048871326617045187501312703869967151117908586797243649968578406257805072295302822378221895866782094447329705289757425459637827299975270313630375403214779980727430637748761119588511088114236967542679058694940443618920857356551572126137530110713464266879424560995097968837567070339180771577689948921425056010866796395799002182296234890548678594479641817758148863242498756164783544711886968887504944735263696815941094501391705190227251005330925709318209206102100717981904908303780283791450174923541677364669333158681733632743573816356553427347265487586066998868205499080160045156686071033678474440425272881005905661828054102194079054158828321915443502536140941697309235368658113418608176212759778511506556103959847375572828285971478176716584109673014006786664901029143526606973705245063197011928545446146354380095972522553016178160053772500334412867592687888068081083383735364576913665781478843557480931510031208353297860316996847824067466808613904302583839222698735303240025307299762184523801340125903948882202386908910129385954763594720330501948267940598172047988077715455054810759999953781383243934607931797365440417102760875131407858369813296913419738142807459104940726172461681917001589967569358811425945764584123511281494295716078392111242411032546448024954994276609597703313581589604047693125530396046191275561236323818197340457488732228473150391063092912080448122440009248666965118425055863626098049054043523521959289638288155561249680874544461206664305833864020290981726008578078188072761426339539938993567853363691299881348864132312682330273123617468698218425703459484830193001446254911969800026518162274853103006368954654940719028882644022879411974418720856662391327687360586031723258866540592021786750084838140763152046212011217429682574415570606435991055665240134793876439930006258549060422584255626047737540948457611019861850437234822717299511642892704184803873733902750888135720714173371251603706940395221726035542924178814924996688315143171124326065926580838784796597514031193363327106072349161252016125490160428008660872987201075906071100610115676701118248229218439422645163584191630036703293341666824198008810981996953467457673120469841910818525449453327073954546511264668639506716768246234620317561177846196181660710125325022011914006616409149396092288302846361914690023656248537842863265515392759771141035342791028028424813586915354031177428773720522837848531848549410691167646315821789104049258777870785843008891785865544038278485199717703597356654685702999953673660283049734718490326151506073595683959997266494100424722935935747239979820557261962419187284678125657705002793748227522811079657737621529303127897818839678541882258990156366313240358995078395848742782623509312246818683562176334971919527482199531495362198474942568690493138987907245240355553574648870287529167312512878379875346233606022881104533426841714432977562092577012412198548411402892787628533814569600449680338011580094467769496216393977651939234499587391552229534097224755241481888150290036109414451115970556420573631443727043260198085684314279364129836053818332335587630855921733926344913948912493051582125713932531284488049069077839188585691691948245347559180012345208988885779816530887740656689962939577190291648226771767707184233370376209806895750243616968915584409848854571393552353492323639900579846700201504225225473885328407872077149792648447368876619249374879960841445430114348269346220925238792733154381230414464844510710827129555159483574331187260448934304877819113625239052108294201548406178224420604890401990750431623705546728576044169844762541427048072313289935196737429371484935114974971413172300774520650916307514518656932638415168938468685805499785259264063649171256900052778307790239241583924609266626106495493129008805228792687384359359803599246492373172212808750855148304364122300640119294634537325574882482724873956453621423317208465020088964282322267155543268020393548120660888263126590154797393692306722034006729691360350761597067956514607726686939499616940179041459418482127610572971020732489768813304034717221954044292654701036278957337110849226442636910142719371859249363651135798260317716141556159058537470311813370545073739402113067592461342039264180075834007979383803078631698460493423735784202925000692229477013853530449738415824884964908320782450831825274101706200948992447254125269577678587232289095349700023033764254745018758504594646394011954722607409476877149597883885706279264320330964901572815446843771581261682097629751573782601750729068794202893622183752419185449550186005404298140940800936571113393215628030149822534542866241876674790650534986193252281244282803946505043285573153721796712930101343791534957828594113502150788993462994186745052426303976812660642464698435621043468153478690427141039203749289749429001981166447884153979286261497809443302156537460191581580058550503649627751389503081258901602009208577806733694569356933999510719265147811517051729643513528048565765574144745586961996521335629821041559244299097405413266669994143440191448580739623857080290448495896493840235677913000043744875559359605086466496966104773844069284298021919280500381663691920829839961591756194636411909481638781426864116735922391482184241200812496695929551442710513730739943789176260077798823600634446601558150120795667683619382493790737731087616328137465542341078447360559012625725200346944656891339061045462925581357250979169920993332661372575753732439695825090563969313835620895193995162864847241844199208593724844531354792463556460056001768364337893217298820013885621424835470177615824477704562008233675719556021558375674213050327761395481558320450500941662486761850147140347414029918668698032022904353857563644625510786074979581535967939639715301805107019118282694497312749334182745616555576594495021386457829441677872255687098292264249501463645376424554372838128883436161303909209909690421618482679014057101337546522730385628087858610934195083233642713012787007164021964294741866964110596864589381210493377571358636771049424498869730975698609160866883127525639786968632689239073195695937749214945285703178959095478592963470710165605692755898398491910905283126865556782843372248518896950144286871797597753003373905581586383731051426834976475805456547183630835411705198922969477325239495665574986154458459241686222278530237999013489791753101887627294617679223076865873867553555156678862265446837907644584216341493137451008924852938828666642510775029841372957449219283383452120371885744186047241737136763945155296825253816322157040116450936586537751375451208646803683907227501811478536607908374881021517152606491390443545472792177283615104766668838960973107318240406315478296778224903364108617957412410215902429422541240575184572979420383746842859525688453451427363921617911167620289474868489853689402316780631432058670751534549975556298670509965793411915919901107636442709526417273584623694924249250591387760999853453640491454924248822780997166951449990863102854161050243370322550444829666151002453121182931073760614236628757666793294278375203584759682672447280305986190906441600594608813069144187263427115687902101329741699415146900532679080225276094856244951398579747765212079632537465023247366831831664864352403433474221107743519775650818762556650206319651079359083981257226002234033830582744075140029439931141949962434035810777532331200235701557125501855374631364024604699415602188450820702736999723235228588498087662724017265277269999567332965250411904954199808388767412294707425489255901362954897740843386872739374090252624859853316813595919987029603406508132627566421013902448637633826244067431104936225389487068553828743580355827151160122928183811362543459416848620060163596900074997374167648620195530033221438467806775106817934227314155020816221206436916023791115066061295197374509861642238040921275794987865143255967751458840733137094247211645973777252763230832799771241677320201069291951954684498667982879661004994904639078049060699607600705774389973096115988706016635773644028264601884665985794374242654949301039668612439921349204409264740807445984560359392325270660914826842700452682468321111478520258914098191587845314062717978682393844083760401825691144915949109486983828387004851336565896627987107709444508414153088910563302151084909425937008463675953371315896947202374017125962775733276260048549841792471548589670742926359110474284335617917317092294996771424822452981449567689047036585965217283532902686740625604996947250695418370479277089997158084285964225580864124676849699732587402082072003688319650132905161030616367880999261573831225172568935246426543183384888541094252341191916718286964586199120139196338928287989944347635665450647732256081811375088103675402496254911347524174156517087802030042662151313859092805964294183204734822097785277415060125602542577367115011772626832855964170044566715528503170330155060628654848706068106873283332304587544583155884295566787157522133598219220183233491174911954613519954721547062687629299061884829868242731023697351168865784653352322838444504875892890840390060930210058280809884005269193333927942434274721926787373717700720036205645779695220143112617200034943188495871665111598100422105716106273521854526993393275448267305338838351864131989004009665641963135471901963654809912429273014752140458633968842921895999813635761889750234534736387797665873849188750847605466031358284633452804636477839565844921111495059984458287000900766285359669577126769327068428677585349170668517815152341783363654327185095723152091203452614367900532207095643142445752388907284395777335543140963036181012715321165027414248901428387369153620166466219593292291993125757120231269626704441877214698264001519312451618922512621596260403528997405220691643654748073039897561502743402109682399057145305503788275138542608854197305174535553228074789108099155718213971535535463248810619579348815520442708290607491159595928792472834437793673417889733278732170278817326068384151528255865962669786269264379316978667249488227313353811610027776310785410192852846389684301206602683797525585351806932894526473958654419902864678872563408425359150927242411463731869195746746191086992275575881464102751135432654839401883547240212276246330109518774694153199236447869628470952341234287021505494393422881131666407164928809954611448532344826742941918607400638846293420403000605656960189296754120843900530020592715145611954603567969269570312683713134201849733442283623790019010414681913215524750211011801183012562193354789841766253706075564485840396724265338275717506751104407817748655376127668770888730199809082272120665228522913417415556542927612061393734791440714859593549751361965061366276819454740648448845554437132280798288782055197297835624831942346405309113291944069515642224064857112688678658822927539585848317290778580975487260528266048552792911000149491144105354477080236581729138906487184071408649289688360710913219382301566547574968756071326892603052637490952481037551405595489366742023572106204095355566671075975441277600073689088485107913621691231599583629421041785365518542338813347901144031014333085805304436976522017631571568123420170499501435788711797280455544679310345568079306173685428097194107066383174423075597004839561518458009365107587871033968611710739836843511360208954713623634016961889923225774072389344819205194086368240217263943542594666254961253249125259182058921225078134140468036030812950424255771339934998936287973374954565637362648989071479954340430592851441205262198828561014031215224574836297524321730117943670527848113153940648693403876841965373077216574597740928562022565183065401064701516650613019659582414765053647584825720693215662812810848450270421698306252718826219181887364270296822736053200823976467664797227112684284600550298414352368616558864371339227051469220412933729053100431542274199244421473567453784810432987960244950129344233871922635179425571217784647313863735331412753565648180018232742673062136812968985260831830192669691207295077328808813741967598826771404465725777349645329940997025320076258528561872965745634292768223125091789111727164550044109402692690167799749050714401884426649678981027571066376594371823719547243849796978483833632480091660155956262770157229491937772787911189320488367931226035224579189907229079575513107300179252876420315877073304841137630971318745295250872638966175270484827151993931846232940932932035013045580575233705972852530606050711306819368394381272684993866378500441626629674724408043900181188841762427378177070593975831388270221504424243762736570405089533353010431088605801730164368186149908404835324836802454853410613591705327229015868263706647806401971089364578240869876274136707599822368164225677618359955439761653032823760607298280392024931922749286647974470217949786254089978750817598957771194458804061707028094035779370813693776822240560289489218704722791292515868004111540078026059283475835350543838487232588556671488499831965073065385746770722278738644995946477620059333670344116339851996254530099154748417699654136273923456292252152939400257297631163421908112401138594790239992361168056405710557342715507213615112586397374989210967367790682431125553538675166707347510821177823390012012198364485982187507437725461786245482929801524329939861596165456369127725184150928720102877745637642215754686634011190438261018161881332407282922503362950452165988417370696663512192520075616030489173344224671995261641609340190464812133646603765638433199747677674190712656087030290964035769562905343778845911801963739903782548013106237475547686210272404784221828972337750921164669830436314797082818809072593580711417219799989966980137919008980009020562456475688481476391734819860344413308831285904081031575712920714932281104277889836742465044911758148006734913085408701865364854542183778015148755231676430430888436134408513384940621213421556992231397788939344191331462135969097050185756643708390057693693993317757176857387611422989235948242297446555869724861384832955147053524481173032786675839838266776113696934718803616519029256481267060316245429913534401679453356012524618218624791877932918953709397022089726165350245773579926076442257643058859179829436981282729818764402767315567642181574543987579331916349283822383758327676298419270919754431751635285956832880667776054197383863113330264772148699395988240924792663708324443672512417974764579492365685198111930041696936895122994875668920154314732825800627263122846286884591818189196398744617881379997706774440875520773619577736924158640897973130898881031984577697816694439703176685518850096883333288258691042072254511540616181731129330933508432701905623263873674842783218051821786507655864334725974501318968670675934052800537316660813956347267675104732939264683335444857833633928320583459989351760406711388392747304257294816377364897790237646477701060709313636861879810284218709023978345207267748587162667084743319998243203696896267928391607934783869644528061690944139644597541006096515956766461659779019727669541972892278041506319463563776081401808648130744684264735082449190561594475401727508377964592381273118294277915788567551980448000092974415047969892144900619273730361527374995291932674028685388899834494963888165619383680448826446900421938418850002381216812509330609846476261081630640518676519351504253904464341980625638410499760191095508098351661120221259028293947658184101741197532768853820407656035312263084970798038420720507792451879637982629147401927200918288442730018621857890160247184116352084629740427046616475456139173457794607537972637201820498444515209509401261225319975057611649754604175022608376574673851451429035709343390546913976995857530122026470343093070643058482516508227929907204058467628741675238678486155984281767083113540105572000401227075057172012982079985499800110710234498716671077212543110036360969018748820962840623338006736695697108645902042041894298026237457750379778896771090079951934804466714776049909229022202504161967794709880630262756184954110562982778238647125917496529037652413387722995599656286771103047643414270174540064299716271595223356369135534201027697794409610585372572468566934202670607431598352839334615216116045603885273370492548832813515336895211097791110417593147754394864772377937690839125882570269662039344455035602131886858977679202585669659189231646001295941181633238799110616449324155972611326340710350621305608883961653895221823714130527512549493465571672850408042824097345776773274075120567216172249773921755081479048119393027735246735905611978000052647882563275734854784478334520165100641836443400618585920043900321042346110734059451020459091156850201250616178238192352853081825951763863017401180226635790810742040537222167544818729978541606207157117811297130033839429789144822227686422395875101844498872383307404266084978530145030883621788165782944987549306768211116203014860505042681083327013307792446020121102849998030160111719986852064443870562518199892914281292136801701027767573760049024325805879974732072176427291284291707706412316474778145520725757962362387426782666932765263895640127399318537751532300299085543185624210428531372536713248282484293121301994501740634230244343244710939701845477445297006710099890651116596752656555651034740722410203645821755492390066683133412998649494075644492916378209018979538488992696946616970092694986201180244493299315488556408187732459066542336428687065348660265289182542538899859629177279484169573009092482679213042475956597860026439178765004806580709912011590206052788350608051840703508920632719807268780856647452561191147593712682877879233562020424785414520661973648300856439194038489446353439656930591655026293554585069374678434397696710790002429094092949976800821554753042443851456850015380785939968629762283387268178071543557210721639257977687372012638999734688076741754525102142046203790984265593287044616117402070086840540991804215497161809182219134670134530358649061102698856185459923758879030768196414474212408622886391617809488124960608318740159275265498323596782759161693937448741870629955503137178780434084967514367416506802913025639497559552051870388547845728812610874133859341867131143305222540691470665516281930037646222263014920710489148357613800264639385823850725391990969678225562142614515891818856143468670464935446854665538274898407248669782797147190835875524343198257904828924213192423166436094091429816470043275067217690133625422738179870318314889917899468681383740126376880066807240245862277942745366001846621941044073483315458747498049491756921517996959726046905743179258284589556546378190004662030374966926777613892276603513444865261403734239127679073370984149633778514512445272009126187995659060552674497099499991189265928646916223062178638854131027720406343143645374534075679342718869937062565763416175806763506903624554633407426157646702695268599891815363810287000278474826663893249005303547133457757517437609832253279432382191687168655452097538789312997286384274170065453313034494247809778172108447537586680513365438323141236165037058337991309388747787444694302442210452520138624736570601970535466290963332219806256885615644120834521101047984047181472444172642062942912350909215924173508127936392262412694138362912034698534029602874371349686312645232853996957976163258772472985304034401810599887432335221736838719270283821174326132014143378618897543737530647766954485507101953259463412403207876080425319530269850147848238403593207706143511226987997665125478359120826534307134449329434042881949850023769389738133684830431861695463185785381153636314641651921527907513630065471177134566196342784943941683758784136080537245930816907032857330995458432708878474930245865704889101435288873790979286977089076246151229405434080353764702356956481604608591294749061106715817457735261872022340875520219757677438546033297950413253442913378312381261840320064306093429209624078106284893447313130018324126771447021965237618221531649706300589588649047354665816855013585311360083134754152394507729753906869560913454153783164553183232496559915866730081737774785879760196572433426073987987833420481720268085560040205888529950221419202006931068266703877812467275405556015147770039985743358691859456184885873339803049514638803377810038953611968069882599925536003920105830690413349486511054851281382362208659273200017333194060536134476378029495784158033549101306300166777069296528444835714262602271833606085412143030908605339936965207061740300452404886399066784416715727683825937574376122653190607830631811670742129070511968502894014955888272154858841210260228953116936794477521811516547573272399161021191869929296273598419968909634316338885851213606344211310428884266037865682896451509904477684153824057371934957871068265235573428144355686528070175063681402613833189778005057437359709375318197838949838474184672784242028595321701572448959915657988186638015280501953133315692590089769572353129496237832301867518335222933547667689916438863487286929436939765986961368381159054807275234877196870547093178752561812529838144811693171402880460849631575464022329195973574440958072657230603702038852456114852567350637252192188739854859055490172316463142654863087677482632594349356367426241455488330506865993778315054522396406104921602936133550061252024956556234835030993188819156767534874300225847133237663479548702410522940765043534088621497103337262078590010579548147363232752891706169013713473842118751363928717634834490897128262097154784117008147460954184074337943389949991358075647787920432117440928862549642418537745097224828362958917927526326932054091380935051870102627562454057887229338190092427755509705760667196302471417644534221609511146848351280732791697294750306416829242854882595278515971071555101941785825346938092293010694329968559988024833272005004779230087804497110957963594115974750243730708007632862480749798043719266772897381217593503430439873983918165168261839640694502091824578525689274811807319406894273775319394389133180915242646080117455988358970096539112307455728700473522500852134296990104059526628563607590236571773718087304699511462943566781622840893405003748470582759114000971955318470495069619282307604695834239149482009998684352653464770530351484138783900107105879104944040066134553579001701204669513582259935226942467624082085360525607628273346754479067347096685944444884764939352504754336914864412681923247591722941982198858453434466090696180747006702709063466104567114203631009310863271280622648177254659027414937523366742067515636843302953138299913974157602360662851153005113792688178623896037486033726440697972770292634848265410746527459383931198680817545485498942469612819309522677193170219735983367749469945087051737683897680106474061563189164254822181079055751818024600344632142045136481348197353754103074504200251441745223957646125971680361956403470279083044732203501839798367696489434312276262178552717014254283315698522941126463745931097569624660352390612648093496467354108241738261083596712150550578478606995390804104011722834769872831897068708573191320670423931588646375200914988178240229516317088683298891479658240748014570873772849012760702113640079639799182210249085149700525324629324132747002079578102438578402171666793394590554455943340534487707963771188610498523187755045799644586167684088056107171970597882575881256163531876806117774379599004773623712811869089617251943939369330585160382125801953458370847795742417368643297511477520679725269418131643610223375709669505773571004996235783457301360941580161314660369715584780305217772742722143948123041635001121516195567806875993358177860898835933212092035701710563825067855180566913493796759814673212193104828134147908779554743466524184190135327403035785470472280891868531158703651246356545710611980416977241381573826864163959201427858427235545429757452025357266037154051532937658298050264342134989935801353842434458192796384339037205054300480389128627046694578583909218742172850735600804441819501137887585645123698620572054452389316937664495214096644842105411526548610487510957754126925831595832143034565470225511124731881255534338004632006069640190015122034757048299518242312531191581328142191448345438130389978209071710993949488896728286690341137363026202313621323614096465717418351085302380547260165251808708143637381182568878367961672764429978462802943968574302226134572909943397046768372792613699401327899659281405612554347170474539407279074520803480443363454095715850796149288331608502522373998887499093369824786970028409289815755045330491637973895369994296399826632932922589564886072067190505817419587024164068923768106081827603263857989804374735186257788523473239936171608865782604717322567888235412369561667469163580673255215257568015075052632636146329059661156264244675785882758738660961344319890619120833753656525652236977906323815830932586059557698757515918455062863750413704348013156521641516052104281364743090760249429509273045871069747982051917325443758192819302168715289796654069062273032958278466717617569783045329127551936424201370279134038729674285823111922409258250651879292838216830669503185162359201649936990829343163509593096427072341448323883539249596057729788396903779090877461840118485036038333605645958130102860543951487754249671669571496690450527460538572583022416163264211557452282846202040938845592409130513717077010291900185753830922380999867084182983960117775992932734641627150864920451453110889060423935530013431758924430974801368883507407757734145305725526211556254721466467720066857198081651671897453523527082665511960940285725794247067819163081369797295928154121430723748431786824576850355580219408094553821054272893848435163185967853476191166193207812939193543063324740578994914555860972993152031624503548872267845726845229140212757127116930849052462836684634746410884505229948921572900587351985971148768521387323307715884776511738234870389960977578920613975789781225099235576053861424136270347279250433104816389503732898259497802519258652515327490730782833374498318687986723563160254370603914870966658385553974563323993843754925717811317650307025316767064088105013892267609210664264102048091859071991363691749013517953191631211836750422764925387759521255073706315022304727260799730368073971980805776485675285617940492390140347635257323698331040190269629640803921296656373645021385416897672101946112782619250702262152593124541358276161125609529438155113304952468789927780106745839228568042774043309735542757297022420487487412934381740044927674895120675623610636094588819104848472980851012770245457449547105931997368379754754249811005018212193607219183676492971103046904019978489872006356766718894073817790589202183486710334386437685630938282994402396882348193338284985573170804840950878733138434762916485983722923778124109961303860169481917122305765475600012349248552543396504343070018140560441117993586961385988910598034680118346525383596024355134963731232826135142835093190584617176214557276231597250049511726475424606921101085814676642355433314606078996686202964124847202650630282340459157883077000079251859608694062107577123768032410768704558568699320449681797237866666362504915746487299837753573633333307424072583319986851848451747001953861888352699974337386718868354962343130198505766758238703835244190630885623572628181233509202019272239780343219223080086811027188764191013922997719111274999491717060899332480794825713505840499425744694266776156689091208200208990745323381810321645601675622169119144023828191662132205057502642635719735244931629835921407760500162258419905430043371822324200863508469775480051358328398178661214045843796681021496878853973705349517148323100017258338582158437845409675183954418359796556743537426151990806370776525789830696288164239693235522373006704988120864434596911509571529525370282659877711418022459564559994565063563834190133915479546312863069624136765258038957544028259810448156487022412129168535659228897129465021586684239410674329099840167575036065595774849125473354628817341189814574265759740215386613087429353905500124361361322220921947318044014731939666033637066767458880118219445907334660441128381728281695021648882817271376035759418306398933568069827507754844686088469254046015467222194986727515953378357283936608214829673145198377171650957070150209430133636532052729616649044102572638857291121598554183984206320166161460078461529430639847604795291614364391218795794922085516152324246861788850797169961813397435956352747379220060342189342732061559785266155219926851262102840082200317621475316637888807194798090946090591502515033627036291948287835349814637570305594337014452339023583504914225477035062968226098968863495169877999363138372390120835058285967083402452384844154093756808456553500446874483013564411249354853939423315579783799494092835668094604141550836817978779517181321408759292765945454813790461591508325117389486089416838442380771542719215926962901856914292495167676153237388732500001566631961681934676063082207198291326207441260346105650461337313505112555838887617386073837160224092775990276096675031874833117914551786672284151020824869882531367187959364701522911663884566846577874796370150183823195607359435505813900164991783896162374627309014541595965943953217137402465255848473521497481977820540488058199139641887855382243570119750397818407332510434328400202057164284811017319978923050293812811910397180085124911249178363735339373814627400390210015195068750531099401352316803369272064771307342700308915060931268713556060632764342152245638626069119506824589668935282720250472299241933584792052734124507376559721479332875647607780091933086818674969611351436845417276514659597737148207256750432258477391722370498763763057852364880856562758103601091188786991975525576291759136121421047240359842415411786964339415720777418732786755530587835970842498225826968515671718852019511342896378666891591817872324493883685509919175808998323852152675446485340020050826485415270204743326768268613659254922073531087252460474396657944022129960915736177299626458124285063893345047291798282725476047247559760123037079952797316830439814793881405817872695451661570634794251432213580319770750488568812569807783281984904668252068263042281466759744246869429557328155125830569322604815029795215691792034811754048953767416928956616208062670414531766146162325295091795030436121112184455920859047115429459834797046585340655086770779821076464234173051386828497539566205627936823417555997467085412145582243327695153132650584350781243765164179963353530207305736622795491922911753872629430852200734301710075765493712488215504773481019118863882168343748485515261091545040755531225789080122313853784005777502412904191707760611518013799039662977695839632557956151233227793943969210404736958779651380732333898035362260865401701111988965595174995535074536658389688554746305219206866240745479095525342282556770193441577105841489903640125077864158255529366387431270128328492308978725083072902191534221777462145762834828430678649503119786637325533317072193260807986462985094778294837981682302008399491930570495083987476235676038760272327997801840300430566304352085149732957331258801828586285820579004187990984259669844351147109556599322347861361245793137866151512179920126739698094104741077233687321525822298530292904960115573398233314505567167687818385961670457305640333207364966296676971338504155009944656854175026777107065705465957143991643827558497781082826807112069765096872035523854153209461885363043511221966680320915240137655091749983746837474061145179767515183936982311577948284419164041918375234460325537453546882218388816096336476688397568593335416943201534848672493506560071387171088058309675454603060477314219421889075765739053581357964188126104897817648628673044000898467546023669615427624851377967815770398303280936467582126894692196063822308148430350394894208911723397170595973108875564915459358749992760296739342174349538228888430989341053455429250668307235842231136382485518388805776889053504085352206145593152926741505497606094351694402400010103533411685610651050209061138052252838975725467824630424933553579864260239445730683061085100988809753488220053820587522722080820431248991556582008452560809442636954053017779689009350075183099128827930091730880995063726815435986408935574184481565728709745571816004522633145399709356222472451863925601433945582980875162564019023663606623281537624406459938073226263634783836530973675033498974803916096419620717487333415062806913833932251096335784624709063141072836864676054363906444092052842257085800574527587928663692065543899307757920938015819507912567629991978406040520226353210077911238747898581551874233928623907179520206526562670037616601659171905262500220561942089641956465590938150908643056934644900740872995612639959966200801287299316731154844822520263369098395851996235844173197906509067985945936452025905667368290181252665579744207456322482835128987895444836948952665706289458444206330096535500793500146160570659637650227441755967405489001968051277018819543074129614200263633421720891381754180192634547350681359209926140734853769512367297013339906319383527998241848826891775279343584940075385897743491166044563829096432179953136691170353123579706823248915543252913351173629922527896847750580839004177431959526449935501165967143024532625989940650715995888531526665342929281216650398790195762648503497651821155408516672071854577917807473113566188980576062140418053097864056803517356309514002768002269382638045770115816442203802894363681730187129077037011832837031169175822942608989513311234164426659907151224688888274493590667969962807705665491267073066772192712201301459930896565654015404561468477883906612346758724544094063531497921166418786881377572404906798474889972359185952559287216146129753580251542245903385750680311710796307697697538553858862595693680775757796664663533664152520890270366618887905705858104693577416117729341183017892035877581208208737375977718056375988783455813704348533774729310546692908997740348121354970856695072478096575302683157924751536198974477905572794037229573092915778567383641396674498815613659950868325375903192592166095550609850321976761856140590690371310509087753580264641477226616292369481441022294937885620436349248291103448686160279894444591096874238973605355031125972071388534061573700678349164125819522945814409140362241632753610994463811882591985121535304658980936675244992697756417094598990904682499034292192392582125202555250730891817272048404347264534186891188409594490919717211163697254056079049740357338850225440113211098228763386019316909010561474222252270919468162276292743387855651992083483256084963207692130629707604850046830943694269695141881658092273055885425354024011681318523407407307992479721279263869896207728467749628951800026079038674213822265436200441140857099926596675765309998829599029231138959761336550418913454236179858870121164635641962071745868774738148225087667400971365155407499417008731817753408115952121654435121541157113781812012506404456875249272001277751108003323732202289736119350461448798242288590380058101216891487325633349957121561087225771584016267704228131390448296879740957382217399146002369049908783530275660793849485128969007185782515488395547513342169181736368536095337750162712522377454474668927357796506881957490741693200438009176467025512888487749625522071704147885289075694417513969809222071410250466608398099456715891638652718165196711062818269933641527315900616126740005341222381595344307775037803829567640701650992076074859218751751684808661099563191668439562162545519709015309777173238031916239791600643636555279068195294482165728173457192921319183996026702735881594333444284421226182781271826185527370325940168008224555990070053975421133955335162605090389294722018930734405134003200204336947910002952860106529001823124185637699084489820717600637338649495287191872158754457047471907986293010473144946554743803722340641390514554629402142302069003104741355273681013346850415149232076538182243921553026695966033885734660418494158120078629809109615960567914563798717307257629688318546194033642271024899535605542286613944718308754356430019523073633166617946447191292827177384344405475614816917585727115061244152934316911728694982312262434796256220196448846861051071569998624122745958813731732644765452681732432825381069952626548495349480095369410951481996617355631640220284127277763673456992174737123675034539306475653320230908568827165652343651336244570190738775477531957003150588842184233376355404217887556820059729051736783895670685221520216425045144861739795741334241527191579169553319045580890827309448299383194395331280904943089572350832276300293065054870457084460870206861822138320737455403257091512618492111114974468103680007187934556632298405027684684747548227130776891701537582802512555409970177049701830592973970528330784225285303150289166688497622714281956527148316445176806069106769472868705559264007756107137171620680187393298363751290534235146115308046062098169336930774997155366867317670467185549256406586019861053574424688894977696788768691547092638006149899573635162724633575330938004487634031318038192923018836426382701854059909964764525599601783033017724399119463921891489062259250359598507798778312405447160298489240983422030664931918695842209470239177329476910225077955983722140096730615990361423790937247681255065361604562100483933572656679052241169296198744666516331070472800093424137134612249848888939436828636908088488502015131969918723213716743515481812928179172413845161345687603736073673257587216657287676371494525521517796019409307250180387813212225769513540004638009613901731137635897505726043945870793194802709580503104489636608907745312078456164790778807584763560717280681183999102653581080469732241003256659566662000644111650456659227304263651233010498036666712610244224490922994871983998680827073201848451323596952856430131643046222369365113989817445964538728193721487060600774186344731462361234662207731440083802551216054319559628127833531820714362007318755636050038330421611669150702795475685985199257198553662521148971995942417612723964590612796122991297677558622748938045205099223662030565159427055742817182265874992584625083048148395649776239129625422899275514297106041186726653498946182121569919246519669133290588920604931218043727146020190425141957535111803793466461807226919542343148130738717850633273179516391442796645628196262045437343732237813727380802808864168462246911351906971734620470833845053142706889956273442946947086863972333940861128541888396761914409718582767510277489001761922176147932370041281323408212550832005698591542371940420830874789555739566522721035377279840129499810198812734613439724111633208517809299978962377782050000783318678719955175367117518741108968566039911424204954799658914478891688888887902416711759321819119274683684363511136639141279248816957812834560113980491157454717394002086468212111392452193789957348301211277854503693545894139376492526113088611818450136571153964970796078844869644321162119739290669418575353887865180250938853040065134520895660848154034832821415034666023895388705537612629361124447253239627770041368213722542162682661908996350463032195542772486974155941713913064531792715034765509837831840504775004918046276255077455476645087664032394117501671426065979352911963475883648860967289322802901431167208183198299624606685536854661942866758318427963714770747300224668687185932067890029701988910742665054949274721649340029965090762787616021673707650790227068199470173376734791617102322799228400825782637142282713017845028958178877301159719017325028680708434169703531285646267835917529670178689017217475801902948424261911766854130757738321393089078604278644967290599488961983424727469595655858035242892924061661516354611223639479292304047787132919250656397877904350105111406925577154144821529613561635406345229202566107699613245129589803347226092397155037514601931714657177073200844694144773367472165221014324638916332647957224792799242527081940401880206594679660377980567894008963860019162900691783294823945281493194544110137765576473346037659512978197353022688932034686109720452275882452792021164589064252703368944143300654074516229717703238105917527366151688210689969340931510117553619664142155718499138433937673559758664725537940047900456040747459655022128152758738888998585439382594640617829729709906538966176421297061948422336032656603115913916502538530806539977680579643705936526787510100536774926544010980317455475588587567473539479687364553711721759306152498235126743584675828922814203168102661043995673196489261782052539719890422936308203388710062973854110619597927600115999155260060057506167532492827036417615053562191567193440355059828764310589785588941377161879969769254803939686820690316359711942142416854811900845137229955791223302054344979902991074995882899388608128240821256484715102404125073673680702797027437864223650331983285626563097292464710420506829052700690992087840073668033114525263929444515466926235325557676366353086279508584469346521383616765675214539157854189272101657179690583489367982763027001655527807862430310606309524346846447591247701441511128171647769439049318318255936741580675371390662085379651193936585420963026858563609860180929864357324661788962358134544060900224067489464784626738433768952477207116615758604977891974264196667486475523677347998380057492852492022166864542083214517267780709578013121467203100897539704071959337050146009143488195520622511925422622143225005741526829852638093416536815205083353699473215307036669522783298429669600164899239773114944464830872124667977814242926953856340029185888134096530845313520911457647391868573115136524405832962275741682620356099739091284680490204849191160260700758937560354400380102629408120608211165674505426971955600215434692911020847002876530495840035219773287016838172275335604138455890203371838896676021578789752387614791032623365218615942732728798224674813745455249260080680296169276663816097584682397446535989552095023914755547684084500213257939433721136577128130619593176397089311888507032610264031324194552085423430743172952875387431511051225201623598629998855398647236864705045471473761566438220787838015350032099154116117242326133544713102237240701331156984204367679552250701589358266961116203044229512352348726668188086630759402689822915601573571071728953439461212642969467192168261046145423661876022087042255954995186550080278980932099736519179888112483721466570118199016274168544759913402173528601967815862226349056308598873061470704607436853889519920518266511348803244961980584123841215349054364404715194431058644377143805842840337066715290618589020323559084005341566213484319233035958316112590359563170876965978262092158227231031166826881939493863773207392937017402697592225018983070955896580711464283823811593823825061262531756702527915910654611144812096200820952969368580944923981187105150909433755993586987307207209555173893837158436170650759282157861234814711397056122509338299425048859494774668710465358314398100920364440110910934351529933131023905062933071424241492175720027768655935545397557208258739890273936680812220853907531936472261799890311956163945186008623016934167954392087756273815330371976212806458086137697216790592015943055993310879567191475647092066182100446455688339701252538322258328395741517956269734015529240124561242940489653221263065661010972343323232257746310009605299305415047777916700658340638778022362350826141835206349979008771079856537852294691640998466979646696038038811363617686189311440973710895810983169371596171098288867559180703859730811442684471682250482661321935624684066852134527316840990898691875270317946817084870603460098341255711675344061633801241415400628233359610197829672875291452991479474308905414039537121244443365596341695567425873370791366134585384444800191212678381466711726559689048780765193677057678376614020836019635265839321931481319096211192144686706818422310064172560653927237945810709200044521231246078547777095562379159802059745859096840990292033038007708622162885107186000447756400478492890957143575978364274378473595098634821793224318045250297952996370145073255657312702497799848789291843294798455669350105228602395215074400866797688907938182915929102026826574633914199314363614260403317843549901625056698545968009379026007135161387782536009105071672759702329182190865546807006334707775010938749752013853092082006394305491802524508729914736696086410186182409590988054428760009946433724388127356470618198532427942973434863605893931433086444008868527675245162410975054336835641751460751711181621941738237149631522263312192071653803243322926739170518302989359866028413688577615201821360685560970590055738438451813264270953817965721509244485904462567802865009498077190212704137360720233072245994561876633455254770483569760173520071771942521169001020085026852453914921156320915551401348779457438306251837853048193112986523190798482256419796872820162100148332294661140934771911261638316817306820603568111770448276551591801827689473230259044465380515980907386856806319179258960122378037964041378385077814467687142356538994566370211784170818262554138206386887579983532407785367002212632708390716327946350720046384794608870368796050959555721823765875250639988220237030955744825693670464384169947974470184227698439880480330627192276636154129643929829010652489464527746583239462135792039896869227478071572461123828257152441213103270205999701372380053289510146535803438964377145571224407411100712669427025442520473228618846847510209247878012043406122305812561699203097751638922988074721196746483766946097179121483886490966539513807374129767123935996174925404413998971662760595951359596375637064053400172830551589877541654375992913260090936755709143107433753105882893851431880662254239813960958698087855574588809335798621457738009043424441015517393069231026914564186921976040401600119075692555376867445421249017966729948467002453189991968372448026897464462718163142168645227183123252303379626650134219983226448869803697978590522429182061106882129321647999144608678150197445650874223081217250411553556621751595820945057809690280214927369803997087767616810712390493358095719453832621031646604474981810547960006178608178899750707655446480256230795896536428237160171648195456545668454337774276560868749822964442766300621015540830164341438338438225995540401620108165713725404236588241609965476268328280899656131062161460281153982306499375745640638144971406282779348932865376579198297604581948861594446114221347493188749171296745899421179957807630290719889524234733831910023823443554458261601065553281499317776535173821664016652366210610884637021546959556874325389358779391454645798055141088185843553135075720575377323235398467373167604899270769112503993232393790778747063477696717505816928534111471953238096523058569577559634184585294841271978336667224845282727285899747353253350830654767667074597564685755666745336924262430296539460916326295636994310000682600237436985776866029736393178421541401711830631527343317342201407561028772532833772983523657614678769458922694737230578522069646923492970584620363649983538137038367166115455421449742852486364421312750873894118200324833415827702820659205753993350094142325974729452541658469659400245581547070624371610960810571475553953439295742791935283391632289391851751720640320940962851703997766632450281559585197338143547102808016431311138599733804579086988417052760571753209911006113770592555880621407184342206769024469860544041439986001080208435860567111960746709433190524473871257313528691915097111525074370527761195523277746882205259773238949535201874134912655405762268866977571880510070422092369083152758701780798727702427070791290084969169186759791666237623310983254362046836343173629913617890513689587898237582285027323923764436207136447600522079632632984338285429444520261989197013425721809710853274870815998583389076965340733212010994915903001331616197959954481743523762723519923890767016825374843754252662493756025336923415861500676816782128364013361639559129981258295831305657693430231547206243831660553069105008790177286540113521078416487701623591555484766511311435033911362916128856324824384399710948469669964851816138672384830761272318164126842443334425790345904772856470953070303769279946921667065377609710149983767130849080143591308986680247304134511101721215141668015925336023407653895540325570816353348581069207957254657277829830378809008803256739084098636848250813710130161459596158758089961694518241070882308569410618218264221245267280982064617280201160765856114281135611571815224536611584320617961642521861357263621921107371010769300194302439596282518730231526033034930575952585493071677328671174804978528057647190746725820152493185070526240051933677648014743832641440274502887921797860623539224384602609063644330757804122799273877852247381258648718601339379736770225468581060113452620313054119216892079482832729555514429540214536708158456783475118558098862533961270706962151603657777875136944545158092967368911042058592178671070714502351375587110786086658533530633558079153426891646160254946663655457965105467812707892552126650556129573547836696659497590753062266333477728939768299466575355230537459776810331331160241382234944281672214161214424647484193059351908460507023322555586172901656591875054331943027841514117967343947748871410719335697799863808317563698628607308253706052403380405140789040772315627250184458794440402711657896688238191331438478578414877746647407060376456620018848764394143877769435494189441974579121839190318915362334959374249767494200155788230849252868546965400544513380361199067171549892498783210616687219843774427521724327963702571980256492170755390227449233918500494585054987089516247392993432150889198200381782814403271431170925677409514331290615968943736603875624049852585356166180114922582145395825332958109483930170500856598389732551911557687193598803145988159888078376701166758564149652356826377840419093045811266163744870066666224180506469587118808695058263490374836411157903873377639097620214808164215338083869661092386528488089931745939443178542356757566424676408282723683254366240644309981516354725066550444143000207401603122837341117099904525688157402451239486349296944267643967561682713755456524067383016245213492839356335176511493611596557522533095463115188452529829843422712978092461672084541889794591695439977776693443491008897071973966140333444081967268961968845681656079579907252183214319745985747675121376168508974961819239115727730828723992602274783557243979323536896390406465868643457007472165970967145644987186955239230882840874725168573235503612559755251070841934785165149065264182632491492843988407067539987068067879327954661976766635244079415404887006065088482803270654049969988247570907753508027244041377685005096273474155986165808626742208198410687696554558399751075890535037088686062493271342472431449343376247130707073213546237332081187091809353759305327934530063339674898284686751083027484727907372549768184980698806497521442529263316283992174264087452072046691920267855102202320709567126162295188040787173438870226332554974092183449479538450925005769250822114889873106724339994671856586347717931733386023348483494103031547045940320844732611809857277359033762554413800731952126257761960629461695267877073838628733000434941658753669104444625859254841732797978134013857080348028235857514929619342233225111125775913404506222277644337050643209247682137012221060563915742214373755158839482296904823957582488775558060484558623716729345810780846331679207444497809769460950144063930392231688582643713481412725686623479129844553733462329364672572184779930699162053656929858859403870060203388840671662403107190079760051328295541456145724615168756919459873892574147576272843005275040492894360954149293884353287490244715833817011373206738973136373607859925942259081074525144248580786687513199026914658311236376970889528643032179439303436860121986573873979920396482082593360782591341308548275314836709631468177469721884723057657233927108627737116775966164774465973027449755695357444287555359404381594756073345514798055956810027847927462763477840239273815059331739599435497770590448953826540475199259024855566858177727516719261947776394509262274914498556843621279619475681289330176312318997965657756048803963845992084017451958116442288681720482496850129661679909343435471608028380555654460040988871132394375971855251566533797354146837875167239510249731887872836475506360990258217589707503326740817631201552332719427777506072401392106001157710559783863234349416285903156175047845469531621838436699404233262593522503262828587261780945357124195006891207788407245637969551577590148125609007670161949526711754903022436298527198586267321934654280038925723406389573273490499360149093300653356506402015117359851842829116301475575273093800344435119537482307204005823592461801847947945098939361458343689169422254693951203894919934952530689463276558849442725360335832234476004061435248699252446652391967359491750868287604232604245212321058379983079866972443688457733417690463530311429385430110241585593385713882119129412952610508558263931354089221872473359113225826651573714324215686938751879245423144505040526680333383337452802368529138876098246682998842950932350697632474267049196979289695416628830901797446351849079195431576553123710635438449974564199564923702734037161851818097997030547121492333382757519685845712145672325437613350289133890761950397281335364079107519335370350360004528433413777606681157520696245826642703259542986650338014745243515933085439345782199715933077494965128062939833220837478948635265801041201431146949831741025185571011421047572561898905830473128681070386735624407328057016111062651917265444200751818642197632217316336452859242893857048467171496535871921759589420891319938688204998542389052432569464477965981795626798453209155753050282143573757875422839756525978740067558878394173184554739980816116066968874836670028017885332135718624025978707925350222280817736085498132275532355885931587048100376511426872476327757101181976957689361000211337954124234078819627262227689040700746648698443820673041743818969244994195633022969907173117411014544459476753907157577451757815276171900365962044313789626675278303256899390875390386911627550005882799501728994333419948352573935798314244406789475314481357364275535807006399572364519059206157894335611585373120347089886547070268301680900288364999157603642498491130225241279942583271550323686378668740835331545831788609511513039521147272325433500095425257937574726314991736193877226152268195712702576964464788729845192402641178184197277886804636312626729313901118619524433017311035160005904185949963081064927855322036769528181978317786975091837893619394545480241578952793710856230054149256415615175866032857294169731508325588039162766608197407466065176252565060447509660689172826888366607344417833678526668032496153189365826536895327650361432430074634615159337696525001175767596942430237056672630297135050358763785053439188040350980418983606119692641825809142184284616427505896911075688516470740380877368527749098261704336309093910171041268578640776671098048829360361491581284543814229559429788436544932509367251057096832839589204849525017604667789392562525467768317743144920259177057020939910289857468304265616362504947345088615010364968061291928440302430179753054988686841035358368188537802036697140978480742969657515130065724520378551329310230768198421399152657990615611604691111577947462305649338901179326679898236606336282504803183385676292513423692305033210580816366039506539903319384081005409866846222375982270991317102972309039487189007497821283853610045261816964212323839629054358563725825636071724276847374335256030003348880782066786098059772800677229279046038165622824985149468947422891191667419757433645595421174451209988075069272227927738865351976480540183803462799415234897368408457856962008023747142833147938215570117348637883652118705965892208482173230002058682459939995585311282065703913650192130551708595178122805644607329156966061723545013872079514010885633868046309431488420132801122195852898749517008906336660989846442315150865379401132209602687697083055405663367163718725569607937737054014085142553783468470311313144129875045804895664687083994346815059871380353772700651997153332303007065771967415055249904307575402247319335874046704600756398685355400831780107818516460419788736486291710087310967926279737374644809406277184419038922117985716054886712993720732651399270075029656227713050572478869909194073657529871399063634647836366865194016304718191207983132257662461751361540819964894203961353691857951795873740131728839970617442333813412051072483146544004001739160390961618633802297146194509614685941537992544041518038576858263207240988327066671838554736465798941176238669397690291037697920775113424288082931872326519757177726248359701296275945305648114799639517079130616743895352046644378745762035553600985041191336031036397201195422259903101869479746838421964586157949973271545423156796709394492013994530178371135773250103828243038538185705933992851370812760079244339404109004215318993466717684643674263381888613160390929621938447531118853568836639921038838510253271679878330321727672270233600952467189715078524918476466896128902761800889137239907194692946355196166076728075903050153600668708244332649882915323507584710638911477554386389706280031160039809129461540904980192551167965979150055003799732896977773655190282273864288229990724003821255413610649004114529848239712345842480504795993715591076737834590163592374938300356322419570083288574136749580642074977191759526702556482000310308458210303969957743388036368287799814829067525720445626377245659652703388016088177577856155094795329034879144453600834908062146074088490852755810560731613442779645262194634025618841486208878335280500603481881697829007878925052389265568200155282119704086107558576771153896139053641413799388107790701448595967426377503521955544414630480431507842537832584126706637536330748345915044813713967388684508172111514119020828031809427090743556031490938799810208789780836935539096404634141953719723021957316234996825734606641764506101313222789217754928201742729116505234331181790859575883923683750385290996377817505205432368249937753274248467555543819518745972578794991730984766142562404643240869622507178371939397898842975082664631187302399703567746190001151316316328477032739770108627881996826593040166075176690635271785780737196027379681264512336929563288462870362942894011000685999245588217697838831585285715301532420283130654446876388566580623439682552981527366442051390153955855141810366808720557104389674019177384141585431011506327801780255186173129507543136661694285972899881670304086336378640678461338455032562687194966653649060880113636162254014929268068122689525897129776403426266956682169582880086329042181756074894764200436136615467663074570438293136133972596684593926263786444679852812644513902093145453361130501365088360571366020444755919792270964290237658657822242920280879171406861830214699686346613766368868572917316841520295864333402673713007976334337277697006727467084983278668798349357366440843500267090909695735924097468274175722250607752469388568947850027702936003935201052040873128479910669503625324409363666859389682289002963885799014997859740569778960972695823381292902537645512704464258526464055214677552213580923641806040893329653662479504291416887422237000481966411563609136165836422562138578831833902395187283779921305958852781330259146127861402073820696214977203150988949696060301845383332778198707871696229973321818775180833760767681160832234295216786089372600076337048753679654964802801275864972738154422126854415152451380529340386177510534818303828621698503184016166795127231878553707229457620574022274796195552822698060233348079379943721284230894826383511034058743723370805008519719937159581444190408573620434202939536513248138997225787695156477528276980706939663940107722488182935325501554442342959162848531656012402297846716680117245335729329673101712447814484117346342835884052910754989382096219714472424413055914512220105634688443505317675418804492486262358256093411230501495229935926061492467940926480910744658298906805968086325370260070149917783387033551897345974534355968226490642290139992796096559631067683585565483124248108070411241864496288278775013367814234676106615790155892833100345673846243104676900000936756893803676769777642059716492347060997973282994459039755683869105685411058885051979862321618071659608643166523833695792515458773247974295235724915183100135059940954313672345441853967639642257048786844333673556851153585056517249014177233301807239035068983866253233826620354847687722321662223383305226882245421258277211223435986491973881404168406609216954760818955479619408040043497601356464084611480778855378911228881396187039079060331474168814336581362769420066445056796904807027922065208551224508683937565519686130523209213804180827319885292805824696457556180161852004664494926234186485934292896521378574554544426221453176445385228867960454072522804961741905198550911362542849130027243353553345377968558497801959766365162905984572190434898213582212068569241211393131371321348657414408926700036655556324464997755685351468128988739170090705797083912419192306257054777274861099092451916822532682357814072123818963141147129610287340041050015549547086272721534936510345705849389706515725684266079756708385889612130516276472992631596744745949011999508491789521497159877319531917595916234240217185796967781020544965987668461439596506473322198532352137810818703064287550695189034358718163360412639767502090913354848015113595182411243263608049744737395896608759569909256138919905403404664655310556021101996525724843421071082933739200159651403373870955680756568226835379339839824880227237703197854614809323023472557966211738929885417307414847072116640441570575360458225614322429985978068323969654385552378378141386675079286837205802043347225419033684684301719893411568996526838242546875</a:t>
            </a:r>
          </a:p>
        </p:txBody>
      </p:sp>
      <p:sp>
        <p:nvSpPr>
          <p:cNvPr id="1044"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045"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
        <p:nvSpPr>
          <p:cNvPr id="1046" name="0.72s to calculate…"/>
          <p:cNvSpPr txBox="1"/>
          <p:nvPr/>
        </p:nvSpPr>
        <p:spPr>
          <a:xfrm>
            <a:off x="10631261" y="8620443"/>
            <a:ext cx="3255265" cy="1244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914400">
              <a:buClrTx/>
            </a:pPr>
            <a:r>
              <a:t>0.72s to calculate</a:t>
            </a:r>
          </a:p>
          <a:p>
            <a:pPr defTabSz="914400">
              <a:buClrTx/>
            </a:pPr>
            <a:r>
              <a:t>208,988 digits</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path" nodeType="afterEffect" presetSubtype="0" presetID="-1" grpId="1" accel="50000" decel="50000" fill="hold">
                                  <p:stCondLst>
                                    <p:cond delay="0"/>
                                  </p:stCondLst>
                                  <p:childTnLst>
                                    <p:animMotion path="M 0.000000 0.000000 L 0.000000 -59.351852" origin="layout" pathEditMode="relative">
                                      <p:cBhvr>
                                        <p:cTn id="6" dur="5000" fill="hold"/>
                                        <p:tgtEl>
                                          <p:spTgt spid="1043"/>
                                        </p:tgtEl>
                                        <p:attrNameLst>
                                          <p:attrName>ppt_x</p:attrName>
                                          <p:attrName>ppt_y</p:attrName>
                                        </p:attrNameLst>
                                      </p:cBhvr>
                                    </p:animMotion>
                                  </p:childTnLst>
                                </p:cTn>
                              </p:par>
                            </p:childTnLst>
                          </p:cTn>
                        </p:par>
                        <p:par>
                          <p:cTn id="7" fill="hold">
                            <p:stCondLst>
                              <p:cond delay="5000"/>
                            </p:stCondLst>
                            <p:childTnLst>
                              <p:par>
                                <p:cTn id="8" presetClass="entr" nodeType="afterEffect" presetSubtype="0" presetID="1" grpId="2" fill="hold">
                                  <p:stCondLst>
                                    <p:cond delay="0"/>
                                  </p:stCondLst>
                                  <p:iterate type="el" backwards="0">
                                    <p:tmAbs val="0"/>
                                  </p:iterate>
                                  <p:childTnLst>
                                    <p:set>
                                      <p:cBhvr>
                                        <p:cTn id="9" fill="hold"/>
                                        <p:tgtEl>
                                          <p:spTgt spid="10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46" grpId="2"/>
    </p:bldLst>
  </p:timing>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050" name="Image" descr="Image"/>
          <p:cNvPicPr>
            <a:picLocks noChangeAspect="1"/>
          </p:cNvPicPr>
          <p:nvPr/>
        </p:nvPicPr>
        <p:blipFill>
          <a:blip r:embed="rId2">
            <a:extLst/>
          </a:blip>
          <a:stretch>
            <a:fillRect/>
          </a:stretch>
        </p:blipFill>
        <p:spPr>
          <a:xfrm>
            <a:off x="9938367" y="6213736"/>
            <a:ext cx="4899759" cy="369794"/>
          </a:xfrm>
          <a:prstGeom prst="rect">
            <a:avLst/>
          </a:prstGeom>
          <a:ln w="12700">
            <a:miter lim="400000"/>
          </a:ln>
        </p:spPr>
      </p:pic>
      <p:pic>
        <p:nvPicPr>
          <p:cNvPr id="1051" name="Image" descr="Image"/>
          <p:cNvPicPr>
            <a:picLocks noChangeAspect="1"/>
          </p:cNvPicPr>
          <p:nvPr/>
        </p:nvPicPr>
        <p:blipFill>
          <a:blip r:embed="rId3">
            <a:extLst/>
          </a:blip>
          <a:stretch>
            <a:fillRect/>
          </a:stretch>
        </p:blipFill>
        <p:spPr>
          <a:xfrm>
            <a:off x="9900267" y="4815416"/>
            <a:ext cx="4627968" cy="3175001"/>
          </a:xfrm>
          <a:prstGeom prst="rect">
            <a:avLst/>
          </a:prstGeom>
          <a:ln w="12700">
            <a:miter lim="400000"/>
          </a:ln>
        </p:spPr>
      </p:pic>
      <p:pic>
        <p:nvPicPr>
          <p:cNvPr id="1052" name="Image" descr="Image"/>
          <p:cNvPicPr>
            <a:picLocks noChangeAspect="1"/>
          </p:cNvPicPr>
          <p:nvPr/>
        </p:nvPicPr>
        <p:blipFill>
          <a:blip r:embed="rId4">
            <a:extLst/>
          </a:blip>
          <a:stretch>
            <a:fillRect/>
          </a:stretch>
        </p:blipFill>
        <p:spPr>
          <a:xfrm>
            <a:off x="9900267" y="4815416"/>
            <a:ext cx="3175001" cy="3175001"/>
          </a:xfrm>
          <a:prstGeom prst="rect">
            <a:avLst/>
          </a:prstGeom>
          <a:ln w="12700">
            <a:miter lim="400000"/>
          </a:ln>
        </p:spPr>
      </p:pic>
      <p:pic>
        <p:nvPicPr>
          <p:cNvPr id="1053" name="Image" descr="Image"/>
          <p:cNvPicPr>
            <a:picLocks noChangeAspect="1"/>
          </p:cNvPicPr>
          <p:nvPr/>
        </p:nvPicPr>
        <p:blipFill>
          <a:blip r:embed="rId5">
            <a:extLst/>
          </a:blip>
          <a:stretch>
            <a:fillRect/>
          </a:stretch>
        </p:blipFill>
        <p:spPr>
          <a:xfrm>
            <a:off x="11353227" y="4790016"/>
            <a:ext cx="3175001" cy="3175001"/>
          </a:xfrm>
          <a:prstGeom prst="rect">
            <a:avLst/>
          </a:prstGeom>
          <a:ln w="12700">
            <a:miter lim="400000"/>
          </a:ln>
        </p:spPr>
      </p:pic>
      <p:sp>
        <p:nvSpPr>
          <p:cNvPr id="1054"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55"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56"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057" name="Futures"/>
          <p:cNvSpPr txBox="1"/>
          <p:nvPr>
            <p:ph type="title"/>
          </p:nvPr>
        </p:nvSpPr>
        <p:spPr>
          <a:xfrm>
            <a:off x="609600" y="368300"/>
            <a:ext cx="23182917" cy="822325"/>
          </a:xfrm>
          <a:prstGeom prst="rect">
            <a:avLst/>
          </a:prstGeom>
        </p:spPr>
        <p:txBody>
          <a:bodyPr/>
          <a:lstStyle>
            <a:lvl1pPr>
              <a:defRPr sz="4200"/>
            </a:lvl1pPr>
          </a:lstStyle>
          <a:p>
            <a:pPr/>
            <a:r>
              <a:t>Futures</a:t>
            </a:r>
          </a:p>
        </p:txBody>
      </p:sp>
      <p:sp>
        <p:nvSpPr>
          <p:cNvPr id="1058" name="Slide Number"/>
          <p:cNvSpPr txBox="1"/>
          <p:nvPr>
            <p:ph type="sldNum" sz="quarter" idx="2"/>
          </p:nvPr>
        </p:nvSpPr>
        <p:spPr>
          <a:xfrm>
            <a:off x="12047965" y="12934946"/>
            <a:ext cx="307138"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059" name="image1.png" descr="image1.png"/>
          <p:cNvPicPr>
            <a:picLocks noChangeAspect="1"/>
          </p:cNvPicPr>
          <p:nvPr/>
        </p:nvPicPr>
        <p:blipFill>
          <a:blip r:embed="rId6">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xit" nodeType="clickEffect" presetID="10" grpId="1" fill="hold">
                                  <p:stCondLst>
                                    <p:cond delay="0"/>
                                  </p:stCondLst>
                                  <p:iterate type="el" backwards="0">
                                    <p:tmAbs val="0"/>
                                  </p:iterate>
                                  <p:childTnLst>
                                    <p:animEffect filter="fade" transition="out">
                                      <p:cBhvr>
                                        <p:cTn id="6" dur="1000" fill="hold"/>
                                        <p:tgtEl>
                                          <p:spTgt spid="1051"/>
                                        </p:tgtEl>
                                      </p:cBhvr>
                                    </p:animEffect>
                                    <p:set>
                                      <p:cBhvr>
                                        <p:cTn id="7" fill="hold">
                                          <p:stCondLst>
                                            <p:cond delay="999"/>
                                          </p:stCondLst>
                                        </p:cTn>
                                        <p:tgtEl>
                                          <p:spTgt spid="1051"/>
                                        </p:tgtEl>
                                        <p:attrNameLst>
                                          <p:attrName>style.visibility</p:attrName>
                                        </p:attrNameLst>
                                      </p:cBhvr>
                                      <p:to>
                                        <p:strVal val="hidden"/>
                                      </p:to>
                                    </p:set>
                                  </p:childTnLst>
                                </p:cTn>
                              </p:par>
                            </p:childTnLst>
                          </p:cTn>
                        </p:par>
                        <p:par>
                          <p:cTn id="8" fill="hold">
                            <p:stCondLst>
                              <p:cond delay="1000"/>
                            </p:stCondLst>
                            <p:childTnLst>
                              <p:par>
                                <p:cTn id="9" presetClass="entr" nodeType="afterEffect" presetSubtype="0" presetID="1" grpId="2" fill="hold">
                                  <p:stCondLst>
                                    <p:cond delay="0"/>
                                  </p:stCondLst>
                                  <p:iterate type="el" backwards="0">
                                    <p:tmAbs val="0"/>
                                  </p:iterate>
                                  <p:childTnLst>
                                    <p:set>
                                      <p:cBhvr>
                                        <p:cTn id="10" fill="hold"/>
                                        <p:tgtEl>
                                          <p:spTgt spid="1052"/>
                                        </p:tgtEl>
                                        <p:attrNameLst>
                                          <p:attrName>style.visibility</p:attrName>
                                        </p:attrNameLst>
                                      </p:cBhvr>
                                      <p:to>
                                        <p:strVal val="visible"/>
                                      </p:to>
                                    </p:set>
                                  </p:childTnLst>
                                </p:cTn>
                              </p:par>
                            </p:childTnLst>
                          </p:cTn>
                        </p:par>
                        <p:par>
                          <p:cTn id="11" fill="hold">
                            <p:stCondLst>
                              <p:cond delay="1000"/>
                            </p:stCondLst>
                            <p:childTnLst>
                              <p:par>
                                <p:cTn id="12" presetClass="entr" nodeType="afterEffect" presetSubtype="0" presetID="1" grpId="3" fill="hold">
                                  <p:stCondLst>
                                    <p:cond delay="0"/>
                                  </p:stCondLst>
                                  <p:iterate type="el" backwards="0">
                                    <p:tmAbs val="0"/>
                                  </p:iterate>
                                  <p:childTnLst>
                                    <p:set>
                                      <p:cBhvr>
                                        <p:cTn id="13" fill="hold"/>
                                        <p:tgtEl>
                                          <p:spTgt spid="1053"/>
                                        </p:tgtEl>
                                        <p:attrNameLst>
                                          <p:attrName>style.visibility</p:attrName>
                                        </p:attrNameLst>
                                      </p:cBhvr>
                                      <p:to>
                                        <p:strVal val="visible"/>
                                      </p:to>
                                    </p:set>
                                  </p:childTnLst>
                                </p:cTn>
                              </p:par>
                            </p:childTnLst>
                          </p:cTn>
                        </p:par>
                        <p:par>
                          <p:cTn id="14" fill="hold">
                            <p:stCondLst>
                              <p:cond delay="0"/>
                            </p:stCondLst>
                            <p:childTnLst>
                              <p:par>
                                <p:cTn id="15" presetClass="path" nodeType="afterEffect" presetSubtype="0" presetID="-1" grpId="4" accel="50000" decel="50000" fill="hold">
                                  <p:stCondLst>
                                    <p:cond delay="0"/>
                                  </p:stCondLst>
                                  <p:childTnLst>
                                    <p:animMotion path="M 0.000000 0.000000 L -0.120833 -0.000000" origin="layout" pathEditMode="relative">
                                      <p:cBhvr>
                                        <p:cTn id="16" dur="1000" fill="hold"/>
                                        <p:tgtEl>
                                          <p:spTgt spid="1052"/>
                                        </p:tgtEl>
                                        <p:attrNameLst>
                                          <p:attrName>ppt_x</p:attrName>
                                          <p:attrName>ppt_y</p:attrName>
                                        </p:attrNameLst>
                                      </p:cBhvr>
                                    </p:animMotion>
                                  </p:childTnLst>
                                </p:cTn>
                              </p:par>
                            </p:childTnLst>
                          </p:cTn>
                        </p:par>
                        <p:par>
                          <p:cTn id="17" fill="hold">
                            <p:stCondLst>
                              <p:cond delay="0"/>
                            </p:stCondLst>
                            <p:childTnLst>
                              <p:par>
                                <p:cTn id="18" presetClass="path" nodeType="withEffect" presetSubtype="0" presetID="-1" grpId="5" accel="50000" decel="50000" fill="hold">
                                  <p:stCondLst>
                                    <p:cond delay="0"/>
                                  </p:stCondLst>
                                  <p:childTnLst>
                                    <p:animMotion path="M 0.000000 0.000000 L 0.120833 -0.000000" origin="layout" pathEditMode="relative">
                                      <p:cBhvr>
                                        <p:cTn id="19" dur="1000" fill="hold"/>
                                        <p:tgtEl>
                                          <p:spTgt spid="1053"/>
                                        </p:tgtEl>
                                        <p:attrNameLst>
                                          <p:attrName>ppt_x</p:attrName>
                                          <p:attrName>ppt_y</p:attrName>
                                        </p:attrNameLst>
                                      </p:cBhvr>
                                    </p:animMotion>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51" grpId="1"/>
      <p:bldP build="whole" bldLvl="1" animBg="1" rev="0" advAuto="0" spid="1052" grpId="2"/>
      <p:bldP build="whole" bldLvl="1" animBg="1" rev="0" advAuto="0" spid="1053" grpId="3"/>
    </p:bldLst>
  </p:timing>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1"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62"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63"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064" name="Futures"/>
          <p:cNvSpPr txBox="1"/>
          <p:nvPr>
            <p:ph type="title"/>
          </p:nvPr>
        </p:nvSpPr>
        <p:spPr>
          <a:xfrm>
            <a:off x="609600" y="368300"/>
            <a:ext cx="23182917" cy="822325"/>
          </a:xfrm>
          <a:prstGeom prst="rect">
            <a:avLst/>
          </a:prstGeom>
        </p:spPr>
        <p:txBody>
          <a:bodyPr/>
          <a:lstStyle>
            <a:lvl1pPr>
              <a:defRPr sz="4200"/>
            </a:lvl1pPr>
          </a:lstStyle>
          <a:p>
            <a:pPr/>
            <a:r>
              <a:t>Futures</a:t>
            </a:r>
          </a:p>
        </p:txBody>
      </p:sp>
      <p:sp>
        <p:nvSpPr>
          <p:cNvPr id="1065" name="Futures allow minimal code transformations to express dependencies"/>
          <p:cNvSpPr txBox="1"/>
          <p:nvPr>
            <p:ph type="body" idx="1"/>
          </p:nvPr>
        </p:nvSpPr>
        <p:spPr>
          <a:prstGeom prst="rect">
            <a:avLst/>
          </a:prstGeom>
        </p:spPr>
        <p:txBody>
          <a:bodyPr/>
          <a:lstStyle/>
          <a:p>
            <a:pPr/>
            <a:r>
              <a:t>Futures allow minimal code transformations to express dependencies</a:t>
            </a:r>
          </a:p>
        </p:txBody>
      </p:sp>
      <p:sp>
        <p:nvSpPr>
          <p:cNvPr id="1066" name="Slide Number"/>
          <p:cNvSpPr txBox="1"/>
          <p:nvPr>
            <p:ph type="sldNum" sz="quarter" idx="2"/>
          </p:nvPr>
        </p:nvSpPr>
        <p:spPr>
          <a:xfrm>
            <a:off x="12046441" y="12934946"/>
            <a:ext cx="310186"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067"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1"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72"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073"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074" name="Exception Marshalling"/>
          <p:cNvSpPr txBox="1"/>
          <p:nvPr>
            <p:ph type="title"/>
          </p:nvPr>
        </p:nvSpPr>
        <p:spPr>
          <a:xfrm>
            <a:off x="609600" y="368300"/>
            <a:ext cx="23182917" cy="822325"/>
          </a:xfrm>
          <a:prstGeom prst="rect">
            <a:avLst/>
          </a:prstGeom>
        </p:spPr>
        <p:txBody>
          <a:bodyPr/>
          <a:lstStyle>
            <a:lvl1pPr>
              <a:defRPr sz="4200"/>
            </a:lvl1pPr>
          </a:lstStyle>
          <a:p>
            <a:pPr/>
            <a:r>
              <a:t>Exception Marshalling</a:t>
            </a:r>
          </a:p>
        </p:txBody>
      </p:sp>
      <p:sp>
        <p:nvSpPr>
          <p:cNvPr id="1075" name="future&lt;cpp_int&gt; x = async([]{…"/>
          <p:cNvSpPr txBox="1"/>
          <p:nvPr>
            <p:ph type="body" idx="1"/>
          </p:nvPr>
        </p:nvSpPr>
        <p:spPr>
          <a:prstGeom prst="rect">
            <a:avLst/>
          </a:prstGeom>
        </p:spPr>
        <p:txBody>
          <a:bodyPr/>
          <a:lstStyle/>
          <a:p>
            <a:pPr marL="0" indent="0" defTabSz="457200">
              <a:spcBef>
                <a:spcPts val="0"/>
              </a:spcBef>
              <a:buClrTx/>
              <a:buSzTx/>
              <a:buNone/>
              <a:tabLst>
                <a:tab pos="546100" algn="l"/>
              </a:tabLst>
              <a:defRPr sz="2400">
                <a:solidFill>
                  <a:srgbClr val="3495AF"/>
                </a:solidFill>
                <a:uFillTx/>
                <a:latin typeface="Menlo Regular"/>
                <a:ea typeface="Menlo Regular"/>
                <a:cs typeface="Menlo Regular"/>
                <a:sym typeface="Menlo Regular"/>
              </a:defRPr>
            </a:pPr>
            <a:r>
              <a:rPr>
                <a:solidFill>
                  <a:srgbClr val="000000"/>
                </a:solidFill>
              </a:rPr>
              <a:t>    </a:t>
            </a:r>
            <a:r>
              <a:t>future</a:t>
            </a:r>
            <a:r>
              <a:rPr>
                <a:solidFill>
                  <a:srgbClr val="000000"/>
                </a:solidFill>
              </a:rPr>
              <a:t>&lt;</a:t>
            </a:r>
            <a:r>
              <a:t>cpp_int</a:t>
            </a:r>
            <a:r>
              <a:rPr>
                <a:solidFill>
                  <a:srgbClr val="000000"/>
                </a:solidFill>
              </a:rPr>
              <a:t>&gt; x = </a:t>
            </a:r>
            <a:r>
              <a:t>async</a:t>
            </a:r>
            <a:r>
              <a:rPr>
                <a:solidFill>
                  <a:srgbClr val="000000"/>
                </a:solidFill>
              </a:rPr>
              <a:t>([]{</a:t>
            </a:r>
            <a:endParaRPr>
              <a:solidFill>
                <a:srgbClr val="000000"/>
              </a:solidFill>
            </a:endParaRPr>
          </a:p>
          <a:p>
            <a:pPr marL="0" indent="0" defTabSz="457200">
              <a:spcBef>
                <a:spcPts val="0"/>
              </a:spcBef>
              <a:buClrTx/>
              <a:buSzTx/>
              <a:buNone/>
              <a:tabLst>
                <a:tab pos="546100" algn="l"/>
              </a:tabLst>
              <a:defRPr sz="2400">
                <a:solidFill>
                  <a:srgbClr val="3495AF"/>
                </a:solidFill>
                <a:uFillTx/>
                <a:latin typeface="Menlo Regular"/>
                <a:ea typeface="Menlo Regular"/>
                <a:cs typeface="Menlo Regular"/>
                <a:sym typeface="Menlo Regular"/>
              </a:defRPr>
            </a:pPr>
            <a:r>
              <a:rPr>
                <a:solidFill>
                  <a:srgbClr val="000000"/>
                </a:solidFill>
              </a:rPr>
              <a:t>        </a:t>
            </a:r>
            <a:r>
              <a:rPr>
                <a:solidFill>
                  <a:srgbClr val="0433FF"/>
                </a:solidFill>
              </a:rPr>
              <a:t>throw</a:t>
            </a:r>
            <a:r>
              <a:rPr>
                <a:solidFill>
                  <a:srgbClr val="000000"/>
                </a:solidFill>
              </a:rPr>
              <a:t> </a:t>
            </a:r>
            <a:r>
              <a:t>runtime_error</a:t>
            </a:r>
            <a:r>
              <a:rPr>
                <a:solidFill>
                  <a:srgbClr val="000000"/>
                </a:solidFill>
              </a:rPr>
              <a:t>(</a:t>
            </a:r>
            <a:r>
              <a:rPr>
                <a:solidFill>
                  <a:srgbClr val="B4261A"/>
                </a:solidFill>
              </a:rPr>
              <a:t>"failure"</a:t>
            </a:r>
            <a:r>
              <a:rPr>
                <a:solidFill>
                  <a:srgbClr val="000000"/>
                </a:solidFill>
              </a:rPr>
              <a: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0433FF"/>
                </a:solidFill>
              </a:rPr>
              <a:t>return</a:t>
            </a:r>
            <a:r>
              <a:t> </a:t>
            </a:r>
            <a:r>
              <a:rPr>
                <a:solidFill>
                  <a:srgbClr val="3495AF"/>
                </a:solidFill>
              </a:rPr>
              <a:t>fibonacci</a:t>
            </a:r>
            <a:r>
              <a:t>&lt;</a:t>
            </a:r>
            <a:r>
              <a:rPr>
                <a:solidFill>
                  <a:srgbClr val="3495AF"/>
                </a:solidFill>
              </a:rPr>
              <a:t>cpp_int</a:t>
            </a:r>
            <a:r>
              <a:t>&gt;(1'000'000);</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008F00"/>
                </a:solidFill>
                <a:uFillTx/>
                <a:latin typeface="Menlo Regular"/>
                <a:ea typeface="Menlo Regular"/>
                <a:cs typeface="Menlo Regular"/>
                <a:sym typeface="Menlo Regular"/>
              </a:defRPr>
            </a:pPr>
            <a:r>
              <a:rPr>
                <a:solidFill>
                  <a:srgbClr val="000000"/>
                </a:solidFill>
              </a:rPr>
              <a:t>    </a:t>
            </a:r>
            <a:r>
              <a:t>// Do Something</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0433FF"/>
                </a:solidFill>
              </a:rPr>
              <a:t>try</a:t>
            </a: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3495AF"/>
                </a:solidFill>
              </a:rPr>
              <a:t>cout</a:t>
            </a:r>
            <a:r>
              <a:t> &lt;&lt; x.</a:t>
            </a:r>
            <a:r>
              <a:rPr>
                <a:solidFill>
                  <a:srgbClr val="3495AF"/>
                </a:solidFill>
              </a:rPr>
              <a:t>get</a:t>
            </a:r>
            <a:r>
              <a:t>() &lt;&lt; </a:t>
            </a:r>
            <a:r>
              <a:rPr>
                <a:solidFill>
                  <a:srgbClr val="3495AF"/>
                </a:solidFill>
              </a:rPr>
              <a:t>endl</a:t>
            </a:r>
            <a:r>
              <a:t>;</a:t>
            </a:r>
          </a:p>
          <a:p>
            <a:pPr marL="0" indent="0" defTabSz="457200">
              <a:spcBef>
                <a:spcPts val="0"/>
              </a:spcBef>
              <a:buClrTx/>
              <a:buSzTx/>
              <a:buNone/>
              <a:tabLst>
                <a:tab pos="546100" algn="l"/>
              </a:tabLst>
              <a:defRPr sz="2400">
                <a:solidFill>
                  <a:srgbClr val="3495AF"/>
                </a:solidFill>
                <a:uFillTx/>
                <a:latin typeface="Menlo Regular"/>
                <a:ea typeface="Menlo Regular"/>
                <a:cs typeface="Menlo Regular"/>
                <a:sym typeface="Menlo Regular"/>
              </a:defRPr>
            </a:pPr>
            <a:r>
              <a:rPr>
                <a:solidFill>
                  <a:srgbClr val="000000"/>
                </a:solidFill>
              </a:rPr>
              <a:t>    } </a:t>
            </a:r>
            <a:r>
              <a:rPr>
                <a:solidFill>
                  <a:srgbClr val="0433FF"/>
                </a:solidFill>
              </a:rPr>
              <a:t>catch</a:t>
            </a:r>
            <a:r>
              <a:rPr>
                <a:solidFill>
                  <a:srgbClr val="000000"/>
                </a:solidFill>
              </a:rPr>
              <a:t> (</a:t>
            </a:r>
            <a:r>
              <a:rPr>
                <a:solidFill>
                  <a:srgbClr val="0433FF"/>
                </a:solidFill>
              </a:rPr>
              <a:t>const</a:t>
            </a:r>
            <a:r>
              <a:rPr>
                <a:solidFill>
                  <a:srgbClr val="000000"/>
                </a:solidFill>
              </a:rPr>
              <a:t> </a:t>
            </a:r>
            <a:r>
              <a:t>runtime_error</a:t>
            </a:r>
            <a:r>
              <a:rPr>
                <a:solidFill>
                  <a:srgbClr val="000000"/>
                </a:solidFill>
              </a:rPr>
              <a:t>&amp; error) {</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3495AF"/>
                </a:solidFill>
              </a:rPr>
              <a:t>cout</a:t>
            </a:r>
            <a:r>
              <a:t> &lt;&lt; error.</a:t>
            </a:r>
            <a:r>
              <a:rPr>
                <a:solidFill>
                  <a:srgbClr val="3495AF"/>
                </a:solidFill>
              </a:rPr>
              <a:t>what</a:t>
            </a:r>
            <a:r>
              <a:t>() &lt;&lt; </a:t>
            </a:r>
            <a:r>
              <a:rPr>
                <a:solidFill>
                  <a:srgbClr val="3495AF"/>
                </a:solidFill>
              </a:rPr>
              <a:t>endl</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p:txBody>
      </p:sp>
      <p:sp>
        <p:nvSpPr>
          <p:cNvPr id="1076" name="Slide Number"/>
          <p:cNvSpPr txBox="1"/>
          <p:nvPr>
            <p:ph type="sldNum" sz="quarter" idx="2"/>
          </p:nvPr>
        </p:nvSpPr>
        <p:spPr>
          <a:xfrm>
            <a:off x="12043393" y="12934946"/>
            <a:ext cx="316282"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077"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
        <p:nvSpPr>
          <p:cNvPr id="1078" name="Rounded Rectangle"/>
          <p:cNvSpPr/>
          <p:nvPr/>
        </p:nvSpPr>
        <p:spPr>
          <a:xfrm>
            <a:off x="525174" y="2354492"/>
            <a:ext cx="168852" cy="457201"/>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1079" name="failure"/>
          <p:cNvSpPr txBox="1"/>
          <p:nvPr/>
        </p:nvSpPr>
        <p:spPr>
          <a:xfrm>
            <a:off x="11514829" y="7294850"/>
            <a:ext cx="1398837" cy="457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457200">
              <a:buClrTx/>
              <a:tabLst>
                <a:tab pos="546100" algn="l"/>
              </a:tabLst>
              <a:defRPr b="1" sz="2400">
                <a:uFillTx/>
                <a:latin typeface="Menlo Regular"/>
                <a:ea typeface="Menlo Regular"/>
                <a:cs typeface="Menlo Regular"/>
                <a:sym typeface="Menlo Regular"/>
              </a:defRPr>
            </a:lvl1pPr>
          </a:lstStyle>
          <a:p>
            <a:pPr/>
            <a:r>
              <a:t>failure</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79" grpId="1"/>
    </p:bldLst>
  </p:timing>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083" name="droppedImage.pdf" descr="droppedImage.pdf"/>
          <p:cNvPicPr>
            <a:picLocks noChangeAspect="1"/>
          </p:cNvPicPr>
          <p:nvPr/>
        </p:nvPicPr>
        <p:blipFill>
          <a:blip r:embed="rId3">
            <a:extLst/>
          </a:blip>
          <a:stretch>
            <a:fillRect/>
          </a:stretch>
        </p:blipFill>
        <p:spPr>
          <a:xfrm>
            <a:off x="9004300" y="3505200"/>
            <a:ext cx="2387600" cy="2387600"/>
          </a:xfrm>
          <a:prstGeom prst="rect">
            <a:avLst/>
          </a:prstGeom>
          <a:ln w="12700">
            <a:miter lim="400000"/>
          </a:ln>
        </p:spPr>
      </p:pic>
      <p:sp>
        <p:nvSpPr>
          <p:cNvPr id="1084" name="Rectangle"/>
          <p:cNvSpPr/>
          <p:nvPr/>
        </p:nvSpPr>
        <p:spPr>
          <a:xfrm>
            <a:off x="-12697" y="1"/>
            <a:ext cx="24428447"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1085" name="Rectangle"/>
          <p:cNvSpPr/>
          <p:nvPr/>
        </p:nvSpPr>
        <p:spPr>
          <a:xfrm>
            <a:off x="-31752" y="12884153"/>
            <a:ext cx="24447502"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1086"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1095" name="Group"/>
          <p:cNvGrpSpPr/>
          <p:nvPr/>
        </p:nvGrpSpPr>
        <p:grpSpPr>
          <a:xfrm>
            <a:off x="23430479" y="13063804"/>
            <a:ext cx="356816" cy="489706"/>
            <a:chOff x="0" y="0"/>
            <a:chExt cx="356815" cy="489704"/>
          </a:xfrm>
        </p:grpSpPr>
        <p:sp>
          <p:nvSpPr>
            <p:cNvPr id="1087"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088"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089"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090"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091"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092"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093"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094"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1096" name="No Raw Synchronization Primitives"/>
          <p:cNvSpPr txBox="1"/>
          <p:nvPr>
            <p:ph type="title"/>
          </p:nvPr>
        </p:nvSpPr>
        <p:spPr>
          <a:prstGeom prst="rect">
            <a:avLst/>
          </a:prstGeom>
        </p:spPr>
        <p:txBody>
          <a:bodyPr/>
          <a:lstStyle/>
          <a:p>
            <a:pPr/>
            <a:r>
              <a:t>No Raw Synchronization Primitives</a:t>
            </a:r>
          </a:p>
        </p:txBody>
      </p:sp>
      <p:sp>
        <p:nvSpPr>
          <p:cNvPr id="1097" name="Slide Number"/>
          <p:cNvSpPr txBox="1"/>
          <p:nvPr>
            <p:ph type="sldNum" sz="quarter" idx="2"/>
          </p:nvPr>
        </p:nvSpPr>
        <p:spPr>
          <a:xfrm>
            <a:off x="11996751" y="12871152"/>
            <a:ext cx="409551" cy="4572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098" name="droppedImage.pdf" descr="droppedImage.pdf"/>
          <p:cNvPicPr>
            <a:picLocks noChangeAspect="1"/>
          </p:cNvPicPr>
          <p:nvPr/>
        </p:nvPicPr>
        <p:blipFill>
          <a:blip r:embed="rId4">
            <a:extLst/>
          </a:blip>
          <a:stretch>
            <a:fillRect/>
          </a:stretch>
        </p:blipFill>
        <p:spPr>
          <a:xfrm>
            <a:off x="9004300" y="1651000"/>
            <a:ext cx="2387600" cy="2159000"/>
          </a:xfrm>
          <a:prstGeom prst="rect">
            <a:avLst/>
          </a:prstGeom>
          <a:ln w="12700">
            <a:miter lim="400000"/>
          </a:ln>
        </p:spPr>
      </p:pic>
      <p:pic>
        <p:nvPicPr>
          <p:cNvPr id="1099" name="droppedImage.pdf" descr="droppedImage.pdf"/>
          <p:cNvPicPr>
            <a:picLocks noChangeAspect="1"/>
          </p:cNvPicPr>
          <p:nvPr/>
        </p:nvPicPr>
        <p:blipFill>
          <a:blip r:embed="rId5">
            <a:extLst/>
          </a:blip>
          <a:stretch>
            <a:fillRect/>
          </a:stretch>
        </p:blipFill>
        <p:spPr>
          <a:xfrm>
            <a:off x="9004300" y="3505200"/>
            <a:ext cx="2387600" cy="2387600"/>
          </a:xfrm>
          <a:prstGeom prst="rect">
            <a:avLst/>
          </a:prstGeom>
          <a:ln w="12700">
            <a:miter lim="400000"/>
          </a:ln>
        </p:spPr>
      </p:pic>
      <p:pic>
        <p:nvPicPr>
          <p:cNvPr id="1100" name="droppedImage.pdf" descr="droppedImage.pdf"/>
          <p:cNvPicPr>
            <a:picLocks noChangeAspect="1"/>
          </p:cNvPicPr>
          <p:nvPr/>
        </p:nvPicPr>
        <p:blipFill>
          <a:blip r:embed="rId6">
            <a:extLst/>
          </a:blip>
          <a:stretch>
            <a:fillRect/>
          </a:stretch>
        </p:blipFill>
        <p:spPr>
          <a:xfrm>
            <a:off x="12992100" y="5765800"/>
            <a:ext cx="2387600" cy="2286000"/>
          </a:xfrm>
          <a:prstGeom prst="rect">
            <a:avLst/>
          </a:prstGeom>
          <a:ln w="12700">
            <a:miter lim="400000"/>
          </a:ln>
        </p:spPr>
      </p:pic>
      <p:pic>
        <p:nvPicPr>
          <p:cNvPr id="1101" name="droppedImage.pdf" descr="droppedImage.pdf"/>
          <p:cNvPicPr>
            <a:picLocks noChangeAspect="1"/>
          </p:cNvPicPr>
          <p:nvPr/>
        </p:nvPicPr>
        <p:blipFill>
          <a:blip r:embed="rId7">
            <a:extLst/>
          </a:blip>
          <a:stretch>
            <a:fillRect/>
          </a:stretch>
        </p:blipFill>
        <p:spPr>
          <a:xfrm>
            <a:off x="9004300" y="5537200"/>
            <a:ext cx="2387600" cy="3175000"/>
          </a:xfrm>
          <a:prstGeom prst="rect">
            <a:avLst/>
          </a:prstGeom>
          <a:ln w="12700">
            <a:miter lim="400000"/>
          </a:ln>
        </p:spPr>
      </p:pic>
      <p:pic>
        <p:nvPicPr>
          <p:cNvPr id="1102" name="droppedImage.pdf" descr="droppedImage.pdf"/>
          <p:cNvPicPr>
            <a:picLocks noChangeAspect="1"/>
          </p:cNvPicPr>
          <p:nvPr/>
        </p:nvPicPr>
        <p:blipFill>
          <a:blip r:embed="rId8">
            <a:extLst/>
          </a:blip>
          <a:stretch>
            <a:fillRect/>
          </a:stretch>
        </p:blipFill>
        <p:spPr>
          <a:xfrm>
            <a:off x="12992100" y="7670800"/>
            <a:ext cx="2387600" cy="3175000"/>
          </a:xfrm>
          <a:prstGeom prst="rect">
            <a:avLst/>
          </a:prstGeom>
          <a:ln w="12700">
            <a:miter lim="400000"/>
          </a:ln>
        </p:spPr>
      </p:pic>
      <p:pic>
        <p:nvPicPr>
          <p:cNvPr id="1103" name="droppedImage.pdf" descr="droppedImage.pdf"/>
          <p:cNvPicPr>
            <a:picLocks noChangeAspect="1"/>
          </p:cNvPicPr>
          <p:nvPr/>
        </p:nvPicPr>
        <p:blipFill>
          <a:blip r:embed="rId9">
            <a:extLst/>
          </a:blip>
          <a:stretch>
            <a:fillRect/>
          </a:stretch>
        </p:blipFill>
        <p:spPr>
          <a:xfrm>
            <a:off x="9004300" y="8407400"/>
            <a:ext cx="2387600" cy="1244600"/>
          </a:xfrm>
          <a:prstGeom prst="rect">
            <a:avLst/>
          </a:prstGeom>
          <a:ln w="12700">
            <a:miter lim="400000"/>
          </a:ln>
        </p:spPr>
      </p:pic>
      <p:pic>
        <p:nvPicPr>
          <p:cNvPr id="1104" name="droppedImage.pdf" descr="droppedImage.pdf"/>
          <p:cNvPicPr>
            <a:picLocks noChangeAspect="1"/>
          </p:cNvPicPr>
          <p:nvPr/>
        </p:nvPicPr>
        <p:blipFill>
          <a:blip r:embed="rId10">
            <a:extLst/>
          </a:blip>
          <a:stretch>
            <a:fillRect/>
          </a:stretch>
        </p:blipFill>
        <p:spPr>
          <a:xfrm>
            <a:off x="9004300" y="8407400"/>
            <a:ext cx="2387600" cy="2159000"/>
          </a:xfrm>
          <a:prstGeom prst="rect">
            <a:avLst/>
          </a:prstGeom>
          <a:ln w="12700">
            <a:miter lim="400000"/>
          </a:ln>
        </p:spPr>
      </p:pic>
      <p:pic>
        <p:nvPicPr>
          <p:cNvPr id="1105" name="droppedImage.pdf" descr="droppedImage.pdf"/>
          <p:cNvPicPr>
            <a:picLocks noChangeAspect="1"/>
          </p:cNvPicPr>
          <p:nvPr/>
        </p:nvPicPr>
        <p:blipFill>
          <a:blip r:embed="rId11">
            <a:extLst/>
          </a:blip>
          <a:stretch>
            <a:fillRect/>
          </a:stretch>
        </p:blipFill>
        <p:spPr>
          <a:xfrm>
            <a:off x="12992100" y="10515600"/>
            <a:ext cx="2387600" cy="2387600"/>
          </a:xfrm>
          <a:prstGeom prst="rect">
            <a:avLst/>
          </a:prstGeom>
          <a:ln w="12700">
            <a:miter lim="400000"/>
          </a:ln>
        </p:spPr>
      </p:pic>
      <p:pic>
        <p:nvPicPr>
          <p:cNvPr id="1106" name="droppedImage.pdf" descr="droppedImage.pdf"/>
          <p:cNvPicPr>
            <a:picLocks noChangeAspect="1"/>
          </p:cNvPicPr>
          <p:nvPr/>
        </p:nvPicPr>
        <p:blipFill>
          <a:blip r:embed="rId12">
            <a:extLst/>
          </a:blip>
          <a:stretch>
            <a:fillRect/>
          </a:stretch>
        </p:blipFill>
        <p:spPr>
          <a:xfrm>
            <a:off x="9232900" y="8153400"/>
            <a:ext cx="1930400" cy="1778000"/>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path" nodeType="clickEffect" presetSubtype="0" presetID="-1" grpId="1" accel="50000" decel="50000" fill="hold">
                                  <p:stCondLst>
                                    <p:cond delay="0"/>
                                  </p:stCondLst>
                                  <p:childTnLst>
                                    <p:animMotion path="M 0.000000 0.000000 L 0.163542 0.020370" origin="layout" pathEditMode="relative">
                                      <p:cBhvr>
                                        <p:cTn id="6" dur="1000" fill="hold"/>
                                        <p:tgtEl>
                                          <p:spTgt spid="1099"/>
                                        </p:tgtEl>
                                        <p:attrNameLst>
                                          <p:attrName>ppt_x</p:attrName>
                                          <p:attrName>ppt_y</p:attrName>
                                        </p:attrNameLst>
                                      </p:cBhvr>
                                    </p:animMotion>
                                  </p:childTnLst>
                                </p:cTn>
                              </p:par>
                            </p:childTnLst>
                          </p:cTn>
                        </p:par>
                        <p:par>
                          <p:cTn id="7" fill="hold">
                            <p:stCondLst>
                              <p:cond delay="1000"/>
                            </p:stCondLst>
                            <p:childTnLst>
                              <p:par>
                                <p:cTn id="8" presetClass="entr" nodeType="afterEffect" presetSubtype="0" presetID="1" grpId="2" fill="hold">
                                  <p:stCondLst>
                                    <p:cond delay="0"/>
                                  </p:stCondLst>
                                  <p:iterate type="el" backwards="0">
                                    <p:tmAbs val="0"/>
                                  </p:iterate>
                                  <p:childTnLst>
                                    <p:set>
                                      <p:cBhvr>
                                        <p:cTn id="9" fill="hold"/>
                                        <p:tgtEl>
                                          <p:spTgt spid="1083"/>
                                        </p:tgtEl>
                                        <p:attrNameLst>
                                          <p:attrName>style.visibility</p:attrName>
                                        </p:attrNameLst>
                                      </p:cBhvr>
                                      <p:to>
                                        <p:strVal val="visible"/>
                                      </p:to>
                                    </p:set>
                                  </p:childTnLst>
                                </p:cTn>
                              </p:par>
                            </p:childTnLst>
                          </p:cTn>
                        </p:par>
                        <p:par>
                          <p:cTn id="10" fill="hold">
                            <p:stCondLst>
                              <p:cond delay="1000"/>
                            </p:stCondLst>
                            <p:childTnLst>
                              <p:par>
                                <p:cTn id="11" presetClass="entr" nodeType="afterEffect" presetSubtype="0" presetID="1" grpId="3" fill="hold">
                                  <p:stCondLst>
                                    <p:cond delay="1000"/>
                                  </p:stCondLst>
                                  <p:iterate type="el" backwards="0">
                                    <p:tmAbs val="0"/>
                                  </p:iterate>
                                  <p:childTnLst>
                                    <p:set>
                                      <p:cBhvr>
                                        <p:cTn id="12" fill="hold"/>
                                        <p:tgtEl>
                                          <p:spTgt spid="110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4" fill="hold">
                                  <p:stCondLst>
                                    <p:cond delay="0"/>
                                  </p:stCondLst>
                                  <p:iterate type="el" backwards="0">
                                    <p:tmAbs val="0"/>
                                  </p:iterate>
                                  <p:childTnLst>
                                    <p:set>
                                      <p:cBhvr>
                                        <p:cTn id="16" fill="hold"/>
                                        <p:tgtEl>
                                          <p:spTgt spid="1101"/>
                                        </p:tgtEl>
                                        <p:attrNameLst>
                                          <p:attrName>style.visibility</p:attrName>
                                        </p:attrNameLst>
                                      </p:cBhvr>
                                      <p:to>
                                        <p:strVal val="visible"/>
                                      </p:to>
                                    </p:set>
                                  </p:childTnLst>
                                </p:cTn>
                              </p:par>
                            </p:childTnLst>
                          </p:cTn>
                        </p:par>
                        <p:par>
                          <p:cTn id="17" fill="hold">
                            <p:stCondLst>
                              <p:cond delay="0"/>
                            </p:stCondLst>
                            <p:childTnLst>
                              <p:par>
                                <p:cTn id="18" presetClass="entr" nodeType="afterEffect" presetSubtype="0" presetID="1" grpId="5" fill="hold">
                                  <p:stCondLst>
                                    <p:cond delay="0"/>
                                  </p:stCondLst>
                                  <p:iterate type="el" backwards="0">
                                    <p:tmAbs val="0"/>
                                  </p:iterate>
                                  <p:childTnLst>
                                    <p:set>
                                      <p:cBhvr>
                                        <p:cTn id="19" fill="hold"/>
                                        <p:tgtEl>
                                          <p:spTgt spid="110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Class="entr" nodeType="clickEffect" presetSubtype="0" presetID="1" grpId="6" fill="hold">
                                  <p:stCondLst>
                                    <p:cond delay="0"/>
                                  </p:stCondLst>
                                  <p:iterate type="el" backwards="0">
                                    <p:tmAbs val="0"/>
                                  </p:iterate>
                                  <p:childTnLst>
                                    <p:set>
                                      <p:cBhvr>
                                        <p:cTn id="23" fill="hold"/>
                                        <p:tgtEl>
                                          <p:spTgt spid="110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32" presetID="23" grpId="7" fill="hold">
                                  <p:stCondLst>
                                    <p:cond delay="0"/>
                                  </p:stCondLst>
                                  <p:iterate type="el" backwards="0">
                                    <p:tmAbs val="0"/>
                                  </p:iterate>
                                  <p:childTnLst>
                                    <p:set>
                                      <p:cBhvr>
                                        <p:cTn id="27" fill="hold"/>
                                        <p:tgtEl>
                                          <p:spTgt spid="1106"/>
                                        </p:tgtEl>
                                        <p:attrNameLst>
                                          <p:attrName>style.visibility</p:attrName>
                                        </p:attrNameLst>
                                      </p:cBhvr>
                                      <p:to>
                                        <p:strVal val="visible"/>
                                      </p:to>
                                    </p:set>
                                    <p:anim calcmode="lin" valueType="num">
                                      <p:cBhvr>
                                        <p:cTn id="28" dur="1000" fill="hold"/>
                                        <p:tgtEl>
                                          <p:spTgt spid="1106"/>
                                        </p:tgtEl>
                                        <p:attrNameLst>
                                          <p:attrName>ppt_w</p:attrName>
                                        </p:attrNameLst>
                                      </p:cBhvr>
                                      <p:tavLst>
                                        <p:tav tm="0">
                                          <p:val>
                                            <p:strVal val="4*#ppt_w"/>
                                          </p:val>
                                        </p:tav>
                                        <p:tav tm="100000">
                                          <p:val>
                                            <p:strVal val="#ppt_w"/>
                                          </p:val>
                                        </p:tav>
                                      </p:tavLst>
                                    </p:anim>
                                    <p:anim calcmode="lin" valueType="num">
                                      <p:cBhvr>
                                        <p:cTn id="29" dur="1000" fill="hold"/>
                                        <p:tgtEl>
                                          <p:spTgt spid="1106"/>
                                        </p:tgtEl>
                                        <p:attrNameLst>
                                          <p:attrName>ppt_h</p:attrName>
                                        </p:attrNameLst>
                                      </p:cBhvr>
                                      <p:tavLst>
                                        <p:tav tm="0">
                                          <p:val>
                                            <p:strVal val="4*#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Class="entr" nodeType="clickEffect" presetSubtype="0" presetID="1" grpId="8" fill="hold">
                                  <p:stCondLst>
                                    <p:cond delay="0"/>
                                  </p:stCondLst>
                                  <p:iterate type="el" backwards="0">
                                    <p:tmAbs val="0"/>
                                  </p:iterate>
                                  <p:childTnLst>
                                    <p:set>
                                      <p:cBhvr>
                                        <p:cTn id="33" fill="hold"/>
                                        <p:tgtEl>
                                          <p:spTgt spid="1105"/>
                                        </p:tgtEl>
                                        <p:attrNameLst>
                                          <p:attrName>style.visibility</p:attrName>
                                        </p:attrNameLst>
                                      </p:cBhvr>
                                      <p:to>
                                        <p:strVal val="visible"/>
                                      </p:to>
                                    </p:set>
                                  </p:childTnLst>
                                </p:cTn>
                              </p:par>
                            </p:childTnLst>
                          </p:cTn>
                        </p:par>
                        <p:par>
                          <p:cTn id="34" fill="hold">
                            <p:stCondLst>
                              <p:cond delay="0"/>
                            </p:stCondLst>
                            <p:childTnLst>
                              <p:par>
                                <p:cTn id="35" presetClass="entr" nodeType="afterEffect" presetSubtype="0" presetID="1" grpId="9" fill="hold">
                                  <p:stCondLst>
                                    <p:cond delay="0"/>
                                  </p:stCondLst>
                                  <p:iterate type="el" backwards="0">
                                    <p:tmAbs val="0"/>
                                  </p:iterate>
                                  <p:childTnLst>
                                    <p:set>
                                      <p:cBhvr>
                                        <p:cTn id="36" fill="hold"/>
                                        <p:tgtEl>
                                          <p:spTgt spid="1104"/>
                                        </p:tgtEl>
                                        <p:attrNameLst>
                                          <p:attrName>style.visibility</p:attrName>
                                        </p:attrNameLst>
                                      </p:cBhvr>
                                      <p:to>
                                        <p:strVal val="visible"/>
                                      </p:to>
                                    </p:set>
                                  </p:childTnLst>
                                </p:cTn>
                              </p:par>
                            </p:childTnLst>
                          </p:cTn>
                        </p:par>
                        <p:par>
                          <p:cTn id="37" fill="hold">
                            <p:stCondLst>
                              <p:cond delay="0"/>
                            </p:stCondLst>
                            <p:childTnLst>
                              <p:par>
                                <p:cTn id="38" presetClass="exit" nodeType="afterEffect" presetSubtype="0" presetID="1" grpId="10" fill="hold">
                                  <p:stCondLst>
                                    <p:cond delay="0"/>
                                  </p:stCondLst>
                                  <p:iterate type="el" backwards="0">
                                    <p:tmAbs val="0"/>
                                  </p:iterate>
                                  <p:childTnLst>
                                    <p:set>
                                      <p:cBhvr>
                                        <p:cTn id="39" fill="hold">
                                          <p:stCondLst>
                                            <p:cond delay="0"/>
                                          </p:stCondLst>
                                        </p:cTn>
                                        <p:tgtEl>
                                          <p:spTgt spid="1103"/>
                                        </p:tgtEl>
                                        <p:attrNameLst>
                                          <p:attrName>style.visibility</p:attrName>
                                        </p:attrNameLst>
                                      </p:cBhvr>
                                      <p:to>
                                        <p:strVal val="hidden"/>
                                      </p:to>
                                    </p:set>
                                  </p:childTnLst>
                                </p:cTn>
                              </p:par>
                            </p:childTnLst>
                          </p:cTn>
                        </p:par>
                        <p:par>
                          <p:cTn id="40" fill="hold">
                            <p:stCondLst>
                              <p:cond delay="0"/>
                            </p:stCondLst>
                            <p:childTnLst>
                              <p:par>
                                <p:cTn id="41" presetClass="path" nodeType="afterEffect" presetSubtype="0" presetID="-1" grpId="11" accel="50000" decel="50000" fill="hold">
                                  <p:stCondLst>
                                    <p:cond delay="0"/>
                                  </p:stCondLst>
                                  <p:childTnLst>
                                    <p:animMotion path="M 0.000000 0.000000 L -0.163542 -0.020370" origin="layout" pathEditMode="relative">
                                      <p:cBhvr>
                                        <p:cTn id="42" dur="1000" fill="hold"/>
                                        <p:tgtEl>
                                          <p:spTgt spid="1105"/>
                                        </p:tgtEl>
                                        <p:attrNameLst>
                                          <p:attrName>ppt_x</p:attrName>
                                          <p:attrName>ppt_y</p:attrName>
                                        </p:attrNameLst>
                                      </p:cBhvr>
                                    </p:animMotion>
                                  </p:childTnLst>
                                </p:cTn>
                              </p:par>
                            </p:childTnLst>
                          </p:cTn>
                        </p:par>
                        <p:par>
                          <p:cTn id="43" fill="hold">
                            <p:stCondLst>
                              <p:cond delay="1000"/>
                            </p:stCondLst>
                            <p:childTnLst>
                              <p:par>
                                <p:cTn id="44" presetClass="exit" nodeType="afterEffect" presetID="10" grpId="12" fill="hold">
                                  <p:stCondLst>
                                    <p:cond delay="0"/>
                                  </p:stCondLst>
                                  <p:iterate type="el" backwards="0">
                                    <p:tmAbs val="0"/>
                                  </p:iterate>
                                  <p:childTnLst>
                                    <p:animEffect filter="fade" transition="out">
                                      <p:cBhvr>
                                        <p:cTn id="45" dur="1000" fill="hold"/>
                                        <p:tgtEl>
                                          <p:spTgt spid="1099"/>
                                        </p:tgtEl>
                                      </p:cBhvr>
                                    </p:animEffect>
                                    <p:set>
                                      <p:cBhvr>
                                        <p:cTn id="46" fill="hold">
                                          <p:stCondLst>
                                            <p:cond delay="999"/>
                                          </p:stCondLst>
                                        </p:cTn>
                                        <p:tgtEl>
                                          <p:spTgt spid="1099"/>
                                        </p:tgtEl>
                                        <p:attrNameLst>
                                          <p:attrName>style.visibility</p:attrName>
                                        </p:attrNameLst>
                                      </p:cBhvr>
                                      <p:to>
                                        <p:strVal val="hidden"/>
                                      </p:to>
                                    </p:set>
                                  </p:childTnLst>
                                </p:cTn>
                              </p:par>
                            </p:childTnLst>
                          </p:cTn>
                        </p:par>
                        <p:par>
                          <p:cTn id="47" fill="hold">
                            <p:stCondLst>
                              <p:cond delay="2000"/>
                            </p:stCondLst>
                            <p:childTnLst>
                              <p:par>
                                <p:cTn id="48" presetClass="exit" nodeType="afterEffect" presetID="10" grpId="13" fill="hold">
                                  <p:stCondLst>
                                    <p:cond delay="0"/>
                                  </p:stCondLst>
                                  <p:iterate type="el" backwards="0">
                                    <p:tmAbs val="0"/>
                                  </p:iterate>
                                  <p:childTnLst>
                                    <p:animEffect filter="fade" transition="out">
                                      <p:cBhvr>
                                        <p:cTn id="49" dur="1000" fill="hold"/>
                                        <p:tgtEl>
                                          <p:spTgt spid="1100"/>
                                        </p:tgtEl>
                                      </p:cBhvr>
                                    </p:animEffect>
                                    <p:set>
                                      <p:cBhvr>
                                        <p:cTn id="50" fill="hold">
                                          <p:stCondLst>
                                            <p:cond delay="999"/>
                                          </p:stCondLst>
                                        </p:cTn>
                                        <p:tgtEl>
                                          <p:spTgt spid="1100"/>
                                        </p:tgtEl>
                                        <p:attrNameLst>
                                          <p:attrName>style.visibility</p:attrName>
                                        </p:attrNameLst>
                                      </p:cBhvr>
                                      <p:to>
                                        <p:strVal val="hidden"/>
                                      </p:to>
                                    </p:set>
                                  </p:childTnLst>
                                </p:cTn>
                              </p:par>
                            </p:childTnLst>
                          </p:cTn>
                        </p:par>
                        <p:par>
                          <p:cTn id="51" fill="hold">
                            <p:stCondLst>
                              <p:cond delay="3000"/>
                            </p:stCondLst>
                            <p:childTnLst>
                              <p:par>
                                <p:cTn id="52" presetClass="exit" nodeType="afterEffect" presetID="10" grpId="14" fill="hold">
                                  <p:stCondLst>
                                    <p:cond delay="0"/>
                                  </p:stCondLst>
                                  <p:iterate type="el" backwards="0">
                                    <p:tmAbs val="0"/>
                                  </p:iterate>
                                  <p:childTnLst>
                                    <p:animEffect filter="fade" transition="out">
                                      <p:cBhvr>
                                        <p:cTn id="53" dur="1000" fill="hold"/>
                                        <p:tgtEl>
                                          <p:spTgt spid="1102"/>
                                        </p:tgtEl>
                                      </p:cBhvr>
                                    </p:animEffect>
                                    <p:set>
                                      <p:cBhvr>
                                        <p:cTn id="54" fill="hold">
                                          <p:stCondLst>
                                            <p:cond delay="999"/>
                                          </p:stCondLst>
                                        </p:cTn>
                                        <p:tgtEl>
                                          <p:spTgt spid="1102"/>
                                        </p:tgtEl>
                                        <p:attrNameLst>
                                          <p:attrName>style.visibility</p:attrName>
                                        </p:attrNameLst>
                                      </p:cBhvr>
                                      <p:to>
                                        <p:strVal val="hidden"/>
                                      </p:to>
                                    </p:set>
                                  </p:childTnLst>
                                </p:cTn>
                              </p:par>
                            </p:childTnLst>
                          </p:cTn>
                        </p:par>
                        <p:par>
                          <p:cTn id="55" fill="hold">
                            <p:stCondLst>
                              <p:cond delay="4000"/>
                            </p:stCondLst>
                            <p:childTnLst>
                              <p:par>
                                <p:cTn id="56" presetClass="exit" nodeType="afterEffect" presetID="10" grpId="15" fill="hold">
                                  <p:stCondLst>
                                    <p:cond delay="0"/>
                                  </p:stCondLst>
                                  <p:iterate type="el" backwards="0">
                                    <p:tmAbs val="0"/>
                                  </p:iterate>
                                  <p:childTnLst>
                                    <p:animEffect filter="fade" transition="out">
                                      <p:cBhvr>
                                        <p:cTn id="57" dur="1000" fill="hold"/>
                                        <p:tgtEl>
                                          <p:spTgt spid="1106"/>
                                        </p:tgtEl>
                                      </p:cBhvr>
                                    </p:animEffect>
                                    <p:set>
                                      <p:cBhvr>
                                        <p:cTn id="58" fill="hold">
                                          <p:stCondLst>
                                            <p:cond delay="999"/>
                                          </p:stCondLst>
                                        </p:cTn>
                                        <p:tgtEl>
                                          <p:spTgt spid="110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99" grpId="12"/>
      <p:bldP build="whole" bldLvl="1" animBg="1" rev="0" advAuto="0" spid="1106" grpId="7"/>
      <p:bldP build="whole" bldLvl="1" animBg="1" rev="0" advAuto="0" spid="1103" grpId="6"/>
      <p:bldP build="whole" bldLvl="1" animBg="1" rev="0" advAuto="0" spid="1102" grpId="5"/>
      <p:bldP build="whole" bldLvl="1" animBg="1" rev="0" advAuto="0" spid="1100" grpId="13"/>
      <p:bldP build="whole" bldLvl="1" animBg="1" rev="0" advAuto="0" spid="1105" grpId="8"/>
      <p:bldP build="whole" bldLvl="1" animBg="1" rev="0" advAuto="0" spid="1104" grpId="9"/>
      <p:bldP build="whole" bldLvl="1" animBg="1" rev="0" advAuto="0" spid="1103" grpId="10"/>
      <p:bldP build="whole" bldLvl="1" animBg="1" rev="0" advAuto="0" spid="1106" grpId="15"/>
      <p:bldP build="whole" bldLvl="1" animBg="1" rev="0" advAuto="0" spid="1101" grpId="4"/>
      <p:bldP build="whole" bldLvl="1" animBg="1" rev="0" advAuto="0" spid="1102" grpId="14"/>
      <p:bldP build="whole" bldLvl="1" animBg="1" rev="0" advAuto="0" spid="1083" grpId="2"/>
      <p:bldP build="whole" bldLvl="1" animBg="1" rev="0" advAuto="0" spid="1100" grpId="3"/>
    </p:bldLst>
  </p:timing>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0"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111"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112"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113" name="Futures: What year is this?"/>
          <p:cNvSpPr txBox="1"/>
          <p:nvPr>
            <p:ph type="title"/>
          </p:nvPr>
        </p:nvSpPr>
        <p:spPr>
          <a:xfrm>
            <a:off x="609600" y="368300"/>
            <a:ext cx="23182917" cy="822325"/>
          </a:xfrm>
          <a:prstGeom prst="rect">
            <a:avLst/>
          </a:prstGeom>
        </p:spPr>
        <p:txBody>
          <a:bodyPr/>
          <a:lstStyle/>
          <a:p>
            <a:pPr>
              <a:defRPr sz="4200"/>
            </a:pPr>
            <a:r>
              <a:t>Futures: </a:t>
            </a:r>
            <a:r>
              <a:t>What year is this?</a:t>
            </a:r>
          </a:p>
        </p:txBody>
      </p:sp>
      <p:sp>
        <p:nvSpPr>
          <p:cNvPr id="1114" name="C++11 (through 17) futures lack:…"/>
          <p:cNvSpPr txBox="1"/>
          <p:nvPr>
            <p:ph type="body" idx="1"/>
          </p:nvPr>
        </p:nvSpPr>
        <p:spPr>
          <a:xfrm>
            <a:off x="609600" y="1941452"/>
            <a:ext cx="23182917" cy="10363201"/>
          </a:xfrm>
          <a:prstGeom prst="rect">
            <a:avLst/>
          </a:prstGeom>
        </p:spPr>
        <p:txBody>
          <a:bodyPr/>
          <a:lstStyle/>
          <a:p>
            <a:pPr/>
            <a:r>
              <a:t>C++11 (through 17) futures lack:</a:t>
            </a:r>
          </a:p>
          <a:p>
            <a:pPr lvl="1"/>
            <a:r>
              <a:t>Continuations - </a:t>
            </a:r>
            <a:r>
              <a:rPr>
                <a:latin typeface="Menlo Regular"/>
                <a:ea typeface="Menlo Regular"/>
                <a:cs typeface="Menlo Regular"/>
                <a:sym typeface="Menlo Regular"/>
              </a:rPr>
              <a:t>.then()</a:t>
            </a:r>
          </a:p>
          <a:p>
            <a:pPr lvl="1"/>
            <a:r>
              <a:t>Joins - </a:t>
            </a:r>
            <a:r>
              <a:rPr>
                <a:latin typeface="Menlo Regular"/>
                <a:ea typeface="Menlo Regular"/>
                <a:cs typeface="Menlo Regular"/>
                <a:sym typeface="Menlo Regular"/>
              </a:rPr>
              <a:t>when_all()</a:t>
            </a:r>
          </a:p>
          <a:p>
            <a:pPr lvl="1"/>
            <a:r>
              <a:t>Split</a:t>
            </a:r>
          </a:p>
          <a:p>
            <a:pPr lvl="1"/>
            <a:r>
              <a:t>Cancelation</a:t>
            </a:r>
          </a:p>
          <a:p>
            <a:pPr lvl="1"/>
            <a:r>
              <a:t>Progress Monitoring (Except Ready)</a:t>
            </a:r>
          </a:p>
          <a:p>
            <a:pPr lvl="1"/>
          </a:p>
          <a:p>
            <a:pPr lvl="1"/>
            <a:r>
              <a:t>And C++11 futures don’t compose (easily) to add these features</a:t>
            </a:r>
          </a:p>
        </p:txBody>
      </p:sp>
      <p:sp>
        <p:nvSpPr>
          <p:cNvPr id="1115" name="Slide Number"/>
          <p:cNvSpPr txBox="1"/>
          <p:nvPr>
            <p:ph type="sldNum" sz="quarter" idx="2"/>
          </p:nvPr>
        </p:nvSpPr>
        <p:spPr>
          <a:xfrm>
            <a:off x="12041666" y="12934946"/>
            <a:ext cx="319736"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116"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0"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121"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122"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123" name="Futures: Continuations"/>
          <p:cNvSpPr txBox="1"/>
          <p:nvPr>
            <p:ph type="title"/>
          </p:nvPr>
        </p:nvSpPr>
        <p:spPr>
          <a:xfrm>
            <a:off x="609600" y="368300"/>
            <a:ext cx="23182917" cy="822325"/>
          </a:xfrm>
          <a:prstGeom prst="rect">
            <a:avLst/>
          </a:prstGeom>
        </p:spPr>
        <p:txBody>
          <a:bodyPr/>
          <a:lstStyle>
            <a:lvl1pPr>
              <a:defRPr sz="4200"/>
            </a:lvl1pPr>
          </a:lstStyle>
          <a:p>
            <a:pPr/>
            <a:r>
              <a:t>Futures: Continuations</a:t>
            </a:r>
          </a:p>
        </p:txBody>
      </p:sp>
      <p:sp>
        <p:nvSpPr>
          <p:cNvPr id="1124" name="Slide Number"/>
          <p:cNvSpPr txBox="1"/>
          <p:nvPr>
            <p:ph type="sldNum" sz="quarter" idx="2"/>
          </p:nvPr>
        </p:nvSpPr>
        <p:spPr>
          <a:xfrm>
            <a:off x="12050912" y="12934946"/>
            <a:ext cx="301245"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125"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pic>
        <p:nvPicPr>
          <p:cNvPr id="1126" name="Image" descr="Image"/>
          <p:cNvPicPr>
            <a:picLocks noChangeAspect="1"/>
          </p:cNvPicPr>
          <p:nvPr/>
        </p:nvPicPr>
        <p:blipFill>
          <a:blip r:embed="rId3">
            <a:extLst/>
          </a:blip>
          <a:stretch>
            <a:fillRect/>
          </a:stretch>
        </p:blipFill>
        <p:spPr>
          <a:xfrm>
            <a:off x="3197247" y="5384800"/>
            <a:ext cx="18034001" cy="2946400"/>
          </a:xfrm>
          <a:prstGeom prst="rect">
            <a:avLst/>
          </a:prstGeom>
          <a:ln w="12700">
            <a:miter lim="400000"/>
          </a:ln>
        </p:spPr>
      </p:pic>
    </p:spTree>
  </p:cSld>
  <p:clrMapOvr>
    <a:masterClrMapping/>
  </p:clrMapOvr>
  <p:transition xmlns:p14="http://schemas.microsoft.com/office/powerpoint/2010/main" spd="fast" advClick="1"/>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8" name="Futures: Continuations"/>
          <p:cNvSpPr txBox="1"/>
          <p:nvPr>
            <p:ph type="title"/>
          </p:nvPr>
        </p:nvSpPr>
        <p:spPr>
          <a:prstGeom prst="rect">
            <a:avLst/>
          </a:prstGeom>
        </p:spPr>
        <p:txBody>
          <a:bodyPr lIns="76200" tIns="76200" rIns="76200" bIns="76200"/>
          <a:lstStyle/>
          <a:p>
            <a:pPr defTabSz="2176581">
              <a:defRPr sz="4200"/>
            </a:pPr>
            <a:r>
              <a:t>Futures: </a:t>
            </a:r>
            <a:r>
              <a:t>Continuations</a:t>
            </a:r>
          </a:p>
        </p:txBody>
      </p:sp>
      <p:sp>
        <p:nvSpPr>
          <p:cNvPr id="1129" name="Blocking on std::future.get() has two problems…"/>
          <p:cNvSpPr txBox="1"/>
          <p:nvPr>
            <p:ph type="body" idx="1"/>
          </p:nvPr>
        </p:nvSpPr>
        <p:spPr>
          <a:xfrm>
            <a:off x="622141" y="2039940"/>
            <a:ext cx="23158769" cy="10363201"/>
          </a:xfrm>
          <a:prstGeom prst="rect">
            <a:avLst/>
          </a:prstGeom>
        </p:spPr>
        <p:txBody>
          <a:bodyPr lIns="76200" tIns="76200" rIns="76200" bIns="76200"/>
          <a:lstStyle/>
          <a:p>
            <a:pPr>
              <a:spcBef>
                <a:spcPts val="1200"/>
              </a:spcBef>
            </a:pPr>
            <a:r>
              <a:t>Blocking on </a:t>
            </a:r>
            <a:r>
              <a:rPr>
                <a:latin typeface="Menlo Regular"/>
                <a:ea typeface="Menlo Regular"/>
                <a:cs typeface="Menlo Regular"/>
                <a:sym typeface="Menlo Regular"/>
              </a:rPr>
              <a:t>std::future.get()</a:t>
            </a:r>
            <a:r>
              <a:t> has two problems</a:t>
            </a:r>
          </a:p>
          <a:p>
            <a:pPr lvl="1">
              <a:spcBef>
                <a:spcPts val="1200"/>
              </a:spcBef>
            </a:pPr>
            <a:r>
              <a:t>One thread resource is consumed, increasing contention</a:t>
            </a:r>
          </a:p>
          <a:p>
            <a:pPr lvl="2" marL="1103407" indent="-551704">
              <a:spcBef>
                <a:spcPts val="1200"/>
              </a:spcBef>
              <a:defRPr sz="4000"/>
            </a:pPr>
            <a:r>
              <a:t>Possibly causing a deadlock in our tasking system!</a:t>
            </a:r>
          </a:p>
          <a:p>
            <a:pPr lvl="1">
              <a:spcBef>
                <a:spcPts val="1200"/>
              </a:spcBef>
            </a:pPr>
            <a:r>
              <a:t>Any subsequent non-dependent calculations on the task are also blocked</a:t>
            </a:r>
          </a:p>
          <a:p>
            <a:pPr lvl="1">
              <a:spcBef>
                <a:spcPts val="1200"/>
              </a:spcBef>
            </a:pPr>
          </a:p>
          <a:p>
            <a:pPr>
              <a:spcBef>
                <a:spcPts val="1200"/>
              </a:spcBef>
            </a:pPr>
            <a:r>
              <a:t>C++17 doesn’t have continuations</a:t>
            </a:r>
          </a:p>
          <a:p>
            <a:pPr lvl="1">
              <a:spcBef>
                <a:spcPts val="1200"/>
              </a:spcBef>
            </a:pPr>
            <a:r>
              <a:t>GCD has serialized queues and groups</a:t>
            </a:r>
          </a:p>
          <a:p>
            <a:pPr lvl="1">
              <a:spcBef>
                <a:spcPts val="1200"/>
              </a:spcBef>
            </a:pPr>
            <a:r>
              <a:t>PPL has chained tasks</a:t>
            </a:r>
          </a:p>
          <a:p>
            <a:pPr lvl="1">
              <a:spcBef>
                <a:spcPts val="1200"/>
              </a:spcBef>
            </a:pPr>
            <a:r>
              <a:t>TBB has flow graphs</a:t>
            </a:r>
          </a:p>
          <a:p>
            <a:pPr lvl="1">
              <a:spcBef>
                <a:spcPts val="1200"/>
              </a:spcBef>
            </a:pPr>
            <a:r>
              <a:t>TS Concurrency has </a:t>
            </a:r>
            <a:r>
              <a:rPr>
                <a:latin typeface="Menlo Regular"/>
                <a:ea typeface="Menlo Regular"/>
                <a:cs typeface="Menlo Regular"/>
                <a:sym typeface="Menlo Regular"/>
              </a:rPr>
              <a:t>.then()</a:t>
            </a:r>
          </a:p>
          <a:p>
            <a:pPr lvl="2" marL="1103407" indent="-551704">
              <a:spcBef>
                <a:spcPts val="1200"/>
              </a:spcBef>
              <a:defRPr sz="4000"/>
            </a:pPr>
            <a:r>
              <a:t>Boost futures have them now</a:t>
            </a:r>
          </a:p>
        </p:txBody>
      </p:sp>
      <p:sp>
        <p:nvSpPr>
          <p:cNvPr id="1130"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2"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133"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134"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135" name="Futures: get() deadlock"/>
          <p:cNvSpPr txBox="1"/>
          <p:nvPr>
            <p:ph type="title"/>
          </p:nvPr>
        </p:nvSpPr>
        <p:spPr>
          <a:xfrm>
            <a:off x="609600" y="368300"/>
            <a:ext cx="23182917" cy="822325"/>
          </a:xfrm>
          <a:prstGeom prst="rect">
            <a:avLst/>
          </a:prstGeom>
        </p:spPr>
        <p:txBody>
          <a:bodyPr/>
          <a:lstStyle>
            <a:lvl1pPr>
              <a:defRPr sz="4200"/>
            </a:lvl1pPr>
          </a:lstStyle>
          <a:p>
            <a:pPr/>
            <a:r>
              <a:t>Futures: get() deadlock</a:t>
            </a:r>
          </a:p>
        </p:txBody>
      </p:sp>
      <p:sp>
        <p:nvSpPr>
          <p:cNvPr id="1136" name="Slide Number"/>
          <p:cNvSpPr txBox="1"/>
          <p:nvPr>
            <p:ph type="sldNum" sz="quarter" idx="2"/>
          </p:nvPr>
        </p:nvSpPr>
        <p:spPr>
          <a:xfrm>
            <a:off x="12045527" y="12934946"/>
            <a:ext cx="312015"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137"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pic>
        <p:nvPicPr>
          <p:cNvPr id="1138" name="Image" descr="Image"/>
          <p:cNvPicPr>
            <a:picLocks noChangeAspect="1"/>
          </p:cNvPicPr>
          <p:nvPr/>
        </p:nvPicPr>
        <p:blipFill>
          <a:blip r:embed="rId3">
            <a:extLst/>
          </a:blip>
          <a:stretch>
            <a:fillRect/>
          </a:stretch>
        </p:blipFill>
        <p:spPr>
          <a:xfrm>
            <a:off x="11249047" y="3055939"/>
            <a:ext cx="1930401" cy="8331201"/>
          </a:xfrm>
          <a:prstGeom prst="rect">
            <a:avLst/>
          </a:prstGeom>
          <a:ln w="12700">
            <a:miter lim="400000"/>
          </a:ln>
        </p:spPr>
      </p:pic>
      <p:pic>
        <p:nvPicPr>
          <p:cNvPr id="1139" name="Image" descr="Image"/>
          <p:cNvPicPr>
            <a:picLocks noChangeAspect="1"/>
          </p:cNvPicPr>
          <p:nvPr/>
        </p:nvPicPr>
        <p:blipFill>
          <a:blip r:embed="rId4">
            <a:extLst/>
          </a:blip>
          <a:stretch>
            <a:fillRect/>
          </a:stretch>
        </p:blipFill>
        <p:spPr>
          <a:xfrm>
            <a:off x="11477647" y="9913939"/>
            <a:ext cx="1473201" cy="1473201"/>
          </a:xfrm>
          <a:prstGeom prst="rect">
            <a:avLst/>
          </a:prstGeom>
          <a:ln w="12700">
            <a:miter lim="400000"/>
          </a:ln>
        </p:spPr>
      </p:pic>
      <p:pic>
        <p:nvPicPr>
          <p:cNvPr id="1140" name="Image" descr="Image"/>
          <p:cNvPicPr>
            <a:picLocks noChangeAspect="1"/>
          </p:cNvPicPr>
          <p:nvPr/>
        </p:nvPicPr>
        <p:blipFill>
          <a:blip r:embed="rId5">
            <a:extLst/>
          </a:blip>
          <a:stretch>
            <a:fillRect/>
          </a:stretch>
        </p:blipFill>
        <p:spPr>
          <a:xfrm>
            <a:off x="9394847" y="6946900"/>
            <a:ext cx="2159001" cy="3860800"/>
          </a:xfrm>
          <a:prstGeom prst="rect">
            <a:avLst/>
          </a:prstGeom>
          <a:ln w="12700">
            <a:miter lim="400000"/>
          </a:ln>
        </p:spPr>
      </p:pic>
      <p:pic>
        <p:nvPicPr>
          <p:cNvPr id="1141" name="droppedImage.pdf" descr="droppedImage.pdf"/>
          <p:cNvPicPr>
            <a:picLocks noChangeAspect="1"/>
          </p:cNvPicPr>
          <p:nvPr/>
        </p:nvPicPr>
        <p:blipFill>
          <a:blip r:embed="rId6">
            <a:extLst/>
          </a:blip>
          <a:stretch>
            <a:fillRect/>
          </a:stretch>
        </p:blipFill>
        <p:spPr>
          <a:xfrm>
            <a:off x="11252200" y="9837739"/>
            <a:ext cx="1930400" cy="1778001"/>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139"/>
                                        </p:tgtEl>
                                        <p:attrNameLst>
                                          <p:attrName>style.visibility</p:attrName>
                                        </p:attrNameLst>
                                      </p:cBhvr>
                                      <p:to>
                                        <p:strVal val="visible"/>
                                      </p:to>
                                    </p:set>
                                  </p:childTnLst>
                                </p:cTn>
                              </p:par>
                            </p:childTnLst>
                          </p:cTn>
                        </p:par>
                        <p:par>
                          <p:cTn id="7" fill="hold">
                            <p:stCondLst>
                              <p:cond delay="0"/>
                            </p:stCondLst>
                            <p:childTnLst>
                              <p:par>
                                <p:cTn id="8" presetClass="path" nodeType="afterEffect" presetSubtype="0" presetID="-1" grpId="2" accel="50000" decel="50000" fill="hold">
                                  <p:stCondLst>
                                    <p:cond delay="0"/>
                                  </p:stCondLst>
                                  <p:childTnLst>
                                    <p:animMotion path="M 0.000000 0.000000 C -0.025110 -0.019160 -0.047830 -0.046888 -0.066910 -0.081662 C -0.118129 -0.175008 -0.139567 -0.298883 -0.122127 -0.411846 C -0.106775 -0.511284 -0.061971 -0.593453 0.000142 -0.617040 L -0.000912 -0.276505" origin="layout" pathEditMode="relative">
                                      <p:cBhvr>
                                        <p:cTn id="9" dur="2000" fill="hold"/>
                                        <p:tgtEl>
                                          <p:spTgt spid="1139"/>
                                        </p:tgtEl>
                                        <p:attrNameLst>
                                          <p:attrName>ppt_x</p:attrName>
                                          <p:attrName>ppt_y</p:attrName>
                                        </p:attrNameLst>
                                      </p:cBhvr>
                                    </p:animMotion>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3" fill="hold">
                                  <p:stCondLst>
                                    <p:cond delay="0"/>
                                  </p:stCondLst>
                                  <p:iterate type="el" backwards="0">
                                    <p:tmAbs val="0"/>
                                  </p:iterate>
                                  <p:childTnLst>
                                    <p:set>
                                      <p:cBhvr>
                                        <p:cTn id="13" fill="hold"/>
                                        <p:tgtEl>
                                          <p:spTgt spid="1140"/>
                                        </p:tgtEl>
                                        <p:attrNameLst>
                                          <p:attrName>style.visibility</p:attrName>
                                        </p:attrNameLst>
                                      </p:cBhvr>
                                      <p:to>
                                        <p:strVal val="visible"/>
                                      </p:to>
                                    </p:set>
                                  </p:childTnLst>
                                </p:cTn>
                              </p:par>
                            </p:childTnLst>
                          </p:cTn>
                        </p:par>
                        <p:par>
                          <p:cTn id="14" fill="hold">
                            <p:stCondLst>
                              <p:cond delay="0"/>
                            </p:stCondLst>
                            <p:childTnLst>
                              <p:par>
                                <p:cTn id="15" presetClass="entr" nodeType="afterEffect" presetSubtype="32" presetID="23" grpId="4" fill="hold">
                                  <p:stCondLst>
                                    <p:cond delay="0"/>
                                  </p:stCondLst>
                                  <p:iterate type="el" backwards="0">
                                    <p:tmAbs val="0"/>
                                  </p:iterate>
                                  <p:childTnLst>
                                    <p:set>
                                      <p:cBhvr>
                                        <p:cTn id="16" fill="hold"/>
                                        <p:tgtEl>
                                          <p:spTgt spid="1141"/>
                                        </p:tgtEl>
                                        <p:attrNameLst>
                                          <p:attrName>style.visibility</p:attrName>
                                        </p:attrNameLst>
                                      </p:cBhvr>
                                      <p:to>
                                        <p:strVal val="visible"/>
                                      </p:to>
                                    </p:set>
                                    <p:anim calcmode="lin" valueType="num">
                                      <p:cBhvr>
                                        <p:cTn id="17" dur="1000" fill="hold"/>
                                        <p:tgtEl>
                                          <p:spTgt spid="1141"/>
                                        </p:tgtEl>
                                        <p:attrNameLst>
                                          <p:attrName>ppt_w</p:attrName>
                                        </p:attrNameLst>
                                      </p:cBhvr>
                                      <p:tavLst>
                                        <p:tav tm="0">
                                          <p:val>
                                            <p:strVal val="4*#ppt_w"/>
                                          </p:val>
                                        </p:tav>
                                        <p:tav tm="100000">
                                          <p:val>
                                            <p:strVal val="#ppt_w"/>
                                          </p:val>
                                        </p:tav>
                                      </p:tavLst>
                                    </p:anim>
                                    <p:anim calcmode="lin" valueType="num">
                                      <p:cBhvr>
                                        <p:cTn id="18" dur="1000" fill="hold"/>
                                        <p:tgtEl>
                                          <p:spTgt spid="1141"/>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41" grpId="4"/>
      <p:bldP build="whole" bldLvl="1" animBg="1" rev="0" advAuto="0" spid="1139" grpId="1"/>
      <p:bldP build="whole" bldLvl="1" animBg="1" rev="0" advAuto="0" spid="1140" grpId="3"/>
    </p:bldLst>
  </p:timing>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43" name="Image" descr="Image"/>
          <p:cNvPicPr>
            <a:picLocks noChangeAspect="1"/>
          </p:cNvPicPr>
          <p:nvPr/>
        </p:nvPicPr>
        <p:blipFill>
          <a:blip r:embed="rId2">
            <a:extLst/>
          </a:blip>
          <a:stretch>
            <a:fillRect/>
          </a:stretch>
        </p:blipFill>
        <p:spPr>
          <a:xfrm>
            <a:off x="13634897" y="2986573"/>
            <a:ext cx="1930401" cy="6273801"/>
          </a:xfrm>
          <a:prstGeom prst="rect">
            <a:avLst/>
          </a:prstGeom>
          <a:ln w="12700">
            <a:miter lim="400000"/>
          </a:ln>
        </p:spPr>
      </p:pic>
      <p:sp>
        <p:nvSpPr>
          <p:cNvPr id="1144"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145"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146"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147" name="Futures: get() deadlock"/>
          <p:cNvSpPr txBox="1"/>
          <p:nvPr>
            <p:ph type="title"/>
          </p:nvPr>
        </p:nvSpPr>
        <p:spPr>
          <a:xfrm>
            <a:off x="609600" y="368300"/>
            <a:ext cx="23182917" cy="822325"/>
          </a:xfrm>
          <a:prstGeom prst="rect">
            <a:avLst/>
          </a:prstGeom>
        </p:spPr>
        <p:txBody>
          <a:bodyPr/>
          <a:lstStyle>
            <a:lvl1pPr>
              <a:defRPr sz="4200"/>
            </a:lvl1pPr>
          </a:lstStyle>
          <a:p>
            <a:pPr/>
            <a:r>
              <a:t>Futures: get() deadlock</a:t>
            </a:r>
          </a:p>
        </p:txBody>
      </p:sp>
      <p:sp>
        <p:nvSpPr>
          <p:cNvPr id="1148" name="Slide Number"/>
          <p:cNvSpPr txBox="1"/>
          <p:nvPr>
            <p:ph type="sldNum" sz="quarter" idx="2"/>
          </p:nvPr>
        </p:nvSpPr>
        <p:spPr>
          <a:xfrm>
            <a:off x="12036993" y="12934946"/>
            <a:ext cx="329083"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149"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pic>
        <p:nvPicPr>
          <p:cNvPr id="1150" name="Image" descr="Image"/>
          <p:cNvPicPr>
            <a:picLocks noChangeAspect="1"/>
          </p:cNvPicPr>
          <p:nvPr/>
        </p:nvPicPr>
        <p:blipFill>
          <a:blip r:embed="rId4">
            <a:extLst/>
          </a:blip>
          <a:stretch>
            <a:fillRect/>
          </a:stretch>
        </p:blipFill>
        <p:spPr>
          <a:xfrm>
            <a:off x="8468924" y="2986573"/>
            <a:ext cx="1930401" cy="8331201"/>
          </a:xfrm>
          <a:prstGeom prst="rect">
            <a:avLst/>
          </a:prstGeom>
          <a:ln w="12700">
            <a:miter lim="400000"/>
          </a:ln>
        </p:spPr>
      </p:pic>
      <p:pic>
        <p:nvPicPr>
          <p:cNvPr id="1151" name="Image" descr="Image"/>
          <p:cNvPicPr>
            <a:picLocks noChangeAspect="1"/>
          </p:cNvPicPr>
          <p:nvPr/>
        </p:nvPicPr>
        <p:blipFill>
          <a:blip r:embed="rId5">
            <a:extLst/>
          </a:blip>
          <a:stretch>
            <a:fillRect/>
          </a:stretch>
        </p:blipFill>
        <p:spPr>
          <a:xfrm>
            <a:off x="8697524" y="9844574"/>
            <a:ext cx="1473201" cy="1473201"/>
          </a:xfrm>
          <a:prstGeom prst="rect">
            <a:avLst/>
          </a:prstGeom>
          <a:ln w="12700">
            <a:miter lim="400000"/>
          </a:ln>
        </p:spPr>
      </p:pic>
      <p:pic>
        <p:nvPicPr>
          <p:cNvPr id="1152" name="Image" descr="Image"/>
          <p:cNvPicPr>
            <a:picLocks noChangeAspect="1"/>
          </p:cNvPicPr>
          <p:nvPr/>
        </p:nvPicPr>
        <p:blipFill>
          <a:blip r:embed="rId6">
            <a:extLst/>
          </a:blip>
          <a:stretch>
            <a:fillRect/>
          </a:stretch>
        </p:blipFill>
        <p:spPr>
          <a:xfrm>
            <a:off x="6614724" y="6877534"/>
            <a:ext cx="2159001" cy="3860801"/>
          </a:xfrm>
          <a:prstGeom prst="rect">
            <a:avLst/>
          </a:prstGeom>
          <a:ln w="12700">
            <a:miter lim="400000"/>
          </a:ln>
        </p:spPr>
      </p:pic>
      <p:pic>
        <p:nvPicPr>
          <p:cNvPr id="1153" name="droppedImage.pdf" descr="droppedImage.pdf"/>
          <p:cNvPicPr>
            <a:picLocks noChangeAspect="1"/>
          </p:cNvPicPr>
          <p:nvPr/>
        </p:nvPicPr>
        <p:blipFill>
          <a:blip r:embed="rId7">
            <a:extLst/>
          </a:blip>
          <a:stretch>
            <a:fillRect/>
          </a:stretch>
        </p:blipFill>
        <p:spPr>
          <a:xfrm>
            <a:off x="8472076" y="9768374"/>
            <a:ext cx="1930401" cy="1778001"/>
          </a:xfrm>
          <a:prstGeom prst="rect">
            <a:avLst/>
          </a:prstGeom>
          <a:ln w="12700">
            <a:miter lim="400000"/>
          </a:ln>
        </p:spPr>
      </p:pic>
      <p:pic>
        <p:nvPicPr>
          <p:cNvPr id="1154" name="Image" descr="Image"/>
          <p:cNvPicPr>
            <a:picLocks noChangeAspect="1"/>
          </p:cNvPicPr>
          <p:nvPr/>
        </p:nvPicPr>
        <p:blipFill>
          <a:blip r:embed="rId5">
            <a:extLst/>
          </a:blip>
          <a:stretch>
            <a:fillRect/>
          </a:stretch>
        </p:blipFill>
        <p:spPr>
          <a:xfrm>
            <a:off x="8697524" y="9799639"/>
            <a:ext cx="1473201" cy="1473201"/>
          </a:xfrm>
          <a:prstGeom prst="rect">
            <a:avLst/>
          </a:prstGeom>
          <a:ln w="12700">
            <a:miter lim="400000"/>
          </a:ln>
        </p:spPr>
      </p:pic>
      <p:pic>
        <p:nvPicPr>
          <p:cNvPr id="1155" name="Image" descr="Image"/>
          <p:cNvPicPr>
            <a:picLocks noChangeAspect="1"/>
          </p:cNvPicPr>
          <p:nvPr/>
        </p:nvPicPr>
        <p:blipFill>
          <a:blip r:embed="rId4">
            <a:extLst/>
          </a:blip>
          <a:stretch>
            <a:fillRect/>
          </a:stretch>
        </p:blipFill>
        <p:spPr>
          <a:xfrm>
            <a:off x="13634897" y="2986573"/>
            <a:ext cx="1930401" cy="8331201"/>
          </a:xfrm>
          <a:prstGeom prst="rect">
            <a:avLst/>
          </a:prstGeom>
          <a:ln w="12700">
            <a:miter lim="400000"/>
          </a:ln>
        </p:spPr>
      </p:pic>
      <p:pic>
        <p:nvPicPr>
          <p:cNvPr id="1156" name="Image" descr="Image"/>
          <p:cNvPicPr>
            <a:picLocks noChangeAspect="1"/>
          </p:cNvPicPr>
          <p:nvPr/>
        </p:nvPicPr>
        <p:blipFill>
          <a:blip r:embed="rId5">
            <a:extLst/>
          </a:blip>
          <a:stretch>
            <a:fillRect/>
          </a:stretch>
        </p:blipFill>
        <p:spPr>
          <a:xfrm>
            <a:off x="13863497" y="9799639"/>
            <a:ext cx="1473201" cy="1473201"/>
          </a:xfrm>
          <a:prstGeom prst="rect">
            <a:avLst/>
          </a:prstGeom>
          <a:ln w="12700">
            <a:miter lim="400000"/>
          </a:ln>
        </p:spPr>
      </p:pic>
      <p:pic>
        <p:nvPicPr>
          <p:cNvPr id="1157" name="droppedImage.pdf" descr="droppedImage.pdf"/>
          <p:cNvPicPr>
            <a:picLocks noChangeAspect="1"/>
          </p:cNvPicPr>
          <p:nvPr/>
        </p:nvPicPr>
        <p:blipFill>
          <a:blip r:embed="rId7">
            <a:extLst/>
          </a:blip>
          <a:stretch>
            <a:fillRect/>
          </a:stretch>
        </p:blipFill>
        <p:spPr>
          <a:xfrm>
            <a:off x="13638051" y="9723439"/>
            <a:ext cx="1930401" cy="1778001"/>
          </a:xfrm>
          <a:prstGeom prst="rect">
            <a:avLst/>
          </a:prstGeom>
          <a:ln w="12700">
            <a:miter lim="400000"/>
          </a:ln>
        </p:spPr>
      </p:pic>
      <p:pic>
        <p:nvPicPr>
          <p:cNvPr id="1158" name="Image" descr="Image"/>
          <p:cNvPicPr>
            <a:picLocks noChangeAspect="1"/>
          </p:cNvPicPr>
          <p:nvPr/>
        </p:nvPicPr>
        <p:blipFill>
          <a:blip r:embed="rId6">
            <a:extLst/>
          </a:blip>
          <a:stretch>
            <a:fillRect/>
          </a:stretch>
        </p:blipFill>
        <p:spPr>
          <a:xfrm>
            <a:off x="11780697" y="6832600"/>
            <a:ext cx="2159001" cy="3860800"/>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151"/>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154"/>
                                        </p:tgtEl>
                                        <p:attrNameLst>
                                          <p:attrName>style.visibility</p:attrName>
                                        </p:attrNameLst>
                                      </p:cBhvr>
                                      <p:to>
                                        <p:strVal val="visible"/>
                                      </p:to>
                                    </p:set>
                                  </p:childTnLst>
                                </p:cTn>
                              </p:par>
                            </p:childTnLst>
                          </p:cTn>
                        </p:par>
                        <p:par>
                          <p:cTn id="10" fill="hold">
                            <p:stCondLst>
                              <p:cond delay="0"/>
                            </p:stCondLst>
                            <p:childTnLst>
                              <p:par>
                                <p:cTn id="11" presetClass="path" nodeType="afterEffect" presetSubtype="0" presetID="-1" grpId="3" accel="50000" decel="50000" fill="hold">
                                  <p:stCondLst>
                                    <p:cond delay="0"/>
                                  </p:stCondLst>
                                  <p:childTnLst>
                                    <p:animMotion path="M 0.000000 0.000000 C -0.025110 -0.019160 -0.047830 -0.046888 -0.066910 -0.081662 C -0.118129 -0.175008 -0.139567 -0.298883 -0.122127 -0.411846 C -0.106775 -0.511284 -0.061971 -0.593453 0.000142 -0.617040 L -0.000912 -0.276505" origin="layout" pathEditMode="relative">
                                      <p:cBhvr>
                                        <p:cTn id="12" dur="2000" fill="hold"/>
                                        <p:tgtEl>
                                          <p:spTgt spid="1151"/>
                                        </p:tgtEl>
                                        <p:attrNameLst>
                                          <p:attrName>ppt_x</p:attrName>
                                          <p:attrName>ppt_y</p:attrName>
                                        </p:attrNameLst>
                                      </p:cBhvr>
                                    </p:animMotion>
                                  </p:childTnLst>
                                </p:cTn>
                              </p:par>
                            </p:childTnLst>
                          </p:cTn>
                        </p:par>
                        <p:par>
                          <p:cTn id="13" fill="hold">
                            <p:stCondLst>
                              <p:cond delay="0"/>
                            </p:stCondLst>
                            <p:childTnLst>
                              <p:par>
                                <p:cTn id="14" presetClass="path" nodeType="withEffect" presetSubtype="0" presetID="-1" grpId="4" accel="50000" decel="50000" fill="hold">
                                  <p:stCondLst>
                                    <p:cond delay="0"/>
                                  </p:stCondLst>
                                  <p:childTnLst>
                                    <p:animMotion path="M 0.000000 0.000000 C 0.032144 0.003962 0.063126 -0.022140 0.081755 -0.068878 C 0.142420 -0.221081 0.031131 -0.486110 0.134841 -0.601045 C 0.157879 -0.626576 0.186866 -0.628074 0.210699 -0.604965 L 0.211859 0.000000" origin="layout" pathEditMode="relative">
                                      <p:cBhvr>
                                        <p:cTn id="15" dur="2000" fill="hold"/>
                                        <p:tgtEl>
                                          <p:spTgt spid="1154"/>
                                        </p:tgtEl>
                                        <p:attrNameLst>
                                          <p:attrName>ppt_x</p:attrName>
                                          <p:attrName>ppt_y</p:attrName>
                                        </p:attrNameLst>
                                      </p:cBhvr>
                                    </p:animMotion>
                                  </p:childTnLst>
                                </p:cTn>
                              </p:par>
                            </p:childTnLst>
                          </p:cTn>
                        </p:par>
                        <p:par>
                          <p:cTn id="16" fill="hold">
                            <p:stCondLst>
                              <p:cond delay="2000"/>
                            </p:stCondLst>
                            <p:childTnLst>
                              <p:par>
                                <p:cTn id="17" presetClass="exit" nodeType="afterEffect" presetSubtype="0" presetID="1" grpId="5" fill="hold">
                                  <p:stCondLst>
                                    <p:cond delay="0"/>
                                  </p:stCondLst>
                                  <p:iterate type="el" backwards="0">
                                    <p:tmAbs val="0"/>
                                  </p:iterate>
                                  <p:childTnLst>
                                    <p:set>
                                      <p:cBhvr>
                                        <p:cTn id="18" fill="hold">
                                          <p:stCondLst>
                                            <p:cond delay="0"/>
                                          </p:stCondLst>
                                        </p:cTn>
                                        <p:tgtEl>
                                          <p:spTgt spid="1154"/>
                                        </p:tgtEl>
                                        <p:attrNameLst>
                                          <p:attrName>style.visibility</p:attrName>
                                        </p:attrNameLst>
                                      </p:cBhvr>
                                      <p:to>
                                        <p:strVal val="hidden"/>
                                      </p:to>
                                    </p:set>
                                  </p:childTnLst>
                                </p:cTn>
                              </p:par>
                            </p:childTnLst>
                          </p:cTn>
                        </p:par>
                        <p:par>
                          <p:cTn id="19" fill="hold">
                            <p:stCondLst>
                              <p:cond delay="2000"/>
                            </p:stCondLst>
                            <p:childTnLst>
                              <p:par>
                                <p:cTn id="20" presetClass="entr" nodeType="afterEffect" presetSubtype="0" presetID="1" grpId="6" fill="hold">
                                  <p:stCondLst>
                                    <p:cond delay="0"/>
                                  </p:stCondLst>
                                  <p:iterate type="el" backwards="0">
                                    <p:tmAbs val="0"/>
                                  </p:iterate>
                                  <p:childTnLst>
                                    <p:set>
                                      <p:cBhvr>
                                        <p:cTn id="21" fill="hold"/>
                                        <p:tgtEl>
                                          <p:spTgt spid="115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0" presetID="1" grpId="7" fill="hold">
                                  <p:stCondLst>
                                    <p:cond delay="0"/>
                                  </p:stCondLst>
                                  <p:iterate type="el" backwards="0">
                                    <p:tmAbs val="0"/>
                                  </p:iterate>
                                  <p:childTnLst>
                                    <p:set>
                                      <p:cBhvr>
                                        <p:cTn id="25" fill="hold"/>
                                        <p:tgtEl>
                                          <p:spTgt spid="1152"/>
                                        </p:tgtEl>
                                        <p:attrNameLst>
                                          <p:attrName>style.visibility</p:attrName>
                                        </p:attrNameLst>
                                      </p:cBhvr>
                                      <p:to>
                                        <p:strVal val="visible"/>
                                      </p:to>
                                    </p:set>
                                  </p:childTnLst>
                                </p:cTn>
                              </p:par>
                            </p:childTnLst>
                          </p:cTn>
                        </p:par>
                        <p:par>
                          <p:cTn id="26" fill="hold">
                            <p:stCondLst>
                              <p:cond delay="0"/>
                            </p:stCondLst>
                            <p:childTnLst>
                              <p:par>
                                <p:cTn id="27" presetClass="entr" nodeType="afterEffect" presetSubtype="32" presetID="23" grpId="8" fill="hold">
                                  <p:stCondLst>
                                    <p:cond delay="0"/>
                                  </p:stCondLst>
                                  <p:iterate type="el" backwards="0">
                                    <p:tmAbs val="0"/>
                                  </p:iterate>
                                  <p:childTnLst>
                                    <p:set>
                                      <p:cBhvr>
                                        <p:cTn id="28" fill="hold"/>
                                        <p:tgtEl>
                                          <p:spTgt spid="1153"/>
                                        </p:tgtEl>
                                        <p:attrNameLst>
                                          <p:attrName>style.visibility</p:attrName>
                                        </p:attrNameLst>
                                      </p:cBhvr>
                                      <p:to>
                                        <p:strVal val="visible"/>
                                      </p:to>
                                    </p:set>
                                    <p:anim calcmode="lin" valueType="num">
                                      <p:cBhvr>
                                        <p:cTn id="29" dur="1000" fill="hold"/>
                                        <p:tgtEl>
                                          <p:spTgt spid="1153"/>
                                        </p:tgtEl>
                                        <p:attrNameLst>
                                          <p:attrName>ppt_w</p:attrName>
                                        </p:attrNameLst>
                                      </p:cBhvr>
                                      <p:tavLst>
                                        <p:tav tm="0">
                                          <p:val>
                                            <p:strVal val="4*#ppt_w"/>
                                          </p:val>
                                        </p:tav>
                                        <p:tav tm="100000">
                                          <p:val>
                                            <p:strVal val="#ppt_w"/>
                                          </p:val>
                                        </p:tav>
                                      </p:tavLst>
                                    </p:anim>
                                    <p:anim calcmode="lin" valueType="num">
                                      <p:cBhvr>
                                        <p:cTn id="30" dur="1000" fill="hold"/>
                                        <p:tgtEl>
                                          <p:spTgt spid="1153"/>
                                        </p:tgtEl>
                                        <p:attrNameLst>
                                          <p:attrName>ppt_h</p:attrName>
                                        </p:attrNameLst>
                                      </p:cBhvr>
                                      <p:tavLst>
                                        <p:tav tm="0">
                                          <p:val>
                                            <p:strVal val="4*#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0" presetID="1" grpId="9" fill="hold">
                                  <p:stCondLst>
                                    <p:cond delay="0"/>
                                  </p:stCondLst>
                                  <p:iterate type="el" backwards="0">
                                    <p:tmAbs val="0"/>
                                  </p:iterate>
                                  <p:childTnLst>
                                    <p:set>
                                      <p:cBhvr>
                                        <p:cTn id="34" fill="hold"/>
                                        <p:tgtEl>
                                          <p:spTgt spid="1156"/>
                                        </p:tgtEl>
                                        <p:attrNameLst>
                                          <p:attrName>style.visibility</p:attrName>
                                        </p:attrNameLst>
                                      </p:cBhvr>
                                      <p:to>
                                        <p:strVal val="visible"/>
                                      </p:to>
                                    </p:set>
                                  </p:childTnLst>
                                </p:cTn>
                              </p:par>
                            </p:childTnLst>
                          </p:cTn>
                        </p:par>
                        <p:par>
                          <p:cTn id="35" fill="hold">
                            <p:stCondLst>
                              <p:cond delay="0"/>
                            </p:stCondLst>
                            <p:childTnLst>
                              <p:par>
                                <p:cTn id="36" presetClass="path" nodeType="afterEffect" presetSubtype="0" presetID="-1" grpId="10" accel="50000" decel="50000" fill="hold">
                                  <p:stCondLst>
                                    <p:cond delay="0"/>
                                  </p:stCondLst>
                                  <p:childTnLst>
                                    <p:animMotion path="M 0.000000 0.000000 C -0.025110 -0.019160 -0.047830 -0.046888 -0.066910 -0.081662 C -0.118129 -0.175008 -0.139567 -0.298883 -0.122127 -0.411846 C -0.106775 -0.511284 -0.061971 -0.593453 0.000142 -0.617040 L -0.000912 -0.276505" origin="layout" pathEditMode="relative">
                                      <p:cBhvr>
                                        <p:cTn id="37" dur="2000" fill="hold"/>
                                        <p:tgtEl>
                                          <p:spTgt spid="1156"/>
                                        </p:tgtEl>
                                        <p:attrNameLst>
                                          <p:attrName>ppt_x</p:attrName>
                                          <p:attrName>ppt_y</p:attrName>
                                        </p:attrNameLst>
                                      </p:cBhvr>
                                    </p:animMotion>
                                  </p:childTnLst>
                                </p:cTn>
                              </p:par>
                            </p:childTnLst>
                          </p:cTn>
                        </p:par>
                      </p:childTnLst>
                    </p:cTn>
                  </p:par>
                  <p:par>
                    <p:cTn id="38" fill="hold">
                      <p:stCondLst>
                        <p:cond delay="indefinite"/>
                      </p:stCondLst>
                      <p:childTnLst>
                        <p:par>
                          <p:cTn id="39" fill="hold">
                            <p:stCondLst>
                              <p:cond delay="0"/>
                            </p:stCondLst>
                            <p:childTnLst>
                              <p:par>
                                <p:cTn id="40" presetClass="entr" nodeType="clickEffect" presetSubtype="0" presetID="1" grpId="11" fill="hold">
                                  <p:stCondLst>
                                    <p:cond delay="0"/>
                                  </p:stCondLst>
                                  <p:iterate type="el" backwards="0">
                                    <p:tmAbs val="0"/>
                                  </p:iterate>
                                  <p:childTnLst>
                                    <p:set>
                                      <p:cBhvr>
                                        <p:cTn id="41" fill="hold"/>
                                        <p:tgtEl>
                                          <p:spTgt spid="1158"/>
                                        </p:tgtEl>
                                        <p:attrNameLst>
                                          <p:attrName>style.visibility</p:attrName>
                                        </p:attrNameLst>
                                      </p:cBhvr>
                                      <p:to>
                                        <p:strVal val="visible"/>
                                      </p:to>
                                    </p:set>
                                  </p:childTnLst>
                                </p:cTn>
                              </p:par>
                            </p:childTnLst>
                          </p:cTn>
                        </p:par>
                        <p:par>
                          <p:cTn id="42" fill="hold">
                            <p:stCondLst>
                              <p:cond delay="0"/>
                            </p:stCondLst>
                            <p:childTnLst>
                              <p:par>
                                <p:cTn id="43" presetClass="entr" nodeType="afterEffect" presetSubtype="32" presetID="23" grpId="12" fill="hold">
                                  <p:stCondLst>
                                    <p:cond delay="0"/>
                                  </p:stCondLst>
                                  <p:iterate type="el" backwards="0">
                                    <p:tmAbs val="0"/>
                                  </p:iterate>
                                  <p:childTnLst>
                                    <p:set>
                                      <p:cBhvr>
                                        <p:cTn id="44" fill="hold"/>
                                        <p:tgtEl>
                                          <p:spTgt spid="1157"/>
                                        </p:tgtEl>
                                        <p:attrNameLst>
                                          <p:attrName>style.visibility</p:attrName>
                                        </p:attrNameLst>
                                      </p:cBhvr>
                                      <p:to>
                                        <p:strVal val="visible"/>
                                      </p:to>
                                    </p:set>
                                    <p:anim calcmode="lin" valueType="num">
                                      <p:cBhvr>
                                        <p:cTn id="45" dur="1000" fill="hold"/>
                                        <p:tgtEl>
                                          <p:spTgt spid="1157"/>
                                        </p:tgtEl>
                                        <p:attrNameLst>
                                          <p:attrName>ppt_w</p:attrName>
                                        </p:attrNameLst>
                                      </p:cBhvr>
                                      <p:tavLst>
                                        <p:tav tm="0">
                                          <p:val>
                                            <p:strVal val="4*#ppt_w"/>
                                          </p:val>
                                        </p:tav>
                                        <p:tav tm="100000">
                                          <p:val>
                                            <p:strVal val="#ppt_w"/>
                                          </p:val>
                                        </p:tav>
                                      </p:tavLst>
                                    </p:anim>
                                    <p:anim calcmode="lin" valueType="num">
                                      <p:cBhvr>
                                        <p:cTn id="46" dur="1000" fill="hold"/>
                                        <p:tgtEl>
                                          <p:spTgt spid="1157"/>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56" grpId="9"/>
      <p:bldP build="whole" bldLvl="1" animBg="1" rev="0" advAuto="0" spid="1152" grpId="7"/>
      <p:bldP build="whole" bldLvl="1" animBg="1" rev="0" advAuto="0" spid="1151" grpId="1"/>
      <p:bldP build="whole" bldLvl="1" animBg="1" rev="0" advAuto="0" spid="1154" grpId="5"/>
      <p:bldP build="whole" bldLvl="1" animBg="1" rev="0" advAuto="0" spid="1154" grpId="2"/>
      <p:bldP build="whole" bldLvl="1" animBg="1" rev="0" advAuto="0" spid="1157" grpId="12"/>
      <p:bldP build="whole" bldLvl="1" animBg="1" rev="0" advAuto="0" spid="1158" grpId="11"/>
      <p:bldP build="whole" bldLvl="1" animBg="1" rev="0" advAuto="0" spid="1155" grpId="6"/>
      <p:bldP build="whole" bldLvl="1" animBg="1" rev="0" advAuto="0" spid="1153" grpId="8"/>
    </p:bldLst>
  </p:timing>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0" name="Futures: Continuations"/>
          <p:cNvSpPr txBox="1"/>
          <p:nvPr>
            <p:ph type="title"/>
          </p:nvPr>
        </p:nvSpPr>
        <p:spPr>
          <a:prstGeom prst="rect">
            <a:avLst/>
          </a:prstGeom>
        </p:spPr>
        <p:txBody>
          <a:bodyPr lIns="76200" tIns="76200" rIns="76200" bIns="76200"/>
          <a:lstStyle/>
          <a:p>
            <a:pPr defTabSz="2176581">
              <a:defRPr sz="4200"/>
            </a:pPr>
            <a:r>
              <a:t>Futures: </a:t>
            </a:r>
            <a:r>
              <a:t>Continuations</a:t>
            </a:r>
          </a:p>
        </p:txBody>
      </p:sp>
      <p:sp>
        <p:nvSpPr>
          <p:cNvPr id="1161" name="Blocking on std::future.get()…"/>
          <p:cNvSpPr txBox="1"/>
          <p:nvPr>
            <p:ph type="body" idx="1"/>
          </p:nvPr>
        </p:nvSpPr>
        <p:spPr>
          <a:xfrm>
            <a:off x="622141" y="2039940"/>
            <a:ext cx="23158769" cy="10363201"/>
          </a:xfrm>
          <a:prstGeom prst="rect">
            <a:avLst/>
          </a:prstGeom>
        </p:spPr>
        <p:txBody>
          <a:bodyPr lIns="76200" tIns="76200" rIns="76200" bIns="76200"/>
          <a:lstStyle/>
          <a:p>
            <a:pPr>
              <a:spcBef>
                <a:spcPts val="1200"/>
              </a:spcBef>
            </a:pPr>
            <a:r>
              <a:t>Blocking on </a:t>
            </a:r>
            <a:r>
              <a:rPr>
                <a:latin typeface="Menlo Regular"/>
                <a:ea typeface="Menlo Regular"/>
                <a:cs typeface="Menlo Regular"/>
                <a:sym typeface="Menlo Regular"/>
              </a:rPr>
              <a:t>std::future.get()</a:t>
            </a:r>
          </a:p>
          <a:p>
            <a:pPr lvl="1">
              <a:spcBef>
                <a:spcPts val="1200"/>
              </a:spcBef>
            </a:pPr>
            <a:r>
              <a:t>Very difficult to use safely with a thread pool</a:t>
            </a:r>
          </a:p>
          <a:p>
            <a:pPr lvl="1">
              <a:spcBef>
                <a:spcPts val="1200"/>
              </a:spcBef>
            </a:pPr>
            <a:r>
              <a:t>C++11 allows </a:t>
            </a:r>
            <a:r>
              <a:rPr>
                <a:latin typeface="Menlo Regular"/>
                <a:ea typeface="Menlo Regular"/>
                <a:cs typeface="Menlo Regular"/>
                <a:sym typeface="Menlo Regular"/>
              </a:rPr>
              <a:t>std::async()</a:t>
            </a:r>
            <a:r>
              <a:t> to use a thread pool</a:t>
            </a:r>
          </a:p>
          <a:p>
            <a:pPr lvl="2" marL="1103407" indent="-551704">
              <a:spcBef>
                <a:spcPts val="1200"/>
              </a:spcBef>
              <a:defRPr sz="4000"/>
            </a:pPr>
            <a:r>
              <a:t>But the futures must contain a task stealing </a:t>
            </a:r>
            <a:r>
              <a:rPr>
                <a:latin typeface="Menlo Regular"/>
                <a:ea typeface="Menlo Regular"/>
                <a:cs typeface="Menlo Regular"/>
                <a:sym typeface="Menlo Regular"/>
              </a:rPr>
              <a:t>get()</a:t>
            </a:r>
            <a:r>
              <a:t> operation to make this work</a:t>
            </a:r>
          </a:p>
          <a:p>
            <a:pPr lvl="2" marL="1103407" indent="-551704">
              <a:spcBef>
                <a:spcPts val="1200"/>
              </a:spcBef>
              <a:defRPr sz="4000"/>
            </a:pPr>
            <a:r>
              <a:t>You cannot create an </a:t>
            </a:r>
            <a:r>
              <a:rPr>
                <a:latin typeface="Menlo Regular"/>
                <a:ea typeface="Menlo Regular"/>
                <a:cs typeface="Menlo Regular"/>
                <a:sym typeface="Menlo Regular"/>
              </a:rPr>
              <a:t>std::future(</a:t>
            </a:r>
            <a:r>
              <a:t>) with this attribute except with </a:t>
            </a:r>
            <a:r>
              <a:rPr>
                <a:latin typeface="Menlo Regular"/>
                <a:ea typeface="Menlo Regular"/>
                <a:cs typeface="Menlo Regular"/>
                <a:sym typeface="Menlo Regular"/>
              </a:rPr>
              <a:t>std::async() </a:t>
            </a:r>
          </a:p>
          <a:p>
            <a:pPr lvl="1">
              <a:spcBef>
                <a:spcPts val="1200"/>
              </a:spcBef>
            </a:pPr>
          </a:p>
          <a:p>
            <a:pPr>
              <a:spcBef>
                <a:spcPts val="1200"/>
              </a:spcBef>
            </a:pPr>
            <a:r>
              <a:t>Not just </a:t>
            </a:r>
            <a:r>
              <a:rPr>
                <a:latin typeface="Menlo Regular"/>
                <a:ea typeface="Menlo Regular"/>
                <a:cs typeface="Menlo Regular"/>
                <a:sym typeface="Menlo Regular"/>
              </a:rPr>
              <a:t>get()</a:t>
            </a:r>
            <a:r>
              <a:t> - </a:t>
            </a:r>
            <a:r>
              <a:rPr i="1"/>
              <a:t>any</a:t>
            </a:r>
            <a:r>
              <a:t> conditional blocking (condition variables, wait, …) is problematic with a task system</a:t>
            </a:r>
          </a:p>
          <a:p>
            <a:pPr lvl="1" marL="0" indent="228600" algn="ctr">
              <a:spcBef>
                <a:spcPts val="1200"/>
              </a:spcBef>
              <a:buClrTx/>
              <a:buSzTx/>
              <a:buNone/>
            </a:pPr>
          </a:p>
          <a:p>
            <a:pPr marL="444658" marR="590710" indent="0" algn="ctr">
              <a:spcBef>
                <a:spcPts val="1200"/>
              </a:spcBef>
              <a:buClrTx/>
              <a:buSzTx/>
              <a:buNone/>
              <a:defRPr sz="4800"/>
            </a:pPr>
            <a:r>
              <a:t>Do not call </a:t>
            </a:r>
            <a:r>
              <a:rPr sz="4000">
                <a:latin typeface="Menlo Regular"/>
                <a:ea typeface="Menlo Regular"/>
                <a:cs typeface="Menlo Regular"/>
                <a:sym typeface="Menlo Regular"/>
              </a:rPr>
              <a:t>std::future.get()</a:t>
            </a:r>
            <a:r>
              <a:t> or </a:t>
            </a:r>
            <a:r>
              <a:rPr sz="4000">
                <a:latin typeface="Menlo Regular"/>
                <a:ea typeface="Menlo Regular"/>
                <a:cs typeface="Menlo Regular"/>
                <a:sym typeface="Menlo Regular"/>
              </a:rPr>
              <a:t>std::future.wait()</a:t>
            </a:r>
            <a:r>
              <a:t> when the originating task, or any subordinate task, is on the same queue, even if it is a concurrent queue</a:t>
            </a:r>
          </a:p>
        </p:txBody>
      </p:sp>
      <p:sp>
        <p:nvSpPr>
          <p:cNvPr id="1162"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161">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1161">
                                            <p:txEl>
                                              <p:pRg st="0" end="0"/>
                                            </p:txEl>
                                          </p:spTgt>
                                        </p:tgtEl>
                                        <p:attrNameLst>
                                          <p:attrName>style.visibility</p:attrName>
                                        </p:attrNameLst>
                                      </p:cBhvr>
                                      <p:to>
                                        <p:strVal val="visible"/>
                                      </p:to>
                                    </p:set>
                                  </p:childTnLst>
                                </p:cTn>
                              </p:par>
                              <p:par>
                                <p:cTn id="9" presetClass="entr" nodeType="withEffect" presetSubtype="0" presetID="1" grpId="1" fill="hold">
                                  <p:stCondLst>
                                    <p:cond delay="0"/>
                                  </p:stCondLst>
                                  <p:iterate type="el" backwards="0">
                                    <p:tmAbs val="0"/>
                                  </p:iterate>
                                  <p:childTnLst>
                                    <p:set>
                                      <p:cBhvr>
                                        <p:cTn id="10" fill="hold"/>
                                        <p:tgtEl>
                                          <p:spTgt spid="1161">
                                            <p:txEl>
                                              <p:pRg st="1" end="1"/>
                                            </p:txEl>
                                          </p:spTgt>
                                        </p:tgtEl>
                                        <p:attrNameLst>
                                          <p:attrName>style.visibility</p:attrName>
                                        </p:attrNameLst>
                                      </p:cBhvr>
                                      <p:to>
                                        <p:strVal val="visible"/>
                                      </p:to>
                                    </p:set>
                                  </p:childTnLst>
                                </p:cTn>
                              </p:par>
                              <p:par>
                                <p:cTn id="11" presetClass="entr" nodeType="withEffect" presetSubtype="0" presetID="1" grpId="1" fill="hold">
                                  <p:stCondLst>
                                    <p:cond delay="0"/>
                                  </p:stCondLst>
                                  <p:iterate type="el" backwards="0">
                                    <p:tmAbs val="0"/>
                                  </p:iterate>
                                  <p:childTnLst>
                                    <p:set>
                                      <p:cBhvr>
                                        <p:cTn id="12" fill="hold"/>
                                        <p:tgtEl>
                                          <p:spTgt spid="1161">
                                            <p:txEl>
                                              <p:pRg st="2" end="2"/>
                                            </p:txEl>
                                          </p:spTgt>
                                        </p:tgtEl>
                                        <p:attrNameLst>
                                          <p:attrName>style.visibility</p:attrName>
                                        </p:attrNameLst>
                                      </p:cBhvr>
                                      <p:to>
                                        <p:strVal val="visible"/>
                                      </p:to>
                                    </p:set>
                                  </p:childTnLst>
                                </p:cTn>
                              </p:par>
                              <p:par>
                                <p:cTn id="13" presetClass="entr" nodeType="withEffect" presetSubtype="0" presetID="1" grpId="1" fill="hold">
                                  <p:stCondLst>
                                    <p:cond delay="0"/>
                                  </p:stCondLst>
                                  <p:iterate type="el" backwards="0">
                                    <p:tmAbs val="0"/>
                                  </p:iterate>
                                  <p:childTnLst>
                                    <p:set>
                                      <p:cBhvr>
                                        <p:cTn id="14" fill="hold"/>
                                        <p:tgtEl>
                                          <p:spTgt spid="1161">
                                            <p:txEl>
                                              <p:pRg st="3" end="3"/>
                                            </p:txEl>
                                          </p:spTgt>
                                        </p:tgtEl>
                                        <p:attrNameLst>
                                          <p:attrName>style.visibility</p:attrName>
                                        </p:attrNameLst>
                                      </p:cBhvr>
                                      <p:to>
                                        <p:strVal val="visible"/>
                                      </p:to>
                                    </p:set>
                                  </p:childTnLst>
                                </p:cTn>
                              </p:par>
                              <p:par>
                                <p:cTn id="15" presetClass="entr" nodeType="withEffect" presetSubtype="0" presetID="1" grpId="1" fill="hold">
                                  <p:stCondLst>
                                    <p:cond delay="0"/>
                                  </p:stCondLst>
                                  <p:iterate type="el" backwards="0">
                                    <p:tmAbs val="0"/>
                                  </p:iterate>
                                  <p:childTnLst>
                                    <p:set>
                                      <p:cBhvr>
                                        <p:cTn id="16" fill="hold"/>
                                        <p:tgtEl>
                                          <p:spTgt spid="1161">
                                            <p:txEl>
                                              <p:pRg st="4" end="4"/>
                                            </p:txEl>
                                          </p:spTgt>
                                        </p:tgtEl>
                                        <p:attrNameLst>
                                          <p:attrName>style.visibility</p:attrName>
                                        </p:attrNameLst>
                                      </p:cBhvr>
                                      <p:to>
                                        <p:strVal val="visible"/>
                                      </p:to>
                                    </p:set>
                                  </p:childTnLst>
                                </p:cTn>
                              </p:par>
                              <p:par>
                                <p:cTn id="17" presetClass="entr" nodeType="withEffect" presetSubtype="0" presetID="1" grpId="1" fill="hold">
                                  <p:stCondLst>
                                    <p:cond delay="0"/>
                                  </p:stCondLst>
                                  <p:iterate type="el" backwards="0">
                                    <p:tmAbs val="0"/>
                                  </p:iterate>
                                  <p:childTnLst>
                                    <p:set>
                                      <p:cBhvr>
                                        <p:cTn id="18" fill="hold"/>
                                        <p:tgtEl>
                                          <p:spTgt spid="116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1" fill="hold">
                                  <p:stCondLst>
                                    <p:cond delay="0"/>
                                  </p:stCondLst>
                                  <p:iterate type="el" backwards="0">
                                    <p:tmAbs val="0"/>
                                  </p:iterate>
                                  <p:childTnLst>
                                    <p:set>
                                      <p:cBhvr>
                                        <p:cTn id="22" fill="hold"/>
                                        <p:tgtEl>
                                          <p:spTgt spid="1161">
                                            <p:txEl>
                                              <p:pRg st="6" end="6"/>
                                            </p:txEl>
                                          </p:spTgt>
                                        </p:tgtEl>
                                        <p:attrNameLst>
                                          <p:attrName>style.visibility</p:attrName>
                                        </p:attrNameLst>
                                      </p:cBhvr>
                                      <p:to>
                                        <p:strVal val="visible"/>
                                      </p:to>
                                    </p:set>
                                  </p:childTnLst>
                                </p:cTn>
                              </p:par>
                              <p:par>
                                <p:cTn id="23" presetClass="entr" nodeType="withEffect" presetSubtype="0" presetID="1" grpId="1" fill="hold">
                                  <p:stCondLst>
                                    <p:cond delay="0"/>
                                  </p:stCondLst>
                                  <p:iterate type="el" backwards="0">
                                    <p:tmAbs val="0"/>
                                  </p:iterate>
                                  <p:childTnLst>
                                    <p:set>
                                      <p:cBhvr>
                                        <p:cTn id="24" fill="hold"/>
                                        <p:tgtEl>
                                          <p:spTgt spid="1161">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0" presetID="1" grpId="1" fill="hold">
                                  <p:stCondLst>
                                    <p:cond delay="0"/>
                                  </p:stCondLst>
                                  <p:iterate type="el" backwards="0">
                                    <p:tmAbs val="0"/>
                                  </p:iterate>
                                  <p:childTnLst>
                                    <p:set>
                                      <p:cBhvr>
                                        <p:cTn id="28" fill="hold"/>
                                        <p:tgtEl>
                                          <p:spTgt spid="1161">
                                            <p:txEl>
                                              <p:pRg st="8" end="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1161" grpId="1"/>
    </p:bldLst>
  </p:timing>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4" name="Futures: Continuations"/>
          <p:cNvSpPr txBox="1"/>
          <p:nvPr>
            <p:ph type="title"/>
          </p:nvPr>
        </p:nvSpPr>
        <p:spPr>
          <a:prstGeom prst="rect">
            <a:avLst/>
          </a:prstGeom>
        </p:spPr>
        <p:txBody>
          <a:bodyPr lIns="76200" tIns="76200" rIns="76200" bIns="76200"/>
          <a:lstStyle/>
          <a:p>
            <a:pPr defTabSz="2176581">
              <a:defRPr sz="4200"/>
            </a:pPr>
            <a:r>
              <a:t>Futures: </a:t>
            </a:r>
            <a:r>
              <a:t>Continuations</a:t>
            </a:r>
          </a:p>
        </p:txBody>
      </p:sp>
      <p:sp>
        <p:nvSpPr>
          <p:cNvPr id="1165"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pic>
        <p:nvPicPr>
          <p:cNvPr id="1166" name="Image" descr="Image"/>
          <p:cNvPicPr>
            <a:picLocks noChangeAspect="1"/>
          </p:cNvPicPr>
          <p:nvPr/>
        </p:nvPicPr>
        <p:blipFill>
          <a:blip r:embed="rId2">
            <a:extLst/>
          </a:blip>
          <a:stretch>
            <a:fillRect/>
          </a:stretch>
        </p:blipFill>
        <p:spPr>
          <a:xfrm>
            <a:off x="396291" y="5713403"/>
            <a:ext cx="23591418" cy="2289195"/>
          </a:xfrm>
          <a:prstGeom prst="rect">
            <a:avLst/>
          </a:prstGeom>
          <a:ln w="12700">
            <a:miter lim="400000"/>
          </a:ln>
        </p:spPr>
      </p:pic>
      <p:sp>
        <p:nvSpPr>
          <p:cNvPr id="1167" name="https://developer.apple.com/library/content/documentation/General/Conceptual/ConcurrencyProgrammingGuide/OperationQueues/OperationQueues.html"/>
          <p:cNvSpPr txBox="1"/>
          <p:nvPr/>
        </p:nvSpPr>
        <p:spPr>
          <a:xfrm>
            <a:off x="4353921" y="12157071"/>
            <a:ext cx="19437097" cy="482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400" u="sng">
                <a:hlinkClick r:id="rId3" invalidUrl="" action="" tgtFrame="" tooltip="" history="1" highlightClick="0" endSnd="0"/>
              </a:defRPr>
            </a:lvl1pPr>
          </a:lstStyle>
          <a:p>
            <a:pPr>
              <a:defRPr u="none"/>
            </a:pPr>
            <a:r>
              <a:rPr u="sng">
                <a:hlinkClick r:id="rId3" invalidUrl="" action="" tgtFrame="" tooltip="" history="1" highlightClick="0" endSnd="0"/>
              </a:rPr>
              <a:t>https://developer.apple.com/library/content/documentation/General/Conceptual/ConcurrencyProgrammingGuide/OperationQueues/OperationQueues.html</a:t>
            </a:r>
          </a:p>
        </p:txBody>
      </p:sp>
    </p:spTree>
  </p:cSld>
  <p:clrMapOvr>
    <a:masterClrMapping/>
  </p:clrMapOvr>
  <p:transition xmlns:p14="http://schemas.microsoft.com/office/powerpoint/2010/main" spd="fast" advClick="1"/>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9" name="Futures: Continuations"/>
          <p:cNvSpPr txBox="1"/>
          <p:nvPr>
            <p:ph type="title"/>
          </p:nvPr>
        </p:nvSpPr>
        <p:spPr>
          <a:prstGeom prst="rect">
            <a:avLst/>
          </a:prstGeom>
        </p:spPr>
        <p:txBody>
          <a:bodyPr lIns="76200" tIns="76200" rIns="76200" bIns="76200"/>
          <a:lstStyle/>
          <a:p>
            <a:pPr defTabSz="2176581">
              <a:defRPr sz="4200"/>
            </a:pPr>
            <a:r>
              <a:t>Futures: </a:t>
            </a:r>
            <a:r>
              <a:t>Continuations</a:t>
            </a:r>
          </a:p>
        </p:txBody>
      </p:sp>
      <p:sp>
        <p:nvSpPr>
          <p:cNvPr id="1170" name="future&lt;cpp_int&gt; x = async([]{ return fibonacci&lt;cpp_int&gt;(1'000); });…"/>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546100" algn="l"/>
              </a:tabLst>
              <a:defRPr sz="2400">
                <a:solidFill>
                  <a:srgbClr val="31595D"/>
                </a:solidFill>
                <a:uFillTx/>
                <a:latin typeface="Menlo Regular"/>
                <a:ea typeface="Menlo Regular"/>
                <a:cs typeface="Menlo Regular"/>
                <a:sym typeface="Menlo Regular"/>
              </a:defRPr>
            </a:pPr>
            <a:r>
              <a:rPr>
                <a:solidFill>
                  <a:srgbClr val="000000"/>
                </a:solidFill>
              </a:rPr>
              <a:t>    </a:t>
            </a:r>
            <a:r>
              <a:rPr>
                <a:solidFill>
                  <a:srgbClr val="703DAA"/>
                </a:solidFill>
              </a:rPr>
              <a:t>future</a:t>
            </a:r>
            <a:r>
              <a:rPr>
                <a:solidFill>
                  <a:srgbClr val="000000"/>
                </a:solidFill>
              </a:rPr>
              <a:t>&lt;</a:t>
            </a:r>
            <a:r>
              <a:rPr>
                <a:solidFill>
                  <a:srgbClr val="703DAA"/>
                </a:solidFill>
              </a:rPr>
              <a:t>cpp_int</a:t>
            </a:r>
            <a:r>
              <a:rPr>
                <a:solidFill>
                  <a:srgbClr val="000000"/>
                </a:solidFill>
              </a:rPr>
              <a:t>&gt; x = </a:t>
            </a:r>
            <a:r>
              <a:rPr>
                <a:solidFill>
                  <a:srgbClr val="3D1D81"/>
                </a:solidFill>
              </a:rPr>
              <a:t>async</a:t>
            </a:r>
            <a:r>
              <a:rPr>
                <a:solidFill>
                  <a:srgbClr val="000000"/>
                </a:solidFill>
              </a:rPr>
              <a:t>([]{ </a:t>
            </a:r>
            <a:r>
              <a:rPr>
                <a:solidFill>
                  <a:srgbClr val="BB2CA2"/>
                </a:solidFill>
              </a:rPr>
              <a:t>return</a:t>
            </a:r>
            <a:r>
              <a:rPr>
                <a:solidFill>
                  <a:srgbClr val="000000"/>
                </a:solidFill>
              </a:rPr>
              <a:t> </a:t>
            </a:r>
            <a:r>
              <a:t>fibonacci</a:t>
            </a:r>
            <a:r>
              <a:rPr>
                <a:solidFill>
                  <a:srgbClr val="000000"/>
                </a:solidFill>
              </a:rPr>
              <a:t>&lt;</a:t>
            </a:r>
            <a:r>
              <a:rPr>
                <a:solidFill>
                  <a:srgbClr val="703DAA"/>
                </a:solidFill>
              </a:rPr>
              <a:t>cpp_int</a:t>
            </a:r>
            <a:r>
              <a:rPr>
                <a:solidFill>
                  <a:srgbClr val="000000"/>
                </a:solidFill>
              </a:rPr>
              <a:t>&gt;(</a:t>
            </a:r>
            <a:r>
              <a:rPr>
                <a:solidFill>
                  <a:srgbClr val="272AD8"/>
                </a:solidFill>
              </a:rPr>
              <a:t>1'000</a:t>
            </a:r>
            <a:r>
              <a:rPr>
                <a:solidFill>
                  <a:srgbClr val="000000"/>
                </a:solidFill>
              </a:rPr>
              <a:t>); });</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future</a:t>
            </a:r>
            <a:r>
              <a:t>&lt;</a:t>
            </a:r>
            <a:r>
              <a:rPr>
                <a:solidFill>
                  <a:srgbClr val="BB2CA2"/>
                </a:solidFill>
              </a:rPr>
              <a:t>void</a:t>
            </a:r>
            <a:r>
              <a:t>&gt; y = x.</a:t>
            </a:r>
            <a:r>
              <a:rPr>
                <a:solidFill>
                  <a:srgbClr val="3D1D81"/>
                </a:solidFill>
              </a:rPr>
              <a:t>then</a:t>
            </a:r>
            <a:r>
              <a:t>([](</a:t>
            </a:r>
            <a:r>
              <a:rPr>
                <a:solidFill>
                  <a:srgbClr val="703DAA"/>
                </a:solidFill>
              </a:rPr>
              <a:t>future</a:t>
            </a:r>
            <a:r>
              <a:t>&lt;</a:t>
            </a:r>
            <a:r>
              <a:rPr>
                <a:solidFill>
                  <a:srgbClr val="703DAA"/>
                </a:solidFill>
              </a:rPr>
              <a:t>cpp_int</a:t>
            </a:r>
            <a:r>
              <a:t>&gt; x){ </a:t>
            </a:r>
            <a:r>
              <a:rPr>
                <a:solidFill>
                  <a:srgbClr val="703DAA"/>
                </a:solidFill>
              </a:rPr>
              <a:t>cout</a:t>
            </a:r>
            <a:r>
              <a:t> &lt;&lt; x.</a:t>
            </a:r>
            <a:r>
              <a:rPr>
                <a:solidFill>
                  <a:srgbClr val="3D1D81"/>
                </a:solidFill>
              </a:rPr>
              <a:t>get</a:t>
            </a:r>
            <a:r>
              <a:t>() &lt;&lt; </a:t>
            </a:r>
            <a:r>
              <a:rPr>
                <a:solidFill>
                  <a:srgbClr val="3D1D81"/>
                </a:solidFill>
              </a:rPr>
              <a:t>endl</a:t>
            </a: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008400"/>
                </a:solidFill>
                <a:uFillTx/>
                <a:latin typeface="Menlo Regular"/>
                <a:ea typeface="Menlo Regular"/>
                <a:cs typeface="Menlo Regular"/>
                <a:sym typeface="Menlo Regular"/>
              </a:defRPr>
            </a:pPr>
            <a:r>
              <a:rPr>
                <a:solidFill>
                  <a:srgbClr val="000000"/>
                </a:solidFill>
              </a:rPr>
              <a:t>    </a:t>
            </a:r>
            <a:r>
              <a:t>// Do something</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y.</a:t>
            </a:r>
            <a:r>
              <a:rPr>
                <a:solidFill>
                  <a:srgbClr val="3D1D81"/>
                </a:solidFill>
              </a:rPr>
              <a:t>wait</a:t>
            </a:r>
            <a:r>
              <a:t>();</a:t>
            </a:r>
          </a:p>
        </p:txBody>
      </p:sp>
      <p:sp>
        <p:nvSpPr>
          <p:cNvPr id="1171"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172" name="43466557686937456435688527675040625802564660517371780402481729089536555417949051890403879840079255169295922593080322634775209689623239873322471161642996440906533187938298969649928516003704476137795166849228875"/>
          <p:cNvSpPr txBox="1"/>
          <p:nvPr/>
        </p:nvSpPr>
        <p:spPr>
          <a:xfrm>
            <a:off x="622139" y="7711918"/>
            <a:ext cx="23184172" cy="812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457200">
              <a:buClrTx/>
              <a:tabLst>
                <a:tab pos="546100" algn="l"/>
              </a:tabLst>
              <a:defRPr b="1" sz="2400">
                <a:uFillTx/>
                <a:latin typeface="Menlo Regular"/>
                <a:ea typeface="Menlo Regular"/>
                <a:cs typeface="Menlo Regular"/>
                <a:sym typeface="Menlo Regular"/>
              </a:defRPr>
            </a:lvl1pPr>
          </a:lstStyle>
          <a:p>
            <a:pPr/>
            <a:r>
              <a:t>43466557686937456435688527675040625802564660517371780402481729089536555417949051890403879840079255169295922593080322634775209689623239873322471161642996440906533187938298969649928516003704476137795166849228875</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1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72" grpId="1"/>
    </p:bldLst>
  </p:timing>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4" name="Futures vs Completion Handlers"/>
          <p:cNvSpPr txBox="1"/>
          <p:nvPr>
            <p:ph type="title"/>
          </p:nvPr>
        </p:nvSpPr>
        <p:spPr>
          <a:prstGeom prst="rect">
            <a:avLst/>
          </a:prstGeom>
        </p:spPr>
        <p:txBody>
          <a:bodyPr lIns="76200" tIns="76200" rIns="76200" bIns="76200"/>
          <a:lstStyle>
            <a:lvl1pPr defTabSz="2176581">
              <a:defRPr sz="4200"/>
            </a:lvl1pPr>
          </a:lstStyle>
          <a:p>
            <a:pPr/>
            <a:r>
              <a:t>Futures vs Completion Handlers</a:t>
            </a:r>
          </a:p>
        </p:txBody>
      </p:sp>
      <p:sp>
        <p:nvSpPr>
          <p:cNvPr id="1175" name="Completion handlers are callbacks, they must be known prior to the call…"/>
          <p:cNvSpPr txBox="1"/>
          <p:nvPr>
            <p:ph type="body" idx="1"/>
          </p:nvPr>
        </p:nvSpPr>
        <p:spPr>
          <a:xfrm>
            <a:off x="622141" y="2039940"/>
            <a:ext cx="23158769" cy="10363201"/>
          </a:xfrm>
          <a:prstGeom prst="rect">
            <a:avLst/>
          </a:prstGeom>
        </p:spPr>
        <p:txBody>
          <a:bodyPr lIns="76200" tIns="76200" rIns="76200" bIns="76200"/>
          <a:lstStyle/>
          <a:p>
            <a:pPr>
              <a:spcBef>
                <a:spcPts val="1200"/>
              </a:spcBef>
            </a:pPr>
            <a:r>
              <a:t>Completion handlers are callbacks, they must be known prior to the call</a:t>
            </a:r>
          </a:p>
          <a:p>
            <a:pPr lvl="1">
              <a:spcBef>
                <a:spcPts val="1200"/>
              </a:spcBef>
            </a:pPr>
            <a:r>
              <a:t>No need to synchronize between invoking and setting the continuation</a:t>
            </a:r>
          </a:p>
          <a:p>
            <a:pPr lvl="1">
              <a:spcBef>
                <a:spcPts val="1200"/>
              </a:spcBef>
            </a:pPr>
          </a:p>
          <a:p>
            <a:pPr>
              <a:spcBef>
                <a:spcPts val="1200"/>
              </a:spcBef>
            </a:pPr>
            <a:r>
              <a:t>Futures allow setting the continuation after the sending call is in flight</a:t>
            </a:r>
          </a:p>
          <a:p>
            <a:pPr lvl="1">
              <a:spcBef>
                <a:spcPts val="1200"/>
              </a:spcBef>
            </a:pPr>
            <a:r>
              <a:t>Simpler to compose</a:t>
            </a:r>
          </a:p>
          <a:p>
            <a:pPr lvl="1">
              <a:spcBef>
                <a:spcPts val="1200"/>
              </a:spcBef>
            </a:pPr>
            <a:r>
              <a:t>Require synchronization between invoking and setting the continuation</a:t>
            </a:r>
          </a:p>
        </p:txBody>
      </p:sp>
      <p:sp>
        <p:nvSpPr>
          <p:cNvPr id="1176"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0"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181"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182"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183" name="Futures: Joins"/>
          <p:cNvSpPr txBox="1"/>
          <p:nvPr>
            <p:ph type="title"/>
          </p:nvPr>
        </p:nvSpPr>
        <p:spPr>
          <a:xfrm>
            <a:off x="609600" y="368300"/>
            <a:ext cx="23182917" cy="822325"/>
          </a:xfrm>
          <a:prstGeom prst="rect">
            <a:avLst/>
          </a:prstGeom>
        </p:spPr>
        <p:txBody>
          <a:bodyPr/>
          <a:lstStyle>
            <a:lvl1pPr>
              <a:defRPr sz="4200"/>
            </a:lvl1pPr>
          </a:lstStyle>
          <a:p>
            <a:pPr/>
            <a:r>
              <a:t>Futures: Joins</a:t>
            </a:r>
          </a:p>
        </p:txBody>
      </p:sp>
      <p:sp>
        <p:nvSpPr>
          <p:cNvPr id="1184" name="Slide Number"/>
          <p:cNvSpPr txBox="1"/>
          <p:nvPr>
            <p:ph type="sldNum" sz="quarter" idx="2"/>
          </p:nvPr>
        </p:nvSpPr>
        <p:spPr>
          <a:xfrm>
            <a:off x="12042377" y="12934946"/>
            <a:ext cx="318314"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185"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pic>
        <p:nvPicPr>
          <p:cNvPr id="1186" name="Image" descr="Image"/>
          <p:cNvPicPr>
            <a:picLocks noChangeAspect="1"/>
          </p:cNvPicPr>
          <p:nvPr/>
        </p:nvPicPr>
        <p:blipFill>
          <a:blip r:embed="rId3">
            <a:extLst/>
          </a:blip>
          <a:stretch>
            <a:fillRect/>
          </a:stretch>
        </p:blipFill>
        <p:spPr>
          <a:xfrm>
            <a:off x="3175000" y="2641600"/>
            <a:ext cx="18034000" cy="8432800"/>
          </a:xfrm>
          <a:prstGeom prst="rect">
            <a:avLst/>
          </a:prstGeom>
          <a:ln w="12700">
            <a:miter lim="400000"/>
          </a:ln>
        </p:spPr>
      </p:pic>
    </p:spTree>
  </p:cSld>
  <p:clrMapOvr>
    <a:masterClrMapping/>
  </p:clrMapOvr>
  <p:transition xmlns:p14="http://schemas.microsoft.com/office/powerpoint/2010/main" spd="fast" advClick="1"/>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8" name="Rectangle"/>
          <p:cNvSpPr/>
          <p:nvPr/>
        </p:nvSpPr>
        <p:spPr>
          <a:xfrm>
            <a:off x="-12697" y="1"/>
            <a:ext cx="24428447" cy="1558928"/>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1189" name="Rectangle"/>
          <p:cNvSpPr/>
          <p:nvPr/>
        </p:nvSpPr>
        <p:spPr>
          <a:xfrm>
            <a:off x="-31752" y="12884153"/>
            <a:ext cx="24447502" cy="831851"/>
          </a:xfrm>
          <a:prstGeom prst="rect">
            <a:avLst/>
          </a:prstGeom>
          <a:solidFill>
            <a:srgbClr val="475560"/>
          </a:solidFill>
          <a:ln w="50800"/>
        </p:spPr>
        <p:txBody>
          <a:bodyPr lIns="101600" tIns="101600" rIns="101600" bIns="101600" anchor="ctr"/>
          <a:lstStyle/>
          <a:p>
            <a:pPr algn="ctr" defTabSz="914400">
              <a:buClr>
                <a:srgbClr val="FFFFFF"/>
              </a:buClr>
              <a:defRPr>
                <a:solidFill>
                  <a:srgbClr val="FFFFFF"/>
                </a:solidFill>
                <a:uFill>
                  <a:solidFill>
                    <a:srgbClr val="FFFFFF"/>
                  </a:solidFill>
                </a:uFill>
              </a:defRPr>
            </a:pPr>
          </a:p>
        </p:txBody>
      </p:sp>
      <p:sp>
        <p:nvSpPr>
          <p:cNvPr id="1190" name="© 2013 Adobe Systems Incorporated.  All Rights Reserved."/>
          <p:cNvSpPr txBox="1"/>
          <p:nvPr/>
        </p:nvSpPr>
        <p:spPr>
          <a:xfrm>
            <a:off x="622139" y="12974022"/>
            <a:ext cx="103886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914400">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2013 Adobe Systems Incorporated.  All Rights Reserved.  </a:t>
            </a:r>
          </a:p>
        </p:txBody>
      </p:sp>
      <p:grpSp>
        <p:nvGrpSpPr>
          <p:cNvPr id="1199" name="Group"/>
          <p:cNvGrpSpPr/>
          <p:nvPr/>
        </p:nvGrpSpPr>
        <p:grpSpPr>
          <a:xfrm>
            <a:off x="23430479" y="13063804"/>
            <a:ext cx="356816" cy="489706"/>
            <a:chOff x="0" y="0"/>
            <a:chExt cx="356815" cy="489704"/>
          </a:xfrm>
        </p:grpSpPr>
        <p:sp>
          <p:nvSpPr>
            <p:cNvPr id="1191" name="Shape"/>
            <p:cNvSpPr/>
            <p:nvPr/>
          </p:nvSpPr>
          <p:spPr>
            <a:xfrm>
              <a:off x="4102" y="374963"/>
              <a:ext cx="69722" cy="114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743" y="16395"/>
                  </a:moveTo>
                  <a:lnTo>
                    <a:pt x="6113" y="21600"/>
                  </a:lnTo>
                  <a:lnTo>
                    <a:pt x="0" y="21600"/>
                  </a:lnTo>
                  <a:lnTo>
                    <a:pt x="7540" y="0"/>
                  </a:lnTo>
                  <a:lnTo>
                    <a:pt x="14875" y="0"/>
                  </a:lnTo>
                  <a:lnTo>
                    <a:pt x="21600" y="21600"/>
                  </a:lnTo>
                  <a:lnTo>
                    <a:pt x="15691" y="21600"/>
                  </a:lnTo>
                  <a:lnTo>
                    <a:pt x="14060" y="16395"/>
                  </a:lnTo>
                  <a:lnTo>
                    <a:pt x="7743" y="16395"/>
                  </a:lnTo>
                  <a:close/>
                  <a:moveTo>
                    <a:pt x="13449" y="13402"/>
                  </a:moveTo>
                  <a:lnTo>
                    <a:pt x="12226" y="8718"/>
                  </a:lnTo>
                  <a:lnTo>
                    <a:pt x="11004" y="3773"/>
                  </a:lnTo>
                  <a:lnTo>
                    <a:pt x="9781" y="8718"/>
                  </a:lnTo>
                  <a:lnTo>
                    <a:pt x="8355" y="13402"/>
                  </a:lnTo>
                  <a:lnTo>
                    <a:pt x="13449" y="1340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192" name="Shape"/>
            <p:cNvSpPr/>
            <p:nvPr/>
          </p:nvSpPr>
          <p:spPr>
            <a:xfrm>
              <a:off x="79976" y="372913"/>
              <a:ext cx="61521"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63" y="0"/>
                  </a:moveTo>
                  <a:lnTo>
                    <a:pt x="21363" y="17105"/>
                  </a:lnTo>
                  <a:lnTo>
                    <a:pt x="21600" y="21350"/>
                  </a:lnTo>
                  <a:lnTo>
                    <a:pt x="15429" y="21350"/>
                  </a:lnTo>
                  <a:lnTo>
                    <a:pt x="14954" y="19602"/>
                  </a:lnTo>
                  <a:lnTo>
                    <a:pt x="14004" y="20476"/>
                  </a:lnTo>
                  <a:lnTo>
                    <a:pt x="12580" y="21101"/>
                  </a:lnTo>
                  <a:lnTo>
                    <a:pt x="10919" y="21475"/>
                  </a:lnTo>
                  <a:lnTo>
                    <a:pt x="9969" y="21600"/>
                  </a:lnTo>
                  <a:lnTo>
                    <a:pt x="9020" y="21600"/>
                  </a:lnTo>
                  <a:lnTo>
                    <a:pt x="7833" y="21600"/>
                  </a:lnTo>
                  <a:lnTo>
                    <a:pt x="6884" y="21475"/>
                  </a:lnTo>
                  <a:lnTo>
                    <a:pt x="5934" y="21350"/>
                  </a:lnTo>
                  <a:lnTo>
                    <a:pt x="4985" y="21101"/>
                  </a:lnTo>
                  <a:lnTo>
                    <a:pt x="3560" y="20351"/>
                  </a:lnTo>
                  <a:lnTo>
                    <a:pt x="2374" y="19353"/>
                  </a:lnTo>
                  <a:lnTo>
                    <a:pt x="1424" y="18229"/>
                  </a:lnTo>
                  <a:lnTo>
                    <a:pt x="712" y="16980"/>
                  </a:lnTo>
                  <a:lnTo>
                    <a:pt x="237" y="15482"/>
                  </a:lnTo>
                  <a:lnTo>
                    <a:pt x="0" y="13859"/>
                  </a:lnTo>
                  <a:lnTo>
                    <a:pt x="237" y="11986"/>
                  </a:lnTo>
                  <a:lnTo>
                    <a:pt x="712" y="10488"/>
                  </a:lnTo>
                  <a:lnTo>
                    <a:pt x="1662" y="9114"/>
                  </a:lnTo>
                  <a:lnTo>
                    <a:pt x="2848" y="7991"/>
                  </a:lnTo>
                  <a:lnTo>
                    <a:pt x="4273" y="7117"/>
                  </a:lnTo>
                  <a:lnTo>
                    <a:pt x="5697" y="6617"/>
                  </a:lnTo>
                  <a:lnTo>
                    <a:pt x="7358" y="6243"/>
                  </a:lnTo>
                  <a:lnTo>
                    <a:pt x="9257" y="6118"/>
                  </a:lnTo>
                  <a:lnTo>
                    <a:pt x="10919" y="6243"/>
                  </a:lnTo>
                  <a:lnTo>
                    <a:pt x="12343" y="6492"/>
                  </a:lnTo>
                  <a:lnTo>
                    <a:pt x="13292" y="6992"/>
                  </a:lnTo>
                  <a:lnTo>
                    <a:pt x="14004" y="7616"/>
                  </a:lnTo>
                  <a:lnTo>
                    <a:pt x="14242" y="7616"/>
                  </a:lnTo>
                  <a:lnTo>
                    <a:pt x="14242" y="0"/>
                  </a:lnTo>
                  <a:lnTo>
                    <a:pt x="21363" y="0"/>
                  </a:lnTo>
                  <a:close/>
                  <a:moveTo>
                    <a:pt x="14242" y="12111"/>
                  </a:moveTo>
                  <a:lnTo>
                    <a:pt x="14242" y="12111"/>
                  </a:lnTo>
                  <a:lnTo>
                    <a:pt x="14242" y="11237"/>
                  </a:lnTo>
                  <a:lnTo>
                    <a:pt x="13767" y="10488"/>
                  </a:lnTo>
                  <a:lnTo>
                    <a:pt x="13055" y="9864"/>
                  </a:lnTo>
                  <a:lnTo>
                    <a:pt x="12343" y="9364"/>
                  </a:lnTo>
                  <a:lnTo>
                    <a:pt x="11631" y="9239"/>
                  </a:lnTo>
                  <a:lnTo>
                    <a:pt x="11156" y="9239"/>
                  </a:lnTo>
                  <a:lnTo>
                    <a:pt x="10207" y="9364"/>
                  </a:lnTo>
                  <a:lnTo>
                    <a:pt x="9257" y="9614"/>
                  </a:lnTo>
                  <a:lnTo>
                    <a:pt x="8545" y="10113"/>
                  </a:lnTo>
                  <a:lnTo>
                    <a:pt x="8070" y="10613"/>
                  </a:lnTo>
                  <a:lnTo>
                    <a:pt x="7596" y="11362"/>
                  </a:lnTo>
                  <a:lnTo>
                    <a:pt x="7358" y="12111"/>
                  </a:lnTo>
                  <a:lnTo>
                    <a:pt x="7121" y="13984"/>
                  </a:lnTo>
                  <a:lnTo>
                    <a:pt x="7358" y="14983"/>
                  </a:lnTo>
                  <a:lnTo>
                    <a:pt x="7596" y="15857"/>
                  </a:lnTo>
                  <a:lnTo>
                    <a:pt x="7833" y="16731"/>
                  </a:lnTo>
                  <a:lnTo>
                    <a:pt x="8308" y="17355"/>
                  </a:lnTo>
                  <a:lnTo>
                    <a:pt x="8782" y="17854"/>
                  </a:lnTo>
                  <a:lnTo>
                    <a:pt x="9495" y="18229"/>
                  </a:lnTo>
                  <a:lnTo>
                    <a:pt x="10207" y="18479"/>
                  </a:lnTo>
                  <a:lnTo>
                    <a:pt x="10919" y="18603"/>
                  </a:lnTo>
                  <a:lnTo>
                    <a:pt x="11868" y="18479"/>
                  </a:lnTo>
                  <a:lnTo>
                    <a:pt x="12580" y="18229"/>
                  </a:lnTo>
                  <a:lnTo>
                    <a:pt x="13292" y="17729"/>
                  </a:lnTo>
                  <a:lnTo>
                    <a:pt x="14004" y="16980"/>
                  </a:lnTo>
                  <a:lnTo>
                    <a:pt x="14242" y="16606"/>
                  </a:lnTo>
                  <a:lnTo>
                    <a:pt x="14242" y="16106"/>
                  </a:lnTo>
                  <a:lnTo>
                    <a:pt x="14242" y="12111"/>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193" name="Shape"/>
            <p:cNvSpPr/>
            <p:nvPr/>
          </p:nvSpPr>
          <p:spPr>
            <a:xfrm>
              <a:off x="151748"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1" y="21600"/>
                  </a:moveTo>
                  <a:lnTo>
                    <a:pt x="10681" y="21600"/>
                  </a:lnTo>
                  <a:lnTo>
                    <a:pt x="8308" y="21426"/>
                  </a:lnTo>
                  <a:lnTo>
                    <a:pt x="6409" y="20903"/>
                  </a:lnTo>
                  <a:lnTo>
                    <a:pt x="4510" y="20032"/>
                  </a:lnTo>
                  <a:lnTo>
                    <a:pt x="2848" y="18813"/>
                  </a:lnTo>
                  <a:lnTo>
                    <a:pt x="1662" y="17245"/>
                  </a:lnTo>
                  <a:lnTo>
                    <a:pt x="712" y="15503"/>
                  </a:lnTo>
                  <a:lnTo>
                    <a:pt x="237" y="13239"/>
                  </a:lnTo>
                  <a:lnTo>
                    <a:pt x="0" y="10800"/>
                  </a:lnTo>
                  <a:lnTo>
                    <a:pt x="237" y="8187"/>
                  </a:lnTo>
                  <a:lnTo>
                    <a:pt x="949" y="5923"/>
                  </a:lnTo>
                  <a:lnTo>
                    <a:pt x="1899" y="4006"/>
                  </a:lnTo>
                  <a:lnTo>
                    <a:pt x="3323" y="2613"/>
                  </a:lnTo>
                  <a:lnTo>
                    <a:pt x="4985" y="1394"/>
                  </a:lnTo>
                  <a:lnTo>
                    <a:pt x="6884" y="523"/>
                  </a:lnTo>
                  <a:lnTo>
                    <a:pt x="8782" y="174"/>
                  </a:lnTo>
                  <a:lnTo>
                    <a:pt x="10919" y="0"/>
                  </a:lnTo>
                  <a:lnTo>
                    <a:pt x="13292" y="174"/>
                  </a:lnTo>
                  <a:lnTo>
                    <a:pt x="15429" y="697"/>
                  </a:lnTo>
                  <a:lnTo>
                    <a:pt x="17090" y="1568"/>
                  </a:lnTo>
                  <a:lnTo>
                    <a:pt x="18752" y="2787"/>
                  </a:lnTo>
                  <a:lnTo>
                    <a:pt x="19938" y="4355"/>
                  </a:lnTo>
                  <a:lnTo>
                    <a:pt x="20888" y="6271"/>
                  </a:lnTo>
                  <a:lnTo>
                    <a:pt x="21363" y="8361"/>
                  </a:lnTo>
                  <a:lnTo>
                    <a:pt x="21600" y="10800"/>
                  </a:lnTo>
                  <a:lnTo>
                    <a:pt x="21363" y="12368"/>
                  </a:lnTo>
                  <a:lnTo>
                    <a:pt x="21125" y="13761"/>
                  </a:lnTo>
                  <a:lnTo>
                    <a:pt x="20888" y="14981"/>
                  </a:lnTo>
                  <a:lnTo>
                    <a:pt x="20413" y="16026"/>
                  </a:lnTo>
                  <a:lnTo>
                    <a:pt x="19938" y="17071"/>
                  </a:lnTo>
                  <a:lnTo>
                    <a:pt x="19226" y="17942"/>
                  </a:lnTo>
                  <a:lnTo>
                    <a:pt x="18514" y="18813"/>
                  </a:lnTo>
                  <a:lnTo>
                    <a:pt x="17802" y="19510"/>
                  </a:lnTo>
                  <a:lnTo>
                    <a:pt x="16141" y="20555"/>
                  </a:lnTo>
                  <a:lnTo>
                    <a:pt x="14242" y="21252"/>
                  </a:lnTo>
                  <a:lnTo>
                    <a:pt x="12580" y="21600"/>
                  </a:lnTo>
                  <a:lnTo>
                    <a:pt x="10919" y="21600"/>
                  </a:lnTo>
                  <a:lnTo>
                    <a:pt x="10681" y="21600"/>
                  </a:lnTo>
                  <a:close/>
                  <a:moveTo>
                    <a:pt x="10919" y="17594"/>
                  </a:moveTo>
                  <a:lnTo>
                    <a:pt x="10919" y="17594"/>
                  </a:lnTo>
                  <a:lnTo>
                    <a:pt x="11868" y="17419"/>
                  </a:lnTo>
                  <a:lnTo>
                    <a:pt x="12580" y="17071"/>
                  </a:lnTo>
                  <a:lnTo>
                    <a:pt x="13292" y="16374"/>
                  </a:lnTo>
                  <a:lnTo>
                    <a:pt x="13530" y="15329"/>
                  </a:lnTo>
                  <a:lnTo>
                    <a:pt x="14242" y="13239"/>
                  </a:lnTo>
                  <a:lnTo>
                    <a:pt x="14242" y="10800"/>
                  </a:lnTo>
                  <a:lnTo>
                    <a:pt x="14242" y="8535"/>
                  </a:lnTo>
                  <a:lnTo>
                    <a:pt x="14004" y="7316"/>
                  </a:lnTo>
                  <a:lnTo>
                    <a:pt x="13530" y="6271"/>
                  </a:lnTo>
                  <a:lnTo>
                    <a:pt x="13055" y="5400"/>
                  </a:lnTo>
                  <a:lnTo>
                    <a:pt x="12580" y="4529"/>
                  </a:lnTo>
                  <a:lnTo>
                    <a:pt x="11868" y="4181"/>
                  </a:lnTo>
                  <a:lnTo>
                    <a:pt x="10681" y="4006"/>
                  </a:lnTo>
                  <a:lnTo>
                    <a:pt x="9732" y="4181"/>
                  </a:lnTo>
                  <a:lnTo>
                    <a:pt x="9020" y="4529"/>
                  </a:lnTo>
                  <a:lnTo>
                    <a:pt x="8308" y="5400"/>
                  </a:lnTo>
                  <a:lnTo>
                    <a:pt x="7833" y="6271"/>
                  </a:lnTo>
                  <a:lnTo>
                    <a:pt x="7596" y="7316"/>
                  </a:lnTo>
                  <a:lnTo>
                    <a:pt x="7358" y="8535"/>
                  </a:lnTo>
                  <a:lnTo>
                    <a:pt x="7121" y="10800"/>
                  </a:lnTo>
                  <a:lnTo>
                    <a:pt x="7358" y="13413"/>
                  </a:lnTo>
                  <a:lnTo>
                    <a:pt x="7596" y="14458"/>
                  </a:lnTo>
                  <a:lnTo>
                    <a:pt x="7833" y="15503"/>
                  </a:lnTo>
                  <a:lnTo>
                    <a:pt x="8308" y="16374"/>
                  </a:lnTo>
                  <a:lnTo>
                    <a:pt x="9020" y="17071"/>
                  </a:lnTo>
                  <a:lnTo>
                    <a:pt x="9732" y="17419"/>
                  </a:lnTo>
                  <a:lnTo>
                    <a:pt x="10919" y="17594"/>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194" name="Shape"/>
            <p:cNvSpPr/>
            <p:nvPr/>
          </p:nvSpPr>
          <p:spPr>
            <a:xfrm>
              <a:off x="225570" y="372913"/>
              <a:ext cx="59470" cy="1167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7358" y="0"/>
                  </a:lnTo>
                  <a:lnTo>
                    <a:pt x="7358" y="7866"/>
                  </a:lnTo>
                  <a:lnTo>
                    <a:pt x="8545" y="7117"/>
                  </a:lnTo>
                  <a:lnTo>
                    <a:pt x="9969" y="6492"/>
                  </a:lnTo>
                  <a:lnTo>
                    <a:pt x="11393" y="6243"/>
                  </a:lnTo>
                  <a:lnTo>
                    <a:pt x="13292" y="6118"/>
                  </a:lnTo>
                  <a:lnTo>
                    <a:pt x="14479" y="6118"/>
                  </a:lnTo>
                  <a:lnTo>
                    <a:pt x="15191" y="6243"/>
                  </a:lnTo>
                  <a:lnTo>
                    <a:pt x="16853" y="6617"/>
                  </a:lnTo>
                  <a:lnTo>
                    <a:pt x="18277" y="7366"/>
                  </a:lnTo>
                  <a:lnTo>
                    <a:pt x="19464" y="8240"/>
                  </a:lnTo>
                  <a:lnTo>
                    <a:pt x="20413" y="9239"/>
                  </a:lnTo>
                  <a:lnTo>
                    <a:pt x="20888" y="10613"/>
                  </a:lnTo>
                  <a:lnTo>
                    <a:pt x="21363" y="11986"/>
                  </a:lnTo>
                  <a:lnTo>
                    <a:pt x="21600" y="13484"/>
                  </a:lnTo>
                  <a:lnTo>
                    <a:pt x="21363" y="15357"/>
                  </a:lnTo>
                  <a:lnTo>
                    <a:pt x="20888" y="16980"/>
                  </a:lnTo>
                  <a:lnTo>
                    <a:pt x="19938" y="18354"/>
                  </a:lnTo>
                  <a:lnTo>
                    <a:pt x="18752" y="19602"/>
                  </a:lnTo>
                  <a:lnTo>
                    <a:pt x="17565" y="20476"/>
                  </a:lnTo>
                  <a:lnTo>
                    <a:pt x="15903" y="21101"/>
                  </a:lnTo>
                  <a:lnTo>
                    <a:pt x="14242" y="21475"/>
                  </a:lnTo>
                  <a:lnTo>
                    <a:pt x="12343" y="21600"/>
                  </a:lnTo>
                  <a:lnTo>
                    <a:pt x="10444" y="21475"/>
                  </a:lnTo>
                  <a:lnTo>
                    <a:pt x="9020" y="21225"/>
                  </a:lnTo>
                  <a:lnTo>
                    <a:pt x="7833" y="20476"/>
                  </a:lnTo>
                  <a:lnTo>
                    <a:pt x="6646" y="19602"/>
                  </a:lnTo>
                  <a:lnTo>
                    <a:pt x="6409" y="19602"/>
                  </a:lnTo>
                  <a:lnTo>
                    <a:pt x="5934" y="21350"/>
                  </a:lnTo>
                  <a:lnTo>
                    <a:pt x="0" y="21350"/>
                  </a:lnTo>
                  <a:lnTo>
                    <a:pt x="237" y="17105"/>
                  </a:lnTo>
                  <a:lnTo>
                    <a:pt x="237" y="0"/>
                  </a:lnTo>
                  <a:close/>
                  <a:moveTo>
                    <a:pt x="7358" y="15982"/>
                  </a:moveTo>
                  <a:lnTo>
                    <a:pt x="7358" y="15982"/>
                  </a:lnTo>
                  <a:lnTo>
                    <a:pt x="7358" y="16606"/>
                  </a:lnTo>
                  <a:lnTo>
                    <a:pt x="7596" y="16980"/>
                  </a:lnTo>
                  <a:lnTo>
                    <a:pt x="8070" y="17729"/>
                  </a:lnTo>
                  <a:lnTo>
                    <a:pt x="9020" y="18229"/>
                  </a:lnTo>
                  <a:lnTo>
                    <a:pt x="9732" y="18479"/>
                  </a:lnTo>
                  <a:lnTo>
                    <a:pt x="10444" y="18603"/>
                  </a:lnTo>
                  <a:lnTo>
                    <a:pt x="11393" y="18479"/>
                  </a:lnTo>
                  <a:lnTo>
                    <a:pt x="12343" y="18229"/>
                  </a:lnTo>
                  <a:lnTo>
                    <a:pt x="12818" y="17854"/>
                  </a:lnTo>
                  <a:lnTo>
                    <a:pt x="13530" y="17230"/>
                  </a:lnTo>
                  <a:lnTo>
                    <a:pt x="13767" y="16606"/>
                  </a:lnTo>
                  <a:lnTo>
                    <a:pt x="14242" y="15732"/>
                  </a:lnTo>
                  <a:lnTo>
                    <a:pt x="14242" y="13734"/>
                  </a:lnTo>
                  <a:lnTo>
                    <a:pt x="14242" y="11986"/>
                  </a:lnTo>
                  <a:lnTo>
                    <a:pt x="13767" y="11112"/>
                  </a:lnTo>
                  <a:lnTo>
                    <a:pt x="13530" y="10488"/>
                  </a:lnTo>
                  <a:lnTo>
                    <a:pt x="12818" y="9988"/>
                  </a:lnTo>
                  <a:lnTo>
                    <a:pt x="12105" y="9614"/>
                  </a:lnTo>
                  <a:lnTo>
                    <a:pt x="11393" y="9364"/>
                  </a:lnTo>
                  <a:lnTo>
                    <a:pt x="10444" y="9239"/>
                  </a:lnTo>
                  <a:lnTo>
                    <a:pt x="9495" y="9364"/>
                  </a:lnTo>
                  <a:lnTo>
                    <a:pt x="8545" y="9739"/>
                  </a:lnTo>
                  <a:lnTo>
                    <a:pt x="8070" y="10238"/>
                  </a:lnTo>
                  <a:lnTo>
                    <a:pt x="7596" y="10862"/>
                  </a:lnTo>
                  <a:lnTo>
                    <a:pt x="7358" y="11861"/>
                  </a:lnTo>
                  <a:lnTo>
                    <a:pt x="7358" y="15982"/>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195" name="Shape"/>
            <p:cNvSpPr/>
            <p:nvPr/>
          </p:nvSpPr>
          <p:spPr>
            <a:xfrm>
              <a:off x="297346" y="405696"/>
              <a:ext cx="59470" cy="840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18" y="12614"/>
                  </a:moveTo>
                  <a:lnTo>
                    <a:pt x="7118" y="12614"/>
                  </a:lnTo>
                  <a:lnTo>
                    <a:pt x="7364" y="13824"/>
                  </a:lnTo>
                  <a:lnTo>
                    <a:pt x="7855" y="14861"/>
                  </a:lnTo>
                  <a:lnTo>
                    <a:pt x="8345" y="15725"/>
                  </a:lnTo>
                  <a:lnTo>
                    <a:pt x="9082" y="16416"/>
                  </a:lnTo>
                  <a:lnTo>
                    <a:pt x="10064" y="16934"/>
                  </a:lnTo>
                  <a:lnTo>
                    <a:pt x="11045" y="17280"/>
                  </a:lnTo>
                  <a:lnTo>
                    <a:pt x="12273" y="17453"/>
                  </a:lnTo>
                  <a:lnTo>
                    <a:pt x="13745" y="17626"/>
                  </a:lnTo>
                  <a:lnTo>
                    <a:pt x="15218" y="17453"/>
                  </a:lnTo>
                  <a:lnTo>
                    <a:pt x="16691" y="17280"/>
                  </a:lnTo>
                  <a:lnTo>
                    <a:pt x="19145" y="16762"/>
                  </a:lnTo>
                  <a:lnTo>
                    <a:pt x="20127" y="20563"/>
                  </a:lnTo>
                  <a:lnTo>
                    <a:pt x="18655" y="20909"/>
                  </a:lnTo>
                  <a:lnTo>
                    <a:pt x="16691" y="21254"/>
                  </a:lnTo>
                  <a:lnTo>
                    <a:pt x="14482" y="21427"/>
                  </a:lnTo>
                  <a:lnTo>
                    <a:pt x="12273" y="21600"/>
                  </a:lnTo>
                  <a:lnTo>
                    <a:pt x="9573" y="21427"/>
                  </a:lnTo>
                  <a:lnTo>
                    <a:pt x="7118" y="20909"/>
                  </a:lnTo>
                  <a:lnTo>
                    <a:pt x="4909" y="20045"/>
                  </a:lnTo>
                  <a:lnTo>
                    <a:pt x="3191" y="18835"/>
                  </a:lnTo>
                  <a:lnTo>
                    <a:pt x="1718" y="17280"/>
                  </a:lnTo>
                  <a:lnTo>
                    <a:pt x="736" y="15552"/>
                  </a:lnTo>
                  <a:lnTo>
                    <a:pt x="245" y="13478"/>
                  </a:lnTo>
                  <a:lnTo>
                    <a:pt x="0" y="11232"/>
                  </a:lnTo>
                  <a:lnTo>
                    <a:pt x="245" y="8813"/>
                  </a:lnTo>
                  <a:lnTo>
                    <a:pt x="982" y="6566"/>
                  </a:lnTo>
                  <a:lnTo>
                    <a:pt x="1964" y="4666"/>
                  </a:lnTo>
                  <a:lnTo>
                    <a:pt x="3436" y="3110"/>
                  </a:lnTo>
                  <a:lnTo>
                    <a:pt x="5155" y="1728"/>
                  </a:lnTo>
                  <a:lnTo>
                    <a:pt x="7118" y="864"/>
                  </a:lnTo>
                  <a:lnTo>
                    <a:pt x="9327" y="346"/>
                  </a:lnTo>
                  <a:lnTo>
                    <a:pt x="11536" y="0"/>
                  </a:lnTo>
                  <a:lnTo>
                    <a:pt x="13745" y="173"/>
                  </a:lnTo>
                  <a:lnTo>
                    <a:pt x="15955" y="691"/>
                  </a:lnTo>
                  <a:lnTo>
                    <a:pt x="17427" y="1555"/>
                  </a:lnTo>
                  <a:lnTo>
                    <a:pt x="18900" y="2765"/>
                  </a:lnTo>
                  <a:lnTo>
                    <a:pt x="20127" y="4147"/>
                  </a:lnTo>
                  <a:lnTo>
                    <a:pt x="20864" y="5702"/>
                  </a:lnTo>
                  <a:lnTo>
                    <a:pt x="21355" y="7603"/>
                  </a:lnTo>
                  <a:lnTo>
                    <a:pt x="21600" y="9850"/>
                  </a:lnTo>
                  <a:lnTo>
                    <a:pt x="21355" y="11578"/>
                  </a:lnTo>
                  <a:lnTo>
                    <a:pt x="21355" y="12614"/>
                  </a:lnTo>
                  <a:lnTo>
                    <a:pt x="7118" y="12614"/>
                  </a:lnTo>
                  <a:close/>
                  <a:moveTo>
                    <a:pt x="14727" y="8986"/>
                  </a:moveTo>
                  <a:lnTo>
                    <a:pt x="14727" y="8986"/>
                  </a:lnTo>
                  <a:lnTo>
                    <a:pt x="14482" y="6912"/>
                  </a:lnTo>
                  <a:lnTo>
                    <a:pt x="14236" y="6048"/>
                  </a:lnTo>
                  <a:lnTo>
                    <a:pt x="13745" y="5357"/>
                  </a:lnTo>
                  <a:lnTo>
                    <a:pt x="13255" y="4666"/>
                  </a:lnTo>
                  <a:lnTo>
                    <a:pt x="12764" y="4320"/>
                  </a:lnTo>
                  <a:lnTo>
                    <a:pt x="12027" y="3974"/>
                  </a:lnTo>
                  <a:lnTo>
                    <a:pt x="11045" y="3974"/>
                  </a:lnTo>
                  <a:lnTo>
                    <a:pt x="10309" y="3974"/>
                  </a:lnTo>
                  <a:lnTo>
                    <a:pt x="9327" y="4320"/>
                  </a:lnTo>
                  <a:lnTo>
                    <a:pt x="8836" y="4838"/>
                  </a:lnTo>
                  <a:lnTo>
                    <a:pt x="8100" y="5530"/>
                  </a:lnTo>
                  <a:lnTo>
                    <a:pt x="7609" y="7258"/>
                  </a:lnTo>
                  <a:lnTo>
                    <a:pt x="7118" y="8986"/>
                  </a:lnTo>
                  <a:lnTo>
                    <a:pt x="14727" y="8986"/>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196" name="Triangle"/>
            <p:cNvSpPr/>
            <p:nvPr/>
          </p:nvSpPr>
          <p:spPr>
            <a:xfrm>
              <a:off x="225570" y="0"/>
              <a:ext cx="131243"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1600"/>
                  </a:lnTo>
                  <a:lnTo>
                    <a:pt x="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197" name="Triangle"/>
            <p:cNvSpPr/>
            <p:nvPr/>
          </p:nvSpPr>
          <p:spPr>
            <a:xfrm>
              <a:off x="0" y="0"/>
              <a:ext cx="131242" cy="315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1600"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sp>
          <p:nvSpPr>
            <p:cNvPr id="1198" name="Shape"/>
            <p:cNvSpPr/>
            <p:nvPr/>
          </p:nvSpPr>
          <p:spPr>
            <a:xfrm>
              <a:off x="120989" y="114740"/>
              <a:ext cx="141497" cy="200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27" y="0"/>
                  </a:moveTo>
                  <a:lnTo>
                    <a:pt x="21600" y="21600"/>
                  </a:lnTo>
                  <a:lnTo>
                    <a:pt x="13188" y="21600"/>
                  </a:lnTo>
                  <a:lnTo>
                    <a:pt x="9346" y="14697"/>
                  </a:lnTo>
                  <a:lnTo>
                    <a:pt x="0" y="14697"/>
                  </a:lnTo>
                  <a:lnTo>
                    <a:pt x="8827" y="0"/>
                  </a:lnTo>
                  <a:close/>
                </a:path>
              </a:pathLst>
            </a:custGeom>
            <a:solidFill>
              <a:srgbClr val="FFFFFF"/>
            </a:solidFill>
            <a:ln w="12700" cap="flat">
              <a:noFill/>
              <a:round/>
            </a:ln>
            <a:effectLst/>
          </p:spPr>
          <p:txBody>
            <a:bodyPr wrap="square" lIns="0" tIns="0" rIns="0" bIns="0" numCol="1" anchor="t">
              <a:noAutofit/>
            </a:bodyPr>
            <a:lstStyle/>
            <a:p>
              <a:pPr defTabSz="914400">
                <a:buClrTx/>
              </a:pPr>
            </a:p>
          </p:txBody>
        </p:sp>
      </p:grpSp>
      <p:sp>
        <p:nvSpPr>
          <p:cNvPr id="1200" name="Task Systems"/>
          <p:cNvSpPr txBox="1"/>
          <p:nvPr>
            <p:ph type="title"/>
          </p:nvPr>
        </p:nvSpPr>
        <p:spPr>
          <a:prstGeom prst="rect">
            <a:avLst/>
          </a:prstGeom>
        </p:spPr>
        <p:txBody>
          <a:bodyPr lIns="76200" tIns="76200" rIns="76200" bIns="76200"/>
          <a:lstStyle>
            <a:lvl1pPr>
              <a:defRPr sz="4000"/>
            </a:lvl1pPr>
          </a:lstStyle>
          <a:p>
            <a:pPr/>
            <a:r>
              <a:t>Task Systems</a:t>
            </a:r>
          </a:p>
        </p:txBody>
      </p:sp>
      <p:sp>
        <p:nvSpPr>
          <p:cNvPr id="1201"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pic>
        <p:nvPicPr>
          <p:cNvPr id="1202" name="droppedImage.pdf" descr="droppedImage.pdf"/>
          <p:cNvPicPr>
            <a:picLocks noChangeAspect="1"/>
          </p:cNvPicPr>
          <p:nvPr/>
        </p:nvPicPr>
        <p:blipFill>
          <a:blip r:embed="rId3">
            <a:extLst/>
          </a:blip>
          <a:stretch>
            <a:fillRect/>
          </a:stretch>
        </p:blipFill>
        <p:spPr>
          <a:xfrm>
            <a:off x="9131300" y="1651000"/>
            <a:ext cx="2387600" cy="2159000"/>
          </a:xfrm>
          <a:prstGeom prst="rect">
            <a:avLst/>
          </a:prstGeom>
          <a:ln w="12700">
            <a:miter lim="400000"/>
          </a:ln>
        </p:spPr>
      </p:pic>
      <p:pic>
        <p:nvPicPr>
          <p:cNvPr id="1203" name="droppedImage.pdf" descr="droppedImage.pdf"/>
          <p:cNvPicPr>
            <a:picLocks noChangeAspect="1"/>
          </p:cNvPicPr>
          <p:nvPr/>
        </p:nvPicPr>
        <p:blipFill>
          <a:blip r:embed="rId3">
            <a:extLst/>
          </a:blip>
          <a:stretch>
            <a:fillRect/>
          </a:stretch>
        </p:blipFill>
        <p:spPr>
          <a:xfrm>
            <a:off x="12890500" y="1651000"/>
            <a:ext cx="2387600" cy="2159000"/>
          </a:xfrm>
          <a:prstGeom prst="rect">
            <a:avLst/>
          </a:prstGeom>
          <a:ln w="12700">
            <a:miter lim="400000"/>
          </a:ln>
        </p:spPr>
      </p:pic>
      <p:pic>
        <p:nvPicPr>
          <p:cNvPr id="1204" name="droppedImage.pdf" descr="droppedImage.pdf"/>
          <p:cNvPicPr>
            <a:picLocks noChangeAspect="1"/>
          </p:cNvPicPr>
          <p:nvPr/>
        </p:nvPicPr>
        <p:blipFill>
          <a:blip r:embed="rId4">
            <a:extLst/>
          </a:blip>
          <a:stretch>
            <a:fillRect/>
          </a:stretch>
        </p:blipFill>
        <p:spPr>
          <a:xfrm>
            <a:off x="11010900" y="8458200"/>
            <a:ext cx="2387600" cy="2260600"/>
          </a:xfrm>
          <a:prstGeom prst="rect">
            <a:avLst/>
          </a:prstGeom>
          <a:ln w="12700">
            <a:miter lim="400000"/>
          </a:ln>
        </p:spPr>
      </p:pic>
      <p:pic>
        <p:nvPicPr>
          <p:cNvPr id="1205" name="droppedImage.pdf" descr="droppedImage.pdf"/>
          <p:cNvPicPr>
            <a:picLocks noChangeAspect="1"/>
          </p:cNvPicPr>
          <p:nvPr/>
        </p:nvPicPr>
        <p:blipFill>
          <a:blip r:embed="rId5">
            <a:extLst/>
          </a:blip>
          <a:stretch>
            <a:fillRect/>
          </a:stretch>
        </p:blipFill>
        <p:spPr>
          <a:xfrm>
            <a:off x="9182100" y="6502400"/>
            <a:ext cx="6045200" cy="2387600"/>
          </a:xfrm>
          <a:prstGeom prst="rect">
            <a:avLst/>
          </a:prstGeom>
          <a:ln w="12700">
            <a:miter lim="400000"/>
          </a:ln>
        </p:spPr>
      </p:pic>
      <p:pic>
        <p:nvPicPr>
          <p:cNvPr id="1206" name="droppedImage.pdf" descr="droppedImage.pdf"/>
          <p:cNvPicPr>
            <a:picLocks noChangeAspect="1"/>
          </p:cNvPicPr>
          <p:nvPr/>
        </p:nvPicPr>
        <p:blipFill>
          <a:blip r:embed="rId6">
            <a:extLst/>
          </a:blip>
          <a:stretch>
            <a:fillRect/>
          </a:stretch>
        </p:blipFill>
        <p:spPr>
          <a:xfrm>
            <a:off x="12077700" y="7620000"/>
            <a:ext cx="228600" cy="355600"/>
          </a:xfrm>
          <a:prstGeom prst="rect">
            <a:avLst/>
          </a:prstGeom>
          <a:ln w="12700">
            <a:miter lim="400000"/>
          </a:ln>
        </p:spPr>
      </p:pic>
      <p:pic>
        <p:nvPicPr>
          <p:cNvPr id="1207" name="droppedImage.pdf" descr="droppedImage.pdf"/>
          <p:cNvPicPr>
            <a:picLocks noChangeAspect="1"/>
          </p:cNvPicPr>
          <p:nvPr/>
        </p:nvPicPr>
        <p:blipFill>
          <a:blip r:embed="rId7">
            <a:extLst/>
          </a:blip>
          <a:stretch>
            <a:fillRect/>
          </a:stretch>
        </p:blipFill>
        <p:spPr>
          <a:xfrm>
            <a:off x="12077700" y="7620000"/>
            <a:ext cx="228600" cy="355600"/>
          </a:xfrm>
          <a:prstGeom prst="rect">
            <a:avLst/>
          </a:prstGeom>
          <a:ln w="12700">
            <a:miter lim="400000"/>
          </a:ln>
        </p:spPr>
      </p:pic>
      <p:pic>
        <p:nvPicPr>
          <p:cNvPr id="1208" name="droppedImage.pdf" descr="droppedImage.pdf"/>
          <p:cNvPicPr>
            <a:picLocks noChangeAspect="1"/>
          </p:cNvPicPr>
          <p:nvPr/>
        </p:nvPicPr>
        <p:blipFill>
          <a:blip r:embed="rId8">
            <a:extLst/>
          </a:blip>
          <a:stretch>
            <a:fillRect/>
          </a:stretch>
        </p:blipFill>
        <p:spPr>
          <a:xfrm>
            <a:off x="12077700" y="7620000"/>
            <a:ext cx="228600" cy="355600"/>
          </a:xfrm>
          <a:prstGeom prst="rect">
            <a:avLst/>
          </a:prstGeom>
          <a:ln w="12700">
            <a:miter lim="400000"/>
          </a:ln>
        </p:spPr>
      </p:pic>
      <p:pic>
        <p:nvPicPr>
          <p:cNvPr id="1209" name="droppedImage.pdf" descr="droppedImage.pdf"/>
          <p:cNvPicPr>
            <a:picLocks noChangeAspect="1"/>
          </p:cNvPicPr>
          <p:nvPr/>
        </p:nvPicPr>
        <p:blipFill>
          <a:blip r:embed="rId9">
            <a:extLst/>
          </a:blip>
          <a:stretch>
            <a:fillRect/>
          </a:stretch>
        </p:blipFill>
        <p:spPr>
          <a:xfrm>
            <a:off x="9131300" y="3429000"/>
            <a:ext cx="2387600" cy="2387600"/>
          </a:xfrm>
          <a:prstGeom prst="rect">
            <a:avLst/>
          </a:prstGeom>
          <a:ln w="12700">
            <a:miter lim="400000"/>
          </a:ln>
        </p:spPr>
      </p:pic>
      <p:pic>
        <p:nvPicPr>
          <p:cNvPr id="1210" name="droppedImage.pdf" descr="droppedImage.pdf"/>
          <p:cNvPicPr>
            <a:picLocks noChangeAspect="1"/>
          </p:cNvPicPr>
          <p:nvPr/>
        </p:nvPicPr>
        <p:blipFill>
          <a:blip r:embed="rId9">
            <a:extLst/>
          </a:blip>
          <a:stretch>
            <a:fillRect/>
          </a:stretch>
        </p:blipFill>
        <p:spPr>
          <a:xfrm>
            <a:off x="12890500" y="3429000"/>
            <a:ext cx="2387600" cy="2387600"/>
          </a:xfrm>
          <a:prstGeom prst="rect">
            <a:avLst/>
          </a:prstGeom>
          <a:ln w="12700">
            <a:miter lim="400000"/>
          </a:ln>
        </p:spPr>
      </p:pic>
      <p:sp>
        <p:nvSpPr>
          <p:cNvPr id="1211" name="*"/>
          <p:cNvSpPr txBox="1"/>
          <p:nvPr/>
        </p:nvSpPr>
        <p:spPr>
          <a:xfrm>
            <a:off x="23583900" y="12090400"/>
            <a:ext cx="355651" cy="723900"/>
          </a:xfrm>
          <a:prstGeom prst="rect">
            <a:avLst/>
          </a:prstGeom>
          <a:ln w="12700">
            <a:miter lim="400000"/>
          </a:ln>
          <a:extLst>
            <a:ext uri="{C572A759-6A51-4108-AA02-DFA0A04FC94B}">
              <ma14:wrappingTextBoxFlag xmlns:ma14="http://schemas.microsoft.com/office/mac/drawingml/2011/main" val="1"/>
            </a:ext>
          </a:extLst>
        </p:spPr>
        <p:txBody>
          <a:bodyPr wrap="none" lIns="76200" tIns="76200" rIns="76200" bIns="76200">
            <a:spAutoFit/>
          </a:bodyPr>
          <a:lstStyle>
            <a:lvl1pPr defTabSz="914400">
              <a:defRPr u="sng"/>
            </a:lvl1pPr>
          </a:lstStyle>
          <a:p>
            <a:pPr/>
            <a:r>
              <a:t>*</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209"/>
                                        </p:tgtEl>
                                        <p:attrNameLst>
                                          <p:attrName>style.visibility</p:attrName>
                                        </p:attrNameLst>
                                      </p:cBhvr>
                                      <p:to>
                                        <p:strVal val="visible"/>
                                      </p:to>
                                    </p:set>
                                  </p:childTnLst>
                                </p:cTn>
                              </p:par>
                            </p:childTnLst>
                          </p:cTn>
                        </p:par>
                        <p:par>
                          <p:cTn id="7" fill="hold">
                            <p:stCondLst>
                              <p:cond delay="0"/>
                            </p:stCondLst>
                            <p:childTnLst>
                              <p:par>
                                <p:cTn id="8" presetClass="path" nodeType="afterEffect" presetSubtype="0" presetID="-1" grpId="2" accel="50000" decel="50000" fill="hold">
                                  <p:stCondLst>
                                    <p:cond delay="0"/>
                                  </p:stCondLst>
                                  <p:childTnLst>
                                    <p:animMotion path="M 0.000000 0.000000 L 0.000000 0.224074" origin="layout" pathEditMode="relative">
                                      <p:cBhvr>
                                        <p:cTn id="9" dur="1000" fill="hold"/>
                                        <p:tgtEl>
                                          <p:spTgt spid="1209"/>
                                        </p:tgtEl>
                                        <p:attrNameLst>
                                          <p:attrName>ppt_x</p:attrName>
                                          <p:attrName>ppt_y</p:attrName>
                                        </p:attrNameLst>
                                      </p:cBhvr>
                                    </p:animMotion>
                                  </p:childTnLst>
                                </p:cTn>
                              </p:par>
                            </p:childTnLst>
                          </p:cTn>
                        </p:par>
                        <p:par>
                          <p:cTn id="10" fill="hold">
                            <p:stCondLst>
                              <p:cond delay="1000"/>
                            </p:stCondLst>
                            <p:childTnLst>
                              <p:par>
                                <p:cTn id="11" presetClass="exit" nodeType="afterEffect" presetID="10" grpId="3" fill="hold">
                                  <p:stCondLst>
                                    <p:cond delay="0"/>
                                  </p:stCondLst>
                                  <p:iterate type="el" backwards="0">
                                    <p:tmAbs val="0"/>
                                  </p:iterate>
                                  <p:childTnLst>
                                    <p:animEffect filter="fade" transition="out">
                                      <p:cBhvr>
                                        <p:cTn id="12" dur="1000" fill="hold"/>
                                        <p:tgtEl>
                                          <p:spTgt spid="1202"/>
                                        </p:tgtEl>
                                      </p:cBhvr>
                                    </p:animEffect>
                                    <p:set>
                                      <p:cBhvr>
                                        <p:cTn id="13" fill="hold">
                                          <p:stCondLst>
                                            <p:cond delay="999"/>
                                          </p:stCondLst>
                                        </p:cTn>
                                        <p:tgtEl>
                                          <p:spTgt spid="1202"/>
                                        </p:tgtEl>
                                        <p:attrNameLst>
                                          <p:attrName>style.visibility</p:attrName>
                                        </p:attrNameLst>
                                      </p:cBhvr>
                                      <p:to>
                                        <p:strVal val="hidden"/>
                                      </p:to>
                                    </p:set>
                                  </p:childTnLst>
                                </p:cTn>
                              </p:par>
                            </p:childTnLst>
                          </p:cTn>
                        </p:par>
                        <p:par>
                          <p:cTn id="14" fill="hold">
                            <p:stCondLst>
                              <p:cond delay="2000"/>
                            </p:stCondLst>
                            <p:childTnLst>
                              <p:par>
                                <p:cTn id="15" presetClass="exit" nodeType="afterEffect" presetSubtype="0" presetID="1" grpId="4" fill="hold">
                                  <p:stCondLst>
                                    <p:cond delay="0"/>
                                  </p:stCondLst>
                                  <p:iterate type="el" backwards="0">
                                    <p:tmAbs val="0"/>
                                  </p:iterate>
                                  <p:childTnLst>
                                    <p:set>
                                      <p:cBhvr>
                                        <p:cTn id="16" fill="hold">
                                          <p:stCondLst>
                                            <p:cond delay="0"/>
                                          </p:stCondLst>
                                        </p:cTn>
                                        <p:tgtEl>
                                          <p:spTgt spid="1206"/>
                                        </p:tgtEl>
                                        <p:attrNameLst>
                                          <p:attrName>style.visibility</p:attrName>
                                        </p:attrNameLst>
                                      </p:cBhvr>
                                      <p:to>
                                        <p:strVal val="hidden"/>
                                      </p:to>
                                    </p:set>
                                  </p:childTnLst>
                                </p:cTn>
                              </p:par>
                            </p:childTnLst>
                          </p:cTn>
                        </p:par>
                        <p:par>
                          <p:cTn id="17" fill="hold">
                            <p:stCondLst>
                              <p:cond delay="2000"/>
                            </p:stCondLst>
                            <p:childTnLst>
                              <p:par>
                                <p:cTn id="18" presetClass="entr" nodeType="afterEffect" presetSubtype="0" presetID="1" grpId="5" fill="hold">
                                  <p:stCondLst>
                                    <p:cond delay="0"/>
                                  </p:stCondLst>
                                  <p:iterate type="el" backwards="0">
                                    <p:tmAbs val="0"/>
                                  </p:iterate>
                                  <p:childTnLst>
                                    <p:set>
                                      <p:cBhvr>
                                        <p:cTn id="19" fill="hold"/>
                                        <p:tgtEl>
                                          <p:spTgt spid="120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Class="entr" nodeType="clickEffect" presetSubtype="0" presetID="1" grpId="6" fill="hold">
                                  <p:stCondLst>
                                    <p:cond delay="0"/>
                                  </p:stCondLst>
                                  <p:iterate type="el" backwards="0">
                                    <p:tmAbs val="0"/>
                                  </p:iterate>
                                  <p:childTnLst>
                                    <p:set>
                                      <p:cBhvr>
                                        <p:cTn id="23" fill="hold"/>
                                        <p:tgtEl>
                                          <p:spTgt spid="1210"/>
                                        </p:tgtEl>
                                        <p:attrNameLst>
                                          <p:attrName>style.visibility</p:attrName>
                                        </p:attrNameLst>
                                      </p:cBhvr>
                                      <p:to>
                                        <p:strVal val="visible"/>
                                      </p:to>
                                    </p:set>
                                  </p:childTnLst>
                                </p:cTn>
                              </p:par>
                            </p:childTnLst>
                          </p:cTn>
                        </p:par>
                        <p:par>
                          <p:cTn id="24" fill="hold">
                            <p:stCondLst>
                              <p:cond delay="0"/>
                            </p:stCondLst>
                            <p:childTnLst>
                              <p:par>
                                <p:cTn id="25" presetClass="path" nodeType="afterEffect" presetSubtype="0" presetID="-1" grpId="7" accel="50000" decel="50000" fill="hold">
                                  <p:stCondLst>
                                    <p:cond delay="0"/>
                                  </p:stCondLst>
                                  <p:childTnLst>
                                    <p:animMotion path="M 0.000000 0.000000 L 0.000000 0.224074" origin="layout" pathEditMode="relative">
                                      <p:cBhvr>
                                        <p:cTn id="26" dur="1000" fill="hold"/>
                                        <p:tgtEl>
                                          <p:spTgt spid="1210"/>
                                        </p:tgtEl>
                                        <p:attrNameLst>
                                          <p:attrName>ppt_x</p:attrName>
                                          <p:attrName>ppt_y</p:attrName>
                                        </p:attrNameLst>
                                      </p:cBhvr>
                                    </p:animMotion>
                                  </p:childTnLst>
                                </p:cTn>
                              </p:par>
                            </p:childTnLst>
                          </p:cTn>
                        </p:par>
                        <p:par>
                          <p:cTn id="27" fill="hold">
                            <p:stCondLst>
                              <p:cond delay="1000"/>
                            </p:stCondLst>
                            <p:childTnLst>
                              <p:par>
                                <p:cTn id="28" presetClass="exit" nodeType="afterEffect" presetID="10" grpId="8" fill="hold">
                                  <p:stCondLst>
                                    <p:cond delay="0"/>
                                  </p:stCondLst>
                                  <p:iterate type="el" backwards="0">
                                    <p:tmAbs val="0"/>
                                  </p:iterate>
                                  <p:childTnLst>
                                    <p:animEffect filter="fade" transition="out">
                                      <p:cBhvr>
                                        <p:cTn id="29" dur="1000" fill="hold"/>
                                        <p:tgtEl>
                                          <p:spTgt spid="1203"/>
                                        </p:tgtEl>
                                      </p:cBhvr>
                                    </p:animEffect>
                                    <p:set>
                                      <p:cBhvr>
                                        <p:cTn id="30" fill="hold">
                                          <p:stCondLst>
                                            <p:cond delay="999"/>
                                          </p:stCondLst>
                                        </p:cTn>
                                        <p:tgtEl>
                                          <p:spTgt spid="1203"/>
                                        </p:tgtEl>
                                        <p:attrNameLst>
                                          <p:attrName>style.visibility</p:attrName>
                                        </p:attrNameLst>
                                      </p:cBhvr>
                                      <p:to>
                                        <p:strVal val="hidden"/>
                                      </p:to>
                                    </p:set>
                                  </p:childTnLst>
                                </p:cTn>
                              </p:par>
                            </p:childTnLst>
                          </p:cTn>
                        </p:par>
                        <p:par>
                          <p:cTn id="31" fill="hold">
                            <p:stCondLst>
                              <p:cond delay="2000"/>
                            </p:stCondLst>
                            <p:childTnLst>
                              <p:par>
                                <p:cTn id="32" presetClass="exit" nodeType="afterEffect" presetSubtype="0" presetID="1" grpId="9" fill="hold">
                                  <p:stCondLst>
                                    <p:cond delay="0"/>
                                  </p:stCondLst>
                                  <p:iterate type="el" backwards="0">
                                    <p:tmAbs val="0"/>
                                  </p:iterate>
                                  <p:childTnLst>
                                    <p:set>
                                      <p:cBhvr>
                                        <p:cTn id="33" fill="hold">
                                          <p:stCondLst>
                                            <p:cond delay="0"/>
                                          </p:stCondLst>
                                        </p:cTn>
                                        <p:tgtEl>
                                          <p:spTgt spid="1207"/>
                                        </p:tgtEl>
                                        <p:attrNameLst>
                                          <p:attrName>style.visibility</p:attrName>
                                        </p:attrNameLst>
                                      </p:cBhvr>
                                      <p:to>
                                        <p:strVal val="hidden"/>
                                      </p:to>
                                    </p:set>
                                  </p:childTnLst>
                                </p:cTn>
                              </p:par>
                            </p:childTnLst>
                          </p:cTn>
                        </p:par>
                        <p:par>
                          <p:cTn id="34" fill="hold">
                            <p:stCondLst>
                              <p:cond delay="2000"/>
                            </p:stCondLst>
                            <p:childTnLst>
                              <p:par>
                                <p:cTn id="35" presetClass="entr" nodeType="afterEffect" presetSubtype="0" presetID="1" grpId="10" fill="hold">
                                  <p:stCondLst>
                                    <p:cond delay="0"/>
                                  </p:stCondLst>
                                  <p:iterate type="el" backwards="0">
                                    <p:tmAbs val="0"/>
                                  </p:iterate>
                                  <p:childTnLst>
                                    <p:set>
                                      <p:cBhvr>
                                        <p:cTn id="36" fill="hold"/>
                                        <p:tgtEl>
                                          <p:spTgt spid="1208"/>
                                        </p:tgtEl>
                                        <p:attrNameLst>
                                          <p:attrName>style.visibility</p:attrName>
                                        </p:attrNameLst>
                                      </p:cBhvr>
                                      <p:to>
                                        <p:strVal val="visible"/>
                                      </p:to>
                                    </p:set>
                                  </p:childTnLst>
                                </p:cTn>
                              </p:par>
                            </p:childTnLst>
                          </p:cTn>
                        </p:par>
                        <p:par>
                          <p:cTn id="37" fill="hold">
                            <p:stCondLst>
                              <p:cond delay="2000"/>
                            </p:stCondLst>
                            <p:childTnLst>
                              <p:par>
                                <p:cTn id="38" presetClass="entr" nodeType="afterEffect" presetID="10" grpId="11" fill="hold">
                                  <p:stCondLst>
                                    <p:cond delay="0"/>
                                  </p:stCondLst>
                                  <p:iterate type="el" backwards="0">
                                    <p:tmAbs val="0"/>
                                  </p:iterate>
                                  <p:childTnLst>
                                    <p:set>
                                      <p:cBhvr>
                                        <p:cTn id="39" fill="hold"/>
                                        <p:tgtEl>
                                          <p:spTgt spid="1204"/>
                                        </p:tgtEl>
                                        <p:attrNameLst>
                                          <p:attrName>style.visibility</p:attrName>
                                        </p:attrNameLst>
                                      </p:cBhvr>
                                      <p:to>
                                        <p:strVal val="visible"/>
                                      </p:to>
                                    </p:set>
                                    <p:animEffect filter="fade" transition="in">
                                      <p:cBhvr>
                                        <p:cTn id="40" dur="1000"/>
                                        <p:tgtEl>
                                          <p:spTgt spid="12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02" grpId="3"/>
      <p:bldP build="whole" bldLvl="1" animBg="1" rev="0" advAuto="0" spid="1207" grpId="5"/>
      <p:bldP build="whole" bldLvl="1" animBg="1" rev="0" advAuto="0" spid="1210" grpId="6"/>
      <p:bldP build="whole" bldLvl="1" animBg="1" rev="0" advAuto="0" spid="1204" grpId="11"/>
      <p:bldP build="whole" bldLvl="1" animBg="1" rev="0" advAuto="0" spid="1209" grpId="1"/>
      <p:bldP build="whole" bldLvl="1" animBg="1" rev="0" advAuto="0" spid="1207" grpId="9"/>
      <p:bldP build="whole" bldLvl="1" animBg="1" rev="0" advAuto="0" spid="1206" grpId="4"/>
      <p:bldP build="whole" bldLvl="1" animBg="1" rev="0" advAuto="0" spid="1208" grpId="10"/>
      <p:bldP build="whole" bldLvl="1" animBg="1" rev="0" advAuto="0" spid="1203" grpId="8"/>
    </p:bldLst>
  </p:timing>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5" name="Futures: Continuations"/>
          <p:cNvSpPr txBox="1"/>
          <p:nvPr>
            <p:ph type="title"/>
          </p:nvPr>
        </p:nvSpPr>
        <p:spPr>
          <a:prstGeom prst="rect">
            <a:avLst/>
          </a:prstGeom>
        </p:spPr>
        <p:txBody>
          <a:bodyPr lIns="76200" tIns="76200" rIns="76200" bIns="76200"/>
          <a:lstStyle/>
          <a:p>
            <a:pPr defTabSz="2176581">
              <a:defRPr sz="4200"/>
            </a:pPr>
            <a:r>
              <a:t>Futures: </a:t>
            </a:r>
            <a:r>
              <a:t>Continuations</a:t>
            </a:r>
          </a:p>
        </p:txBody>
      </p:sp>
      <p:sp>
        <p:nvSpPr>
          <p:cNvPr id="1216" name="auto x = async([]{ return fibonacci&lt;cpp_int&gt;(1'000'000); });…"/>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546100" algn="l"/>
              </a:tabLst>
              <a:defRPr sz="2400">
                <a:solidFill>
                  <a:srgbClr val="31595D"/>
                </a:solidFill>
                <a:uFillTx/>
                <a:latin typeface="Menlo Regular"/>
                <a:ea typeface="Menlo Regular"/>
                <a:cs typeface="Menlo Regular"/>
                <a:sym typeface="Menlo Regular"/>
              </a:defRPr>
            </a:pPr>
            <a:r>
              <a:rPr>
                <a:solidFill>
                  <a:srgbClr val="000000"/>
                </a:solidFill>
              </a:rPr>
              <a:t>    </a:t>
            </a:r>
            <a:r>
              <a:rPr>
                <a:solidFill>
                  <a:srgbClr val="BB2CA2"/>
                </a:solidFill>
              </a:rPr>
              <a:t>auto</a:t>
            </a:r>
            <a:r>
              <a:rPr>
                <a:solidFill>
                  <a:srgbClr val="000000"/>
                </a:solidFill>
              </a:rPr>
              <a:t> x = </a:t>
            </a:r>
            <a:r>
              <a:rPr>
                <a:solidFill>
                  <a:srgbClr val="3D1D81"/>
                </a:solidFill>
              </a:rPr>
              <a:t>async</a:t>
            </a:r>
            <a:r>
              <a:rPr>
                <a:solidFill>
                  <a:srgbClr val="000000"/>
                </a:solidFill>
              </a:rPr>
              <a:t>([]{ </a:t>
            </a:r>
            <a:r>
              <a:rPr>
                <a:solidFill>
                  <a:srgbClr val="BB2CA2"/>
                </a:solidFill>
              </a:rPr>
              <a:t>return</a:t>
            </a:r>
            <a:r>
              <a:rPr>
                <a:solidFill>
                  <a:srgbClr val="000000"/>
                </a:solidFill>
              </a:rPr>
              <a:t> </a:t>
            </a:r>
            <a:r>
              <a:t>fibonacci</a:t>
            </a:r>
            <a:r>
              <a:rPr>
                <a:solidFill>
                  <a:srgbClr val="000000"/>
                </a:solidFill>
              </a:rPr>
              <a:t>&lt;</a:t>
            </a:r>
            <a:r>
              <a:rPr>
                <a:solidFill>
                  <a:srgbClr val="703DAA"/>
                </a:solidFill>
              </a:rPr>
              <a:t>cpp_int</a:t>
            </a:r>
            <a:r>
              <a:rPr>
                <a:solidFill>
                  <a:srgbClr val="000000"/>
                </a:solidFill>
              </a:rPr>
              <a:t>&gt;(</a:t>
            </a:r>
            <a:r>
              <a:rPr>
                <a:solidFill>
                  <a:srgbClr val="272AD8"/>
                </a:solidFill>
              </a:rPr>
              <a:t>1'000'000</a:t>
            </a:r>
            <a:r>
              <a:rPr>
                <a:solidFill>
                  <a:srgbClr val="000000"/>
                </a:solidFill>
              </a:rPr>
              <a:t>); });</a:t>
            </a:r>
            <a:endParaRPr>
              <a:solidFill>
                <a:srgbClr val="000000"/>
              </a:solidFill>
            </a:endParaRPr>
          </a:p>
          <a:p>
            <a:pPr marL="0" indent="0" defTabSz="457200">
              <a:spcBef>
                <a:spcPts val="0"/>
              </a:spcBef>
              <a:buClrTx/>
              <a:buSzTx/>
              <a:buNone/>
              <a:tabLst>
                <a:tab pos="546100" algn="l"/>
              </a:tabLst>
              <a:defRPr sz="2400">
                <a:solidFill>
                  <a:srgbClr val="31595D"/>
                </a:solidFill>
                <a:uFillTx/>
                <a:latin typeface="Menlo Regular"/>
                <a:ea typeface="Menlo Regular"/>
                <a:cs typeface="Menlo Regular"/>
                <a:sym typeface="Menlo Regular"/>
              </a:defRPr>
            </a:pPr>
            <a:r>
              <a:rPr>
                <a:solidFill>
                  <a:srgbClr val="000000"/>
                </a:solidFill>
              </a:rPr>
              <a:t>    </a:t>
            </a:r>
            <a:r>
              <a:rPr>
                <a:solidFill>
                  <a:srgbClr val="BB2CA2"/>
                </a:solidFill>
              </a:rPr>
              <a:t>auto</a:t>
            </a:r>
            <a:r>
              <a:rPr>
                <a:solidFill>
                  <a:srgbClr val="000000"/>
                </a:solidFill>
              </a:rPr>
              <a:t> y = </a:t>
            </a:r>
            <a:r>
              <a:rPr>
                <a:solidFill>
                  <a:srgbClr val="3D1D81"/>
                </a:solidFill>
              </a:rPr>
              <a:t>async</a:t>
            </a:r>
            <a:r>
              <a:rPr>
                <a:solidFill>
                  <a:srgbClr val="000000"/>
                </a:solidFill>
              </a:rPr>
              <a:t>([]{ </a:t>
            </a:r>
            <a:r>
              <a:rPr>
                <a:solidFill>
                  <a:srgbClr val="BB2CA2"/>
                </a:solidFill>
              </a:rPr>
              <a:t>return</a:t>
            </a:r>
            <a:r>
              <a:rPr>
                <a:solidFill>
                  <a:srgbClr val="000000"/>
                </a:solidFill>
              </a:rPr>
              <a:t> </a:t>
            </a:r>
            <a:r>
              <a:t>fibonacci</a:t>
            </a:r>
            <a:r>
              <a:rPr>
                <a:solidFill>
                  <a:srgbClr val="000000"/>
                </a:solidFill>
              </a:rPr>
              <a:t>&lt;</a:t>
            </a:r>
            <a:r>
              <a:rPr>
                <a:solidFill>
                  <a:srgbClr val="703DAA"/>
                </a:solidFill>
              </a:rPr>
              <a:t>cpp_int</a:t>
            </a:r>
            <a:r>
              <a:rPr>
                <a:solidFill>
                  <a:srgbClr val="000000"/>
                </a:solidFill>
              </a:rPr>
              <a:t>&gt;(</a:t>
            </a:r>
            <a:r>
              <a:rPr>
                <a:solidFill>
                  <a:srgbClr val="272AD8"/>
                </a:solidFill>
              </a:rPr>
              <a:t>2'000'000</a:t>
            </a:r>
            <a:r>
              <a:rPr>
                <a:solidFill>
                  <a:srgbClr val="000000"/>
                </a:solidFill>
              </a:rPr>
              <a:t>); });</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3D1D81"/>
                </a:solidFill>
                <a:uFillTx/>
                <a:latin typeface="Menlo Regular"/>
                <a:ea typeface="Menlo Regular"/>
                <a:cs typeface="Menlo Regular"/>
                <a:sym typeface="Menlo Regular"/>
              </a:defRPr>
            </a:pPr>
            <a:r>
              <a:rPr>
                <a:solidFill>
                  <a:srgbClr val="000000"/>
                </a:solidFill>
              </a:rPr>
              <a:t>    </a:t>
            </a:r>
            <a:r>
              <a:rPr>
                <a:solidFill>
                  <a:srgbClr val="BB2CA2"/>
                </a:solidFill>
              </a:rPr>
              <a:t>auto</a:t>
            </a:r>
            <a:r>
              <a:rPr>
                <a:solidFill>
                  <a:srgbClr val="000000"/>
                </a:solidFill>
              </a:rPr>
              <a:t> z = </a:t>
            </a:r>
            <a:r>
              <a:t>when_all</a:t>
            </a:r>
            <a:r>
              <a:rPr>
                <a:solidFill>
                  <a:srgbClr val="000000"/>
                </a:solidFill>
              </a:rPr>
              <a:t>(</a:t>
            </a:r>
            <a:r>
              <a:rPr>
                <a:solidFill>
                  <a:srgbClr val="703DAA"/>
                </a:solidFill>
              </a:rPr>
              <a:t>std</a:t>
            </a:r>
            <a:r>
              <a:rPr>
                <a:solidFill>
                  <a:srgbClr val="000000"/>
                </a:solidFill>
              </a:rPr>
              <a:t>::</a:t>
            </a:r>
            <a:r>
              <a:t>move</a:t>
            </a:r>
            <a:r>
              <a:rPr>
                <a:solidFill>
                  <a:srgbClr val="000000"/>
                </a:solidFill>
              </a:rPr>
              <a:t>(x), </a:t>
            </a:r>
            <a:r>
              <a:rPr>
                <a:solidFill>
                  <a:srgbClr val="703DAA"/>
                </a:solidFill>
              </a:rPr>
              <a:t>std</a:t>
            </a:r>
            <a:r>
              <a:rPr>
                <a:solidFill>
                  <a:srgbClr val="000000"/>
                </a:solidFill>
              </a:rPr>
              <a:t>::</a:t>
            </a:r>
            <a:r>
              <a:t>move</a:t>
            </a:r>
            <a:r>
              <a:rPr>
                <a:solidFill>
                  <a:srgbClr val="000000"/>
                </a:solidFill>
              </a:rPr>
              <a:t>(y)).</a:t>
            </a:r>
            <a:r>
              <a:t>then</a:t>
            </a:r>
            <a:r>
              <a:rPr>
                <a:solidFill>
                  <a:srgbClr val="000000"/>
                </a:solidFill>
              </a:rPr>
              <a:t>([](</a:t>
            </a:r>
            <a:r>
              <a:rPr>
                <a:solidFill>
                  <a:srgbClr val="BB2CA2"/>
                </a:solidFill>
              </a:rPr>
              <a:t>auto</a:t>
            </a:r>
            <a:r>
              <a:rPr>
                <a:solidFill>
                  <a:srgbClr val="000000"/>
                </a:solidFill>
              </a:rPr>
              <a:t> f){</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auto</a:t>
            </a:r>
            <a:r>
              <a:t> t = f.get();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return</a:t>
            </a:r>
            <a:r>
              <a:t> </a:t>
            </a:r>
            <a:r>
              <a:rPr>
                <a:solidFill>
                  <a:srgbClr val="703DAA"/>
                </a:solidFill>
              </a:rPr>
              <a:t>cpp_int</a:t>
            </a:r>
            <a:r>
              <a:t>(get&lt;</a:t>
            </a:r>
            <a:r>
              <a:rPr>
                <a:solidFill>
                  <a:srgbClr val="272AD8"/>
                </a:solidFill>
              </a:rPr>
              <a:t>0</a:t>
            </a:r>
            <a:r>
              <a:t>&gt;(t).get() * get&lt;</a:t>
            </a:r>
            <a:r>
              <a:rPr>
                <a:solidFill>
                  <a:srgbClr val="272AD8"/>
                </a:solidFill>
              </a:rPr>
              <a:t>1</a:t>
            </a:r>
            <a:r>
              <a:t>&gt;(t).get());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cout</a:t>
            </a:r>
            <a:r>
              <a:t> &lt;&lt; z.</a:t>
            </a:r>
            <a:r>
              <a:rPr>
                <a:solidFill>
                  <a:srgbClr val="3D1D81"/>
                </a:solidFill>
              </a:rPr>
              <a:t>get</a:t>
            </a:r>
            <a:r>
              <a:t>() &lt;&lt; </a:t>
            </a:r>
            <a:r>
              <a:rPr>
                <a:solidFill>
                  <a:srgbClr val="3D1D81"/>
                </a:solidFill>
              </a:rPr>
              <a:t>endl</a:t>
            </a:r>
            <a:r>
              <a:t>;</a:t>
            </a:r>
          </a:p>
        </p:txBody>
      </p:sp>
      <p:sp>
        <p:nvSpPr>
          <p:cNvPr id="1217"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218" name="f is a future tuple of futures"/>
          <p:cNvSpPr txBox="1"/>
          <p:nvPr/>
        </p:nvSpPr>
        <p:spPr>
          <a:xfrm>
            <a:off x="9659569" y="6521450"/>
            <a:ext cx="5064862" cy="673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f is a future tuple of futures</a:t>
            </a:r>
          </a:p>
        </p:txBody>
      </p:sp>
      <p:sp>
        <p:nvSpPr>
          <p:cNvPr id="1219" name="result is 626,964 digits"/>
          <p:cNvSpPr txBox="1"/>
          <p:nvPr/>
        </p:nvSpPr>
        <p:spPr>
          <a:xfrm>
            <a:off x="10109504" y="7760196"/>
            <a:ext cx="4209442" cy="673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result is 626,964 digits</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2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18" grpId="1"/>
      <p:bldP build="whole" bldLvl="1" animBg="1" rev="0" advAuto="0" spid="1219" grpId="2"/>
    </p:bldLst>
  </p:timing>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1"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222"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223"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224" name="Futures: Split"/>
          <p:cNvSpPr txBox="1"/>
          <p:nvPr>
            <p:ph type="title"/>
          </p:nvPr>
        </p:nvSpPr>
        <p:spPr>
          <a:xfrm>
            <a:off x="609600" y="368300"/>
            <a:ext cx="23182917" cy="822325"/>
          </a:xfrm>
          <a:prstGeom prst="rect">
            <a:avLst/>
          </a:prstGeom>
        </p:spPr>
        <p:txBody>
          <a:bodyPr/>
          <a:lstStyle>
            <a:lvl1pPr>
              <a:defRPr sz="4200"/>
            </a:lvl1pPr>
          </a:lstStyle>
          <a:p>
            <a:pPr/>
            <a:r>
              <a:t>Futures: Split</a:t>
            </a:r>
          </a:p>
        </p:txBody>
      </p:sp>
      <p:sp>
        <p:nvSpPr>
          <p:cNvPr id="1225" name="Slide Number"/>
          <p:cNvSpPr txBox="1"/>
          <p:nvPr>
            <p:ph type="sldNum" sz="quarter" idx="2"/>
          </p:nvPr>
        </p:nvSpPr>
        <p:spPr>
          <a:xfrm>
            <a:off x="12038313" y="12934946"/>
            <a:ext cx="326442"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226"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pic>
        <p:nvPicPr>
          <p:cNvPr id="1227" name="Image" descr="Image"/>
          <p:cNvPicPr>
            <a:picLocks noChangeAspect="1"/>
          </p:cNvPicPr>
          <p:nvPr/>
        </p:nvPicPr>
        <p:blipFill>
          <a:blip r:embed="rId3">
            <a:extLst/>
          </a:blip>
          <a:stretch>
            <a:fillRect/>
          </a:stretch>
        </p:blipFill>
        <p:spPr>
          <a:xfrm>
            <a:off x="3175000" y="2641600"/>
            <a:ext cx="18034000" cy="8432800"/>
          </a:xfrm>
          <a:prstGeom prst="rect">
            <a:avLst/>
          </a:prstGeom>
          <a:ln w="12700">
            <a:miter lim="400000"/>
          </a:ln>
        </p:spPr>
      </p:pic>
    </p:spTree>
  </p:cSld>
  <p:clrMapOvr>
    <a:masterClrMapping/>
  </p:clrMapOvr>
  <p:transition xmlns:p14="http://schemas.microsoft.com/office/powerpoint/2010/main" spd="fast" advClick="1"/>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9" name="Futures: Continuations"/>
          <p:cNvSpPr txBox="1"/>
          <p:nvPr>
            <p:ph type="title"/>
          </p:nvPr>
        </p:nvSpPr>
        <p:spPr>
          <a:prstGeom prst="rect">
            <a:avLst/>
          </a:prstGeom>
        </p:spPr>
        <p:txBody>
          <a:bodyPr lIns="76200" tIns="76200" rIns="76200" bIns="76200"/>
          <a:lstStyle/>
          <a:p>
            <a:pPr defTabSz="2176581">
              <a:defRPr sz="4200"/>
            </a:pPr>
            <a:r>
              <a:t>Futures: </a:t>
            </a:r>
            <a:r>
              <a:t>Continuations</a:t>
            </a:r>
          </a:p>
        </p:txBody>
      </p:sp>
      <p:sp>
        <p:nvSpPr>
          <p:cNvPr id="1230" name="future&lt;cpp_int&gt; x = async([]{ return fibonacci&lt;cpp_int&gt;(100); });…"/>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546100" algn="l"/>
              </a:tabLst>
              <a:defRPr sz="2400">
                <a:solidFill>
                  <a:srgbClr val="31595D"/>
                </a:solidFill>
                <a:uFillTx/>
                <a:latin typeface="Menlo Regular"/>
                <a:ea typeface="Menlo Regular"/>
                <a:cs typeface="Menlo Regular"/>
                <a:sym typeface="Menlo Regular"/>
              </a:defRPr>
            </a:pPr>
            <a:r>
              <a:rPr>
                <a:solidFill>
                  <a:srgbClr val="000000"/>
                </a:solidFill>
              </a:rPr>
              <a:t>    </a:t>
            </a:r>
            <a:r>
              <a:rPr>
                <a:solidFill>
                  <a:srgbClr val="4F8187"/>
                </a:solidFill>
              </a:rPr>
              <a:t>future</a:t>
            </a:r>
            <a:r>
              <a:rPr>
                <a:solidFill>
                  <a:srgbClr val="000000"/>
                </a:solidFill>
              </a:rPr>
              <a:t>&lt;</a:t>
            </a:r>
            <a:r>
              <a:rPr>
                <a:solidFill>
                  <a:srgbClr val="703DAA"/>
                </a:solidFill>
              </a:rPr>
              <a:t>cpp_int</a:t>
            </a:r>
            <a:r>
              <a:rPr>
                <a:solidFill>
                  <a:srgbClr val="000000"/>
                </a:solidFill>
              </a:rPr>
              <a:t>&gt; x = </a:t>
            </a:r>
            <a:r>
              <a:t>async</a:t>
            </a:r>
            <a:r>
              <a:rPr>
                <a:solidFill>
                  <a:srgbClr val="000000"/>
                </a:solidFill>
              </a:rPr>
              <a:t>([]{ </a:t>
            </a:r>
            <a:r>
              <a:rPr>
                <a:solidFill>
                  <a:srgbClr val="BB2CA2"/>
                </a:solidFill>
              </a:rPr>
              <a:t>return</a:t>
            </a:r>
            <a:r>
              <a:rPr>
                <a:solidFill>
                  <a:srgbClr val="000000"/>
                </a:solidFill>
              </a:rPr>
              <a:t> </a:t>
            </a:r>
            <a:r>
              <a:t>fibonacci</a:t>
            </a:r>
            <a:r>
              <a:rPr>
                <a:solidFill>
                  <a:srgbClr val="000000"/>
                </a:solidFill>
              </a:rPr>
              <a:t>&lt;</a:t>
            </a:r>
            <a:r>
              <a:rPr>
                <a:solidFill>
                  <a:srgbClr val="703DAA"/>
                </a:solidFill>
              </a:rPr>
              <a:t>cpp_int</a:t>
            </a:r>
            <a:r>
              <a:rPr>
                <a:solidFill>
                  <a:srgbClr val="000000"/>
                </a:solidFill>
              </a:rPr>
              <a:t>&gt;(</a:t>
            </a:r>
            <a:r>
              <a:rPr>
                <a:solidFill>
                  <a:srgbClr val="272AD8"/>
                </a:solidFill>
              </a:rPr>
              <a:t>100</a:t>
            </a:r>
            <a:r>
              <a:rPr>
                <a:solidFill>
                  <a:srgbClr val="000000"/>
                </a:solidFill>
              </a:rPr>
              <a:t>); });</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4F8187"/>
                </a:solidFill>
              </a:rPr>
              <a:t>future</a:t>
            </a:r>
            <a:r>
              <a:t>&lt;</a:t>
            </a:r>
            <a:r>
              <a:rPr>
                <a:solidFill>
                  <a:srgbClr val="703DAA"/>
                </a:solidFill>
              </a:rPr>
              <a:t>cpp_int</a:t>
            </a:r>
            <a:r>
              <a:t>&gt; y = x.then([](future&lt;cpp_int&gt; x){ </a:t>
            </a:r>
            <a:r>
              <a:rPr>
                <a:solidFill>
                  <a:srgbClr val="BB2CA2"/>
                </a:solidFill>
              </a:rPr>
              <a:t>return</a:t>
            </a:r>
            <a:r>
              <a:t> cpp_int(x.get() * </a:t>
            </a:r>
            <a:r>
              <a:rPr>
                <a:solidFill>
                  <a:srgbClr val="272AD8"/>
                </a:solidFill>
              </a:rPr>
              <a:t>2</a:t>
            </a: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future</a:t>
            </a:r>
            <a:r>
              <a:t>&lt;</a:t>
            </a:r>
            <a:r>
              <a:rPr>
                <a:solidFill>
                  <a:srgbClr val="703DAA"/>
                </a:solidFill>
              </a:rPr>
              <a:t>cpp_int</a:t>
            </a:r>
            <a:r>
              <a:t>&gt; z = x.</a:t>
            </a:r>
            <a:r>
              <a:rPr>
                <a:solidFill>
                  <a:srgbClr val="3D1D81"/>
                </a:solidFill>
              </a:rPr>
              <a:t>then</a:t>
            </a:r>
            <a:r>
              <a:t>([](</a:t>
            </a:r>
            <a:r>
              <a:rPr>
                <a:solidFill>
                  <a:srgbClr val="703DAA"/>
                </a:solidFill>
              </a:rPr>
              <a:t>future</a:t>
            </a:r>
            <a:r>
              <a:t>&lt;</a:t>
            </a:r>
            <a:r>
              <a:rPr>
                <a:solidFill>
                  <a:srgbClr val="703DAA"/>
                </a:solidFill>
              </a:rPr>
              <a:t>cpp_int</a:t>
            </a:r>
            <a:r>
              <a:t>&gt; x){ </a:t>
            </a:r>
            <a:r>
              <a:rPr>
                <a:solidFill>
                  <a:srgbClr val="BB2CA2"/>
                </a:solidFill>
              </a:rPr>
              <a:t>return</a:t>
            </a:r>
            <a:r>
              <a:t> </a:t>
            </a:r>
            <a:r>
              <a:rPr>
                <a:solidFill>
                  <a:srgbClr val="703DAA"/>
                </a:solidFill>
              </a:rPr>
              <a:t>cpp_int</a:t>
            </a:r>
            <a:r>
              <a:t>(x.</a:t>
            </a:r>
            <a:r>
              <a:rPr>
                <a:solidFill>
                  <a:srgbClr val="3D1D81"/>
                </a:solidFill>
              </a:rPr>
              <a:t>get</a:t>
            </a:r>
            <a:r>
              <a:t>() / </a:t>
            </a:r>
            <a:r>
              <a:rPr>
                <a:solidFill>
                  <a:srgbClr val="272AD8"/>
                </a:solidFill>
              </a:rPr>
              <a:t>15</a:t>
            </a: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p:txBody>
      </p:sp>
      <p:sp>
        <p:nvSpPr>
          <p:cNvPr id="1231"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232" name="Assertion failed: (px != 0), function operator-&gt;, file shared_ptr.hpp, line 648."/>
          <p:cNvSpPr txBox="1"/>
          <p:nvPr/>
        </p:nvSpPr>
        <p:spPr>
          <a:xfrm>
            <a:off x="4816871" y="8000627"/>
            <a:ext cx="14794708" cy="457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457200">
              <a:buClrTx/>
              <a:tabLst>
                <a:tab pos="546100" algn="l"/>
              </a:tabLst>
              <a:defRPr b="1" sz="2400">
                <a:uFillTx/>
                <a:latin typeface="Menlo Regular"/>
                <a:ea typeface="Menlo Regular"/>
                <a:cs typeface="Menlo Regular"/>
                <a:sym typeface="Menlo Regular"/>
              </a:defRPr>
            </a:lvl1pPr>
          </a:lstStyle>
          <a:p>
            <a:pPr/>
            <a:r>
              <a:t>Assertion failed: (px != 0), function operator-&gt;, file shared_ptr.hpp, line 648.</a:t>
            </a:r>
          </a:p>
        </p:txBody>
      </p:sp>
      <p:pic>
        <p:nvPicPr>
          <p:cNvPr id="1233" name="Image" descr="Image"/>
          <p:cNvPicPr>
            <a:picLocks noChangeAspect="1"/>
          </p:cNvPicPr>
          <p:nvPr/>
        </p:nvPicPr>
        <p:blipFill>
          <a:blip r:embed="rId3">
            <a:extLst/>
          </a:blip>
          <a:stretch>
            <a:fillRect/>
          </a:stretch>
        </p:blipFill>
        <p:spPr>
          <a:xfrm>
            <a:off x="432742" y="3200055"/>
            <a:ext cx="23033169" cy="374247"/>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233"/>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32" grpId="2"/>
      <p:bldP build="whole" bldLvl="1" animBg="1" rev="0" advAuto="0" spid="1233" grpId="1"/>
    </p:bldLst>
  </p:timing>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7"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238"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239"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240" name="Continuations"/>
          <p:cNvSpPr txBox="1"/>
          <p:nvPr>
            <p:ph type="title"/>
          </p:nvPr>
        </p:nvSpPr>
        <p:spPr>
          <a:xfrm>
            <a:off x="609600" y="368300"/>
            <a:ext cx="23182917" cy="822325"/>
          </a:xfrm>
          <a:prstGeom prst="rect">
            <a:avLst/>
          </a:prstGeom>
        </p:spPr>
        <p:txBody>
          <a:bodyPr/>
          <a:lstStyle>
            <a:lvl1pPr>
              <a:defRPr sz="4200"/>
            </a:lvl1pPr>
          </a:lstStyle>
          <a:p>
            <a:pPr/>
            <a:r>
              <a:t>Continuations</a:t>
            </a:r>
          </a:p>
        </p:txBody>
      </p:sp>
      <p:sp>
        <p:nvSpPr>
          <p:cNvPr id="1241" name="Desired behavior…"/>
          <p:cNvSpPr txBox="1"/>
          <p:nvPr>
            <p:ph type="body" idx="1"/>
          </p:nvPr>
        </p:nvSpPr>
        <p:spPr>
          <a:prstGeom prst="rect">
            <a:avLst/>
          </a:prstGeom>
        </p:spPr>
        <p:txBody>
          <a:bodyPr/>
          <a:lstStyle/>
          <a:p>
            <a:pPr/>
            <a:r>
              <a:t>Desired behavior</a:t>
            </a:r>
          </a:p>
          <a:p>
            <a:pPr lvl="1"/>
            <a:r>
              <a:t>A future should behave as a </a:t>
            </a:r>
            <a:r>
              <a:rPr i="1"/>
              <a:t>regular</a:t>
            </a:r>
            <a:r>
              <a:t> type - a token for the actual value</a:t>
            </a:r>
          </a:p>
          <a:p>
            <a:pPr lvl="2" marL="827555" indent="-275852">
              <a:defRPr sz="4000"/>
            </a:pPr>
            <a:r>
              <a:rPr>
                <a:latin typeface="Menlo Regular"/>
                <a:ea typeface="Menlo Regular"/>
                <a:cs typeface="Menlo Regular"/>
                <a:sym typeface="Menlo Regular"/>
              </a:rPr>
              <a:t>shared_futures</a:t>
            </a:r>
            <a:r>
              <a:t> let me “copy” them around and do multiple </a:t>
            </a:r>
            <a:r>
              <a:rPr>
                <a:latin typeface="Menlo Regular"/>
                <a:ea typeface="Menlo Regular"/>
                <a:cs typeface="Menlo Regular"/>
                <a:sym typeface="Menlo Regular"/>
              </a:rPr>
              <a:t>get()</a:t>
            </a:r>
            <a:r>
              <a:t> operations</a:t>
            </a:r>
          </a:p>
          <a:p>
            <a:pPr lvl="3" marL="1027831" indent="-275852">
              <a:defRPr sz="4000"/>
            </a:pPr>
            <a:r>
              <a:t>But not multiple continuations (at least with Boost as of 1.62, the TS is ambiguous here!)</a:t>
            </a:r>
          </a:p>
        </p:txBody>
      </p:sp>
      <p:sp>
        <p:nvSpPr>
          <p:cNvPr id="1242" name="Slide Number"/>
          <p:cNvSpPr txBox="1"/>
          <p:nvPr>
            <p:ph type="sldNum" sz="quarter" idx="2"/>
          </p:nvPr>
        </p:nvSpPr>
        <p:spPr>
          <a:xfrm>
            <a:off x="12046645" y="12934946"/>
            <a:ext cx="309779"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243"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5"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246"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247"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248" name="Continuations"/>
          <p:cNvSpPr txBox="1"/>
          <p:nvPr>
            <p:ph type="title"/>
          </p:nvPr>
        </p:nvSpPr>
        <p:spPr>
          <a:xfrm>
            <a:off x="609600" y="368300"/>
            <a:ext cx="23182917" cy="822325"/>
          </a:xfrm>
          <a:prstGeom prst="rect">
            <a:avLst/>
          </a:prstGeom>
        </p:spPr>
        <p:txBody>
          <a:bodyPr/>
          <a:lstStyle>
            <a:lvl1pPr>
              <a:defRPr sz="4200"/>
            </a:lvl1pPr>
          </a:lstStyle>
          <a:p>
            <a:pPr/>
            <a:r>
              <a:t>Continuations</a:t>
            </a:r>
          </a:p>
        </p:txBody>
      </p:sp>
      <p:sp>
        <p:nvSpPr>
          <p:cNvPr id="1249" name="We can write a pseudo-copy, split()."/>
          <p:cNvSpPr txBox="1"/>
          <p:nvPr>
            <p:ph type="body" idx="1"/>
          </p:nvPr>
        </p:nvSpPr>
        <p:spPr>
          <a:prstGeom prst="rect">
            <a:avLst/>
          </a:prstGeom>
        </p:spPr>
        <p:txBody>
          <a:bodyPr/>
          <a:lstStyle/>
          <a:p>
            <a:pPr/>
            <a:r>
              <a:t>We can write a pseudo-copy, </a:t>
            </a:r>
            <a:r>
              <a:rPr>
                <a:latin typeface="Menlo Regular"/>
                <a:ea typeface="Menlo Regular"/>
                <a:cs typeface="Menlo Regular"/>
                <a:sym typeface="Menlo Regular"/>
              </a:rPr>
              <a:t>split()</a:t>
            </a:r>
            <a:r>
              <a:t>.</a:t>
            </a:r>
          </a:p>
        </p:txBody>
      </p:sp>
      <p:sp>
        <p:nvSpPr>
          <p:cNvPr id="1250"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251"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pic>
        <p:nvPicPr>
          <p:cNvPr id="1252" name="Image" descr="Image"/>
          <p:cNvPicPr>
            <a:picLocks noChangeAspect="1"/>
          </p:cNvPicPr>
          <p:nvPr/>
        </p:nvPicPr>
        <p:blipFill>
          <a:blip r:embed="rId4">
            <a:extLst/>
          </a:blip>
          <a:stretch>
            <a:fillRect/>
          </a:stretch>
        </p:blipFill>
        <p:spPr>
          <a:xfrm>
            <a:off x="4531342" y="3372841"/>
            <a:ext cx="15365811" cy="7579918"/>
          </a:xfrm>
          <a:prstGeom prst="rect">
            <a:avLst/>
          </a:prstGeom>
          <a:ln w="12700">
            <a:miter lim="400000"/>
          </a:ln>
        </p:spPr>
      </p:pic>
    </p:spTree>
  </p:cSld>
  <p:clrMapOvr>
    <a:masterClrMapping/>
  </p:clrMapOvr>
  <p:transition xmlns:p14="http://schemas.microsoft.com/office/powerpoint/2010/main" spd="fast" advClick="1"/>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6" name="Futures: Continuations"/>
          <p:cNvSpPr txBox="1"/>
          <p:nvPr>
            <p:ph type="title"/>
          </p:nvPr>
        </p:nvSpPr>
        <p:spPr>
          <a:prstGeom prst="rect">
            <a:avLst/>
          </a:prstGeom>
        </p:spPr>
        <p:txBody>
          <a:bodyPr lIns="76200" tIns="76200" rIns="76200" bIns="76200"/>
          <a:lstStyle/>
          <a:p>
            <a:pPr defTabSz="2176581">
              <a:defRPr sz="4200"/>
            </a:pPr>
            <a:r>
              <a:t>Futures: </a:t>
            </a:r>
            <a:r>
              <a:t>Continuations</a:t>
            </a:r>
          </a:p>
        </p:txBody>
      </p:sp>
      <p:sp>
        <p:nvSpPr>
          <p:cNvPr id="1257" name="future&lt;cpp_int&gt; x = async([]{ return fibonacci&lt;cpp_int&gt;(100); });…"/>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546100" algn="l"/>
              </a:tabLst>
              <a:defRPr sz="2400">
                <a:solidFill>
                  <a:srgbClr val="31595D"/>
                </a:solidFill>
                <a:uFillTx/>
                <a:latin typeface="Menlo Regular"/>
                <a:ea typeface="Menlo Regular"/>
                <a:cs typeface="Menlo Regular"/>
                <a:sym typeface="Menlo Regular"/>
              </a:defRPr>
            </a:pPr>
            <a:r>
              <a:rPr>
                <a:solidFill>
                  <a:srgbClr val="000000"/>
                </a:solidFill>
              </a:rPr>
              <a:t>    </a:t>
            </a:r>
            <a:r>
              <a:rPr>
                <a:solidFill>
                  <a:srgbClr val="4F8187"/>
                </a:solidFill>
              </a:rPr>
              <a:t>future</a:t>
            </a:r>
            <a:r>
              <a:rPr>
                <a:solidFill>
                  <a:srgbClr val="000000"/>
                </a:solidFill>
              </a:rPr>
              <a:t>&lt;</a:t>
            </a:r>
            <a:r>
              <a:rPr>
                <a:solidFill>
                  <a:srgbClr val="703DAA"/>
                </a:solidFill>
              </a:rPr>
              <a:t>cpp_int</a:t>
            </a:r>
            <a:r>
              <a:rPr>
                <a:solidFill>
                  <a:srgbClr val="000000"/>
                </a:solidFill>
              </a:rPr>
              <a:t>&gt; x = </a:t>
            </a:r>
            <a:r>
              <a:t>async</a:t>
            </a:r>
            <a:r>
              <a:rPr>
                <a:solidFill>
                  <a:srgbClr val="000000"/>
                </a:solidFill>
              </a:rPr>
              <a:t>([]{ </a:t>
            </a:r>
            <a:r>
              <a:rPr>
                <a:solidFill>
                  <a:srgbClr val="BB2CA2"/>
                </a:solidFill>
              </a:rPr>
              <a:t>return</a:t>
            </a:r>
            <a:r>
              <a:rPr>
                <a:solidFill>
                  <a:srgbClr val="000000"/>
                </a:solidFill>
              </a:rPr>
              <a:t> </a:t>
            </a:r>
            <a:r>
              <a:t>fibonacci</a:t>
            </a:r>
            <a:r>
              <a:rPr>
                <a:solidFill>
                  <a:srgbClr val="000000"/>
                </a:solidFill>
              </a:rPr>
              <a:t>&lt;</a:t>
            </a:r>
            <a:r>
              <a:rPr>
                <a:solidFill>
                  <a:srgbClr val="703DAA"/>
                </a:solidFill>
              </a:rPr>
              <a:t>cpp_int</a:t>
            </a:r>
            <a:r>
              <a:rPr>
                <a:solidFill>
                  <a:srgbClr val="000000"/>
                </a:solidFill>
              </a:rPr>
              <a:t>&gt;(</a:t>
            </a:r>
            <a:r>
              <a:rPr>
                <a:solidFill>
                  <a:srgbClr val="272AD8"/>
                </a:solidFill>
              </a:rPr>
              <a:t>100</a:t>
            </a:r>
            <a:r>
              <a:rPr>
                <a:solidFill>
                  <a:srgbClr val="000000"/>
                </a:solidFill>
              </a:rPr>
              <a:t>); });</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3495AF"/>
                </a:solidFill>
              </a:rPr>
              <a:t>future</a:t>
            </a:r>
            <a:r>
              <a:t>&lt;</a:t>
            </a:r>
            <a:r>
              <a:rPr>
                <a:solidFill>
                  <a:srgbClr val="3495AF"/>
                </a:solidFill>
              </a:rPr>
              <a:t>cpp_int</a:t>
            </a:r>
            <a:r>
              <a:t>&gt; y = </a:t>
            </a:r>
            <a:r>
              <a:rPr>
                <a:solidFill>
                  <a:srgbClr val="3495AF"/>
                </a:solidFill>
              </a:rPr>
              <a:t>split</a:t>
            </a:r>
            <a:r>
              <a:t>(x).</a:t>
            </a:r>
            <a:r>
              <a:rPr>
                <a:solidFill>
                  <a:srgbClr val="3495AF"/>
                </a:solidFill>
              </a:rPr>
              <a:t>then</a:t>
            </a:r>
            <a:r>
              <a:t>([](</a:t>
            </a:r>
            <a:r>
              <a:rPr>
                <a:solidFill>
                  <a:srgbClr val="3495AF"/>
                </a:solidFill>
              </a:rPr>
              <a:t>future</a:t>
            </a:r>
            <a:r>
              <a:t>&lt;</a:t>
            </a:r>
            <a:r>
              <a:rPr>
                <a:solidFill>
                  <a:srgbClr val="3495AF"/>
                </a:solidFill>
              </a:rPr>
              <a:t>cpp_int</a:t>
            </a:r>
            <a:r>
              <a:t>&gt; x){ </a:t>
            </a:r>
            <a:r>
              <a:rPr>
                <a:solidFill>
                  <a:srgbClr val="0433FF"/>
                </a:solidFill>
              </a:rPr>
              <a:t>return</a:t>
            </a:r>
            <a:r>
              <a:t> </a:t>
            </a:r>
            <a:r>
              <a:rPr>
                <a:solidFill>
                  <a:srgbClr val="3495AF"/>
                </a:solidFill>
              </a:rPr>
              <a:t>cpp_int</a:t>
            </a:r>
            <a:r>
              <a:t>(x.</a:t>
            </a:r>
            <a:r>
              <a:rPr>
                <a:solidFill>
                  <a:srgbClr val="3495AF"/>
                </a:solidFill>
              </a:rPr>
              <a:t>get</a:t>
            </a:r>
            <a:r>
              <a:t>() * 2);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3495AF"/>
                </a:solidFill>
              </a:rPr>
              <a:t>future</a:t>
            </a:r>
            <a:r>
              <a:t>&lt;</a:t>
            </a:r>
            <a:r>
              <a:rPr>
                <a:solidFill>
                  <a:srgbClr val="3495AF"/>
                </a:solidFill>
              </a:rPr>
              <a:t>cpp_int</a:t>
            </a:r>
            <a:r>
              <a:t>&gt; z = x.</a:t>
            </a:r>
            <a:r>
              <a:rPr>
                <a:solidFill>
                  <a:srgbClr val="3495AF"/>
                </a:solidFill>
              </a:rPr>
              <a:t>then</a:t>
            </a:r>
            <a:r>
              <a:t>([](</a:t>
            </a:r>
            <a:r>
              <a:rPr>
                <a:solidFill>
                  <a:srgbClr val="3495AF"/>
                </a:solidFill>
              </a:rPr>
              <a:t>future</a:t>
            </a:r>
            <a:r>
              <a:t>&lt;</a:t>
            </a:r>
            <a:r>
              <a:rPr>
                <a:solidFill>
                  <a:srgbClr val="3495AF"/>
                </a:solidFill>
              </a:rPr>
              <a:t>cpp_int</a:t>
            </a:r>
            <a:r>
              <a:t>&gt; x){ </a:t>
            </a:r>
            <a:r>
              <a:rPr>
                <a:solidFill>
                  <a:srgbClr val="0433FF"/>
                </a:solidFill>
              </a:rPr>
              <a:t>return</a:t>
            </a:r>
            <a:r>
              <a:t> </a:t>
            </a:r>
            <a:r>
              <a:rPr>
                <a:solidFill>
                  <a:srgbClr val="3495AF"/>
                </a:solidFill>
              </a:rPr>
              <a:t>cpp_int</a:t>
            </a:r>
            <a:r>
              <a:t>(x.</a:t>
            </a:r>
            <a:r>
              <a:rPr>
                <a:solidFill>
                  <a:srgbClr val="3495AF"/>
                </a:solidFill>
              </a:rPr>
              <a:t>get</a:t>
            </a:r>
            <a:r>
              <a:t>() / 15);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3495AF"/>
                </a:solidFill>
              </a:rPr>
              <a:t>future</a:t>
            </a:r>
            <a:r>
              <a:t>&lt;</a:t>
            </a:r>
            <a:r>
              <a:rPr>
                <a:solidFill>
                  <a:srgbClr val="0433FF"/>
                </a:solidFill>
              </a:rPr>
              <a:t>void</a:t>
            </a:r>
            <a:r>
              <a:t>&gt; done = </a:t>
            </a:r>
            <a:r>
              <a:rPr>
                <a:solidFill>
                  <a:srgbClr val="3495AF"/>
                </a:solidFill>
              </a:rPr>
              <a:t>when_all</a:t>
            </a:r>
            <a:r>
              <a:t>(</a:t>
            </a:r>
            <a:r>
              <a:rPr>
                <a:solidFill>
                  <a:srgbClr val="3495AF"/>
                </a:solidFill>
              </a:rPr>
              <a:t>std</a:t>
            </a:r>
            <a:r>
              <a:t>::</a:t>
            </a:r>
            <a:r>
              <a:rPr>
                <a:solidFill>
                  <a:srgbClr val="3495AF"/>
                </a:solidFill>
              </a:rPr>
              <a:t>move</a:t>
            </a:r>
            <a:r>
              <a:t>(y), </a:t>
            </a:r>
            <a:r>
              <a:rPr>
                <a:solidFill>
                  <a:srgbClr val="3495AF"/>
                </a:solidFill>
              </a:rPr>
              <a:t>std</a:t>
            </a:r>
            <a:r>
              <a:t>::</a:t>
            </a:r>
            <a:r>
              <a:rPr>
                <a:solidFill>
                  <a:srgbClr val="3495AF"/>
                </a:solidFill>
              </a:rPr>
              <a:t>move</a:t>
            </a:r>
            <a:r>
              <a:t>(z)).</a:t>
            </a:r>
            <a:r>
              <a:rPr>
                <a:solidFill>
                  <a:srgbClr val="3495AF"/>
                </a:solidFill>
              </a:rPr>
              <a:t>then</a:t>
            </a:r>
            <a:r>
              <a:t>([](</a:t>
            </a:r>
            <a:r>
              <a:rPr>
                <a:solidFill>
                  <a:srgbClr val="0433FF"/>
                </a:solidFill>
              </a:rPr>
              <a:t>auto</a:t>
            </a:r>
            <a:r>
              <a:t> f){</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0433FF"/>
                </a:solidFill>
              </a:rPr>
              <a:t>auto</a:t>
            </a:r>
            <a:r>
              <a:t> t = f.get();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3495AF"/>
                </a:solidFill>
              </a:rPr>
              <a:t>cout</a:t>
            </a:r>
            <a:r>
              <a:t> &lt;&lt; get&lt;0&gt;(t).get() &lt;&lt; endl;</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3495AF"/>
                </a:solidFill>
              </a:rPr>
              <a:t>cout</a:t>
            </a:r>
            <a:r>
              <a:t> &lt;&lt; get&lt;1&gt;(t).get() &lt;&lt; endl;</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done.</a:t>
            </a:r>
            <a:r>
              <a:rPr>
                <a:solidFill>
                  <a:srgbClr val="3495AF"/>
                </a:solidFill>
              </a:rPr>
              <a:t>wait</a:t>
            </a:r>
            <a:r>
              <a:t>();</a:t>
            </a:r>
          </a:p>
        </p:txBody>
      </p:sp>
      <p:sp>
        <p:nvSpPr>
          <p:cNvPr id="1258"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259" name="Rounded Rectangle"/>
          <p:cNvSpPr/>
          <p:nvPr/>
        </p:nvSpPr>
        <p:spPr>
          <a:xfrm>
            <a:off x="622141" y="2781396"/>
            <a:ext cx="168853" cy="457201"/>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1260" name="708449696358523830150…"/>
          <p:cNvSpPr txBox="1"/>
          <p:nvPr/>
        </p:nvSpPr>
        <p:spPr>
          <a:xfrm>
            <a:off x="10116294" y="7675487"/>
            <a:ext cx="3967907" cy="812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buClrTx/>
              <a:tabLst>
                <a:tab pos="546100" algn="l"/>
              </a:tabLst>
              <a:defRPr b="1" sz="2400">
                <a:uFillTx/>
                <a:latin typeface="Menlo Regular"/>
                <a:ea typeface="Menlo Regular"/>
                <a:cs typeface="Menlo Regular"/>
                <a:sym typeface="Menlo Regular"/>
              </a:defRPr>
            </a:pPr>
            <a:r>
              <a:t>708449696358523830150</a:t>
            </a:r>
          </a:p>
          <a:p>
            <a:pPr defTabSz="457200">
              <a:buClrTx/>
              <a:tabLst>
                <a:tab pos="546100" algn="l"/>
              </a:tabLst>
              <a:defRPr b="1" sz="2400">
                <a:uFillTx/>
                <a:latin typeface="Menlo Regular"/>
                <a:ea typeface="Menlo Regular"/>
                <a:cs typeface="Menlo Regular"/>
                <a:sym typeface="Menlo Regular"/>
              </a:defRPr>
            </a:pPr>
            <a:r>
              <a:t>23614989878617461005</a:t>
            </a:r>
          </a:p>
        </p:txBody>
      </p:sp>
      <p:sp>
        <p:nvSpPr>
          <p:cNvPr id="1261" name="Rounded Rectangle"/>
          <p:cNvSpPr/>
          <p:nvPr/>
        </p:nvSpPr>
        <p:spPr>
          <a:xfrm>
            <a:off x="622141" y="3873596"/>
            <a:ext cx="168853" cy="2435544"/>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0" presetID="1" grpId="1" fill="hold">
                                  <p:stCondLst>
                                    <p:cond delay="0"/>
                                  </p:stCondLst>
                                  <p:iterate type="el" backwards="0">
                                    <p:tmAbs val="0"/>
                                  </p:iterate>
                                  <p:childTnLst>
                                    <p:set>
                                      <p:cBhvr>
                                        <p:cTn id="6" fill="hold"/>
                                        <p:tgtEl>
                                          <p:spTgt spid="1259"/>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257">
                                            <p:bg/>
                                          </p:spTgt>
                                        </p:tgtEl>
                                        <p:attrNameLst>
                                          <p:attrName>style.visibility</p:attrName>
                                        </p:attrNameLst>
                                      </p:cBhvr>
                                      <p:to>
                                        <p:strVal val="visible"/>
                                      </p:to>
                                    </p:set>
                                  </p:childTnLst>
                                </p:cTn>
                              </p:par>
                              <p:par>
                                <p:cTn id="10" presetClass="entr" nodeType="withEffect" presetSubtype="0" presetID="1" grpId="2" fill="hold">
                                  <p:stCondLst>
                                    <p:cond delay="0"/>
                                  </p:stCondLst>
                                  <p:iterate type="el" backwards="0">
                                    <p:tmAbs val="0"/>
                                  </p:iterate>
                                  <p:childTnLst>
                                    <p:set>
                                      <p:cBhvr>
                                        <p:cTn id="11" fill="hold"/>
                                        <p:tgtEl>
                                          <p:spTgt spid="1257">
                                            <p:txEl>
                                              <p:pRg st="0" end="0"/>
                                            </p:txEl>
                                          </p:spTgt>
                                        </p:tgtEl>
                                        <p:attrNameLst>
                                          <p:attrName>style.visibility</p:attrName>
                                        </p:attrNameLst>
                                      </p:cBhvr>
                                      <p:to>
                                        <p:strVal val="visible"/>
                                      </p:to>
                                    </p:set>
                                  </p:childTnLst>
                                </p:cTn>
                              </p:par>
                            </p:childTnLst>
                          </p:cTn>
                        </p:par>
                        <p:par>
                          <p:cTn id="12" fill="hold">
                            <p:stCondLst>
                              <p:cond delay="0"/>
                            </p:stCondLst>
                            <p:childTnLst>
                              <p:par>
                                <p:cTn id="13" presetClass="entr" nodeType="afterEffect" presetSubtype="0" presetID="1" grpId="2" fill="hold">
                                  <p:stCondLst>
                                    <p:cond delay="0"/>
                                  </p:stCondLst>
                                  <p:iterate type="el" backwards="0">
                                    <p:tmAbs val="0"/>
                                  </p:iterate>
                                  <p:childTnLst>
                                    <p:set>
                                      <p:cBhvr>
                                        <p:cTn id="14" fill="hold"/>
                                        <p:tgtEl>
                                          <p:spTgt spid="1257">
                                            <p:txEl>
                                              <p:pRg st="1" end="1"/>
                                            </p:txEl>
                                          </p:spTgt>
                                        </p:tgtEl>
                                        <p:attrNameLst>
                                          <p:attrName>style.visibility</p:attrName>
                                        </p:attrNameLst>
                                      </p:cBhvr>
                                      <p:to>
                                        <p:strVal val="visible"/>
                                      </p:to>
                                    </p:set>
                                  </p:childTnLst>
                                </p:cTn>
                              </p:par>
                            </p:childTnLst>
                          </p:cTn>
                        </p:par>
                        <p:par>
                          <p:cTn id="15" fill="hold">
                            <p:stCondLst>
                              <p:cond delay="0"/>
                            </p:stCondLst>
                            <p:childTnLst>
                              <p:par>
                                <p:cTn id="16" presetClass="entr" nodeType="afterEffect" presetSubtype="0" presetID="1" grpId="2" fill="hold">
                                  <p:stCondLst>
                                    <p:cond delay="0"/>
                                  </p:stCondLst>
                                  <p:iterate type="el" backwards="0">
                                    <p:tmAbs val="0"/>
                                  </p:iterate>
                                  <p:childTnLst>
                                    <p:set>
                                      <p:cBhvr>
                                        <p:cTn id="17" fill="hold"/>
                                        <p:tgtEl>
                                          <p:spTgt spid="1257">
                                            <p:txEl>
                                              <p:pRg st="2" end="2"/>
                                            </p:txEl>
                                          </p:spTgt>
                                        </p:tgtEl>
                                        <p:attrNameLst>
                                          <p:attrName>style.visibility</p:attrName>
                                        </p:attrNameLst>
                                      </p:cBhvr>
                                      <p:to>
                                        <p:strVal val="visible"/>
                                      </p:to>
                                    </p:set>
                                  </p:childTnLst>
                                </p:cTn>
                              </p:par>
                            </p:childTnLst>
                          </p:cTn>
                        </p:par>
                        <p:par>
                          <p:cTn id="18" fill="hold">
                            <p:stCondLst>
                              <p:cond delay="0"/>
                            </p:stCondLst>
                            <p:childTnLst>
                              <p:par>
                                <p:cTn id="19" presetClass="entr" nodeType="afterEffect" presetSubtype="0" presetID="1" grpId="2" fill="hold">
                                  <p:stCondLst>
                                    <p:cond delay="0"/>
                                  </p:stCondLst>
                                  <p:iterate type="el" backwards="0">
                                    <p:tmAbs val="0"/>
                                  </p:iterate>
                                  <p:childTnLst>
                                    <p:set>
                                      <p:cBhvr>
                                        <p:cTn id="20" fill="hold"/>
                                        <p:tgtEl>
                                          <p:spTgt spid="1257">
                                            <p:txEl>
                                              <p:pRg st="3" end="3"/>
                                            </p:txEl>
                                          </p:spTgt>
                                        </p:tgtEl>
                                        <p:attrNameLst>
                                          <p:attrName>style.visibility</p:attrName>
                                        </p:attrNameLst>
                                      </p:cBhvr>
                                      <p:to>
                                        <p:strVal val="visible"/>
                                      </p:to>
                                    </p:set>
                                  </p:childTnLst>
                                </p:cTn>
                              </p:par>
                            </p:childTnLst>
                          </p:cTn>
                        </p:par>
                        <p:par>
                          <p:cTn id="21" fill="hold">
                            <p:stCondLst>
                              <p:cond delay="0"/>
                            </p:stCondLst>
                            <p:childTnLst>
                              <p:par>
                                <p:cTn id="22" presetClass="entr" nodeType="afterEffect" presetSubtype="0" presetID="1" grpId="2" fill="hold">
                                  <p:stCondLst>
                                    <p:cond delay="0"/>
                                  </p:stCondLst>
                                  <p:iterate type="el" backwards="0">
                                    <p:tmAbs val="0"/>
                                  </p:iterate>
                                  <p:childTnLst>
                                    <p:set>
                                      <p:cBhvr>
                                        <p:cTn id="23" fill="hold"/>
                                        <p:tgtEl>
                                          <p:spTgt spid="1257">
                                            <p:txEl>
                                              <p:pRg st="4" end="4"/>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Class="exit" nodeType="clickEffect" presetSubtype="0" presetID="1" grpId="3" fill="hold">
                                  <p:stCondLst>
                                    <p:cond delay="0"/>
                                  </p:stCondLst>
                                  <p:iterate type="el" backwards="0">
                                    <p:tmAbs val="0"/>
                                  </p:iterate>
                                  <p:childTnLst>
                                    <p:set>
                                      <p:cBhvr>
                                        <p:cTn id="27" fill="hold">
                                          <p:stCondLst>
                                            <p:cond delay="0"/>
                                          </p:stCondLst>
                                        </p:cTn>
                                        <p:tgtEl>
                                          <p:spTgt spid="1259"/>
                                        </p:tgtEl>
                                        <p:attrNameLst>
                                          <p:attrName>style.visibility</p:attrName>
                                        </p:attrNameLst>
                                      </p:cBhvr>
                                      <p:to>
                                        <p:strVal val="hidden"/>
                                      </p:to>
                                    </p:set>
                                  </p:childTnLst>
                                </p:cTn>
                              </p:par>
                            </p:childTnLst>
                          </p:cTn>
                        </p:par>
                        <p:par>
                          <p:cTn id="28" fill="hold">
                            <p:stCondLst>
                              <p:cond delay="0"/>
                            </p:stCondLst>
                            <p:childTnLst>
                              <p:par>
                                <p:cTn id="29" presetClass="entr" nodeType="afterEffect" presetSubtype="0" presetID="1" grpId="4" fill="hold">
                                  <p:stCondLst>
                                    <p:cond delay="0"/>
                                  </p:stCondLst>
                                  <p:iterate type="el" backwards="0">
                                    <p:tmAbs val="0"/>
                                  </p:iterate>
                                  <p:childTnLst>
                                    <p:set>
                                      <p:cBhvr>
                                        <p:cTn id="30" fill="hold"/>
                                        <p:tgtEl>
                                          <p:spTgt spid="1261"/>
                                        </p:tgtEl>
                                        <p:attrNameLst>
                                          <p:attrName>style.visibility</p:attrName>
                                        </p:attrNameLst>
                                      </p:cBhvr>
                                      <p:to>
                                        <p:strVal val="visible"/>
                                      </p:to>
                                    </p:set>
                                  </p:childTnLst>
                                </p:cTn>
                              </p:par>
                            </p:childTnLst>
                          </p:cTn>
                        </p:par>
                        <p:par>
                          <p:cTn id="31" fill="hold">
                            <p:stCondLst>
                              <p:cond delay="0"/>
                            </p:stCondLst>
                            <p:childTnLst>
                              <p:par>
                                <p:cTn id="32" presetClass="entr" nodeType="afterEffect" presetSubtype="0" presetID="1" grpId="2" fill="hold">
                                  <p:stCondLst>
                                    <p:cond delay="0"/>
                                  </p:stCondLst>
                                  <p:iterate type="el" backwards="0">
                                    <p:tmAbs val="0"/>
                                  </p:iterate>
                                  <p:childTnLst>
                                    <p:set>
                                      <p:cBhvr>
                                        <p:cTn id="33" fill="hold"/>
                                        <p:tgtEl>
                                          <p:spTgt spid="1257">
                                            <p:txEl>
                                              <p:pRg st="5" end="5"/>
                                            </p:txEl>
                                          </p:spTgt>
                                        </p:tgtEl>
                                        <p:attrNameLst>
                                          <p:attrName>style.visibility</p:attrName>
                                        </p:attrNameLst>
                                      </p:cBhvr>
                                      <p:to>
                                        <p:strVal val="visible"/>
                                      </p:to>
                                    </p:set>
                                  </p:childTnLst>
                                </p:cTn>
                              </p:par>
                            </p:childTnLst>
                          </p:cTn>
                        </p:par>
                        <p:par>
                          <p:cTn id="34" fill="hold">
                            <p:stCondLst>
                              <p:cond delay="0"/>
                            </p:stCondLst>
                            <p:childTnLst>
                              <p:par>
                                <p:cTn id="35" presetClass="entr" nodeType="afterEffect" presetSubtype="0" presetID="1" grpId="2" fill="hold">
                                  <p:stCondLst>
                                    <p:cond delay="0"/>
                                  </p:stCondLst>
                                  <p:iterate type="el" backwards="0">
                                    <p:tmAbs val="0"/>
                                  </p:iterate>
                                  <p:childTnLst>
                                    <p:set>
                                      <p:cBhvr>
                                        <p:cTn id="36" fill="hold"/>
                                        <p:tgtEl>
                                          <p:spTgt spid="1257">
                                            <p:txEl>
                                              <p:pRg st="6" end="6"/>
                                            </p:txEl>
                                          </p:spTgt>
                                        </p:tgtEl>
                                        <p:attrNameLst>
                                          <p:attrName>style.visibility</p:attrName>
                                        </p:attrNameLst>
                                      </p:cBhvr>
                                      <p:to>
                                        <p:strVal val="visible"/>
                                      </p:to>
                                    </p:set>
                                  </p:childTnLst>
                                </p:cTn>
                              </p:par>
                            </p:childTnLst>
                          </p:cTn>
                        </p:par>
                        <p:par>
                          <p:cTn id="37" fill="hold">
                            <p:stCondLst>
                              <p:cond delay="0"/>
                            </p:stCondLst>
                            <p:childTnLst>
                              <p:par>
                                <p:cTn id="38" presetClass="entr" nodeType="afterEffect" presetSubtype="0" presetID="1" grpId="2" fill="hold">
                                  <p:stCondLst>
                                    <p:cond delay="0"/>
                                  </p:stCondLst>
                                  <p:iterate type="el" backwards="0">
                                    <p:tmAbs val="0"/>
                                  </p:iterate>
                                  <p:childTnLst>
                                    <p:set>
                                      <p:cBhvr>
                                        <p:cTn id="39" fill="hold"/>
                                        <p:tgtEl>
                                          <p:spTgt spid="1257">
                                            <p:txEl>
                                              <p:pRg st="7" end="7"/>
                                            </p:txEl>
                                          </p:spTgt>
                                        </p:tgtEl>
                                        <p:attrNameLst>
                                          <p:attrName>style.visibility</p:attrName>
                                        </p:attrNameLst>
                                      </p:cBhvr>
                                      <p:to>
                                        <p:strVal val="visible"/>
                                      </p:to>
                                    </p:set>
                                  </p:childTnLst>
                                </p:cTn>
                              </p:par>
                            </p:childTnLst>
                          </p:cTn>
                        </p:par>
                        <p:par>
                          <p:cTn id="40" fill="hold">
                            <p:stCondLst>
                              <p:cond delay="0"/>
                            </p:stCondLst>
                            <p:childTnLst>
                              <p:par>
                                <p:cTn id="41" presetClass="entr" nodeType="afterEffect" presetSubtype="0" presetID="1" grpId="2" fill="hold">
                                  <p:stCondLst>
                                    <p:cond delay="0"/>
                                  </p:stCondLst>
                                  <p:iterate type="el" backwards="0">
                                    <p:tmAbs val="0"/>
                                  </p:iterate>
                                  <p:childTnLst>
                                    <p:set>
                                      <p:cBhvr>
                                        <p:cTn id="42" fill="hold"/>
                                        <p:tgtEl>
                                          <p:spTgt spid="1257">
                                            <p:txEl>
                                              <p:pRg st="8" end="8"/>
                                            </p:txEl>
                                          </p:spTgt>
                                        </p:tgtEl>
                                        <p:attrNameLst>
                                          <p:attrName>style.visibility</p:attrName>
                                        </p:attrNameLst>
                                      </p:cBhvr>
                                      <p:to>
                                        <p:strVal val="visible"/>
                                      </p:to>
                                    </p:set>
                                  </p:childTnLst>
                                </p:cTn>
                              </p:par>
                            </p:childTnLst>
                          </p:cTn>
                        </p:par>
                        <p:par>
                          <p:cTn id="43" fill="hold">
                            <p:stCondLst>
                              <p:cond delay="0"/>
                            </p:stCondLst>
                            <p:childTnLst>
                              <p:par>
                                <p:cTn id="44" presetClass="entr" nodeType="afterEffect" presetSubtype="0" presetID="1" grpId="2" fill="hold">
                                  <p:stCondLst>
                                    <p:cond delay="0"/>
                                  </p:stCondLst>
                                  <p:iterate type="el" backwards="0">
                                    <p:tmAbs val="0"/>
                                  </p:iterate>
                                  <p:childTnLst>
                                    <p:set>
                                      <p:cBhvr>
                                        <p:cTn id="45" fill="hold"/>
                                        <p:tgtEl>
                                          <p:spTgt spid="1257">
                                            <p:txEl>
                                              <p:pRg st="9" end="9"/>
                                            </p:txEl>
                                          </p:spTgt>
                                        </p:tgtEl>
                                        <p:attrNameLst>
                                          <p:attrName>style.visibility</p:attrName>
                                        </p:attrNameLst>
                                      </p:cBhvr>
                                      <p:to>
                                        <p:strVal val="visible"/>
                                      </p:to>
                                    </p:set>
                                  </p:childTnLst>
                                </p:cTn>
                              </p:par>
                            </p:childTnLst>
                          </p:cTn>
                        </p:par>
                        <p:par>
                          <p:cTn id="46" fill="hold">
                            <p:stCondLst>
                              <p:cond delay="0"/>
                            </p:stCondLst>
                            <p:childTnLst>
                              <p:par>
                                <p:cTn id="47" presetClass="entr" nodeType="afterEffect" presetSubtype="0" presetID="1" grpId="2" fill="hold">
                                  <p:stCondLst>
                                    <p:cond delay="0"/>
                                  </p:stCondLst>
                                  <p:iterate type="el" backwards="0">
                                    <p:tmAbs val="0"/>
                                  </p:iterate>
                                  <p:childTnLst>
                                    <p:set>
                                      <p:cBhvr>
                                        <p:cTn id="48" fill="hold"/>
                                        <p:tgtEl>
                                          <p:spTgt spid="1257">
                                            <p:txEl>
                                              <p:pRg st="10" end="10"/>
                                            </p:txEl>
                                          </p:spTgt>
                                        </p:tgtEl>
                                        <p:attrNameLst>
                                          <p:attrName>style.visibility</p:attrName>
                                        </p:attrNameLst>
                                      </p:cBhvr>
                                      <p:to>
                                        <p:strVal val="visible"/>
                                      </p:to>
                                    </p:set>
                                  </p:childTnLst>
                                </p:cTn>
                              </p:par>
                            </p:childTnLst>
                          </p:cTn>
                        </p:par>
                        <p:par>
                          <p:cTn id="49" fill="hold">
                            <p:stCondLst>
                              <p:cond delay="0"/>
                            </p:stCondLst>
                            <p:childTnLst>
                              <p:par>
                                <p:cTn id="50" presetClass="entr" nodeType="afterEffect" presetSubtype="0" presetID="1" grpId="2" fill="hold">
                                  <p:stCondLst>
                                    <p:cond delay="0"/>
                                  </p:stCondLst>
                                  <p:iterate type="el" backwards="0">
                                    <p:tmAbs val="0"/>
                                  </p:iterate>
                                  <p:childTnLst>
                                    <p:set>
                                      <p:cBhvr>
                                        <p:cTn id="51" fill="hold"/>
                                        <p:tgtEl>
                                          <p:spTgt spid="1257">
                                            <p:txEl>
                                              <p:pRg st="11" end="11"/>
                                            </p:txEl>
                                          </p:spTgt>
                                        </p:tgtEl>
                                        <p:attrNameLst>
                                          <p:attrName>style.visibility</p:attrName>
                                        </p:attrNameLst>
                                      </p:cBhvr>
                                      <p:to>
                                        <p:strVal val="visible"/>
                                      </p:to>
                                    </p:set>
                                  </p:childTnLst>
                                </p:cTn>
                              </p:par>
                            </p:childTnLst>
                          </p:cTn>
                        </p:par>
                        <p:par>
                          <p:cTn id="52" fill="hold">
                            <p:stCondLst>
                              <p:cond delay="0"/>
                            </p:stCondLst>
                            <p:childTnLst>
                              <p:par>
                                <p:cTn id="53" presetClass="entr" nodeType="afterEffect" presetSubtype="0" presetID="1" grpId="2" fill="hold">
                                  <p:stCondLst>
                                    <p:cond delay="0"/>
                                  </p:stCondLst>
                                  <p:iterate type="el" backwards="0">
                                    <p:tmAbs val="0"/>
                                  </p:iterate>
                                  <p:childTnLst>
                                    <p:set>
                                      <p:cBhvr>
                                        <p:cTn id="54" fill="hold"/>
                                        <p:tgtEl>
                                          <p:spTgt spid="1257">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Class="entr" nodeType="clickEffect" presetSubtype="0" presetID="1" grpId="5" fill="hold">
                                  <p:stCondLst>
                                    <p:cond delay="0"/>
                                  </p:stCondLst>
                                  <p:iterate type="el" backwards="0">
                                    <p:tmAbs val="0"/>
                                  </p:iterate>
                                  <p:childTnLst>
                                    <p:set>
                                      <p:cBhvr>
                                        <p:cTn id="58" fill="hold"/>
                                        <p:tgtEl>
                                          <p:spTgt spid="12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1257" grpId="2"/>
      <p:bldP build="whole" bldLvl="1" animBg="1" rev="0" advAuto="0" spid="1259" grpId="3"/>
      <p:bldP build="whole" bldLvl="1" animBg="1" rev="0" advAuto="0" spid="1261" grpId="4"/>
      <p:bldP build="whole" bldLvl="1" animBg="1" rev="0" advAuto="0" spid="1260" grpId="5"/>
      <p:bldP build="whole" bldLvl="1" animBg="1" rev="0" advAuto="0" spid="1259" grpId="1"/>
    </p:bldLst>
  </p:timing>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5"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266"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267"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268" name="Building Blocks"/>
          <p:cNvSpPr txBox="1"/>
          <p:nvPr>
            <p:ph type="title"/>
          </p:nvPr>
        </p:nvSpPr>
        <p:spPr>
          <a:xfrm>
            <a:off x="609600" y="368300"/>
            <a:ext cx="23182917" cy="822325"/>
          </a:xfrm>
          <a:prstGeom prst="rect">
            <a:avLst/>
          </a:prstGeom>
        </p:spPr>
        <p:txBody>
          <a:bodyPr/>
          <a:lstStyle>
            <a:lvl1pPr>
              <a:defRPr sz="4200"/>
            </a:lvl1pPr>
          </a:lstStyle>
          <a:p>
            <a:pPr/>
            <a:r>
              <a:t>Building Blocks</a:t>
            </a:r>
          </a:p>
        </p:txBody>
      </p:sp>
      <p:sp>
        <p:nvSpPr>
          <p:cNvPr id="1269" name="Promise is the sending side of a future…"/>
          <p:cNvSpPr txBox="1"/>
          <p:nvPr>
            <p:ph type="body" idx="1"/>
          </p:nvPr>
        </p:nvSpPr>
        <p:spPr>
          <a:xfrm>
            <a:off x="600541" y="1941452"/>
            <a:ext cx="23182918" cy="10363201"/>
          </a:xfrm>
          <a:prstGeom prst="rect">
            <a:avLst/>
          </a:prstGeom>
        </p:spPr>
        <p:txBody>
          <a:bodyPr/>
          <a:lstStyle/>
          <a:p>
            <a:pPr/>
            <a:r>
              <a:t>Promise is the sending side of a future</a:t>
            </a:r>
          </a:p>
          <a:p>
            <a:pPr/>
            <a:r>
              <a:t>Promises are packaged with a function to form a </a:t>
            </a:r>
            <a:r>
              <a:rPr i="1"/>
              <a:t>packaged task</a:t>
            </a:r>
          </a:p>
          <a:p>
            <a:pPr lvl="1"/>
            <a:r>
              <a:t>Packaged tasks handle the exception marshalling through a promise</a:t>
            </a:r>
          </a:p>
        </p:txBody>
      </p:sp>
      <p:sp>
        <p:nvSpPr>
          <p:cNvPr id="1270" name="Slide Number"/>
          <p:cNvSpPr txBox="1"/>
          <p:nvPr>
            <p:ph type="sldNum" sz="quarter" idx="2"/>
          </p:nvPr>
        </p:nvSpPr>
        <p:spPr>
          <a:xfrm>
            <a:off x="12047864" y="12934946"/>
            <a:ext cx="30734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271"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3" name="Promise"/>
          <p:cNvSpPr txBox="1"/>
          <p:nvPr>
            <p:ph type="title"/>
          </p:nvPr>
        </p:nvSpPr>
        <p:spPr>
          <a:prstGeom prst="rect">
            <a:avLst/>
          </a:prstGeom>
        </p:spPr>
        <p:txBody>
          <a:bodyPr lIns="76200" tIns="76200" rIns="76200" bIns="76200"/>
          <a:lstStyle>
            <a:lvl1pPr defTabSz="2176581">
              <a:defRPr sz="4200"/>
            </a:lvl1pPr>
          </a:lstStyle>
          <a:p>
            <a:pPr/>
            <a:r>
              <a:t>Promise</a:t>
            </a:r>
          </a:p>
        </p:txBody>
      </p:sp>
      <p:sp>
        <p:nvSpPr>
          <p:cNvPr id="1274" name="promise&lt;int&gt; x;…"/>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546100" algn="l"/>
              </a:tabLst>
              <a:defRPr sz="18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3495AF"/>
                </a:solidFill>
                <a:uFillTx/>
                <a:latin typeface="Menlo Regular"/>
                <a:ea typeface="Menlo Regular"/>
                <a:cs typeface="Menlo Regular"/>
                <a:sym typeface="Menlo Regular"/>
              </a:defRPr>
            </a:pPr>
            <a:r>
              <a:rPr>
                <a:solidFill>
                  <a:srgbClr val="000000"/>
                </a:solidFill>
              </a:rPr>
              <a:t>    </a:t>
            </a:r>
            <a:r>
              <a:t>promise</a:t>
            </a:r>
            <a:r>
              <a:rPr>
                <a:solidFill>
                  <a:srgbClr val="000000"/>
                </a:solidFill>
              </a:rPr>
              <a:t>&lt;</a:t>
            </a:r>
            <a:r>
              <a:rPr>
                <a:solidFill>
                  <a:srgbClr val="0433FF"/>
                </a:solidFill>
              </a:rPr>
              <a:t>int</a:t>
            </a:r>
            <a:r>
              <a:rPr>
                <a:solidFill>
                  <a:srgbClr val="000000"/>
                </a:solidFill>
              </a:rPr>
              <a:t>&gt; x;</a:t>
            </a:r>
            <a:endParaRPr>
              <a:solidFill>
                <a:srgbClr val="000000"/>
              </a:solidFill>
            </a:endParaRPr>
          </a:p>
          <a:p>
            <a:pPr marL="0" indent="0" defTabSz="457200">
              <a:spcBef>
                <a:spcPts val="0"/>
              </a:spcBef>
              <a:buClrTx/>
              <a:buSzTx/>
              <a:buNone/>
              <a:tabLst>
                <a:tab pos="546100" algn="l"/>
              </a:tabLst>
              <a:defRPr sz="2400">
                <a:solidFill>
                  <a:srgbClr val="3495AF"/>
                </a:solidFill>
                <a:uFillTx/>
                <a:latin typeface="Menlo Regular"/>
                <a:ea typeface="Menlo Regular"/>
                <a:cs typeface="Menlo Regular"/>
                <a:sym typeface="Menlo Regular"/>
              </a:defRPr>
            </a:pPr>
            <a:r>
              <a:rPr>
                <a:solidFill>
                  <a:srgbClr val="000000"/>
                </a:solidFill>
              </a:rPr>
              <a:t>    </a:t>
            </a:r>
            <a:r>
              <a:t>future</a:t>
            </a:r>
            <a:r>
              <a:rPr>
                <a:solidFill>
                  <a:srgbClr val="000000"/>
                </a:solidFill>
              </a:rPr>
              <a:t>&lt;</a:t>
            </a:r>
            <a:r>
              <a:rPr>
                <a:solidFill>
                  <a:srgbClr val="0433FF"/>
                </a:solidFill>
              </a:rPr>
              <a:t>int</a:t>
            </a:r>
            <a:r>
              <a:rPr>
                <a:solidFill>
                  <a:srgbClr val="000000"/>
                </a:solidFill>
              </a:rPr>
              <a:t>&gt; y = x.</a:t>
            </a:r>
            <a:r>
              <a:t>get_future</a:t>
            </a:r>
            <a:r>
              <a:rPr>
                <a:solidFill>
                  <a:srgbClr val="000000"/>
                </a:solidFill>
              </a:rPr>
              <a: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3495AF"/>
                </a:solidFill>
                <a:uFillTx/>
                <a:latin typeface="Menlo Regular"/>
                <a:ea typeface="Menlo Regular"/>
                <a:cs typeface="Menlo Regular"/>
                <a:sym typeface="Menlo Regular"/>
              </a:defRPr>
            </a:pPr>
            <a:r>
              <a:rPr>
                <a:solidFill>
                  <a:srgbClr val="000000"/>
                </a:solidFill>
              </a:rPr>
              <a:t>    x.</a:t>
            </a:r>
            <a:r>
              <a:t>set_value</a:t>
            </a:r>
            <a:r>
              <a:rPr>
                <a:solidFill>
                  <a:srgbClr val="000000"/>
                </a:solidFill>
              </a:rPr>
              <a:t>(42);</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3495AF"/>
                </a:solidFill>
              </a:rPr>
              <a:t>cout</a:t>
            </a:r>
            <a:r>
              <a:t> &lt;&lt; y.get() &lt;&lt; endl;</a:t>
            </a:r>
          </a:p>
        </p:txBody>
      </p:sp>
      <p:sp>
        <p:nvSpPr>
          <p:cNvPr id="1275"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276" name="42"/>
          <p:cNvSpPr txBox="1"/>
          <p:nvPr/>
        </p:nvSpPr>
        <p:spPr>
          <a:xfrm>
            <a:off x="11920570" y="7932507"/>
            <a:ext cx="481311" cy="457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457200">
              <a:buClrTx/>
              <a:tabLst>
                <a:tab pos="546100" algn="l"/>
              </a:tabLst>
              <a:defRPr b="1" sz="2400">
                <a:uFillTx/>
                <a:latin typeface="Menlo Regular"/>
                <a:ea typeface="Menlo Regular"/>
                <a:cs typeface="Menlo Regular"/>
                <a:sym typeface="Menlo Regular"/>
              </a:defRPr>
            </a:lvl1pPr>
          </a:lstStyle>
          <a:p>
            <a:pPr/>
            <a:r>
              <a:t>42</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2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76" grpId="1"/>
    </p:bldLst>
  </p:timing>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0" name="Futures: Split"/>
          <p:cNvSpPr txBox="1"/>
          <p:nvPr>
            <p:ph type="title"/>
          </p:nvPr>
        </p:nvSpPr>
        <p:spPr>
          <a:prstGeom prst="rect">
            <a:avLst/>
          </a:prstGeom>
        </p:spPr>
        <p:txBody>
          <a:bodyPr lIns="76200" tIns="76200" rIns="76200" bIns="76200"/>
          <a:lstStyle/>
          <a:p>
            <a:pPr defTabSz="2176581">
              <a:defRPr sz="4200"/>
            </a:pPr>
            <a:r>
              <a:t>Futures: </a:t>
            </a:r>
            <a:r>
              <a:t>Split</a:t>
            </a:r>
          </a:p>
        </p:txBody>
      </p:sp>
      <p:sp>
        <p:nvSpPr>
          <p:cNvPr id="1281" name="template &lt;typename T&gt;…"/>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546100" algn="l"/>
              </a:tabLst>
              <a:defRPr sz="2400">
                <a:solidFill>
                  <a:srgbClr val="0433FF"/>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T&gt;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0433FF"/>
                </a:solidFill>
              </a:rPr>
              <a:t>auto</a:t>
            </a:r>
            <a:r>
              <a:t> split(</a:t>
            </a:r>
            <a:r>
              <a:rPr>
                <a:solidFill>
                  <a:srgbClr val="3495AF"/>
                </a:solidFill>
              </a:rPr>
              <a:t>future</a:t>
            </a:r>
            <a:r>
              <a:t>&lt;T&gt;&amp; x)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0433FF"/>
                </a:solidFill>
              </a:rPr>
              <a:t>auto</a:t>
            </a:r>
            <a:r>
              <a:t> tmp = </a:t>
            </a:r>
            <a:r>
              <a:rPr>
                <a:solidFill>
                  <a:srgbClr val="3495AF"/>
                </a:solidFill>
              </a:rPr>
              <a:t>std</a:t>
            </a:r>
            <a:r>
              <a:t>::move(x);</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3495AF"/>
                </a:solidFill>
                <a:uFillTx/>
                <a:latin typeface="Menlo Regular"/>
                <a:ea typeface="Menlo Regular"/>
                <a:cs typeface="Menlo Regular"/>
                <a:sym typeface="Menlo Regular"/>
              </a:defRPr>
            </a:pPr>
            <a:r>
              <a:rPr>
                <a:solidFill>
                  <a:srgbClr val="000000"/>
                </a:solidFill>
              </a:rPr>
              <a:t>    </a:t>
            </a:r>
            <a:r>
              <a:t>promise</a:t>
            </a:r>
            <a:r>
              <a:rPr>
                <a:solidFill>
                  <a:srgbClr val="000000"/>
                </a:solidFill>
              </a:rPr>
              <a:t>&lt;T&gt; p;</a:t>
            </a:r>
            <a:endParaRPr>
              <a:solidFill>
                <a:srgbClr val="000000"/>
              </a:solidFill>
            </a:endParaRPr>
          </a:p>
          <a:p>
            <a:pPr marL="0" indent="0" defTabSz="457200">
              <a:spcBef>
                <a:spcPts val="0"/>
              </a:spcBef>
              <a:buClrTx/>
              <a:buSzTx/>
              <a:buNone/>
              <a:tabLst>
                <a:tab pos="546100" algn="l"/>
              </a:tabLst>
              <a:defRPr sz="2400">
                <a:solidFill>
                  <a:srgbClr val="008F00"/>
                </a:solidFill>
                <a:uFillTx/>
                <a:latin typeface="Menlo Regular"/>
                <a:ea typeface="Menlo Regular"/>
                <a:cs typeface="Menlo Regular"/>
                <a:sym typeface="Menlo Regular"/>
              </a:defRPr>
            </a:pPr>
            <a:r>
              <a:rPr>
                <a:solidFill>
                  <a:srgbClr val="000000"/>
                </a:solidFill>
              </a:rPr>
              <a:t>    x = p.get_future(); </a:t>
            </a:r>
            <a:r>
              <a:t>// replace x with new future</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0433FF"/>
                </a:solidFill>
              </a:rPr>
              <a:t>return</a:t>
            </a:r>
            <a:r>
              <a:t> tmp.then([_p = move(p)](</a:t>
            </a:r>
            <a:r>
              <a:rPr>
                <a:solidFill>
                  <a:srgbClr val="0433FF"/>
                </a:solidFill>
              </a:rPr>
              <a:t>auto</a:t>
            </a:r>
            <a:r>
              <a:t> _tmp) </a:t>
            </a:r>
            <a:r>
              <a:rPr>
                <a:solidFill>
                  <a:srgbClr val="0433FF"/>
                </a:solidFill>
              </a:rPr>
              <a:t>mutable</a:t>
            </a: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0433FF"/>
                </a:solidFill>
              </a:rPr>
              <a:t>auto</a:t>
            </a:r>
            <a:r>
              <a:t> value = _tmp.get();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_p.set_value(value); </a:t>
            </a:r>
            <a:r>
              <a:rPr>
                <a:solidFill>
                  <a:srgbClr val="008F00"/>
                </a:solidFill>
              </a:rPr>
              <a:t>// assign to new "x" future</a:t>
            </a:r>
          </a:p>
          <a:p>
            <a:pPr marL="0" indent="0" defTabSz="457200">
              <a:spcBef>
                <a:spcPts val="0"/>
              </a:spcBef>
              <a:buClrTx/>
              <a:buSzTx/>
              <a:buNone/>
              <a:tabLst>
                <a:tab pos="546100" algn="l"/>
              </a:tabLst>
              <a:defRPr sz="2400">
                <a:solidFill>
                  <a:srgbClr val="008F00"/>
                </a:solidFill>
                <a:uFillTx/>
                <a:latin typeface="Menlo Regular"/>
                <a:ea typeface="Menlo Regular"/>
                <a:cs typeface="Menlo Regular"/>
                <a:sym typeface="Menlo Regular"/>
              </a:defRPr>
            </a:pPr>
            <a:r>
              <a:rPr>
                <a:solidFill>
                  <a:srgbClr val="000000"/>
                </a:solidFill>
              </a:rPr>
              <a:t>        </a:t>
            </a:r>
            <a:r>
              <a:rPr>
                <a:solidFill>
                  <a:srgbClr val="0433FF"/>
                </a:solidFill>
              </a:rPr>
              <a:t>return</a:t>
            </a:r>
            <a:r>
              <a:rPr>
                <a:solidFill>
                  <a:srgbClr val="000000"/>
                </a:solidFill>
              </a:rPr>
              <a:t> value; </a:t>
            </a:r>
            <a:r>
              <a:t>// return value through future result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1282"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pic>
        <p:nvPicPr>
          <p:cNvPr id="1283" name="Image" descr="Image"/>
          <p:cNvPicPr>
            <a:picLocks noChangeAspect="1"/>
          </p:cNvPicPr>
          <p:nvPr/>
        </p:nvPicPr>
        <p:blipFill>
          <a:blip r:embed="rId3">
            <a:extLst/>
          </a:blip>
          <a:stretch>
            <a:fillRect/>
          </a:stretch>
        </p:blipFill>
        <p:spPr>
          <a:xfrm>
            <a:off x="13455512" y="3757946"/>
            <a:ext cx="4445001" cy="1473201"/>
          </a:xfrm>
          <a:prstGeom prst="rect">
            <a:avLst/>
          </a:prstGeom>
          <a:ln w="12700">
            <a:miter lim="400000"/>
          </a:ln>
        </p:spPr>
      </p:pic>
      <p:pic>
        <p:nvPicPr>
          <p:cNvPr id="1284" name="Image" descr="Image"/>
          <p:cNvPicPr>
            <a:picLocks noChangeAspect="1"/>
          </p:cNvPicPr>
          <p:nvPr/>
        </p:nvPicPr>
        <p:blipFill>
          <a:blip r:embed="rId4">
            <a:extLst/>
          </a:blip>
          <a:stretch>
            <a:fillRect/>
          </a:stretch>
        </p:blipFill>
        <p:spPr>
          <a:xfrm>
            <a:off x="13455512" y="3757946"/>
            <a:ext cx="4445001" cy="3302001"/>
          </a:xfrm>
          <a:prstGeom prst="rect">
            <a:avLst/>
          </a:prstGeom>
          <a:ln w="12700">
            <a:miter lim="400000"/>
          </a:ln>
        </p:spPr>
      </p:pic>
      <p:pic>
        <p:nvPicPr>
          <p:cNvPr id="1285" name="Image" descr="Image"/>
          <p:cNvPicPr>
            <a:picLocks noChangeAspect="1"/>
          </p:cNvPicPr>
          <p:nvPr/>
        </p:nvPicPr>
        <p:blipFill>
          <a:blip r:embed="rId5">
            <a:extLst/>
          </a:blip>
          <a:stretch>
            <a:fillRect/>
          </a:stretch>
        </p:blipFill>
        <p:spPr>
          <a:xfrm>
            <a:off x="13455512" y="1929146"/>
            <a:ext cx="4445001" cy="5130801"/>
          </a:xfrm>
          <a:prstGeom prst="rect">
            <a:avLst/>
          </a:prstGeom>
          <a:ln w="12700">
            <a:miter lim="400000"/>
          </a:ln>
        </p:spPr>
      </p:pic>
      <p:pic>
        <p:nvPicPr>
          <p:cNvPr id="1286" name="Image" descr="Image"/>
          <p:cNvPicPr>
            <a:picLocks noChangeAspect="1"/>
          </p:cNvPicPr>
          <p:nvPr/>
        </p:nvPicPr>
        <p:blipFill>
          <a:blip r:embed="rId6">
            <a:extLst/>
          </a:blip>
          <a:stretch>
            <a:fillRect/>
          </a:stretch>
        </p:blipFill>
        <p:spPr>
          <a:xfrm>
            <a:off x="13455512" y="1929146"/>
            <a:ext cx="10617201" cy="7188201"/>
          </a:xfrm>
          <a:prstGeom prst="rect">
            <a:avLst/>
          </a:prstGeom>
          <a:ln w="12700">
            <a:miter lim="400000"/>
          </a:ln>
        </p:spPr>
      </p:pic>
      <p:pic>
        <p:nvPicPr>
          <p:cNvPr id="1287" name="Image" descr="Image"/>
          <p:cNvPicPr>
            <a:picLocks noChangeAspect="1"/>
          </p:cNvPicPr>
          <p:nvPr/>
        </p:nvPicPr>
        <p:blipFill>
          <a:blip r:embed="rId7">
            <a:extLst/>
          </a:blip>
          <a:stretch>
            <a:fillRect/>
          </a:stretch>
        </p:blipFill>
        <p:spPr>
          <a:xfrm>
            <a:off x="13455512" y="1929146"/>
            <a:ext cx="10617201" cy="7188201"/>
          </a:xfrm>
          <a:prstGeom prst="rect">
            <a:avLst/>
          </a:prstGeom>
          <a:ln w="12700">
            <a:miter lim="400000"/>
          </a:ln>
        </p:spPr>
      </p:pic>
      <p:pic>
        <p:nvPicPr>
          <p:cNvPr id="1288" name="Image" descr="Image"/>
          <p:cNvPicPr>
            <a:picLocks noChangeAspect="1"/>
          </p:cNvPicPr>
          <p:nvPr/>
        </p:nvPicPr>
        <p:blipFill>
          <a:blip r:embed="rId8">
            <a:extLst/>
          </a:blip>
          <a:stretch>
            <a:fillRect/>
          </a:stretch>
        </p:blipFill>
        <p:spPr>
          <a:xfrm>
            <a:off x="13455512" y="3757946"/>
            <a:ext cx="10617201" cy="5359401"/>
          </a:xfrm>
          <a:prstGeom prst="rect">
            <a:avLst/>
          </a:prstGeom>
          <a:ln w="12700">
            <a:miter lim="400000"/>
          </a:ln>
        </p:spPr>
      </p:pic>
      <p:sp>
        <p:nvSpPr>
          <p:cNvPr id="1289" name="Rounded Rectangle"/>
          <p:cNvSpPr/>
          <p:nvPr/>
        </p:nvSpPr>
        <p:spPr>
          <a:xfrm>
            <a:off x="537714" y="3076301"/>
            <a:ext cx="168852" cy="457201"/>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283"/>
                                        </p:tgtEl>
                                        <p:attrNameLst>
                                          <p:attrName>style.visibility</p:attrName>
                                        </p:attrNameLst>
                                      </p:cBhvr>
                                      <p:to>
                                        <p:strVal val="visible"/>
                                      </p:to>
                                    </p:set>
                                    <p:animEffect filter="fade" transition="in">
                                      <p:cBhvr>
                                        <p:cTn id="7" dur="500"/>
                                        <p:tgtEl>
                                          <p:spTgt spid="1283"/>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284"/>
                                        </p:tgtEl>
                                        <p:attrNameLst>
                                          <p:attrName>style.visibility</p:attrName>
                                        </p:attrNameLst>
                                      </p:cBhvr>
                                      <p:to>
                                        <p:strVal val="visible"/>
                                      </p:to>
                                    </p:set>
                                    <p:animEffect filter="fade" transition="in">
                                      <p:cBhvr>
                                        <p:cTn id="12" dur="500"/>
                                        <p:tgtEl>
                                          <p:spTgt spid="1284"/>
                                        </p:tgtEl>
                                      </p:cBhvr>
                                    </p:animEffect>
                                  </p:childTnLst>
                                </p:cTn>
                              </p:par>
                            </p:childTnLst>
                          </p:cTn>
                        </p:par>
                        <p:par>
                          <p:cTn id="13" fill="hold">
                            <p:stCondLst>
                              <p:cond delay="500"/>
                            </p:stCondLst>
                            <p:childTnLst>
                              <p:par>
                                <p:cTn id="14" presetClass="exit" nodeType="afterEffect" presetID="10" grpId="3" fill="hold">
                                  <p:stCondLst>
                                    <p:cond delay="0"/>
                                  </p:stCondLst>
                                  <p:iterate type="el" backwards="0">
                                    <p:tmAbs val="0"/>
                                  </p:iterate>
                                  <p:childTnLst>
                                    <p:animEffect filter="fade" transition="out">
                                      <p:cBhvr>
                                        <p:cTn id="15" dur="500" fill="hold"/>
                                        <p:tgtEl>
                                          <p:spTgt spid="1283"/>
                                        </p:tgtEl>
                                      </p:cBhvr>
                                    </p:animEffect>
                                    <p:set>
                                      <p:cBhvr>
                                        <p:cTn id="16" fill="hold">
                                          <p:stCondLst>
                                            <p:cond delay="499"/>
                                          </p:stCondLst>
                                        </p:cTn>
                                        <p:tgtEl>
                                          <p:spTgt spid="1283"/>
                                        </p:tgtEl>
                                        <p:attrNameLst>
                                          <p:attrName>style.visibility</p:attrName>
                                        </p:attrNameLst>
                                      </p:cBhvr>
                                      <p:to>
                                        <p:strVal val="hidden"/>
                                      </p:to>
                                    </p:set>
                                  </p:childTnLst>
                                </p:cTn>
                              </p:par>
                            </p:childTnLst>
                          </p:cTn>
                        </p:par>
                        <p:par>
                          <p:cTn id="17" fill="hold">
                            <p:stCondLst>
                              <p:cond delay="1000"/>
                            </p:stCondLst>
                            <p:childTnLst>
                              <p:par>
                                <p:cTn id="18" presetClass="entr" nodeType="afterEffect" presetSubtype="0" presetID="1" grpId="4" fill="hold">
                                  <p:stCondLst>
                                    <p:cond delay="0"/>
                                  </p:stCondLst>
                                  <p:iterate type="el" backwards="0">
                                    <p:tmAbs val="0"/>
                                  </p:iterate>
                                  <p:childTnLst>
                                    <p:set>
                                      <p:cBhvr>
                                        <p:cTn id="19" fill="hold"/>
                                        <p:tgtEl>
                                          <p:spTgt spid="128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Class="entr" nodeType="clickEffect" presetID="10" grpId="5" fill="hold">
                                  <p:stCondLst>
                                    <p:cond delay="0"/>
                                  </p:stCondLst>
                                  <p:iterate type="el" backwards="0">
                                    <p:tmAbs val="0"/>
                                  </p:iterate>
                                  <p:childTnLst>
                                    <p:set>
                                      <p:cBhvr>
                                        <p:cTn id="23" fill="hold"/>
                                        <p:tgtEl>
                                          <p:spTgt spid="1285"/>
                                        </p:tgtEl>
                                        <p:attrNameLst>
                                          <p:attrName>style.visibility</p:attrName>
                                        </p:attrNameLst>
                                      </p:cBhvr>
                                      <p:to>
                                        <p:strVal val="visible"/>
                                      </p:to>
                                    </p:set>
                                    <p:animEffect filter="fade" transition="in">
                                      <p:cBhvr>
                                        <p:cTn id="24" dur="500"/>
                                        <p:tgtEl>
                                          <p:spTgt spid="1285"/>
                                        </p:tgtEl>
                                      </p:cBhvr>
                                    </p:animEffect>
                                  </p:childTnLst>
                                </p:cTn>
                              </p:par>
                            </p:childTnLst>
                          </p:cTn>
                        </p:par>
                        <p:par>
                          <p:cTn id="25" fill="hold">
                            <p:stCondLst>
                              <p:cond delay="500"/>
                            </p:stCondLst>
                            <p:childTnLst>
                              <p:par>
                                <p:cTn id="26" presetClass="exit" nodeType="afterEffect" presetID="10" grpId="6" fill="hold">
                                  <p:stCondLst>
                                    <p:cond delay="0"/>
                                  </p:stCondLst>
                                  <p:iterate type="el" backwards="0">
                                    <p:tmAbs val="0"/>
                                  </p:iterate>
                                  <p:childTnLst>
                                    <p:animEffect filter="fade" transition="out">
                                      <p:cBhvr>
                                        <p:cTn id="27" dur="500" fill="hold"/>
                                        <p:tgtEl>
                                          <p:spTgt spid="1284"/>
                                        </p:tgtEl>
                                      </p:cBhvr>
                                    </p:animEffect>
                                    <p:set>
                                      <p:cBhvr>
                                        <p:cTn id="28" fill="hold">
                                          <p:stCondLst>
                                            <p:cond delay="499"/>
                                          </p:stCondLst>
                                        </p:cTn>
                                        <p:tgtEl>
                                          <p:spTgt spid="1284"/>
                                        </p:tgtEl>
                                        <p:attrNameLst>
                                          <p:attrName>style.visibility</p:attrName>
                                        </p:attrNameLst>
                                      </p:cBhvr>
                                      <p:to>
                                        <p:strVal val="hidden"/>
                                      </p:to>
                                    </p:set>
                                  </p:childTnLst>
                                </p:cTn>
                              </p:par>
                            </p:childTnLst>
                          </p:cTn>
                        </p:par>
                        <p:par>
                          <p:cTn id="29" fill="hold">
                            <p:stCondLst>
                              <p:cond delay="0"/>
                            </p:stCondLst>
                            <p:childTnLst>
                              <p:par>
                                <p:cTn id="30" presetClass="path" nodeType="withEffect" presetSubtype="0" presetID="-1" grpId="7" accel="50000" decel="50000" fill="hold">
                                  <p:stCondLst>
                                    <p:cond delay="0"/>
                                  </p:stCondLst>
                                  <p:childTnLst>
                                    <p:animMotion path="M 0.000000 0.000000 L 0.000000 0.070067" origin="layout" pathEditMode="relative">
                                      <p:cBhvr>
                                        <p:cTn id="31" dur="1000" fill="hold"/>
                                        <p:tgtEl>
                                          <p:spTgt spid="1289"/>
                                        </p:tgtEl>
                                        <p:attrNameLst>
                                          <p:attrName>ppt_x</p:attrName>
                                          <p:attrName>ppt_y</p:attrName>
                                        </p:attrNameLst>
                                      </p:cBhvr>
                                    </p:animMotion>
                                  </p:childTnLst>
                                </p:cTn>
                              </p:par>
                            </p:childTnLst>
                          </p:cTn>
                        </p:par>
                      </p:childTnLst>
                    </p:cTn>
                  </p:par>
                  <p:par>
                    <p:cTn id="32" fill="hold">
                      <p:stCondLst>
                        <p:cond delay="indefinite"/>
                      </p:stCondLst>
                      <p:childTnLst>
                        <p:par>
                          <p:cTn id="33" fill="hold">
                            <p:stCondLst>
                              <p:cond delay="0"/>
                            </p:stCondLst>
                            <p:childTnLst>
                              <p:par>
                                <p:cTn id="34" presetClass="entr" nodeType="clickEffect" presetID="10" grpId="8" fill="hold">
                                  <p:stCondLst>
                                    <p:cond delay="0"/>
                                  </p:stCondLst>
                                  <p:iterate type="el" backwards="0">
                                    <p:tmAbs val="0"/>
                                  </p:iterate>
                                  <p:childTnLst>
                                    <p:set>
                                      <p:cBhvr>
                                        <p:cTn id="35" fill="hold"/>
                                        <p:tgtEl>
                                          <p:spTgt spid="1286"/>
                                        </p:tgtEl>
                                        <p:attrNameLst>
                                          <p:attrName>style.visibility</p:attrName>
                                        </p:attrNameLst>
                                      </p:cBhvr>
                                      <p:to>
                                        <p:strVal val="visible"/>
                                      </p:to>
                                    </p:set>
                                    <p:animEffect filter="fade" transition="in">
                                      <p:cBhvr>
                                        <p:cTn id="36" dur="500"/>
                                        <p:tgtEl>
                                          <p:spTgt spid="1286"/>
                                        </p:tgtEl>
                                      </p:cBhvr>
                                    </p:animEffect>
                                  </p:childTnLst>
                                </p:cTn>
                              </p:par>
                            </p:childTnLst>
                          </p:cTn>
                        </p:par>
                        <p:par>
                          <p:cTn id="37" fill="hold">
                            <p:stCondLst>
                              <p:cond delay="500"/>
                            </p:stCondLst>
                            <p:childTnLst>
                              <p:par>
                                <p:cTn id="38" presetClass="exit" nodeType="afterEffect" presetID="10" grpId="9" fill="hold">
                                  <p:stCondLst>
                                    <p:cond delay="0"/>
                                  </p:stCondLst>
                                  <p:iterate type="el" backwards="0">
                                    <p:tmAbs val="0"/>
                                  </p:iterate>
                                  <p:childTnLst>
                                    <p:animEffect filter="fade" transition="out">
                                      <p:cBhvr>
                                        <p:cTn id="39" dur="500" fill="hold"/>
                                        <p:tgtEl>
                                          <p:spTgt spid="1285"/>
                                        </p:tgtEl>
                                      </p:cBhvr>
                                    </p:animEffect>
                                    <p:set>
                                      <p:cBhvr>
                                        <p:cTn id="40" fill="hold">
                                          <p:stCondLst>
                                            <p:cond delay="499"/>
                                          </p:stCondLst>
                                        </p:cTn>
                                        <p:tgtEl>
                                          <p:spTgt spid="1285"/>
                                        </p:tgtEl>
                                        <p:attrNameLst>
                                          <p:attrName>style.visibility</p:attrName>
                                        </p:attrNameLst>
                                      </p:cBhvr>
                                      <p:to>
                                        <p:strVal val="hidden"/>
                                      </p:to>
                                    </p:set>
                                  </p:childTnLst>
                                </p:cTn>
                              </p:par>
                            </p:childTnLst>
                          </p:cTn>
                        </p:par>
                        <p:par>
                          <p:cTn id="41" fill="hold">
                            <p:stCondLst>
                              <p:cond delay="0"/>
                            </p:stCondLst>
                            <p:childTnLst>
                              <p:par>
                                <p:cTn id="42" presetClass="path" nodeType="withEffect" presetSubtype="0" presetID="-1" grpId="10" accel="50000" decel="50000" fill="hold">
                                  <p:stCondLst>
                                    <p:cond delay="0"/>
                                  </p:stCondLst>
                                  <p:childTnLst>
                                    <p:animMotion path="M 0.000000 0.070067 L -0.000000 0.136734" origin="layout" pathEditMode="relative">
                                      <p:cBhvr>
                                        <p:cTn id="43" dur="1000" fill="hold"/>
                                        <p:tgtEl>
                                          <p:spTgt spid="1289"/>
                                        </p:tgtEl>
                                        <p:attrNameLst>
                                          <p:attrName>ppt_x</p:attrName>
                                          <p:attrName>ppt_y</p:attrName>
                                        </p:attrNameLst>
                                      </p:cBhvr>
                                    </p:animMotion>
                                  </p:childTnLst>
                                </p:cTn>
                              </p:par>
                            </p:childTnLst>
                          </p:cTn>
                        </p:par>
                      </p:childTnLst>
                    </p:cTn>
                  </p:par>
                  <p:par>
                    <p:cTn id="44" fill="hold">
                      <p:stCondLst>
                        <p:cond delay="indefinite"/>
                      </p:stCondLst>
                      <p:childTnLst>
                        <p:par>
                          <p:cTn id="45" fill="hold">
                            <p:stCondLst>
                              <p:cond delay="0"/>
                            </p:stCondLst>
                            <p:childTnLst>
                              <p:par>
                                <p:cTn id="46" presetClass="entr" nodeType="clickEffect" presetID="10" grpId="11" fill="hold">
                                  <p:stCondLst>
                                    <p:cond delay="0"/>
                                  </p:stCondLst>
                                  <p:iterate type="el" backwards="0">
                                    <p:tmAbs val="0"/>
                                  </p:iterate>
                                  <p:childTnLst>
                                    <p:set>
                                      <p:cBhvr>
                                        <p:cTn id="47" fill="hold"/>
                                        <p:tgtEl>
                                          <p:spTgt spid="1287"/>
                                        </p:tgtEl>
                                        <p:attrNameLst>
                                          <p:attrName>style.visibility</p:attrName>
                                        </p:attrNameLst>
                                      </p:cBhvr>
                                      <p:to>
                                        <p:strVal val="visible"/>
                                      </p:to>
                                    </p:set>
                                    <p:animEffect filter="fade" transition="in">
                                      <p:cBhvr>
                                        <p:cTn id="48" dur="500"/>
                                        <p:tgtEl>
                                          <p:spTgt spid="1287"/>
                                        </p:tgtEl>
                                      </p:cBhvr>
                                    </p:animEffect>
                                  </p:childTnLst>
                                </p:cTn>
                              </p:par>
                            </p:childTnLst>
                          </p:cTn>
                        </p:par>
                        <p:par>
                          <p:cTn id="49" fill="hold">
                            <p:stCondLst>
                              <p:cond delay="500"/>
                            </p:stCondLst>
                            <p:childTnLst>
                              <p:par>
                                <p:cTn id="50" presetClass="exit" nodeType="afterEffect" presetID="10" grpId="12" fill="hold">
                                  <p:stCondLst>
                                    <p:cond delay="0"/>
                                  </p:stCondLst>
                                  <p:iterate type="el" backwards="0">
                                    <p:tmAbs val="0"/>
                                  </p:iterate>
                                  <p:childTnLst>
                                    <p:animEffect filter="fade" transition="out">
                                      <p:cBhvr>
                                        <p:cTn id="51" dur="500" fill="hold"/>
                                        <p:tgtEl>
                                          <p:spTgt spid="1286"/>
                                        </p:tgtEl>
                                      </p:cBhvr>
                                    </p:animEffect>
                                    <p:set>
                                      <p:cBhvr>
                                        <p:cTn id="52" fill="hold">
                                          <p:stCondLst>
                                            <p:cond delay="499"/>
                                          </p:stCondLst>
                                        </p:cTn>
                                        <p:tgtEl>
                                          <p:spTgt spid="1286"/>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Class="entr" nodeType="clickEffect" presetID="10" grpId="13" fill="hold">
                                  <p:stCondLst>
                                    <p:cond delay="0"/>
                                  </p:stCondLst>
                                  <p:iterate type="el" backwards="0">
                                    <p:tmAbs val="0"/>
                                  </p:iterate>
                                  <p:childTnLst>
                                    <p:set>
                                      <p:cBhvr>
                                        <p:cTn id="56" fill="hold"/>
                                        <p:tgtEl>
                                          <p:spTgt spid="1288"/>
                                        </p:tgtEl>
                                        <p:attrNameLst>
                                          <p:attrName>style.visibility</p:attrName>
                                        </p:attrNameLst>
                                      </p:cBhvr>
                                      <p:to>
                                        <p:strVal val="visible"/>
                                      </p:to>
                                    </p:set>
                                    <p:animEffect filter="fade" transition="in">
                                      <p:cBhvr>
                                        <p:cTn id="57" dur="500"/>
                                        <p:tgtEl>
                                          <p:spTgt spid="1288"/>
                                        </p:tgtEl>
                                      </p:cBhvr>
                                    </p:animEffect>
                                  </p:childTnLst>
                                </p:cTn>
                              </p:par>
                            </p:childTnLst>
                          </p:cTn>
                        </p:par>
                        <p:par>
                          <p:cTn id="58" fill="hold">
                            <p:stCondLst>
                              <p:cond delay="500"/>
                            </p:stCondLst>
                            <p:childTnLst>
                              <p:par>
                                <p:cTn id="59" presetClass="exit" nodeType="afterEffect" presetID="10" grpId="14" fill="hold">
                                  <p:stCondLst>
                                    <p:cond delay="0"/>
                                  </p:stCondLst>
                                  <p:iterate type="el" backwards="0">
                                    <p:tmAbs val="0"/>
                                  </p:iterate>
                                  <p:childTnLst>
                                    <p:animEffect filter="fade" transition="out">
                                      <p:cBhvr>
                                        <p:cTn id="60" dur="500" fill="hold"/>
                                        <p:tgtEl>
                                          <p:spTgt spid="1287"/>
                                        </p:tgtEl>
                                      </p:cBhvr>
                                    </p:animEffect>
                                    <p:set>
                                      <p:cBhvr>
                                        <p:cTn id="61" fill="hold">
                                          <p:stCondLst>
                                            <p:cond delay="499"/>
                                          </p:stCondLst>
                                        </p:cTn>
                                        <p:tgtEl>
                                          <p:spTgt spid="1287"/>
                                        </p:tgtEl>
                                        <p:attrNameLst>
                                          <p:attrName>style.visibility</p:attrName>
                                        </p:attrNameLst>
                                      </p:cBhvr>
                                      <p:to>
                                        <p:strVal val="hidden"/>
                                      </p:to>
                                    </p:set>
                                  </p:childTnLst>
                                </p:cTn>
                              </p:par>
                            </p:childTnLst>
                          </p:cTn>
                        </p:par>
                        <p:par>
                          <p:cTn id="62" fill="hold">
                            <p:stCondLst>
                              <p:cond delay="1000"/>
                            </p:stCondLst>
                            <p:childTnLst>
                              <p:par>
                                <p:cTn id="63" presetClass="exit" nodeType="afterEffect" presetSubtype="0" presetID="1" grpId="15" fill="hold">
                                  <p:stCondLst>
                                    <p:cond delay="0"/>
                                  </p:stCondLst>
                                  <p:iterate type="el" backwards="0">
                                    <p:tmAbs val="0"/>
                                  </p:iterate>
                                  <p:childTnLst>
                                    <p:set>
                                      <p:cBhvr>
                                        <p:cTn id="64" fill="hold">
                                          <p:stCondLst>
                                            <p:cond delay="0"/>
                                          </p:stCondLst>
                                        </p:cTn>
                                        <p:tgtEl>
                                          <p:spTgt spid="128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86" grpId="8"/>
      <p:bldP build="whole" bldLvl="1" animBg="1" rev="0" advAuto="0" spid="1287" grpId="11"/>
      <p:bldP build="whole" bldLvl="1" animBg="1" rev="0" advAuto="0" spid="1284" grpId="2"/>
      <p:bldP build="whole" bldLvl="1" animBg="1" rev="0" advAuto="0" spid="1287" grpId="14"/>
      <p:bldP build="whole" bldLvl="1" animBg="1" rev="0" advAuto="0" spid="1284" grpId="6"/>
      <p:bldP build="whole" bldLvl="1" animBg="1" rev="0" advAuto="0" spid="1286" grpId="12"/>
      <p:bldP build="whole" bldLvl="1" animBg="1" rev="0" advAuto="0" spid="1289" grpId="15"/>
      <p:bldP build="whole" bldLvl="1" animBg="1" rev="0" advAuto="0" spid="1289" grpId="4"/>
      <p:bldP build="whole" bldLvl="1" animBg="1" rev="0" advAuto="0" spid="1283" grpId="1"/>
      <p:bldP build="whole" bldLvl="1" animBg="1" rev="0" advAuto="0" spid="1283" grpId="3"/>
      <p:bldP build="whole" bldLvl="1" animBg="1" rev="0" advAuto="0" spid="1285" grpId="5"/>
      <p:bldP build="whole" bldLvl="1" animBg="1" rev="0" advAuto="0" spid="1285" grpId="9"/>
      <p:bldP build="whole" bldLvl="1" animBg="1" rev="0" advAuto="0" spid="1288" grpId="13"/>
    </p:bldLst>
  </p:timing>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3" name="Futures: Split"/>
          <p:cNvSpPr txBox="1"/>
          <p:nvPr>
            <p:ph type="title"/>
          </p:nvPr>
        </p:nvSpPr>
        <p:spPr>
          <a:prstGeom prst="rect">
            <a:avLst/>
          </a:prstGeom>
        </p:spPr>
        <p:txBody>
          <a:bodyPr lIns="76200" tIns="76200" rIns="76200" bIns="76200"/>
          <a:lstStyle/>
          <a:p>
            <a:pPr defTabSz="2176581">
              <a:defRPr sz="4200"/>
            </a:pPr>
            <a:r>
              <a:t>Futures: </a:t>
            </a:r>
            <a:r>
              <a:t>Split</a:t>
            </a:r>
          </a:p>
        </p:txBody>
      </p:sp>
      <p:sp>
        <p:nvSpPr>
          <p:cNvPr id="1294" name="template &lt;typename T&gt;…"/>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546100" algn="l"/>
              </a:tabLst>
              <a:defRPr sz="2400">
                <a:solidFill>
                  <a:srgbClr val="0433FF"/>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T&gt;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0433FF"/>
                </a:solidFill>
              </a:rPr>
              <a:t>auto</a:t>
            </a:r>
            <a:r>
              <a:t> split(</a:t>
            </a:r>
            <a:r>
              <a:rPr>
                <a:solidFill>
                  <a:srgbClr val="3495AF"/>
                </a:solidFill>
              </a:rPr>
              <a:t>future</a:t>
            </a:r>
            <a:r>
              <a:t>&lt;T&gt;&amp; x)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0433FF"/>
                </a:solidFill>
              </a:rPr>
              <a:t>auto</a:t>
            </a:r>
            <a:r>
              <a:t> tmp = </a:t>
            </a:r>
            <a:r>
              <a:rPr>
                <a:solidFill>
                  <a:srgbClr val="3495AF"/>
                </a:solidFill>
              </a:rPr>
              <a:t>std</a:t>
            </a:r>
            <a:r>
              <a:t>::</a:t>
            </a:r>
            <a:r>
              <a:rPr>
                <a:solidFill>
                  <a:srgbClr val="3495AF"/>
                </a:solidFill>
              </a:rPr>
              <a:t>move</a:t>
            </a:r>
            <a:r>
              <a:t>(x);</a:t>
            </a:r>
          </a:p>
          <a:p>
            <a:pPr marL="0" indent="0" defTabSz="457200">
              <a:spcBef>
                <a:spcPts val="0"/>
              </a:spcBef>
              <a:buClrTx/>
              <a:buSzTx/>
              <a:buNone/>
              <a:tabLst>
                <a:tab pos="546100" algn="l"/>
              </a:tabLst>
              <a:defRPr sz="2400">
                <a:solidFill>
                  <a:srgbClr val="3495AF"/>
                </a:solidFill>
                <a:uFillTx/>
                <a:latin typeface="Menlo Regular"/>
                <a:ea typeface="Menlo Regular"/>
                <a:cs typeface="Menlo Regular"/>
                <a:sym typeface="Menlo Regular"/>
              </a:defRPr>
            </a:pPr>
            <a:r>
              <a:rPr>
                <a:solidFill>
                  <a:srgbClr val="000000"/>
                </a:solidFill>
              </a:rPr>
              <a:t>    </a:t>
            </a:r>
            <a:endParaRPr>
              <a:solidFill>
                <a:srgbClr val="000000"/>
              </a:solidFill>
            </a:endParaRPr>
          </a:p>
          <a:p>
            <a:pPr marL="0" indent="0" defTabSz="457200">
              <a:spcBef>
                <a:spcPts val="0"/>
              </a:spcBef>
              <a:buClrTx/>
              <a:buSzTx/>
              <a:buNone/>
              <a:tabLst>
                <a:tab pos="546100" algn="l"/>
              </a:tabLst>
              <a:defRPr sz="2400">
                <a:solidFill>
                  <a:srgbClr val="3495AF"/>
                </a:solidFill>
                <a:uFillTx/>
                <a:latin typeface="Menlo Regular"/>
                <a:ea typeface="Menlo Regular"/>
                <a:cs typeface="Menlo Regular"/>
                <a:sym typeface="Menlo Regular"/>
              </a:defRPr>
            </a:pPr>
            <a:r>
              <a:rPr>
                <a:solidFill>
                  <a:srgbClr val="000000"/>
                </a:solidFill>
              </a:rPr>
              <a:t>    </a:t>
            </a:r>
            <a:r>
              <a:t>promise</a:t>
            </a:r>
            <a:r>
              <a:rPr>
                <a:solidFill>
                  <a:srgbClr val="000000"/>
                </a:solidFill>
              </a:rPr>
              <a:t>&lt;T&gt; p;</a:t>
            </a:r>
            <a:endParaRPr>
              <a:solidFill>
                <a:srgbClr val="000000"/>
              </a:solidFill>
            </a:endParaRPr>
          </a:p>
          <a:p>
            <a:pPr marL="0" indent="0" defTabSz="457200">
              <a:spcBef>
                <a:spcPts val="0"/>
              </a:spcBef>
              <a:buClrTx/>
              <a:buSzTx/>
              <a:buNone/>
              <a:tabLst>
                <a:tab pos="546100" algn="l"/>
              </a:tabLst>
              <a:defRPr sz="2400">
                <a:solidFill>
                  <a:srgbClr val="008F00"/>
                </a:solidFill>
                <a:uFillTx/>
                <a:latin typeface="Menlo Regular"/>
                <a:ea typeface="Menlo Regular"/>
                <a:cs typeface="Menlo Regular"/>
                <a:sym typeface="Menlo Regular"/>
              </a:defRPr>
            </a:pPr>
            <a:r>
              <a:rPr>
                <a:solidFill>
                  <a:srgbClr val="000000"/>
                </a:solidFill>
              </a:rPr>
              <a:t>    x = p.</a:t>
            </a:r>
            <a:r>
              <a:rPr>
                <a:solidFill>
                  <a:srgbClr val="3495AF"/>
                </a:solidFill>
              </a:rPr>
              <a:t>get_future</a:t>
            </a:r>
            <a:r>
              <a:rPr>
                <a:solidFill>
                  <a:srgbClr val="000000"/>
                </a:solidFill>
              </a:rPr>
              <a:t>(); </a:t>
            </a:r>
            <a:r>
              <a:t>// replace x with new future</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0433FF"/>
                </a:solidFill>
              </a:rPr>
              <a:t>return</a:t>
            </a:r>
            <a:r>
              <a:t> tmp.</a:t>
            </a:r>
            <a:r>
              <a:rPr>
                <a:solidFill>
                  <a:srgbClr val="3495AF"/>
                </a:solidFill>
              </a:rPr>
              <a:t>then</a:t>
            </a:r>
            <a:r>
              <a:t>([_p = std::move(p)](</a:t>
            </a:r>
            <a:r>
              <a:rPr>
                <a:solidFill>
                  <a:srgbClr val="0433FF"/>
                </a:solidFill>
              </a:rPr>
              <a:t>auto</a:t>
            </a:r>
            <a:r>
              <a:t> _tmp) </a:t>
            </a:r>
            <a:r>
              <a:rPr>
                <a:solidFill>
                  <a:srgbClr val="0433FF"/>
                </a:solidFill>
              </a:rPr>
              <a:t>mutable</a:t>
            </a: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0433FF"/>
                </a:solidFill>
              </a:rPr>
              <a:t>if</a:t>
            </a:r>
            <a:r>
              <a:t> (_tmp.has_exception())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0433FF"/>
                </a:solidFill>
              </a:rPr>
              <a:t>auto</a:t>
            </a:r>
            <a:r>
              <a:t> error = _tmp.get_exception_ptr();</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_p.set_exception(error);</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rethrow_exception(error);</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0433FF"/>
                </a:solidFill>
              </a:rPr>
              <a:t>auto</a:t>
            </a:r>
            <a:r>
              <a:t> value = _tmp.get();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_p.set_value(value); </a:t>
            </a:r>
            <a:r>
              <a:rPr>
                <a:solidFill>
                  <a:srgbClr val="008F00"/>
                </a:solidFill>
              </a:rPr>
              <a:t>// assign to new "x" future</a:t>
            </a:r>
          </a:p>
          <a:p>
            <a:pPr marL="0" indent="0" defTabSz="457200">
              <a:spcBef>
                <a:spcPts val="0"/>
              </a:spcBef>
              <a:buClrTx/>
              <a:buSzTx/>
              <a:buNone/>
              <a:tabLst>
                <a:tab pos="546100" algn="l"/>
              </a:tabLst>
              <a:defRPr sz="2400">
                <a:solidFill>
                  <a:srgbClr val="008F00"/>
                </a:solidFill>
                <a:uFillTx/>
                <a:latin typeface="Menlo Regular"/>
                <a:ea typeface="Menlo Regular"/>
                <a:cs typeface="Menlo Regular"/>
                <a:sym typeface="Menlo Regular"/>
              </a:defRPr>
            </a:pPr>
            <a:r>
              <a:rPr>
                <a:solidFill>
                  <a:srgbClr val="000000"/>
                </a:solidFill>
              </a:rPr>
              <a:t>        </a:t>
            </a:r>
            <a:r>
              <a:rPr>
                <a:solidFill>
                  <a:srgbClr val="0433FF"/>
                </a:solidFill>
              </a:rPr>
              <a:t>return</a:t>
            </a:r>
            <a:r>
              <a:rPr>
                <a:solidFill>
                  <a:srgbClr val="000000"/>
                </a:solidFill>
              </a:rPr>
              <a:t> value; </a:t>
            </a:r>
            <a:r>
              <a:t>// return value through future result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1295"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296" name="Rounded Rectangle"/>
          <p:cNvSpPr/>
          <p:nvPr/>
        </p:nvSpPr>
        <p:spPr>
          <a:xfrm>
            <a:off x="537716" y="5331556"/>
            <a:ext cx="168852" cy="1747482"/>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Tree>
  </p:cSld>
  <p:clrMapOvr>
    <a:masterClrMapping/>
  </p:clrMapOvr>
  <p:transition xmlns:p14="http://schemas.microsoft.com/office/powerpoint/2010/main" spd="fast" advClick="1"/>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0" name="Futures: Continuations"/>
          <p:cNvSpPr txBox="1"/>
          <p:nvPr>
            <p:ph type="title"/>
          </p:nvPr>
        </p:nvSpPr>
        <p:spPr>
          <a:prstGeom prst="rect">
            <a:avLst/>
          </a:prstGeom>
        </p:spPr>
        <p:txBody>
          <a:bodyPr lIns="76200" tIns="76200" rIns="76200" bIns="76200"/>
          <a:lstStyle/>
          <a:p>
            <a:pPr defTabSz="2176581">
              <a:defRPr sz="4200"/>
            </a:pPr>
            <a:r>
              <a:t>Futures: </a:t>
            </a:r>
            <a:r>
              <a:t>Continuations</a:t>
            </a:r>
          </a:p>
        </p:txBody>
      </p:sp>
      <p:sp>
        <p:nvSpPr>
          <p:cNvPr id="1301" name="future&lt;cpp_int&gt; x = async([]{ return fibonacci&lt;cpp_int&gt;(100); });…"/>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546100" algn="l"/>
              </a:tabLst>
              <a:defRPr sz="2400">
                <a:solidFill>
                  <a:srgbClr val="31595D"/>
                </a:solidFill>
                <a:uFillTx/>
                <a:latin typeface="Menlo Regular"/>
                <a:ea typeface="Menlo Regular"/>
                <a:cs typeface="Menlo Regular"/>
                <a:sym typeface="Menlo Regular"/>
              </a:defRPr>
            </a:pPr>
            <a:r>
              <a:rPr>
                <a:solidFill>
                  <a:srgbClr val="000000"/>
                </a:solidFill>
              </a:rPr>
              <a:t>    </a:t>
            </a:r>
            <a:r>
              <a:rPr>
                <a:solidFill>
                  <a:srgbClr val="4F8187"/>
                </a:solidFill>
              </a:rPr>
              <a:t>future</a:t>
            </a:r>
            <a:r>
              <a:rPr>
                <a:solidFill>
                  <a:srgbClr val="000000"/>
                </a:solidFill>
              </a:rPr>
              <a:t>&lt;</a:t>
            </a:r>
            <a:r>
              <a:rPr>
                <a:solidFill>
                  <a:srgbClr val="703DAA"/>
                </a:solidFill>
              </a:rPr>
              <a:t>cpp_int</a:t>
            </a:r>
            <a:r>
              <a:rPr>
                <a:solidFill>
                  <a:srgbClr val="000000"/>
                </a:solidFill>
              </a:rPr>
              <a:t>&gt; x = </a:t>
            </a:r>
            <a:r>
              <a:t>async</a:t>
            </a:r>
            <a:r>
              <a:rPr>
                <a:solidFill>
                  <a:srgbClr val="000000"/>
                </a:solidFill>
              </a:rPr>
              <a:t>([]{ </a:t>
            </a:r>
            <a:r>
              <a:rPr>
                <a:solidFill>
                  <a:srgbClr val="BB2CA2"/>
                </a:solidFill>
              </a:rPr>
              <a:t>return</a:t>
            </a:r>
            <a:r>
              <a:rPr>
                <a:solidFill>
                  <a:srgbClr val="000000"/>
                </a:solidFill>
              </a:rPr>
              <a:t> </a:t>
            </a:r>
            <a:r>
              <a:t>fibonacci</a:t>
            </a:r>
            <a:r>
              <a:rPr>
                <a:solidFill>
                  <a:srgbClr val="000000"/>
                </a:solidFill>
              </a:rPr>
              <a:t>&lt;</a:t>
            </a:r>
            <a:r>
              <a:rPr>
                <a:solidFill>
                  <a:srgbClr val="703DAA"/>
                </a:solidFill>
              </a:rPr>
              <a:t>cpp_int</a:t>
            </a:r>
            <a:r>
              <a:rPr>
                <a:solidFill>
                  <a:srgbClr val="000000"/>
                </a:solidFill>
              </a:rPr>
              <a:t>&gt;(</a:t>
            </a:r>
            <a:r>
              <a:rPr>
                <a:solidFill>
                  <a:srgbClr val="272AD8"/>
                </a:solidFill>
              </a:rPr>
              <a:t>100</a:t>
            </a:r>
            <a:r>
              <a:rPr>
                <a:solidFill>
                  <a:srgbClr val="000000"/>
                </a:solidFill>
              </a:rPr>
              <a:t>); });</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3495AF"/>
                </a:solidFill>
              </a:rPr>
              <a:t>future</a:t>
            </a:r>
            <a:r>
              <a:t>&lt;</a:t>
            </a:r>
            <a:r>
              <a:rPr>
                <a:solidFill>
                  <a:srgbClr val="3495AF"/>
                </a:solidFill>
              </a:rPr>
              <a:t>cpp_int</a:t>
            </a:r>
            <a:r>
              <a:t>&gt; y = </a:t>
            </a:r>
            <a:r>
              <a:rPr>
                <a:solidFill>
                  <a:srgbClr val="3495AF"/>
                </a:solidFill>
              </a:rPr>
              <a:t>split</a:t>
            </a:r>
            <a:r>
              <a:t>(x).</a:t>
            </a:r>
            <a:r>
              <a:rPr>
                <a:solidFill>
                  <a:srgbClr val="3495AF"/>
                </a:solidFill>
              </a:rPr>
              <a:t>then</a:t>
            </a:r>
            <a:r>
              <a:t>([](</a:t>
            </a:r>
            <a:r>
              <a:rPr>
                <a:solidFill>
                  <a:srgbClr val="3495AF"/>
                </a:solidFill>
              </a:rPr>
              <a:t>future</a:t>
            </a:r>
            <a:r>
              <a:t>&lt;</a:t>
            </a:r>
            <a:r>
              <a:rPr>
                <a:solidFill>
                  <a:srgbClr val="3495AF"/>
                </a:solidFill>
              </a:rPr>
              <a:t>cpp_int</a:t>
            </a:r>
            <a:r>
              <a:t>&gt; x){ </a:t>
            </a:r>
            <a:r>
              <a:rPr>
                <a:solidFill>
                  <a:srgbClr val="0433FF"/>
                </a:solidFill>
              </a:rPr>
              <a:t>return</a:t>
            </a:r>
            <a:r>
              <a:t> </a:t>
            </a:r>
            <a:r>
              <a:rPr>
                <a:solidFill>
                  <a:srgbClr val="3495AF"/>
                </a:solidFill>
              </a:rPr>
              <a:t>cpp_int</a:t>
            </a:r>
            <a:r>
              <a:t>(x.</a:t>
            </a:r>
            <a:r>
              <a:rPr>
                <a:solidFill>
                  <a:srgbClr val="3495AF"/>
                </a:solidFill>
              </a:rPr>
              <a:t>get</a:t>
            </a:r>
            <a:r>
              <a:t>() * 2);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3495AF"/>
                </a:solidFill>
              </a:rPr>
              <a:t>future</a:t>
            </a:r>
            <a:r>
              <a:t>&lt;</a:t>
            </a:r>
            <a:r>
              <a:rPr>
                <a:solidFill>
                  <a:srgbClr val="3495AF"/>
                </a:solidFill>
              </a:rPr>
              <a:t>cpp_int</a:t>
            </a:r>
            <a:r>
              <a:t>&gt; z = x.</a:t>
            </a:r>
            <a:r>
              <a:rPr>
                <a:solidFill>
                  <a:srgbClr val="3495AF"/>
                </a:solidFill>
              </a:rPr>
              <a:t>then</a:t>
            </a:r>
            <a:r>
              <a:t>([](</a:t>
            </a:r>
            <a:r>
              <a:rPr>
                <a:solidFill>
                  <a:srgbClr val="3495AF"/>
                </a:solidFill>
              </a:rPr>
              <a:t>future</a:t>
            </a:r>
            <a:r>
              <a:t>&lt;</a:t>
            </a:r>
            <a:r>
              <a:rPr>
                <a:solidFill>
                  <a:srgbClr val="3495AF"/>
                </a:solidFill>
              </a:rPr>
              <a:t>cpp_int</a:t>
            </a:r>
            <a:r>
              <a:t>&gt; x){ </a:t>
            </a:r>
            <a:r>
              <a:rPr>
                <a:solidFill>
                  <a:srgbClr val="0433FF"/>
                </a:solidFill>
              </a:rPr>
              <a:t>return</a:t>
            </a:r>
            <a:r>
              <a:t> </a:t>
            </a:r>
            <a:r>
              <a:rPr>
                <a:solidFill>
                  <a:srgbClr val="3495AF"/>
                </a:solidFill>
              </a:rPr>
              <a:t>cpp_int</a:t>
            </a:r>
            <a:r>
              <a:t>(x.</a:t>
            </a:r>
            <a:r>
              <a:rPr>
                <a:solidFill>
                  <a:srgbClr val="3495AF"/>
                </a:solidFill>
              </a:rPr>
              <a:t>get</a:t>
            </a:r>
            <a:r>
              <a:t>() / 15);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3495AF"/>
                </a:solidFill>
              </a:rPr>
              <a:t>future</a:t>
            </a:r>
            <a:r>
              <a:t>&lt;</a:t>
            </a:r>
            <a:r>
              <a:rPr>
                <a:solidFill>
                  <a:srgbClr val="0433FF"/>
                </a:solidFill>
              </a:rPr>
              <a:t>void</a:t>
            </a:r>
            <a:r>
              <a:t>&gt; done = </a:t>
            </a:r>
            <a:r>
              <a:rPr>
                <a:solidFill>
                  <a:srgbClr val="3495AF"/>
                </a:solidFill>
              </a:rPr>
              <a:t>when_all</a:t>
            </a:r>
            <a:r>
              <a:t>(</a:t>
            </a:r>
            <a:r>
              <a:rPr>
                <a:solidFill>
                  <a:srgbClr val="3495AF"/>
                </a:solidFill>
              </a:rPr>
              <a:t>std</a:t>
            </a:r>
            <a:r>
              <a:t>::</a:t>
            </a:r>
            <a:r>
              <a:rPr>
                <a:solidFill>
                  <a:srgbClr val="3495AF"/>
                </a:solidFill>
              </a:rPr>
              <a:t>move</a:t>
            </a:r>
            <a:r>
              <a:t>(y), </a:t>
            </a:r>
            <a:r>
              <a:rPr>
                <a:solidFill>
                  <a:srgbClr val="3495AF"/>
                </a:solidFill>
              </a:rPr>
              <a:t>std</a:t>
            </a:r>
            <a:r>
              <a:t>::</a:t>
            </a:r>
            <a:r>
              <a:rPr>
                <a:solidFill>
                  <a:srgbClr val="3495AF"/>
                </a:solidFill>
              </a:rPr>
              <a:t>move</a:t>
            </a:r>
            <a:r>
              <a:t>(z)).</a:t>
            </a:r>
            <a:r>
              <a:rPr>
                <a:solidFill>
                  <a:srgbClr val="3495AF"/>
                </a:solidFill>
              </a:rPr>
              <a:t>then</a:t>
            </a:r>
            <a:r>
              <a:t>([](</a:t>
            </a:r>
            <a:r>
              <a:rPr>
                <a:solidFill>
                  <a:srgbClr val="0433FF"/>
                </a:solidFill>
              </a:rPr>
              <a:t>auto</a:t>
            </a:r>
            <a:r>
              <a:t> f){</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0433FF"/>
                </a:solidFill>
              </a:rPr>
              <a:t>auto</a:t>
            </a:r>
            <a:r>
              <a:t> t = f.get();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3495AF"/>
                </a:solidFill>
              </a:rPr>
              <a:t>cout</a:t>
            </a:r>
            <a:r>
              <a:t> &lt;&lt; get&lt;0&gt;(t).get() &lt;&lt; endl;</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3495AF"/>
                </a:solidFill>
              </a:rPr>
              <a:t>cout</a:t>
            </a:r>
            <a:r>
              <a:t> &lt;&lt; get&lt;1&gt;(t).get() &lt;&lt; endl;</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done.</a:t>
            </a:r>
            <a:r>
              <a:rPr>
                <a:solidFill>
                  <a:srgbClr val="3495AF"/>
                </a:solidFill>
              </a:rPr>
              <a:t>wait</a:t>
            </a:r>
            <a:r>
              <a:t>();</a:t>
            </a:r>
          </a:p>
        </p:txBody>
      </p:sp>
      <p:sp>
        <p:nvSpPr>
          <p:cNvPr id="1302"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303" name="708449696358523830150…"/>
          <p:cNvSpPr txBox="1"/>
          <p:nvPr/>
        </p:nvSpPr>
        <p:spPr>
          <a:xfrm>
            <a:off x="10116294" y="7675487"/>
            <a:ext cx="3967907" cy="812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buClrTx/>
              <a:tabLst>
                <a:tab pos="546100" algn="l"/>
              </a:tabLst>
              <a:defRPr b="1" sz="2400">
                <a:uFillTx/>
                <a:latin typeface="Menlo Regular"/>
                <a:ea typeface="Menlo Regular"/>
                <a:cs typeface="Menlo Regular"/>
                <a:sym typeface="Menlo Regular"/>
              </a:defRPr>
            </a:pPr>
            <a:r>
              <a:t>708449696358523830150</a:t>
            </a:r>
          </a:p>
          <a:p>
            <a:pPr defTabSz="457200">
              <a:buClrTx/>
              <a:tabLst>
                <a:tab pos="546100" algn="l"/>
              </a:tabLst>
              <a:defRPr b="1" sz="2400">
                <a:uFillTx/>
                <a:latin typeface="Menlo Regular"/>
                <a:ea typeface="Menlo Regular"/>
                <a:cs typeface="Menlo Regular"/>
                <a:sym typeface="Menlo Regular"/>
              </a:defRPr>
            </a:pPr>
            <a:r>
              <a:t>23614989878617461005</a:t>
            </a:r>
          </a:p>
        </p:txBody>
      </p:sp>
    </p:spTree>
  </p:cSld>
  <p:clrMapOvr>
    <a:masterClrMapping/>
  </p:clrMapOvr>
  <p:transition xmlns:p14="http://schemas.microsoft.com/office/powerpoint/2010/main" spd="fast" advClick="1"/>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7"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308"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309"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310" name="Cancelation"/>
          <p:cNvSpPr txBox="1"/>
          <p:nvPr>
            <p:ph type="title"/>
          </p:nvPr>
        </p:nvSpPr>
        <p:spPr>
          <a:xfrm>
            <a:off x="609600" y="368300"/>
            <a:ext cx="23182917" cy="822325"/>
          </a:xfrm>
          <a:prstGeom prst="rect">
            <a:avLst/>
          </a:prstGeom>
        </p:spPr>
        <p:txBody>
          <a:bodyPr/>
          <a:lstStyle>
            <a:lvl1pPr>
              <a:defRPr sz="4200"/>
            </a:lvl1pPr>
          </a:lstStyle>
          <a:p>
            <a:pPr/>
            <a:r>
              <a:t>Cancelation</a:t>
            </a:r>
          </a:p>
        </p:txBody>
      </p:sp>
      <p:sp>
        <p:nvSpPr>
          <p:cNvPr id="1311" name="When the (last) future destructs…"/>
          <p:cNvSpPr txBox="1"/>
          <p:nvPr>
            <p:ph type="body" idx="1"/>
          </p:nvPr>
        </p:nvSpPr>
        <p:spPr>
          <a:prstGeom prst="rect">
            <a:avLst/>
          </a:prstGeom>
        </p:spPr>
        <p:txBody>
          <a:bodyPr/>
          <a:lstStyle/>
          <a:p>
            <a:pPr/>
            <a:r>
              <a:t>When the (last) future destructs</a:t>
            </a:r>
          </a:p>
          <a:p>
            <a:pPr lvl="1"/>
            <a:r>
              <a:t>The associated task that has not started, should not execute (NOP)</a:t>
            </a:r>
          </a:p>
          <a:p>
            <a:pPr lvl="1"/>
            <a:r>
              <a:t>The resource held by that task should be released</a:t>
            </a:r>
          </a:p>
          <a:p>
            <a:pPr lvl="2" marL="827555" indent="-275852">
              <a:defRPr sz="4000"/>
            </a:pPr>
            <a:r>
              <a:t>Since that task may hold futures for other tasks, the system unravels</a:t>
            </a:r>
          </a:p>
          <a:p>
            <a:pPr lvl="2" marL="827555" indent="-275852">
              <a:defRPr sz="4000"/>
            </a:pPr>
          </a:p>
          <a:p>
            <a:pPr/>
            <a:r>
              <a:t>I do not know of a good way to compose such cancelation with current futures</a:t>
            </a:r>
          </a:p>
        </p:txBody>
      </p:sp>
      <p:sp>
        <p:nvSpPr>
          <p:cNvPr id="1312" name="Slide Number"/>
          <p:cNvSpPr txBox="1"/>
          <p:nvPr>
            <p:ph type="sldNum" sz="quarter" idx="2"/>
          </p:nvPr>
        </p:nvSpPr>
        <p:spPr>
          <a:xfrm>
            <a:off x="12048372" y="12934946"/>
            <a:ext cx="306325"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313"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0" presetID="1" grpId="1" fill="hold">
                                  <p:stCondLst>
                                    <p:cond delay="0"/>
                                  </p:stCondLst>
                                  <p:iterate type="el" backwards="0">
                                    <p:tmAbs val="0"/>
                                  </p:iterate>
                                  <p:childTnLst>
                                    <p:set>
                                      <p:cBhvr>
                                        <p:cTn id="6" fill="hold"/>
                                        <p:tgtEl>
                                          <p:spTgt spid="1311">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1311">
                                            <p:txEl>
                                              <p:pRg st="0" end="0"/>
                                            </p:txEl>
                                          </p:spTgt>
                                        </p:tgtEl>
                                        <p:attrNameLst>
                                          <p:attrName>style.visibility</p:attrName>
                                        </p:attrNameLst>
                                      </p:cBhvr>
                                      <p:to>
                                        <p:strVal val="visible"/>
                                      </p:to>
                                    </p:set>
                                  </p:childTnLst>
                                </p:cTn>
                              </p:par>
                              <p:par>
                                <p:cTn id="9" presetClass="entr" nodeType="withEffect" presetSubtype="0" presetID="1" grpId="1" fill="hold">
                                  <p:stCondLst>
                                    <p:cond delay="0"/>
                                  </p:stCondLst>
                                  <p:iterate type="el" backwards="0">
                                    <p:tmAbs val="0"/>
                                  </p:iterate>
                                  <p:childTnLst>
                                    <p:set>
                                      <p:cBhvr>
                                        <p:cTn id="10" fill="hold"/>
                                        <p:tgtEl>
                                          <p:spTgt spid="1311">
                                            <p:txEl>
                                              <p:pRg st="1" end="1"/>
                                            </p:txEl>
                                          </p:spTgt>
                                        </p:tgtEl>
                                        <p:attrNameLst>
                                          <p:attrName>style.visibility</p:attrName>
                                        </p:attrNameLst>
                                      </p:cBhvr>
                                      <p:to>
                                        <p:strVal val="visible"/>
                                      </p:to>
                                    </p:set>
                                  </p:childTnLst>
                                </p:cTn>
                              </p:par>
                              <p:par>
                                <p:cTn id="11" presetClass="entr" nodeType="withEffect" presetSubtype="0" presetID="1" grpId="1" fill="hold">
                                  <p:stCondLst>
                                    <p:cond delay="0"/>
                                  </p:stCondLst>
                                  <p:iterate type="el" backwards="0">
                                    <p:tmAbs val="0"/>
                                  </p:iterate>
                                  <p:childTnLst>
                                    <p:set>
                                      <p:cBhvr>
                                        <p:cTn id="12" fill="hold"/>
                                        <p:tgtEl>
                                          <p:spTgt spid="1311">
                                            <p:txEl>
                                              <p:pRg st="2" end="2"/>
                                            </p:txEl>
                                          </p:spTgt>
                                        </p:tgtEl>
                                        <p:attrNameLst>
                                          <p:attrName>style.visibility</p:attrName>
                                        </p:attrNameLst>
                                      </p:cBhvr>
                                      <p:to>
                                        <p:strVal val="visible"/>
                                      </p:to>
                                    </p:set>
                                  </p:childTnLst>
                                </p:cTn>
                              </p:par>
                              <p:par>
                                <p:cTn id="13" presetClass="entr" nodeType="withEffect" presetSubtype="0" presetID="1" grpId="1" fill="hold">
                                  <p:stCondLst>
                                    <p:cond delay="0"/>
                                  </p:stCondLst>
                                  <p:iterate type="el" backwards="0">
                                    <p:tmAbs val="0"/>
                                  </p:iterate>
                                  <p:childTnLst>
                                    <p:set>
                                      <p:cBhvr>
                                        <p:cTn id="14" fill="hold"/>
                                        <p:tgtEl>
                                          <p:spTgt spid="1311">
                                            <p:txEl>
                                              <p:pRg st="3" end="3"/>
                                            </p:txEl>
                                          </p:spTgt>
                                        </p:tgtEl>
                                        <p:attrNameLst>
                                          <p:attrName>style.visibility</p:attrName>
                                        </p:attrNameLst>
                                      </p:cBhvr>
                                      <p:to>
                                        <p:strVal val="visible"/>
                                      </p:to>
                                    </p:set>
                                  </p:childTnLst>
                                </p:cTn>
                              </p:par>
                              <p:par>
                                <p:cTn id="15" presetClass="entr" nodeType="withEffect" presetSubtype="0" presetID="1" grpId="1" fill="hold">
                                  <p:stCondLst>
                                    <p:cond delay="0"/>
                                  </p:stCondLst>
                                  <p:iterate type="el" backwards="0">
                                    <p:tmAbs val="0"/>
                                  </p:iterate>
                                  <p:childTnLst>
                                    <p:set>
                                      <p:cBhvr>
                                        <p:cTn id="16" fill="hold"/>
                                        <p:tgtEl>
                                          <p:spTgt spid="131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1" fill="hold">
                                  <p:stCondLst>
                                    <p:cond delay="0"/>
                                  </p:stCondLst>
                                  <p:iterate type="el" backwards="0">
                                    <p:tmAbs val="0"/>
                                  </p:iterate>
                                  <p:childTnLst>
                                    <p:set>
                                      <p:cBhvr>
                                        <p:cTn id="20" fill="hold"/>
                                        <p:tgtEl>
                                          <p:spTgt spid="1311">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1311" grpId="1"/>
    </p:bldLst>
  </p:timing>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7"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318"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319"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320" name="Cancelation"/>
          <p:cNvSpPr txBox="1"/>
          <p:nvPr>
            <p:ph type="title"/>
          </p:nvPr>
        </p:nvSpPr>
        <p:spPr>
          <a:xfrm>
            <a:off x="609600" y="368300"/>
            <a:ext cx="23182917" cy="822325"/>
          </a:xfrm>
          <a:prstGeom prst="rect">
            <a:avLst/>
          </a:prstGeom>
        </p:spPr>
        <p:txBody>
          <a:bodyPr/>
          <a:lstStyle>
            <a:lvl1pPr>
              <a:defRPr sz="4200"/>
            </a:lvl1pPr>
          </a:lstStyle>
          <a:p>
            <a:pPr/>
            <a:r>
              <a:t>Cancelation</a:t>
            </a:r>
          </a:p>
        </p:txBody>
      </p:sp>
      <p:sp>
        <p:nvSpPr>
          <p:cNvPr id="1321" name="Slide Number"/>
          <p:cNvSpPr txBox="1"/>
          <p:nvPr>
            <p:ph type="sldNum" sz="quarter" idx="2"/>
          </p:nvPr>
        </p:nvSpPr>
        <p:spPr>
          <a:xfrm>
            <a:off x="12046035" y="12934946"/>
            <a:ext cx="310999"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322"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pic>
        <p:nvPicPr>
          <p:cNvPr id="1323" name="Image" descr="Image"/>
          <p:cNvPicPr>
            <a:picLocks noChangeAspect="1"/>
          </p:cNvPicPr>
          <p:nvPr/>
        </p:nvPicPr>
        <p:blipFill>
          <a:blip r:embed="rId3">
            <a:extLst/>
          </a:blip>
          <a:stretch>
            <a:fillRect/>
          </a:stretch>
        </p:blipFill>
        <p:spPr>
          <a:xfrm>
            <a:off x="511559" y="4899305"/>
            <a:ext cx="17271902" cy="6484646"/>
          </a:xfrm>
          <a:prstGeom prst="rect">
            <a:avLst/>
          </a:prstGeom>
          <a:ln w="12700">
            <a:miter lim="400000"/>
          </a:ln>
        </p:spPr>
      </p:pic>
      <p:pic>
        <p:nvPicPr>
          <p:cNvPr id="1324" name="Image" descr="Image"/>
          <p:cNvPicPr>
            <a:picLocks noChangeAspect="1"/>
          </p:cNvPicPr>
          <p:nvPr/>
        </p:nvPicPr>
        <p:blipFill>
          <a:blip r:embed="rId4">
            <a:extLst/>
          </a:blip>
          <a:stretch>
            <a:fillRect/>
          </a:stretch>
        </p:blipFill>
        <p:spPr>
          <a:xfrm>
            <a:off x="6596677" y="3230456"/>
            <a:ext cx="11186783" cy="6484646"/>
          </a:xfrm>
          <a:prstGeom prst="rect">
            <a:avLst/>
          </a:prstGeom>
          <a:ln w="12700">
            <a:miter lim="400000"/>
          </a:ln>
        </p:spPr>
      </p:pic>
      <p:pic>
        <p:nvPicPr>
          <p:cNvPr id="1325" name="Image" descr="Image"/>
          <p:cNvPicPr>
            <a:picLocks noChangeAspect="1"/>
          </p:cNvPicPr>
          <p:nvPr/>
        </p:nvPicPr>
        <p:blipFill>
          <a:blip r:embed="rId5">
            <a:extLst/>
          </a:blip>
          <a:stretch>
            <a:fillRect/>
          </a:stretch>
        </p:blipFill>
        <p:spPr>
          <a:xfrm>
            <a:off x="9645958" y="3230456"/>
            <a:ext cx="11186783" cy="5101665"/>
          </a:xfrm>
          <a:prstGeom prst="rect">
            <a:avLst/>
          </a:prstGeom>
          <a:ln w="12700">
            <a:miter lim="400000"/>
          </a:ln>
        </p:spPr>
      </p:pic>
      <p:pic>
        <p:nvPicPr>
          <p:cNvPr id="1326" name="Image" descr="Image"/>
          <p:cNvPicPr>
            <a:picLocks noChangeAspect="1"/>
          </p:cNvPicPr>
          <p:nvPr/>
        </p:nvPicPr>
        <p:blipFill>
          <a:blip r:embed="rId6">
            <a:extLst/>
          </a:blip>
          <a:stretch>
            <a:fillRect/>
          </a:stretch>
        </p:blipFill>
        <p:spPr>
          <a:xfrm>
            <a:off x="19047372" y="3230456"/>
            <a:ext cx="4825069" cy="1782510"/>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xit" nodeType="clickEffect" presetID="9" grpId="1" fill="hold">
                                  <p:stCondLst>
                                    <p:cond delay="0"/>
                                  </p:stCondLst>
                                  <p:iterate type="el" backwards="0">
                                    <p:tmAbs val="0"/>
                                  </p:iterate>
                                  <p:childTnLst>
                                    <p:animEffect filter="dissolve" transition="out">
                                      <p:cBhvr>
                                        <p:cTn id="6" dur="2000" fill="hold"/>
                                        <p:tgtEl>
                                          <p:spTgt spid="1326"/>
                                        </p:tgtEl>
                                      </p:cBhvr>
                                    </p:animEffect>
                                    <p:set>
                                      <p:cBhvr>
                                        <p:cTn id="7" fill="hold">
                                          <p:stCondLst>
                                            <p:cond delay="1999"/>
                                          </p:stCondLst>
                                        </p:cTn>
                                        <p:tgtEl>
                                          <p:spTgt spid="132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Class="exit" nodeType="clickEffect" presetID="9" grpId="2" fill="hold">
                                  <p:stCondLst>
                                    <p:cond delay="0"/>
                                  </p:stCondLst>
                                  <p:iterate type="el" backwards="0">
                                    <p:tmAbs val="0"/>
                                  </p:iterate>
                                  <p:childTnLst>
                                    <p:animEffect filter="dissolve" transition="out">
                                      <p:cBhvr>
                                        <p:cTn id="11" dur="2000" fill="hold"/>
                                        <p:tgtEl>
                                          <p:spTgt spid="1325"/>
                                        </p:tgtEl>
                                      </p:cBhvr>
                                    </p:animEffect>
                                    <p:set>
                                      <p:cBhvr>
                                        <p:cTn id="12" fill="hold">
                                          <p:stCondLst>
                                            <p:cond delay="1999"/>
                                          </p:stCondLst>
                                        </p:cTn>
                                        <p:tgtEl>
                                          <p:spTgt spid="132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Class="exit" nodeType="clickEffect" presetID="9" grpId="3" fill="hold">
                                  <p:stCondLst>
                                    <p:cond delay="0"/>
                                  </p:stCondLst>
                                  <p:iterate type="el" backwards="0">
                                    <p:tmAbs val="0"/>
                                  </p:iterate>
                                  <p:childTnLst>
                                    <p:animEffect filter="dissolve" transition="out">
                                      <p:cBhvr>
                                        <p:cTn id="16" dur="2000" fill="hold"/>
                                        <p:tgtEl>
                                          <p:spTgt spid="1324"/>
                                        </p:tgtEl>
                                      </p:cBhvr>
                                    </p:animEffect>
                                    <p:set>
                                      <p:cBhvr>
                                        <p:cTn id="17" fill="hold">
                                          <p:stCondLst>
                                            <p:cond delay="1999"/>
                                          </p:stCondLst>
                                        </p:cTn>
                                        <p:tgtEl>
                                          <p:spTgt spid="132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25" grpId="2"/>
      <p:bldP build="whole" bldLvl="1" animBg="1" rev="0" advAuto="0" spid="1324" grpId="3"/>
      <p:bldP build="whole" bldLvl="1" animBg="1" rev="0" advAuto="0" spid="1326" grpId="1"/>
    </p:bldLst>
  </p:timing>
</p:sld>
</file>

<file path=ppt/slides/slide8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8"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329"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330"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331" name="stlab future library"/>
          <p:cNvSpPr txBox="1"/>
          <p:nvPr>
            <p:ph type="title"/>
          </p:nvPr>
        </p:nvSpPr>
        <p:spPr>
          <a:xfrm>
            <a:off x="609600" y="368300"/>
            <a:ext cx="23182917" cy="822325"/>
          </a:xfrm>
          <a:prstGeom prst="rect">
            <a:avLst/>
          </a:prstGeom>
        </p:spPr>
        <p:txBody>
          <a:bodyPr/>
          <a:lstStyle>
            <a:lvl1pPr>
              <a:defRPr sz="4200"/>
            </a:lvl1pPr>
          </a:lstStyle>
          <a:p>
            <a:pPr/>
            <a:r>
              <a:t>stlab future library</a:t>
            </a:r>
          </a:p>
        </p:txBody>
      </p:sp>
      <p:sp>
        <p:nvSpPr>
          <p:cNvPr id="1332" name="Currently supports…"/>
          <p:cNvSpPr txBox="1"/>
          <p:nvPr>
            <p:ph type="body" idx="1"/>
          </p:nvPr>
        </p:nvSpPr>
        <p:spPr>
          <a:prstGeom prst="rect">
            <a:avLst/>
          </a:prstGeom>
        </p:spPr>
        <p:txBody>
          <a:bodyPr/>
          <a:lstStyle/>
          <a:p>
            <a:pPr/>
            <a:r>
              <a:t>Currently supports</a:t>
            </a:r>
          </a:p>
          <a:p>
            <a:pPr lvl="1"/>
            <a:r>
              <a:t>Multiple continuations and copy</a:t>
            </a:r>
          </a:p>
          <a:p>
            <a:pPr lvl="2" marL="827555" indent="-275852">
              <a:defRPr sz="4000"/>
            </a:pPr>
            <a:r>
              <a:t>Optimized for rvalues</a:t>
            </a:r>
          </a:p>
          <a:p>
            <a:pPr lvl="1"/>
            <a:r>
              <a:t>Join (When All, When Any)</a:t>
            </a:r>
          </a:p>
          <a:p>
            <a:pPr lvl="1"/>
            <a:r>
              <a:t>Cancelation on Destruction (and explicit reset)</a:t>
            </a:r>
          </a:p>
          <a:p>
            <a:pPr lvl="2" marL="827555" indent="-275852">
              <a:defRPr sz="4000"/>
            </a:pPr>
            <a:r>
              <a:t>And detach</a:t>
            </a:r>
          </a:p>
          <a:p>
            <a:pPr lvl="2" marL="827555" indent="-275852">
              <a:defRPr sz="4000"/>
            </a:pPr>
          </a:p>
          <a:p>
            <a:pPr marL="551704" indent="-551704" defTabSz="1088291">
              <a:spcBef>
                <a:spcPts val="1200"/>
              </a:spcBef>
            </a:pPr>
            <a:r>
              <a:t> </a:t>
            </a:r>
            <a:r>
              <a:rPr u="sng">
                <a:hlinkClick r:id="rId2" invalidUrl="" action="" tgtFrame="" tooltip="" history="1" highlightClick="0" endSnd="0"/>
              </a:rPr>
              <a:t>https://github.com/stlab/libraries/tree/develop</a:t>
            </a:r>
          </a:p>
          <a:p>
            <a:pPr marL="551704" indent="-551704" defTabSz="1088291">
              <a:spcBef>
                <a:spcPts val="1200"/>
              </a:spcBef>
            </a:pPr>
            <a:r>
              <a:t>Thanks to Felix Petriconi</a:t>
            </a:r>
          </a:p>
        </p:txBody>
      </p:sp>
      <p:sp>
        <p:nvSpPr>
          <p:cNvPr id="1333" name="Slide Number"/>
          <p:cNvSpPr txBox="1"/>
          <p:nvPr>
            <p:ph type="sldNum" sz="quarter" idx="2"/>
          </p:nvPr>
        </p:nvSpPr>
        <p:spPr>
          <a:xfrm>
            <a:off x="12039025" y="12934946"/>
            <a:ext cx="325019"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334"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0" presetID="1" grpId="1" fill="hold">
                                  <p:stCondLst>
                                    <p:cond delay="0"/>
                                  </p:stCondLst>
                                  <p:iterate type="el" backwards="0">
                                    <p:tmAbs val="0"/>
                                  </p:iterate>
                                  <p:childTnLst>
                                    <p:set>
                                      <p:cBhvr>
                                        <p:cTn id="6" fill="hold"/>
                                        <p:tgtEl>
                                          <p:spTgt spid="1332">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1332">
                                            <p:txEl>
                                              <p:pRg st="0" end="0"/>
                                            </p:txEl>
                                          </p:spTgt>
                                        </p:tgtEl>
                                        <p:attrNameLst>
                                          <p:attrName>style.visibility</p:attrName>
                                        </p:attrNameLst>
                                      </p:cBhvr>
                                      <p:to>
                                        <p:strVal val="visible"/>
                                      </p:to>
                                    </p:set>
                                  </p:childTnLst>
                                </p:cTn>
                              </p:par>
                              <p:par>
                                <p:cTn id="9" presetClass="entr" nodeType="withEffect" presetSubtype="0" presetID="1" grpId="1" fill="hold">
                                  <p:stCondLst>
                                    <p:cond delay="0"/>
                                  </p:stCondLst>
                                  <p:iterate type="el" backwards="0">
                                    <p:tmAbs val="0"/>
                                  </p:iterate>
                                  <p:childTnLst>
                                    <p:set>
                                      <p:cBhvr>
                                        <p:cTn id="10" fill="hold"/>
                                        <p:tgtEl>
                                          <p:spTgt spid="1332">
                                            <p:txEl>
                                              <p:pRg st="1" end="1"/>
                                            </p:txEl>
                                          </p:spTgt>
                                        </p:tgtEl>
                                        <p:attrNameLst>
                                          <p:attrName>style.visibility</p:attrName>
                                        </p:attrNameLst>
                                      </p:cBhvr>
                                      <p:to>
                                        <p:strVal val="visible"/>
                                      </p:to>
                                    </p:set>
                                  </p:childTnLst>
                                </p:cTn>
                              </p:par>
                              <p:par>
                                <p:cTn id="11" presetClass="entr" nodeType="withEffect" presetSubtype="0" presetID="1" grpId="1" fill="hold">
                                  <p:stCondLst>
                                    <p:cond delay="0"/>
                                  </p:stCondLst>
                                  <p:iterate type="el" backwards="0">
                                    <p:tmAbs val="0"/>
                                  </p:iterate>
                                  <p:childTnLst>
                                    <p:set>
                                      <p:cBhvr>
                                        <p:cTn id="12" fill="hold"/>
                                        <p:tgtEl>
                                          <p:spTgt spid="1332">
                                            <p:txEl>
                                              <p:pRg st="2" end="2"/>
                                            </p:txEl>
                                          </p:spTgt>
                                        </p:tgtEl>
                                        <p:attrNameLst>
                                          <p:attrName>style.visibility</p:attrName>
                                        </p:attrNameLst>
                                      </p:cBhvr>
                                      <p:to>
                                        <p:strVal val="visible"/>
                                      </p:to>
                                    </p:set>
                                  </p:childTnLst>
                                </p:cTn>
                              </p:par>
                              <p:par>
                                <p:cTn id="13" presetClass="entr" nodeType="withEffect" presetSubtype="0" presetID="1" grpId="1" fill="hold">
                                  <p:stCondLst>
                                    <p:cond delay="0"/>
                                  </p:stCondLst>
                                  <p:iterate type="el" backwards="0">
                                    <p:tmAbs val="0"/>
                                  </p:iterate>
                                  <p:childTnLst>
                                    <p:set>
                                      <p:cBhvr>
                                        <p:cTn id="14" fill="hold"/>
                                        <p:tgtEl>
                                          <p:spTgt spid="1332">
                                            <p:txEl>
                                              <p:pRg st="3" end="3"/>
                                            </p:txEl>
                                          </p:spTgt>
                                        </p:tgtEl>
                                        <p:attrNameLst>
                                          <p:attrName>style.visibility</p:attrName>
                                        </p:attrNameLst>
                                      </p:cBhvr>
                                      <p:to>
                                        <p:strVal val="visible"/>
                                      </p:to>
                                    </p:set>
                                  </p:childTnLst>
                                </p:cTn>
                              </p:par>
                              <p:par>
                                <p:cTn id="15" presetClass="entr" nodeType="withEffect" presetSubtype="0" presetID="1" grpId="1" fill="hold">
                                  <p:stCondLst>
                                    <p:cond delay="0"/>
                                  </p:stCondLst>
                                  <p:iterate type="el" backwards="0">
                                    <p:tmAbs val="0"/>
                                  </p:iterate>
                                  <p:childTnLst>
                                    <p:set>
                                      <p:cBhvr>
                                        <p:cTn id="16" fill="hold"/>
                                        <p:tgtEl>
                                          <p:spTgt spid="1332">
                                            <p:txEl>
                                              <p:pRg st="4" end="4"/>
                                            </p:txEl>
                                          </p:spTgt>
                                        </p:tgtEl>
                                        <p:attrNameLst>
                                          <p:attrName>style.visibility</p:attrName>
                                        </p:attrNameLst>
                                      </p:cBhvr>
                                      <p:to>
                                        <p:strVal val="visible"/>
                                      </p:to>
                                    </p:set>
                                  </p:childTnLst>
                                </p:cTn>
                              </p:par>
                              <p:par>
                                <p:cTn id="17" presetClass="entr" nodeType="withEffect" presetSubtype="0" presetID="1" grpId="1" fill="hold">
                                  <p:stCondLst>
                                    <p:cond delay="0"/>
                                  </p:stCondLst>
                                  <p:iterate type="el" backwards="0">
                                    <p:tmAbs val="0"/>
                                  </p:iterate>
                                  <p:childTnLst>
                                    <p:set>
                                      <p:cBhvr>
                                        <p:cTn id="18" fill="hold"/>
                                        <p:tgtEl>
                                          <p:spTgt spid="1332">
                                            <p:txEl>
                                              <p:pRg st="5" end="5"/>
                                            </p:txEl>
                                          </p:spTgt>
                                        </p:tgtEl>
                                        <p:attrNameLst>
                                          <p:attrName>style.visibility</p:attrName>
                                        </p:attrNameLst>
                                      </p:cBhvr>
                                      <p:to>
                                        <p:strVal val="visible"/>
                                      </p:to>
                                    </p:set>
                                  </p:childTnLst>
                                </p:cTn>
                              </p:par>
                              <p:par>
                                <p:cTn id="19" presetClass="entr" nodeType="withEffect" presetSubtype="0" presetID="1" grpId="1" fill="hold">
                                  <p:stCondLst>
                                    <p:cond delay="0"/>
                                  </p:stCondLst>
                                  <p:iterate type="el" backwards="0">
                                    <p:tmAbs val="0"/>
                                  </p:iterate>
                                  <p:childTnLst>
                                    <p:set>
                                      <p:cBhvr>
                                        <p:cTn id="20" fill="hold"/>
                                        <p:tgtEl>
                                          <p:spTgt spid="1332">
                                            <p:txEl>
                                              <p:pRg st="6" end="6"/>
                                            </p:txEl>
                                          </p:spTgt>
                                        </p:tgtEl>
                                        <p:attrNameLst>
                                          <p:attrName>style.visibility</p:attrName>
                                        </p:attrNameLst>
                                      </p:cBhvr>
                                      <p:to>
                                        <p:strVal val="visible"/>
                                      </p:to>
                                    </p:set>
                                  </p:childTnLst>
                                </p:cTn>
                              </p:par>
                            </p:childTnLst>
                          </p:cTn>
                        </p:par>
                        <p:par>
                          <p:cTn id="21" fill="hold">
                            <p:stCondLst>
                              <p:cond delay="0"/>
                            </p:stCondLst>
                            <p:childTnLst>
                              <p:par>
                                <p:cTn id="22" presetClass="entr" nodeType="afterEffect" presetSubtype="0" presetID="1" grpId="1" fill="hold">
                                  <p:stCondLst>
                                    <p:cond delay="0"/>
                                  </p:stCondLst>
                                  <p:iterate type="el" backwards="0">
                                    <p:tmAbs val="0"/>
                                  </p:iterate>
                                  <p:childTnLst>
                                    <p:set>
                                      <p:cBhvr>
                                        <p:cTn id="23" fill="hold"/>
                                        <p:tgtEl>
                                          <p:spTgt spid="1332">
                                            <p:txEl>
                                              <p:pRg st="7" end="7"/>
                                            </p:txEl>
                                          </p:spTgt>
                                        </p:tgtEl>
                                        <p:attrNameLst>
                                          <p:attrName>style.visibility</p:attrName>
                                        </p:attrNameLst>
                                      </p:cBhvr>
                                      <p:to>
                                        <p:strVal val="visible"/>
                                      </p:to>
                                    </p:set>
                                  </p:childTnLst>
                                </p:cTn>
                              </p:par>
                            </p:childTnLst>
                          </p:cTn>
                        </p:par>
                        <p:par>
                          <p:cTn id="24" fill="hold">
                            <p:stCondLst>
                              <p:cond delay="0"/>
                            </p:stCondLst>
                            <p:childTnLst>
                              <p:par>
                                <p:cTn id="25" presetClass="entr" nodeType="afterEffect" presetSubtype="0" presetID="1" grpId="1" fill="hold">
                                  <p:stCondLst>
                                    <p:cond delay="0"/>
                                  </p:stCondLst>
                                  <p:iterate type="el" backwards="0">
                                    <p:tmAbs val="0"/>
                                  </p:iterate>
                                  <p:childTnLst>
                                    <p:set>
                                      <p:cBhvr>
                                        <p:cTn id="26" fill="hold"/>
                                        <p:tgtEl>
                                          <p:spTgt spid="1332">
                                            <p:txEl>
                                              <p:pRg st="8" end="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1332" grpId="1"/>
    </p:bldLst>
  </p:timing>
</p:sld>
</file>

<file path=ppt/slides/slide8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336"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337"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338"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339" name="Futures"/>
          <p:cNvSpPr txBox="1"/>
          <p:nvPr>
            <p:ph type="title"/>
          </p:nvPr>
        </p:nvSpPr>
        <p:spPr>
          <a:xfrm>
            <a:off x="609600" y="368300"/>
            <a:ext cx="23182917" cy="822325"/>
          </a:xfrm>
          <a:prstGeom prst="rect">
            <a:avLst/>
          </a:prstGeom>
        </p:spPr>
        <p:txBody>
          <a:bodyPr/>
          <a:lstStyle>
            <a:lvl1pPr>
              <a:defRPr sz="4200"/>
            </a:lvl1pPr>
          </a:lstStyle>
          <a:p>
            <a:pPr/>
            <a:r>
              <a:t>Futures</a:t>
            </a:r>
          </a:p>
        </p:txBody>
      </p:sp>
      <p:sp>
        <p:nvSpPr>
          <p:cNvPr id="1340"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341"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pic>
        <p:nvPicPr>
          <p:cNvPr id="1342" name="Image" descr="Image"/>
          <p:cNvPicPr>
            <a:picLocks noChangeAspect="1"/>
          </p:cNvPicPr>
          <p:nvPr/>
        </p:nvPicPr>
        <p:blipFill>
          <a:blip r:embed="rId3">
            <a:extLst/>
          </a:blip>
          <a:stretch>
            <a:fillRect/>
          </a:stretch>
        </p:blipFill>
        <p:spPr>
          <a:xfrm>
            <a:off x="8226447" y="5384800"/>
            <a:ext cx="7975601" cy="2946400"/>
          </a:xfrm>
          <a:prstGeom prst="rect">
            <a:avLst/>
          </a:prstGeom>
          <a:ln w="12700">
            <a:miter lim="400000"/>
          </a:ln>
        </p:spPr>
      </p:pic>
      <p:pic>
        <p:nvPicPr>
          <p:cNvPr id="1343" name="Image" descr="Image"/>
          <p:cNvPicPr>
            <a:picLocks noChangeAspect="1"/>
          </p:cNvPicPr>
          <p:nvPr/>
        </p:nvPicPr>
        <p:blipFill>
          <a:blip r:embed="rId4">
            <a:extLst/>
          </a:blip>
          <a:stretch>
            <a:fillRect/>
          </a:stretch>
        </p:blipFill>
        <p:spPr>
          <a:xfrm>
            <a:off x="8226447" y="5384800"/>
            <a:ext cx="7975601" cy="5689600"/>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xit" nodeType="clickEffect" presetID="10" grpId="1" fill="hold">
                                  <p:stCondLst>
                                    <p:cond delay="0"/>
                                  </p:stCondLst>
                                  <p:iterate type="el" backwards="0">
                                    <p:tmAbs val="0"/>
                                  </p:iterate>
                                  <p:childTnLst>
                                    <p:animEffect filter="fade" transition="out">
                                      <p:cBhvr>
                                        <p:cTn id="6" dur="1000" fill="hold"/>
                                        <p:tgtEl>
                                          <p:spTgt spid="1342"/>
                                        </p:tgtEl>
                                      </p:cBhvr>
                                    </p:animEffect>
                                    <p:set>
                                      <p:cBhvr>
                                        <p:cTn id="7" fill="hold">
                                          <p:stCondLst>
                                            <p:cond delay="999"/>
                                          </p:stCondLst>
                                        </p:cTn>
                                        <p:tgtEl>
                                          <p:spTgt spid="1342"/>
                                        </p:tgtEl>
                                        <p:attrNameLst>
                                          <p:attrName>style.visibility</p:attrName>
                                        </p:attrNameLst>
                                      </p:cBhvr>
                                      <p:to>
                                        <p:strVal val="hidden"/>
                                      </p:to>
                                    </p:set>
                                  </p:childTnLst>
                                </p:cTn>
                              </p:par>
                            </p:childTnLst>
                          </p:cTn>
                        </p:par>
                        <p:par>
                          <p:cTn id="8" fill="hold">
                            <p:stCondLst>
                              <p:cond delay="1000"/>
                            </p:stCondLst>
                            <p:childTnLst>
                              <p:par>
                                <p:cTn id="9" presetClass="entr" nodeType="afterEffect" presetID="10" grpId="2" fill="hold">
                                  <p:stCondLst>
                                    <p:cond delay="0"/>
                                  </p:stCondLst>
                                  <p:iterate type="el" backwards="0">
                                    <p:tmAbs val="0"/>
                                  </p:iterate>
                                  <p:childTnLst>
                                    <p:set>
                                      <p:cBhvr>
                                        <p:cTn id="10" fill="hold"/>
                                        <p:tgtEl>
                                          <p:spTgt spid="1343"/>
                                        </p:tgtEl>
                                        <p:attrNameLst>
                                          <p:attrName>style.visibility</p:attrName>
                                        </p:attrNameLst>
                                      </p:cBhvr>
                                      <p:to>
                                        <p:strVal val="visible"/>
                                      </p:to>
                                    </p:set>
                                    <p:animEffect filter="fade" transition="in">
                                      <p:cBhvr>
                                        <p:cTn id="11" dur="1000"/>
                                        <p:tgtEl>
                                          <p:spTgt spid="1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43" grpId="2"/>
      <p:bldP build="whole" bldLvl="1" animBg="1" rev="0" advAuto="0" spid="1342" grpId="1"/>
    </p:bldLst>
  </p:timing>
</p:sld>
</file>

<file path=ppt/slides/slide8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pic>
        <p:nvPicPr>
          <p:cNvPr id="1345" name="Image" descr="Image"/>
          <p:cNvPicPr>
            <a:picLocks noChangeAspect="1"/>
          </p:cNvPicPr>
          <p:nvPr/>
        </p:nvPicPr>
        <p:blipFill>
          <a:blip r:embed="rId2">
            <a:extLst/>
          </a:blip>
          <a:stretch>
            <a:fillRect/>
          </a:stretch>
        </p:blipFill>
        <p:spPr>
          <a:xfrm>
            <a:off x="3175000" y="1907074"/>
            <a:ext cx="18034000" cy="8432801"/>
          </a:xfrm>
          <a:prstGeom prst="rect">
            <a:avLst/>
          </a:prstGeom>
          <a:ln w="12700">
            <a:miter lim="400000"/>
          </a:ln>
        </p:spPr>
      </p:pic>
      <p:sp>
        <p:nvSpPr>
          <p:cNvPr id="1346"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347"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348"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349" name="Futures"/>
          <p:cNvSpPr txBox="1"/>
          <p:nvPr>
            <p:ph type="title"/>
          </p:nvPr>
        </p:nvSpPr>
        <p:spPr>
          <a:xfrm>
            <a:off x="609600" y="368300"/>
            <a:ext cx="23182917" cy="822325"/>
          </a:xfrm>
          <a:prstGeom prst="rect">
            <a:avLst/>
          </a:prstGeom>
        </p:spPr>
        <p:txBody>
          <a:bodyPr/>
          <a:lstStyle>
            <a:lvl1pPr>
              <a:defRPr sz="4200"/>
            </a:lvl1pPr>
          </a:lstStyle>
          <a:p>
            <a:pPr/>
            <a:r>
              <a:t>Futures</a:t>
            </a:r>
          </a:p>
        </p:txBody>
      </p:sp>
      <p:sp>
        <p:nvSpPr>
          <p:cNvPr id="1350"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351"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pic>
        <p:nvPicPr>
          <p:cNvPr id="1352" name="Image" descr="Image"/>
          <p:cNvPicPr>
            <a:picLocks noChangeAspect="1"/>
          </p:cNvPicPr>
          <p:nvPr/>
        </p:nvPicPr>
        <p:blipFill>
          <a:blip r:embed="rId4">
            <a:extLst/>
          </a:blip>
          <a:stretch>
            <a:fillRect/>
          </a:stretch>
        </p:blipFill>
        <p:spPr>
          <a:xfrm>
            <a:off x="3162300" y="1907074"/>
            <a:ext cx="18034000" cy="10718801"/>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xit" nodeType="clickEffect" presetID="10" grpId="1" fill="hold">
                                  <p:stCondLst>
                                    <p:cond delay="0"/>
                                  </p:stCondLst>
                                  <p:iterate type="el" backwards="0">
                                    <p:tmAbs val="0"/>
                                  </p:iterate>
                                  <p:childTnLst>
                                    <p:animEffect filter="fade" transition="out">
                                      <p:cBhvr>
                                        <p:cTn id="6" dur="1000" fill="hold"/>
                                        <p:tgtEl>
                                          <p:spTgt spid="1345"/>
                                        </p:tgtEl>
                                      </p:cBhvr>
                                    </p:animEffect>
                                    <p:set>
                                      <p:cBhvr>
                                        <p:cTn id="7" fill="hold">
                                          <p:stCondLst>
                                            <p:cond delay="999"/>
                                          </p:stCondLst>
                                        </p:cTn>
                                        <p:tgtEl>
                                          <p:spTgt spid="1345"/>
                                        </p:tgtEl>
                                        <p:attrNameLst>
                                          <p:attrName>style.visibility</p:attrName>
                                        </p:attrNameLst>
                                      </p:cBhvr>
                                      <p:to>
                                        <p:strVal val="hidden"/>
                                      </p:to>
                                    </p:set>
                                  </p:childTnLst>
                                </p:cTn>
                              </p:par>
                            </p:childTnLst>
                          </p:cTn>
                        </p:par>
                        <p:par>
                          <p:cTn id="8" fill="hold">
                            <p:stCondLst>
                              <p:cond delay="1000"/>
                            </p:stCondLst>
                            <p:childTnLst>
                              <p:par>
                                <p:cTn id="9" presetClass="entr" nodeType="afterEffect" presetID="10" grpId="2" fill="hold">
                                  <p:stCondLst>
                                    <p:cond delay="0"/>
                                  </p:stCondLst>
                                  <p:iterate type="el" backwards="0">
                                    <p:tmAbs val="0"/>
                                  </p:iterate>
                                  <p:childTnLst>
                                    <p:set>
                                      <p:cBhvr>
                                        <p:cTn id="10" fill="hold"/>
                                        <p:tgtEl>
                                          <p:spTgt spid="1352"/>
                                        </p:tgtEl>
                                        <p:attrNameLst>
                                          <p:attrName>style.visibility</p:attrName>
                                        </p:attrNameLst>
                                      </p:cBhvr>
                                      <p:to>
                                        <p:strVal val="visible"/>
                                      </p:to>
                                    </p:set>
                                    <p:animEffect filter="fade" transition="in">
                                      <p:cBhvr>
                                        <p:cTn id="11" dur="1000"/>
                                        <p:tgtEl>
                                          <p:spTgt spid="1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45" grpId="1"/>
      <p:bldP build="whole" bldLvl="1" animBg="1" rev="0" advAuto="0" spid="1352" grpId="2"/>
    </p:bldLst>
  </p:timing>
</p:sld>
</file>

<file path=ppt/slides/slide8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354" name="Create Your Own Presentation"/>
          <p:cNvSpPr txBox="1"/>
          <p:nvPr>
            <p:ph type="title"/>
          </p:nvPr>
        </p:nvSpPr>
        <p:spPr>
          <a:prstGeom prst="rect">
            <a:avLst/>
          </a:prstGeom>
        </p:spPr>
        <p:txBody>
          <a:bodyPr lIns="76200" tIns="76200" rIns="76200" bIns="76200"/>
          <a:lstStyle>
            <a:lvl1pPr>
              <a:defRPr sz="4000"/>
            </a:lvl1pPr>
          </a:lstStyle>
          <a:p>
            <a:pPr/>
            <a:r>
              <a:t>Create Your Own Presentation</a:t>
            </a:r>
          </a:p>
        </p:txBody>
      </p:sp>
      <p:sp>
        <p:nvSpPr>
          <p:cNvPr id="1355"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356" name="Build Futures">
            <a:hlinkClick r:id="" invalidUrl="" action="ppaction://hlinkshowjump?jump=nextslide" tgtFrame="" tooltip="" history="1" highlightClick="0" endSnd="0"/>
          </p:cNvPr>
          <p:cNvSpPr/>
          <p:nvPr/>
        </p:nvSpPr>
        <p:spPr>
          <a:xfrm>
            <a:off x="5193910" y="4907943"/>
            <a:ext cx="4441968" cy="1701071"/>
          </a:xfrm>
          <a:prstGeom prst="roundRect">
            <a:avLst>
              <a:gd name="adj" fmla="val 11199"/>
            </a:avLst>
          </a:prstGeom>
          <a:blipFill>
            <a:blip r:embed="rId2"/>
          </a:blipFill>
          <a:ln w="12700">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ctr"/>
          <a:lstStyle>
            <a:lvl1pPr algn="ctr">
              <a:defRPr sz="3800">
                <a:solidFill>
                  <a:srgbClr val="FFFFFF"/>
                </a:solidFill>
              </a:defRPr>
            </a:lvl1pPr>
          </a:lstStyle>
          <a:p>
            <a:pPr/>
            <a:r>
              <a:t>Build Futures</a:t>
            </a:r>
          </a:p>
        </p:txBody>
      </p:sp>
      <p:sp>
        <p:nvSpPr>
          <p:cNvPr id="1357" name="Property Models">
            <a:hlinkClick r:id="rId3" invalidUrl="" action="ppaction://hlinksldjump" tgtFrame="" tooltip="" history="1" highlightClick="0" endSnd="0"/>
          </p:cNvPr>
          <p:cNvSpPr/>
          <p:nvPr/>
        </p:nvSpPr>
        <p:spPr>
          <a:xfrm>
            <a:off x="14748123" y="4907943"/>
            <a:ext cx="4441968" cy="1701071"/>
          </a:xfrm>
          <a:prstGeom prst="roundRect">
            <a:avLst>
              <a:gd name="adj" fmla="val 11199"/>
            </a:avLst>
          </a:prstGeom>
          <a:blipFill>
            <a:blip r:embed="rId4"/>
          </a:blipFill>
          <a:ln w="12700">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ctr"/>
          <a:lstStyle>
            <a:lvl1pPr algn="ctr">
              <a:defRPr sz="3800">
                <a:solidFill>
                  <a:srgbClr val="FFFFFF"/>
                </a:solidFill>
              </a:defRPr>
            </a:lvl1pPr>
          </a:lstStyle>
          <a:p>
            <a:pPr/>
            <a:r>
              <a:t>Property Models</a:t>
            </a:r>
          </a:p>
        </p:txBody>
      </p:sp>
    </p:spTree>
  </p:cSld>
  <p:clrMapOvr>
    <a:masterClrMapping/>
  </p:clrMapOvr>
  <p:transition xmlns:p14="http://schemas.microsoft.com/office/powerpoint/2010/main" spd="fast" advClick="1"/>
</p:sld>
</file>

<file path=ppt/slides/slide8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359" name="Futures: Building, The"/>
          <p:cNvSpPr txBox="1"/>
          <p:nvPr>
            <p:ph type="title"/>
          </p:nvPr>
        </p:nvSpPr>
        <p:spPr>
          <a:prstGeom prst="rect">
            <a:avLst/>
          </a:prstGeom>
        </p:spPr>
        <p:txBody>
          <a:bodyPr lIns="76200" tIns="76200" rIns="76200" bIns="76200"/>
          <a:lstStyle/>
          <a:p>
            <a:pPr defTabSz="2176581">
              <a:defRPr sz="4200"/>
            </a:pPr>
            <a:r>
              <a:t>Futures: </a:t>
            </a:r>
            <a:r>
              <a:t>Building, The</a:t>
            </a:r>
          </a:p>
        </p:txBody>
      </p:sp>
      <p:sp>
        <p:nvSpPr>
          <p:cNvPr id="1360" name="template &lt;typename&gt;…"/>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546100" algn="l"/>
              </a:tabLst>
              <a:defRPr sz="18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struct</a:t>
            </a:r>
            <a:r>
              <a:t> result_of_; </a:t>
            </a:r>
            <a:r>
              <a:rPr>
                <a:solidFill>
                  <a:srgbClr val="008400"/>
                </a:solidFill>
              </a:rPr>
              <a:t>//not defined</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template</a:t>
            </a:r>
            <a:r>
              <a:t> &lt;</a:t>
            </a:r>
            <a:r>
              <a:rPr>
                <a:solidFill>
                  <a:srgbClr val="BB2CA2"/>
                </a:solidFill>
              </a:rPr>
              <a:t>typename</a:t>
            </a:r>
            <a:r>
              <a:t> R, </a:t>
            </a:r>
            <a:r>
              <a:rPr>
                <a:solidFill>
                  <a:srgbClr val="BB2CA2"/>
                </a:solidFill>
              </a:rPr>
              <a:t>typename</a:t>
            </a:r>
            <a:r>
              <a:t>... Args&gt;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struct</a:t>
            </a:r>
            <a:r>
              <a:t> result_of_&lt;R(Args...)&gt; { </a:t>
            </a:r>
            <a:r>
              <a:rPr>
                <a:solidFill>
                  <a:srgbClr val="BB2CA2"/>
                </a:solidFill>
              </a:rPr>
              <a:t>using</a:t>
            </a:r>
            <a:r>
              <a:t> type = R;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F&gt;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using</a:t>
            </a:r>
            <a:r>
              <a:t> result_of_t_ = </a:t>
            </a:r>
            <a:r>
              <a:rPr>
                <a:solidFill>
                  <a:srgbClr val="BB2CA2"/>
                </a:solidFill>
              </a:rPr>
              <a:t>typename</a:t>
            </a:r>
            <a:r>
              <a:t> result_of_&lt;F&gt;::type;</a:t>
            </a:r>
          </a:p>
        </p:txBody>
      </p:sp>
      <p:sp>
        <p:nvSpPr>
          <p:cNvPr id="1361"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362" name="result_of_t_&lt;int(double)&gt; -&gt; int"/>
          <p:cNvSpPr txBox="1"/>
          <p:nvPr/>
        </p:nvSpPr>
        <p:spPr>
          <a:xfrm>
            <a:off x="9218879" y="7594584"/>
            <a:ext cx="5990692" cy="673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result_of_t_&lt;int(double)&gt; -&gt; int</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3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62" grpId="1"/>
    </p:bldLst>
  </p:timing>
</p:sld>
</file>

<file path=ppt/slides/slide8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366" name="Rounded Rectangle"/>
          <p:cNvSpPr/>
          <p:nvPr/>
        </p:nvSpPr>
        <p:spPr>
          <a:xfrm>
            <a:off x="271563" y="7829298"/>
            <a:ext cx="168853" cy="3560371"/>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1367" name="Futures: Building, The"/>
          <p:cNvSpPr txBox="1"/>
          <p:nvPr>
            <p:ph type="title"/>
          </p:nvPr>
        </p:nvSpPr>
        <p:spPr>
          <a:prstGeom prst="rect">
            <a:avLst/>
          </a:prstGeom>
        </p:spPr>
        <p:txBody>
          <a:bodyPr lIns="76200" tIns="76200" rIns="76200" bIns="76200"/>
          <a:lstStyle>
            <a:lvl1pPr defTabSz="2176581">
              <a:defRPr sz="4200"/>
            </a:lvl1pPr>
          </a:lstStyle>
          <a:p>
            <a:pPr/>
            <a:r>
              <a:t>Futures: Building, The</a:t>
            </a:r>
          </a:p>
        </p:txBody>
      </p:sp>
      <p:sp>
        <p:nvSpPr>
          <p:cNvPr id="1368" name="template &lt;typename&gt; class packaged_task; //not defined…"/>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template</a:t>
            </a:r>
            <a:r>
              <a:t> &lt;</a:t>
            </a:r>
            <a:r>
              <a:rPr>
                <a:solidFill>
                  <a:srgbClr val="BB2CA2"/>
                </a:solidFill>
              </a:rPr>
              <a:t>typename</a:t>
            </a:r>
            <a:r>
              <a:t>&gt; </a:t>
            </a:r>
            <a:r>
              <a:rPr>
                <a:solidFill>
                  <a:srgbClr val="BB2CA2"/>
                </a:solidFill>
              </a:rPr>
              <a:t>class</a:t>
            </a:r>
            <a:r>
              <a:t> packaged_task; </a:t>
            </a:r>
            <a:r>
              <a:rPr>
                <a:solidFill>
                  <a:srgbClr val="008400"/>
                </a:solidFill>
              </a:rPr>
              <a:t>//not defined</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R&gt;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class</a:t>
            </a:r>
            <a:r>
              <a:t> future {</a:t>
            </a:r>
          </a:p>
          <a:p>
            <a:pPr marL="0" indent="0" defTabSz="457200">
              <a:spcBef>
                <a:spcPts val="0"/>
              </a:spcBef>
              <a:buClrTx/>
              <a:buSzTx/>
              <a:buNone/>
              <a:tabLst>
                <a:tab pos="546100" algn="l"/>
              </a:tabLst>
              <a:defRPr sz="2400">
                <a:solidFill>
                  <a:srgbClr val="4F8187"/>
                </a:solidFill>
                <a:uFillTx/>
                <a:latin typeface="Menlo Regular"/>
                <a:ea typeface="Menlo Regular"/>
                <a:cs typeface="Menlo Regular"/>
                <a:sym typeface="Menlo Regular"/>
              </a:defRPr>
            </a:pPr>
            <a:r>
              <a:rPr>
                <a:solidFill>
                  <a:srgbClr val="000000"/>
                </a:solidFill>
              </a:rPr>
              <a:t>    </a:t>
            </a:r>
            <a:r>
              <a:rPr>
                <a:solidFill>
                  <a:srgbClr val="703DAA"/>
                </a:solidFill>
              </a:rPr>
              <a:t>shared_ptr</a:t>
            </a:r>
            <a:r>
              <a:rPr>
                <a:solidFill>
                  <a:srgbClr val="000000"/>
                </a:solidFill>
              </a:rPr>
              <a:t>&lt;</a:t>
            </a:r>
            <a:r>
              <a:t>/* ... */</a:t>
            </a:r>
            <a:r>
              <a:rPr>
                <a:solidFill>
                  <a:srgbClr val="000000"/>
                </a:solidFill>
              </a:rPr>
              <a:t>&gt; _p;</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public</a:t>
            </a:r>
            <a:r>
              <a:rPr>
                <a:solidFill>
                  <a:srgbClr val="000000"/>
                </a:solidFill>
              </a:rPr>
              <a: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future() = </a:t>
            </a:r>
            <a:r>
              <a:rPr>
                <a:solidFill>
                  <a:srgbClr val="BB2CA2"/>
                </a:solidFill>
              </a:rPr>
              <a:t>default</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 &lt;</a:t>
            </a:r>
            <a:r>
              <a:t>typename</a:t>
            </a:r>
            <a:r>
              <a:rPr>
                <a:solidFill>
                  <a:srgbClr val="000000"/>
                </a:solidFill>
              </a:rPr>
              <a:t> F&gt;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auto</a:t>
            </a:r>
            <a:r>
              <a:t> then(F&amp;&amp; f)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const</a:t>
            </a:r>
            <a:r>
              <a:t> R&amp; get() </a:t>
            </a:r>
            <a:r>
              <a:rPr>
                <a:solidFill>
                  <a:srgbClr val="BB2CA2"/>
                </a:solidFill>
              </a:rPr>
              <a:t>const</a:t>
            </a:r>
            <a:r>
              <a:t>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template</a:t>
            </a:r>
            <a:r>
              <a:t>&lt;</a:t>
            </a:r>
            <a:r>
              <a:rPr>
                <a:solidFill>
                  <a:srgbClr val="BB2CA2"/>
                </a:solidFill>
              </a:rPr>
              <a:t>typename</a:t>
            </a:r>
            <a:r>
              <a:t> R, </a:t>
            </a:r>
            <a:r>
              <a:rPr>
                <a:solidFill>
                  <a:srgbClr val="BB2CA2"/>
                </a:solidFill>
              </a:rPr>
              <a:t>typename</a:t>
            </a:r>
            <a:r>
              <a:t> ...Args &gt;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class</a:t>
            </a:r>
            <a:r>
              <a:t> packaged_task&lt;R (Args...)&gt;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weak_ptr</a:t>
            </a:r>
            <a:r>
              <a:t>&lt;</a:t>
            </a:r>
            <a:r>
              <a:rPr>
                <a:solidFill>
                  <a:srgbClr val="4F8187"/>
                </a:solidFill>
              </a:rPr>
              <a:t>/* ... */</a:t>
            </a:r>
            <a:r>
              <a:t>&gt; _p;</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public</a:t>
            </a:r>
            <a:r>
              <a:rPr>
                <a:solidFill>
                  <a:srgbClr val="000000"/>
                </a:solidFill>
              </a:rPr>
              <a: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packaged_task() = </a:t>
            </a:r>
            <a:r>
              <a:rPr>
                <a:solidFill>
                  <a:srgbClr val="BB2CA2"/>
                </a:solidFill>
              </a:rPr>
              <a:t>default</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 &lt;</a:t>
            </a:r>
            <a:r>
              <a:t>typename</a:t>
            </a:r>
            <a:r>
              <a:rPr>
                <a:solidFill>
                  <a:srgbClr val="000000"/>
                </a:solidFill>
              </a:rPr>
              <a:t>... A&gt;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void</a:t>
            </a:r>
            <a:r>
              <a:t> </a:t>
            </a:r>
            <a:r>
              <a:rPr>
                <a:solidFill>
                  <a:srgbClr val="BB2CA2"/>
                </a:solidFill>
              </a:rPr>
              <a:t>operator</a:t>
            </a:r>
            <a:r>
              <a:t>()(A&amp;&amp;... args) </a:t>
            </a:r>
            <a:r>
              <a:rPr>
                <a:solidFill>
                  <a:srgbClr val="BB2CA2"/>
                </a:solidFill>
              </a:rPr>
              <a:t>const</a:t>
            </a:r>
            <a:r>
              <a:t>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1369"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370" name="Rounded Rectangle"/>
          <p:cNvSpPr/>
          <p:nvPr/>
        </p:nvSpPr>
        <p:spPr>
          <a:xfrm>
            <a:off x="271563" y="2251220"/>
            <a:ext cx="168853" cy="831851"/>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1371" name="Rounded Rectangle"/>
          <p:cNvSpPr/>
          <p:nvPr/>
        </p:nvSpPr>
        <p:spPr>
          <a:xfrm>
            <a:off x="271563" y="7695849"/>
            <a:ext cx="168853" cy="831851"/>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1372" name="Rounded Rectangle"/>
          <p:cNvSpPr/>
          <p:nvPr/>
        </p:nvSpPr>
        <p:spPr>
          <a:xfrm>
            <a:off x="271563" y="3201736"/>
            <a:ext cx="168853" cy="4375449"/>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0" presetID="1" grpId="1" fill="hold">
                                  <p:stCondLst>
                                    <p:cond delay="0"/>
                                  </p:stCondLst>
                                  <p:iterate type="el" backwards="0">
                                    <p:tmAbs val="0"/>
                                  </p:iterate>
                                  <p:childTnLst>
                                    <p:set>
                                      <p:cBhvr>
                                        <p:cTn id="6" fill="hold"/>
                                        <p:tgtEl>
                                          <p:spTgt spid="13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371"/>
                                        </p:tgtEl>
                                        <p:attrNameLst>
                                          <p:attrName>style.visibility</p:attrName>
                                        </p:attrNameLst>
                                      </p:cBhvr>
                                      <p:to>
                                        <p:strVal val="visible"/>
                                      </p:to>
                                    </p:set>
                                  </p:childTnLst>
                                </p:cTn>
                              </p:par>
                            </p:childTnLst>
                          </p:cTn>
                        </p:par>
                        <p:par>
                          <p:cTn id="11" fill="hold">
                            <p:stCondLst>
                              <p:cond delay="0"/>
                            </p:stCondLst>
                            <p:childTnLst>
                              <p:par>
                                <p:cTn id="12" presetClass="exit" nodeType="afterEffect" presetSubtype="0" presetID="1" grpId="3" fill="hold">
                                  <p:stCondLst>
                                    <p:cond delay="0"/>
                                  </p:stCondLst>
                                  <p:iterate type="el" backwards="0">
                                    <p:tmAbs val="0"/>
                                  </p:iterate>
                                  <p:childTnLst>
                                    <p:set>
                                      <p:cBhvr>
                                        <p:cTn id="13" fill="hold">
                                          <p:stCondLst>
                                            <p:cond delay="0"/>
                                          </p:stCondLst>
                                        </p:cTn>
                                        <p:tgtEl>
                                          <p:spTgt spid="1370"/>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0" presetID="1" grpId="4" fill="hold">
                                  <p:stCondLst>
                                    <p:cond delay="0"/>
                                  </p:stCondLst>
                                  <p:iterate type="el" backwards="0">
                                    <p:tmAbs val="0"/>
                                  </p:iterate>
                                  <p:childTnLst>
                                    <p:set>
                                      <p:cBhvr>
                                        <p:cTn id="17" fill="hold"/>
                                        <p:tgtEl>
                                          <p:spTgt spid="1372"/>
                                        </p:tgtEl>
                                        <p:attrNameLst>
                                          <p:attrName>style.visibility</p:attrName>
                                        </p:attrNameLst>
                                      </p:cBhvr>
                                      <p:to>
                                        <p:strVal val="visible"/>
                                      </p:to>
                                    </p:set>
                                  </p:childTnLst>
                                </p:cTn>
                              </p:par>
                            </p:childTnLst>
                          </p:cTn>
                        </p:par>
                        <p:par>
                          <p:cTn id="18" fill="hold">
                            <p:stCondLst>
                              <p:cond delay="0"/>
                            </p:stCondLst>
                            <p:childTnLst>
                              <p:par>
                                <p:cTn id="19" presetClass="exit" nodeType="afterEffect" presetSubtype="0" presetID="1" grpId="5" fill="hold">
                                  <p:stCondLst>
                                    <p:cond delay="0"/>
                                  </p:stCondLst>
                                  <p:iterate type="el" backwards="0">
                                    <p:tmAbs val="0"/>
                                  </p:iterate>
                                  <p:childTnLst>
                                    <p:set>
                                      <p:cBhvr>
                                        <p:cTn id="20" fill="hold">
                                          <p:stCondLst>
                                            <p:cond delay="0"/>
                                          </p:stCondLst>
                                        </p:cTn>
                                        <p:tgtEl>
                                          <p:spTgt spid="1371"/>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0" presetID="1" grpId="6" fill="hold">
                                  <p:stCondLst>
                                    <p:cond delay="0"/>
                                  </p:stCondLst>
                                  <p:iterate type="el" backwards="0">
                                    <p:tmAbs val="0"/>
                                  </p:iterate>
                                  <p:childTnLst>
                                    <p:set>
                                      <p:cBhvr>
                                        <p:cTn id="24" fill="hold"/>
                                        <p:tgtEl>
                                          <p:spTgt spid="1366"/>
                                        </p:tgtEl>
                                        <p:attrNameLst>
                                          <p:attrName>style.visibility</p:attrName>
                                        </p:attrNameLst>
                                      </p:cBhvr>
                                      <p:to>
                                        <p:strVal val="visible"/>
                                      </p:to>
                                    </p:set>
                                  </p:childTnLst>
                                </p:cTn>
                              </p:par>
                            </p:childTnLst>
                          </p:cTn>
                        </p:par>
                        <p:par>
                          <p:cTn id="25" fill="hold">
                            <p:stCondLst>
                              <p:cond delay="0"/>
                            </p:stCondLst>
                            <p:childTnLst>
                              <p:par>
                                <p:cTn id="26" presetClass="exit" nodeType="afterEffect" presetSubtype="0" presetID="1" grpId="7" fill="hold">
                                  <p:stCondLst>
                                    <p:cond delay="0"/>
                                  </p:stCondLst>
                                  <p:iterate type="el" backwards="0">
                                    <p:tmAbs val="0"/>
                                  </p:iterate>
                                  <p:childTnLst>
                                    <p:set>
                                      <p:cBhvr>
                                        <p:cTn id="27" fill="hold">
                                          <p:stCondLst>
                                            <p:cond delay="0"/>
                                          </p:stCondLst>
                                        </p:cTn>
                                        <p:tgtEl>
                                          <p:spTgt spid="137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71" grpId="5"/>
      <p:bldP build="whole" bldLvl="1" animBg="1" rev="0" advAuto="0" spid="1370" grpId="3"/>
      <p:bldP build="whole" bldLvl="1" animBg="1" rev="0" advAuto="0" spid="1372" grpId="4"/>
      <p:bldP build="whole" bldLvl="1" animBg="1" rev="0" advAuto="0" spid="1366" grpId="6"/>
      <p:bldP build="whole" bldLvl="1" animBg="1" rev="0" advAuto="0" spid="1372" grpId="7"/>
      <p:bldP build="whole" bldLvl="1" animBg="1" rev="0" advAuto="0" spid="1371" grpId="2"/>
      <p:bldP build="whole" bldLvl="1" animBg="1" rev="0" advAuto="0" spid="1370" grpId="1"/>
    </p:bldLst>
  </p:timing>
</p:sld>
</file>

<file path=ppt/slides/slide9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376" name="template &lt;typename&gt; class packaged_task; //not defined…"/>
          <p:cNvSpPr txBox="1"/>
          <p:nvPr>
            <p:ph type="body" idx="1"/>
          </p:nvPr>
        </p:nvSpPr>
        <p:spPr>
          <a:xfrm>
            <a:off x="612616" y="2039940"/>
            <a:ext cx="23158768" cy="10363201"/>
          </a:xfrm>
          <a:prstGeom prst="rect">
            <a:avLst/>
          </a:prstGeom>
        </p:spPr>
        <p:txBody>
          <a:bodyPr lIns="76200" tIns="76200" rIns="76200" bIns="76200"/>
          <a:lstStyle/>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template</a:t>
            </a:r>
            <a:r>
              <a:t> &lt;</a:t>
            </a:r>
            <a:r>
              <a:rPr>
                <a:solidFill>
                  <a:srgbClr val="BB2CA2"/>
                </a:solidFill>
              </a:rPr>
              <a:t>typename</a:t>
            </a:r>
            <a:r>
              <a:t>&gt; </a:t>
            </a:r>
            <a:r>
              <a:rPr>
                <a:solidFill>
                  <a:srgbClr val="BB2CA2"/>
                </a:solidFill>
              </a:rPr>
              <a:t>class</a:t>
            </a:r>
            <a:r>
              <a:t> packaged_task; </a:t>
            </a:r>
            <a:r>
              <a:rPr>
                <a:solidFill>
                  <a:srgbClr val="008400"/>
                </a:solidFill>
              </a:rPr>
              <a:t>//not defined</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template</a:t>
            </a:r>
            <a:r>
              <a:t> &lt;</a:t>
            </a:r>
            <a:r>
              <a:rPr>
                <a:solidFill>
                  <a:srgbClr val="BB2CA2"/>
                </a:solidFill>
              </a:rPr>
              <a:t>typename</a:t>
            </a:r>
            <a:r>
              <a:t>&gt; </a:t>
            </a:r>
            <a:r>
              <a:rPr>
                <a:solidFill>
                  <a:srgbClr val="BB2CA2"/>
                </a:solidFill>
              </a:rPr>
              <a:t>class</a:t>
            </a:r>
            <a:r>
              <a:t> future;</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S, </a:t>
            </a:r>
            <a:r>
              <a:t>typename</a:t>
            </a:r>
            <a:r>
              <a:rPr>
                <a:solidFill>
                  <a:srgbClr val="000000"/>
                </a:solidFill>
              </a:rPr>
              <a:t> F&gt;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auto</a:t>
            </a:r>
            <a:r>
              <a:t> package(F&amp;&amp; f) -&gt; </a:t>
            </a:r>
            <a:r>
              <a:rPr>
                <a:solidFill>
                  <a:srgbClr val="703DAA"/>
                </a:solidFill>
              </a:rPr>
              <a:t>pair</a:t>
            </a:r>
            <a:r>
              <a:t>&lt;</a:t>
            </a:r>
            <a:r>
              <a:rPr>
                <a:solidFill>
                  <a:srgbClr val="4F8187"/>
                </a:solidFill>
              </a:rPr>
              <a:t>packaged_task</a:t>
            </a:r>
            <a:r>
              <a:t>&lt;S&gt;, </a:t>
            </a:r>
            <a:r>
              <a:rPr>
                <a:solidFill>
                  <a:srgbClr val="4F8187"/>
                </a:solidFill>
              </a:rPr>
              <a:t>future</a:t>
            </a:r>
            <a:r>
              <a:t>&lt;result_of_t_&lt;S&gt;&gt;&gt;;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R&gt;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class</a:t>
            </a:r>
            <a:r>
              <a:t> future {</a:t>
            </a:r>
          </a:p>
          <a:p>
            <a:pPr marL="0" indent="0" defTabSz="457200">
              <a:spcBef>
                <a:spcPts val="0"/>
              </a:spcBef>
              <a:buClrTx/>
              <a:buSzTx/>
              <a:buNone/>
              <a:tabLst>
                <a:tab pos="546100" algn="l"/>
              </a:tabLst>
              <a:defRPr sz="2400">
                <a:solidFill>
                  <a:srgbClr val="4F8187"/>
                </a:solidFill>
                <a:uFillTx/>
                <a:latin typeface="Menlo Regular"/>
                <a:ea typeface="Menlo Regular"/>
                <a:cs typeface="Menlo Regular"/>
                <a:sym typeface="Menlo Regular"/>
              </a:defRPr>
            </a:pPr>
            <a:r>
              <a:rPr>
                <a:solidFill>
                  <a:srgbClr val="000000"/>
                </a:solidFill>
              </a:rPr>
              <a:t>    </a:t>
            </a:r>
            <a:r>
              <a:rPr>
                <a:solidFill>
                  <a:srgbClr val="703DAA"/>
                </a:solidFill>
              </a:rPr>
              <a:t>shared_ptr</a:t>
            </a:r>
            <a:r>
              <a:rPr>
                <a:solidFill>
                  <a:srgbClr val="000000"/>
                </a:solidFill>
              </a:rPr>
              <a:t>&lt;</a:t>
            </a:r>
            <a:r>
              <a:t>/* ... */</a:t>
            </a:r>
            <a:r>
              <a:rPr>
                <a:solidFill>
                  <a:srgbClr val="000000"/>
                </a:solidFill>
              </a:rPr>
              <a:t>&gt; _p;</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 &lt;</a:t>
            </a:r>
            <a:r>
              <a:t>typename</a:t>
            </a:r>
            <a:r>
              <a:rPr>
                <a:solidFill>
                  <a:srgbClr val="000000"/>
                </a:solidFill>
              </a:rPr>
              <a:t> S, </a:t>
            </a:r>
            <a:r>
              <a:t>typename</a:t>
            </a:r>
            <a:r>
              <a:rPr>
                <a:solidFill>
                  <a:srgbClr val="000000"/>
                </a:solidFill>
              </a:rPr>
              <a:t> F&gt;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friend</a:t>
            </a:r>
            <a:r>
              <a:t> </a:t>
            </a:r>
            <a:r>
              <a:rPr>
                <a:solidFill>
                  <a:srgbClr val="BB2CA2"/>
                </a:solidFill>
              </a:rPr>
              <a:t>auto</a:t>
            </a:r>
            <a:r>
              <a:t> package(F&amp;&amp; f) -&gt; pair&lt;packaged_task&lt;S&gt;, future&lt;result_of_t_&lt;S&gt;&gt;&gt;;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explicit</a:t>
            </a:r>
            <a:r>
              <a:t> future(</a:t>
            </a:r>
            <a:r>
              <a:rPr>
                <a:solidFill>
                  <a:srgbClr val="703DAA"/>
                </a:solidFill>
              </a:rPr>
              <a:t>shared_ptr</a:t>
            </a:r>
            <a:r>
              <a:t>&lt;</a:t>
            </a:r>
            <a:r>
              <a:rPr>
                <a:solidFill>
                  <a:srgbClr val="4F8187"/>
                </a:solidFill>
              </a:rPr>
              <a:t>/* ... */</a:t>
            </a:r>
            <a:r>
              <a:t>&gt; p) : </a:t>
            </a:r>
            <a:r>
              <a:rPr>
                <a:solidFill>
                  <a:srgbClr val="4F8187"/>
                </a:solidFill>
              </a:rPr>
              <a:t>_p</a:t>
            </a:r>
            <a:r>
              <a:t>(move(p))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template</a:t>
            </a:r>
            <a:r>
              <a:t>&lt;</a:t>
            </a:r>
            <a:r>
              <a:rPr>
                <a:solidFill>
                  <a:srgbClr val="BB2CA2"/>
                </a:solidFill>
              </a:rPr>
              <a:t>typename</a:t>
            </a:r>
            <a:r>
              <a:t> R, </a:t>
            </a:r>
            <a:r>
              <a:rPr>
                <a:solidFill>
                  <a:srgbClr val="BB2CA2"/>
                </a:solidFill>
              </a:rPr>
              <a:t>typename</a:t>
            </a:r>
            <a:r>
              <a:t> ...Args &gt;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class</a:t>
            </a:r>
            <a:r>
              <a:t> packaged_task&lt;R (Args...)&gt;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weak_ptr</a:t>
            </a:r>
            <a:r>
              <a:t>&lt;</a:t>
            </a:r>
            <a:r>
              <a:rPr>
                <a:solidFill>
                  <a:srgbClr val="4F8187"/>
                </a:solidFill>
              </a:rPr>
              <a:t>/* ... */</a:t>
            </a:r>
            <a:r>
              <a:t>&gt; _p;</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 &lt;</a:t>
            </a:r>
            <a:r>
              <a:t>typename</a:t>
            </a:r>
            <a:r>
              <a:rPr>
                <a:solidFill>
                  <a:srgbClr val="000000"/>
                </a:solidFill>
              </a:rPr>
              <a:t> S, </a:t>
            </a:r>
            <a:r>
              <a:t>typename</a:t>
            </a:r>
            <a:r>
              <a:rPr>
                <a:solidFill>
                  <a:srgbClr val="000000"/>
                </a:solidFill>
              </a:rPr>
              <a:t> F&gt;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friend</a:t>
            </a:r>
            <a:r>
              <a:t> </a:t>
            </a:r>
            <a:r>
              <a:rPr>
                <a:solidFill>
                  <a:srgbClr val="BB2CA2"/>
                </a:solidFill>
              </a:rPr>
              <a:t>auto</a:t>
            </a:r>
            <a:r>
              <a:t> package(F&amp;&amp; f) -&gt; pair&lt;packaged_task&lt;S&gt;, future&lt;result_of_t_&lt;S&gt;&gt;&gt;;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explicit</a:t>
            </a:r>
            <a:r>
              <a:t> packaged_task(</a:t>
            </a:r>
            <a:r>
              <a:rPr>
                <a:solidFill>
                  <a:srgbClr val="703DAA"/>
                </a:solidFill>
              </a:rPr>
              <a:t>weak_ptr</a:t>
            </a:r>
            <a:r>
              <a:t>&lt;</a:t>
            </a:r>
            <a:r>
              <a:rPr>
                <a:solidFill>
                  <a:srgbClr val="4F8187"/>
                </a:solidFill>
              </a:rPr>
              <a:t>/* ... */</a:t>
            </a:r>
            <a:r>
              <a:t>&gt; p) : </a:t>
            </a:r>
            <a:r>
              <a:rPr>
                <a:solidFill>
                  <a:srgbClr val="4F8187"/>
                </a:solidFill>
              </a:rPr>
              <a:t>_p</a:t>
            </a:r>
            <a:r>
              <a:t>(move(p))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p:txBody>
      </p:sp>
      <p:sp>
        <p:nvSpPr>
          <p:cNvPr id="1377" name="Futures: Building, The"/>
          <p:cNvSpPr txBox="1"/>
          <p:nvPr>
            <p:ph type="title"/>
          </p:nvPr>
        </p:nvSpPr>
        <p:spPr>
          <a:prstGeom prst="rect">
            <a:avLst/>
          </a:prstGeom>
        </p:spPr>
        <p:txBody>
          <a:bodyPr lIns="76200" tIns="76200" rIns="76200" bIns="76200"/>
          <a:lstStyle>
            <a:lvl1pPr defTabSz="2176581">
              <a:defRPr sz="4200"/>
            </a:lvl1pPr>
          </a:lstStyle>
          <a:p>
            <a:pPr/>
            <a:r>
              <a:t>Futures: Building, The</a:t>
            </a:r>
          </a:p>
        </p:txBody>
      </p:sp>
      <p:sp>
        <p:nvSpPr>
          <p:cNvPr id="1378"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379" name="Rounded Rectangle"/>
          <p:cNvSpPr/>
          <p:nvPr/>
        </p:nvSpPr>
        <p:spPr>
          <a:xfrm>
            <a:off x="271563" y="2813791"/>
            <a:ext cx="168853" cy="1558927"/>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1380" name="Rounded Rectangle"/>
          <p:cNvSpPr/>
          <p:nvPr/>
        </p:nvSpPr>
        <p:spPr>
          <a:xfrm>
            <a:off x="271563" y="5914376"/>
            <a:ext cx="168853" cy="1558928"/>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1381" name="Rounded Rectangle"/>
          <p:cNvSpPr/>
          <p:nvPr/>
        </p:nvSpPr>
        <p:spPr>
          <a:xfrm>
            <a:off x="271563" y="9858137"/>
            <a:ext cx="168853" cy="1558927"/>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3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380"/>
                                        </p:tgtEl>
                                        <p:attrNameLst>
                                          <p:attrName>style.visibility</p:attrName>
                                        </p:attrNameLst>
                                      </p:cBhvr>
                                      <p:to>
                                        <p:strVal val="visible"/>
                                      </p:to>
                                    </p:set>
                                  </p:childTnLst>
                                </p:cTn>
                              </p:par>
                            </p:childTnLst>
                          </p:cTn>
                        </p:par>
                        <p:par>
                          <p:cTn id="11" fill="hold">
                            <p:stCondLst>
                              <p:cond delay="0"/>
                            </p:stCondLst>
                            <p:childTnLst>
                              <p:par>
                                <p:cTn id="12" presetClass="exit" nodeType="afterEffect" presetSubtype="0" presetID="1" grpId="3" fill="hold">
                                  <p:stCondLst>
                                    <p:cond delay="0"/>
                                  </p:stCondLst>
                                  <p:iterate type="el" backwards="0">
                                    <p:tmAbs val="0"/>
                                  </p:iterate>
                                  <p:childTnLst>
                                    <p:set>
                                      <p:cBhvr>
                                        <p:cTn id="13" fill="hold">
                                          <p:stCondLst>
                                            <p:cond delay="0"/>
                                          </p:stCondLst>
                                        </p:cTn>
                                        <p:tgtEl>
                                          <p:spTgt spid="1379"/>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0" presetID="1" grpId="4" fill="hold">
                                  <p:stCondLst>
                                    <p:cond delay="0"/>
                                  </p:stCondLst>
                                  <p:iterate type="el" backwards="0">
                                    <p:tmAbs val="0"/>
                                  </p:iterate>
                                  <p:childTnLst>
                                    <p:set>
                                      <p:cBhvr>
                                        <p:cTn id="17" fill="hold"/>
                                        <p:tgtEl>
                                          <p:spTgt spid="1381"/>
                                        </p:tgtEl>
                                        <p:attrNameLst>
                                          <p:attrName>style.visibility</p:attrName>
                                        </p:attrNameLst>
                                      </p:cBhvr>
                                      <p:to>
                                        <p:strVal val="visible"/>
                                      </p:to>
                                    </p:set>
                                  </p:childTnLst>
                                </p:cTn>
                              </p:par>
                            </p:childTnLst>
                          </p:cTn>
                        </p:par>
                        <p:par>
                          <p:cTn id="18" fill="hold">
                            <p:stCondLst>
                              <p:cond delay="0"/>
                            </p:stCondLst>
                            <p:childTnLst>
                              <p:par>
                                <p:cTn id="19" presetClass="exit" nodeType="afterEffect" presetSubtype="0" presetID="1" grpId="5" fill="hold">
                                  <p:stCondLst>
                                    <p:cond delay="0"/>
                                  </p:stCondLst>
                                  <p:iterate type="el" backwards="0">
                                    <p:tmAbs val="0"/>
                                  </p:iterate>
                                  <p:childTnLst>
                                    <p:set>
                                      <p:cBhvr>
                                        <p:cTn id="20" fill="hold">
                                          <p:stCondLst>
                                            <p:cond delay="0"/>
                                          </p:stCondLst>
                                        </p:cTn>
                                        <p:tgtEl>
                                          <p:spTgt spid="138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79" grpId="1"/>
      <p:bldP build="whole" bldLvl="1" animBg="1" rev="0" advAuto="0" spid="1380" grpId="2"/>
      <p:bldP build="whole" bldLvl="1" animBg="1" rev="0" advAuto="0" spid="1379" grpId="3"/>
      <p:bldP build="whole" bldLvl="1" animBg="1" rev="0" advAuto="0" spid="1381" grpId="4"/>
      <p:bldP build="whole" bldLvl="1" animBg="1" rev="0" advAuto="0" spid="1380" grpId="5"/>
    </p:bldLst>
  </p:timing>
</p:sld>
</file>

<file path=ppt/slides/slide9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385" name="template &lt;typename S, typename F&gt;…"/>
          <p:cNvSpPr txBox="1"/>
          <p:nvPr>
            <p:ph type="body" idx="1"/>
          </p:nvPr>
        </p:nvSpPr>
        <p:spPr>
          <a:xfrm>
            <a:off x="612616" y="2039940"/>
            <a:ext cx="23158768" cy="10363201"/>
          </a:xfrm>
          <a:prstGeom prst="rect">
            <a:avLst/>
          </a:prstGeom>
        </p:spPr>
        <p:txBody>
          <a:bodyPr lIns="76200" tIns="76200" rIns="76200" bIns="76200"/>
          <a:lstStyle/>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S, </a:t>
            </a:r>
            <a:r>
              <a:t>typename</a:t>
            </a:r>
            <a:r>
              <a:rPr>
                <a:solidFill>
                  <a:srgbClr val="000000"/>
                </a:solidFill>
              </a:rPr>
              <a:t> F&gt;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auto</a:t>
            </a:r>
            <a:r>
              <a:t> package(F&amp;&amp; f) -&gt; </a:t>
            </a:r>
            <a:r>
              <a:rPr>
                <a:solidFill>
                  <a:srgbClr val="703DAA"/>
                </a:solidFill>
              </a:rPr>
              <a:t>pair</a:t>
            </a:r>
            <a:r>
              <a:t>&lt;</a:t>
            </a:r>
            <a:r>
              <a:rPr>
                <a:solidFill>
                  <a:srgbClr val="4F8187"/>
                </a:solidFill>
              </a:rPr>
              <a:t>packaged_task</a:t>
            </a:r>
            <a:r>
              <a:t>&lt;S&gt;, </a:t>
            </a:r>
            <a:r>
              <a:rPr>
                <a:solidFill>
                  <a:srgbClr val="4F8187"/>
                </a:solidFill>
              </a:rPr>
              <a:t>future</a:t>
            </a:r>
            <a:r>
              <a:t>&lt;result_of_t_&lt;S&gt;&gt;&gt;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auto</a:t>
            </a:r>
            <a:r>
              <a:t> p = make_shared&lt;</a:t>
            </a:r>
            <a:r>
              <a:rPr>
                <a:solidFill>
                  <a:srgbClr val="4F8187"/>
                </a:solidFill>
              </a:rPr>
              <a:t>shared</a:t>
            </a:r>
            <a:r>
              <a:t>&lt;S&gt;&gt;(forward&lt;F&gt;(f));</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return</a:t>
            </a:r>
            <a:r>
              <a:t> make_pair(</a:t>
            </a:r>
            <a:r>
              <a:rPr>
                <a:solidFill>
                  <a:srgbClr val="4F8187"/>
                </a:solidFill>
              </a:rPr>
              <a:t>packaged_task</a:t>
            </a:r>
            <a:r>
              <a:t>&lt;S&gt;(p), </a:t>
            </a:r>
            <a:r>
              <a:rPr>
                <a:solidFill>
                  <a:srgbClr val="4F8187"/>
                </a:solidFill>
              </a:rPr>
              <a:t>future</a:t>
            </a:r>
            <a:r>
              <a:t>&lt;result_of_t_&lt;S&gt;&gt;(p));</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1386" name="Futures: Building, The"/>
          <p:cNvSpPr txBox="1"/>
          <p:nvPr>
            <p:ph type="title"/>
          </p:nvPr>
        </p:nvSpPr>
        <p:spPr>
          <a:prstGeom prst="rect">
            <a:avLst/>
          </a:prstGeom>
        </p:spPr>
        <p:txBody>
          <a:bodyPr lIns="76200" tIns="76200" rIns="76200" bIns="76200"/>
          <a:lstStyle>
            <a:lvl1pPr defTabSz="2176581">
              <a:defRPr sz="4200"/>
            </a:lvl1pPr>
          </a:lstStyle>
          <a:p>
            <a:pPr/>
            <a:r>
              <a:t>Futures: Building, The</a:t>
            </a:r>
          </a:p>
        </p:txBody>
      </p:sp>
      <p:sp>
        <p:nvSpPr>
          <p:cNvPr id="1387"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388" name="package&lt;int(double)&gt;(f) -&gt; { void(double), future&lt;int&gt; }"/>
          <p:cNvSpPr txBox="1"/>
          <p:nvPr/>
        </p:nvSpPr>
        <p:spPr>
          <a:xfrm>
            <a:off x="6996707" y="6629399"/>
            <a:ext cx="10390586" cy="457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buClrTx/>
              <a:tabLst>
                <a:tab pos="546100" algn="l"/>
              </a:tabLst>
              <a:defRPr sz="2400">
                <a:uFillTx/>
                <a:latin typeface="Menlo Regular"/>
                <a:ea typeface="Menlo Regular"/>
                <a:cs typeface="Menlo Regular"/>
                <a:sym typeface="Menlo Regular"/>
              </a:defRPr>
            </a:pPr>
            <a:r>
              <a:t>package&lt;</a:t>
            </a:r>
            <a:r>
              <a:rPr>
                <a:solidFill>
                  <a:srgbClr val="BB2CA2"/>
                </a:solidFill>
              </a:rPr>
              <a:t>int</a:t>
            </a:r>
            <a:r>
              <a:t>(</a:t>
            </a:r>
            <a:r>
              <a:rPr>
                <a:solidFill>
                  <a:srgbClr val="BB2CA2"/>
                </a:solidFill>
              </a:rPr>
              <a:t>double</a:t>
            </a:r>
            <a:r>
              <a:t>)&gt;(f) -&gt; { </a:t>
            </a:r>
            <a:r>
              <a:rPr>
                <a:solidFill>
                  <a:srgbClr val="BB2CA2"/>
                </a:solidFill>
              </a:rPr>
              <a:t>void</a:t>
            </a:r>
            <a:r>
              <a:t>(</a:t>
            </a:r>
            <a:r>
              <a:rPr>
                <a:solidFill>
                  <a:srgbClr val="BB2CA2"/>
                </a:solidFill>
              </a:rPr>
              <a:t>double</a:t>
            </a:r>
            <a:r>
              <a:t>), future&lt;</a:t>
            </a:r>
            <a:r>
              <a:rPr>
                <a:solidFill>
                  <a:srgbClr val="BB2CA2"/>
                </a:solidFill>
              </a:rPr>
              <a:t>int</a:t>
            </a:r>
            <a:r>
              <a:t>&gt;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3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88" grpId="1"/>
    </p:bldLst>
  </p:timing>
</p:sld>
</file>

<file path=ppt/slides/slide9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392" name="template &lt;typename R&gt;…"/>
          <p:cNvSpPr txBox="1"/>
          <p:nvPr>
            <p:ph type="body" idx="1"/>
          </p:nvPr>
        </p:nvSpPr>
        <p:spPr>
          <a:xfrm>
            <a:off x="612616" y="2039940"/>
            <a:ext cx="23158768" cy="10363201"/>
          </a:xfrm>
          <a:prstGeom prst="rect">
            <a:avLst/>
          </a:prstGeom>
        </p:spPr>
        <p:txBody>
          <a:bodyPr lIns="76200" tIns="76200" rIns="76200" bIns="76200"/>
          <a:lstStyle/>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R&gt;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struct</a:t>
            </a:r>
            <a:r>
              <a:t> shared_base {</a:t>
            </a:r>
          </a:p>
          <a:p>
            <a:pPr marL="0" indent="0" defTabSz="457200">
              <a:spcBef>
                <a:spcPts val="0"/>
              </a:spcBef>
              <a:buClrTx/>
              <a:buSzTx/>
              <a:buNone/>
              <a:tabLst>
                <a:tab pos="546100" algn="l"/>
              </a:tabLst>
              <a:defRPr sz="2400">
                <a:solidFill>
                  <a:srgbClr val="008400"/>
                </a:solidFill>
                <a:uFillTx/>
                <a:latin typeface="Menlo Regular"/>
                <a:ea typeface="Menlo Regular"/>
                <a:cs typeface="Menlo Regular"/>
                <a:sym typeface="Menlo Regular"/>
              </a:defRPr>
            </a:pPr>
            <a:r>
              <a:rPr>
                <a:solidFill>
                  <a:srgbClr val="000000"/>
                </a:solidFill>
              </a:rPr>
              <a:t>    </a:t>
            </a:r>
            <a:r>
              <a:rPr>
                <a:solidFill>
                  <a:srgbClr val="703DAA"/>
                </a:solidFill>
              </a:rPr>
              <a:t>vector</a:t>
            </a:r>
            <a:r>
              <a:rPr>
                <a:solidFill>
                  <a:srgbClr val="000000"/>
                </a:solidFill>
              </a:rPr>
              <a:t>&lt;R&gt; _r; </a:t>
            </a:r>
            <a:r>
              <a:t>// optional</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mutex</a:t>
            </a:r>
            <a:r>
              <a:t> _mutex;</a:t>
            </a:r>
          </a:p>
          <a:p>
            <a:pPr marL="0" indent="0" defTabSz="457200">
              <a:spcBef>
                <a:spcPts val="0"/>
              </a:spcBef>
              <a:buClrTx/>
              <a:buSzTx/>
              <a:buNone/>
              <a:tabLst>
                <a:tab pos="546100" algn="l"/>
              </a:tabLst>
              <a:defRPr sz="2400">
                <a:solidFill>
                  <a:srgbClr val="703DAA"/>
                </a:solidFill>
                <a:uFillTx/>
                <a:latin typeface="Menlo Regular"/>
                <a:ea typeface="Menlo Regular"/>
                <a:cs typeface="Menlo Regular"/>
                <a:sym typeface="Menlo Regular"/>
              </a:defRPr>
            </a:pPr>
            <a:r>
              <a:rPr>
                <a:solidFill>
                  <a:srgbClr val="000000"/>
                </a:solidFill>
              </a:rPr>
              <a:t>    </a:t>
            </a:r>
            <a:r>
              <a:t>condition_variable</a:t>
            </a:r>
            <a:r>
              <a:rPr>
                <a:solidFill>
                  <a:srgbClr val="000000"/>
                </a:solidFill>
              </a:rPr>
              <a:t> _ready;</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vector</a:t>
            </a:r>
            <a:r>
              <a:t>&lt;</a:t>
            </a:r>
            <a:r>
              <a:rPr>
                <a:solidFill>
                  <a:srgbClr val="703DAA"/>
                </a:solidFill>
              </a:rPr>
              <a:t>function</a:t>
            </a:r>
            <a:r>
              <a:t>&lt;</a:t>
            </a:r>
            <a:r>
              <a:rPr>
                <a:solidFill>
                  <a:srgbClr val="BB2CA2"/>
                </a:solidFill>
              </a:rPr>
              <a:t>void</a:t>
            </a:r>
            <a:r>
              <a:t>()&gt;&gt; _then;</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virtual</a:t>
            </a:r>
            <a:r>
              <a:t> ~shared_base()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008400"/>
                </a:solidFill>
                <a:uFillTx/>
                <a:latin typeface="Menlo Regular"/>
                <a:ea typeface="Menlo Regular"/>
                <a:cs typeface="Menlo Regular"/>
                <a:sym typeface="Menlo Regular"/>
              </a:defRPr>
            </a:pPr>
            <a:r>
              <a:rPr>
                <a:solidFill>
                  <a:srgbClr val="000000"/>
                </a:solidFill>
              </a:rPr>
              <a:t>    </a:t>
            </a:r>
            <a:r>
              <a:t>/* ... */</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solidFill>
                  <a:srgbClr val="008400"/>
                </a:solidFill>
                <a:uFillTx/>
                <a:latin typeface="Menlo Regular"/>
                <a:ea typeface="Menlo Regular"/>
                <a:cs typeface="Menlo Regular"/>
                <a:sym typeface="Menlo Regular"/>
              </a:defRPr>
            </a:pPr>
            <a:r>
              <a:rPr>
                <a:solidFill>
                  <a:srgbClr val="BB2CA2"/>
                </a:solidFill>
              </a:rPr>
              <a:t>template</a:t>
            </a:r>
            <a:r>
              <a:rPr>
                <a:solidFill>
                  <a:srgbClr val="000000"/>
                </a:solidFill>
              </a:rPr>
              <a:t> &lt;</a:t>
            </a:r>
            <a:r>
              <a:rPr>
                <a:solidFill>
                  <a:srgbClr val="BB2CA2"/>
                </a:solidFill>
              </a:rPr>
              <a:t>typename</a:t>
            </a:r>
            <a:r>
              <a:rPr>
                <a:solidFill>
                  <a:srgbClr val="000000"/>
                </a:solidFill>
              </a:rPr>
              <a:t>&gt; </a:t>
            </a:r>
            <a:r>
              <a:rPr>
                <a:solidFill>
                  <a:srgbClr val="BB2CA2"/>
                </a:solidFill>
              </a:rPr>
              <a:t>struct</a:t>
            </a:r>
            <a:r>
              <a:rPr>
                <a:solidFill>
                  <a:srgbClr val="000000"/>
                </a:solidFill>
              </a:rPr>
              <a:t> shared; </a:t>
            </a:r>
            <a:r>
              <a:t>// not defined</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template</a:t>
            </a:r>
            <a:r>
              <a:t> &lt;</a:t>
            </a:r>
            <a:r>
              <a:rPr>
                <a:solidFill>
                  <a:srgbClr val="BB2CA2"/>
                </a:solidFill>
              </a:rPr>
              <a:t>typename</a:t>
            </a:r>
            <a:r>
              <a:t> R, </a:t>
            </a:r>
            <a:r>
              <a:rPr>
                <a:solidFill>
                  <a:srgbClr val="BB2CA2"/>
                </a:solidFill>
              </a:rPr>
              <a:t>typename</a:t>
            </a:r>
            <a:r>
              <a:t>... Args&gt;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struct</a:t>
            </a:r>
            <a:r>
              <a:t> shared&lt;R(Args...)&gt; : </a:t>
            </a:r>
            <a:r>
              <a:rPr>
                <a:solidFill>
                  <a:srgbClr val="4F8187"/>
                </a:solidFill>
              </a:rPr>
              <a:t>shared_base</a:t>
            </a:r>
            <a:r>
              <a:t>&lt;R&gt;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function</a:t>
            </a:r>
            <a:r>
              <a:t>&lt;R(Args...)&gt; _f;</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&lt;</a:t>
            </a:r>
            <a:r>
              <a:t>typename</a:t>
            </a:r>
            <a:r>
              <a:rPr>
                <a:solidFill>
                  <a:srgbClr val="000000"/>
                </a:solidFill>
              </a:rPr>
              <a:t> F&gt;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shared(F&amp;&amp; f) : </a:t>
            </a:r>
            <a:r>
              <a:rPr>
                <a:solidFill>
                  <a:srgbClr val="4F8187"/>
                </a:solidFill>
              </a:rPr>
              <a:t>_f</a:t>
            </a:r>
            <a:r>
              <a:t>(forward&lt;F&gt;(f))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008400"/>
                </a:solidFill>
                <a:uFillTx/>
                <a:latin typeface="Menlo Regular"/>
                <a:ea typeface="Menlo Regular"/>
                <a:cs typeface="Menlo Regular"/>
                <a:sym typeface="Menlo Regular"/>
              </a:defRPr>
            </a:pPr>
            <a:r>
              <a:rPr>
                <a:solidFill>
                  <a:srgbClr val="000000"/>
                </a:solidFill>
              </a:rPr>
              <a:t>    </a:t>
            </a:r>
            <a:r>
              <a:t>/* ... */</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1393" name="Futures: Building, The"/>
          <p:cNvSpPr txBox="1"/>
          <p:nvPr>
            <p:ph type="title"/>
          </p:nvPr>
        </p:nvSpPr>
        <p:spPr>
          <a:prstGeom prst="rect">
            <a:avLst/>
          </a:prstGeom>
        </p:spPr>
        <p:txBody>
          <a:bodyPr lIns="76200" tIns="76200" rIns="76200" bIns="76200"/>
          <a:lstStyle>
            <a:lvl1pPr defTabSz="2176581">
              <a:defRPr sz="4200"/>
            </a:lvl1pPr>
          </a:lstStyle>
          <a:p>
            <a:pPr/>
            <a:r>
              <a:t>Futures: Building, The</a:t>
            </a:r>
          </a:p>
        </p:txBody>
      </p:sp>
      <p:sp>
        <p:nvSpPr>
          <p:cNvPr id="1394"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395" name="Rounded Rectangle"/>
          <p:cNvSpPr/>
          <p:nvPr/>
        </p:nvSpPr>
        <p:spPr>
          <a:xfrm>
            <a:off x="271563" y="2039944"/>
            <a:ext cx="168853" cy="4069885"/>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1396" name="Rounded Rectangle"/>
          <p:cNvSpPr/>
          <p:nvPr/>
        </p:nvSpPr>
        <p:spPr>
          <a:xfrm>
            <a:off x="271563" y="6313596"/>
            <a:ext cx="168853" cy="4069885"/>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3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396"/>
                                        </p:tgtEl>
                                        <p:attrNameLst>
                                          <p:attrName>style.visibility</p:attrName>
                                        </p:attrNameLst>
                                      </p:cBhvr>
                                      <p:to>
                                        <p:strVal val="visible"/>
                                      </p:to>
                                    </p:set>
                                  </p:childTnLst>
                                </p:cTn>
                              </p:par>
                            </p:childTnLst>
                          </p:cTn>
                        </p:par>
                        <p:par>
                          <p:cTn id="11" fill="hold">
                            <p:stCondLst>
                              <p:cond delay="0"/>
                            </p:stCondLst>
                            <p:childTnLst>
                              <p:par>
                                <p:cTn id="12" presetClass="exit" nodeType="afterEffect" presetSubtype="0" presetID="1" grpId="3" fill="hold">
                                  <p:stCondLst>
                                    <p:cond delay="0"/>
                                  </p:stCondLst>
                                  <p:iterate type="el" backwards="0">
                                    <p:tmAbs val="0"/>
                                  </p:iterate>
                                  <p:childTnLst>
                                    <p:set>
                                      <p:cBhvr>
                                        <p:cTn id="13" fill="hold">
                                          <p:stCondLst>
                                            <p:cond delay="0"/>
                                          </p:stCondLst>
                                        </p:cTn>
                                        <p:tgtEl>
                                          <p:spTgt spid="139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95" grpId="1"/>
      <p:bldP build="whole" bldLvl="1" animBg="1" rev="0" advAuto="0" spid="1395" grpId="3"/>
      <p:bldP build="whole" bldLvl="1" animBg="1" rev="0" advAuto="0" spid="1396" grpId="2"/>
    </p:bldLst>
  </p:timing>
</p:sld>
</file>

<file path=ppt/slides/slide9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400" name="template&lt;typename R, typename ...Args &gt;…"/>
          <p:cNvSpPr txBox="1"/>
          <p:nvPr>
            <p:ph type="body" idx="1"/>
          </p:nvPr>
        </p:nvSpPr>
        <p:spPr>
          <a:xfrm>
            <a:off x="612616" y="2039940"/>
            <a:ext cx="23158768" cy="10363201"/>
          </a:xfrm>
          <a:prstGeom prst="rect">
            <a:avLst/>
          </a:prstGeom>
        </p:spPr>
        <p:txBody>
          <a:bodyPr lIns="76200" tIns="76200" rIns="76200" bIns="76200"/>
          <a:lstStyle/>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template</a:t>
            </a:r>
            <a:r>
              <a:t>&lt;</a:t>
            </a:r>
            <a:r>
              <a:rPr>
                <a:solidFill>
                  <a:srgbClr val="BB2CA2"/>
                </a:solidFill>
              </a:rPr>
              <a:t>typename</a:t>
            </a:r>
            <a:r>
              <a:t> R, </a:t>
            </a:r>
            <a:r>
              <a:rPr>
                <a:solidFill>
                  <a:srgbClr val="BB2CA2"/>
                </a:solidFill>
              </a:rPr>
              <a:t>typename</a:t>
            </a:r>
            <a:r>
              <a:t> ...Args &gt;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class</a:t>
            </a:r>
            <a:r>
              <a:t> packaged_task&lt;R (Args...)&gt;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weak_ptr</a:t>
            </a:r>
            <a:r>
              <a:t>&lt;</a:t>
            </a:r>
            <a:r>
              <a:rPr>
                <a:solidFill>
                  <a:srgbClr val="4F8187"/>
                </a:solidFill>
              </a:rPr>
              <a:t>shared</a:t>
            </a:r>
            <a:r>
              <a:t>&lt;R(Args...)&gt;&gt; _p;</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 &lt;</a:t>
            </a:r>
            <a:r>
              <a:t>typename</a:t>
            </a:r>
            <a:r>
              <a:rPr>
                <a:solidFill>
                  <a:srgbClr val="000000"/>
                </a:solidFill>
              </a:rPr>
              <a:t> S, </a:t>
            </a:r>
            <a:r>
              <a:t>typename</a:t>
            </a:r>
            <a:r>
              <a:rPr>
                <a:solidFill>
                  <a:srgbClr val="000000"/>
                </a:solidFill>
              </a:rPr>
              <a:t> F&gt;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friend</a:t>
            </a:r>
            <a:r>
              <a:t> </a:t>
            </a:r>
            <a:r>
              <a:rPr>
                <a:solidFill>
                  <a:srgbClr val="BB2CA2"/>
                </a:solidFill>
              </a:rPr>
              <a:t>auto</a:t>
            </a:r>
            <a:r>
              <a:t> package(F&amp;&amp; f) -&gt; pair&lt;packaged_task&lt;S&gt;, future&lt;result_of_t_&lt;S&gt;&gt;&gt;;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explicit</a:t>
            </a:r>
            <a:r>
              <a:t> packaged_task(</a:t>
            </a:r>
            <a:r>
              <a:rPr>
                <a:solidFill>
                  <a:srgbClr val="703DAA"/>
                </a:solidFill>
              </a:rPr>
              <a:t>weak_ptr</a:t>
            </a:r>
            <a:r>
              <a:t>&lt;</a:t>
            </a:r>
            <a:r>
              <a:rPr>
                <a:solidFill>
                  <a:srgbClr val="4F8187"/>
                </a:solidFill>
              </a:rPr>
              <a:t>shared</a:t>
            </a:r>
            <a:r>
              <a:t>&lt;R(Args...)&gt;&gt; p) : </a:t>
            </a:r>
            <a:r>
              <a:rPr>
                <a:solidFill>
                  <a:srgbClr val="4F8187"/>
                </a:solidFill>
              </a:rPr>
              <a:t>_p</a:t>
            </a:r>
            <a:r>
              <a:t>(move(p))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public</a:t>
            </a:r>
            <a:r>
              <a:rPr>
                <a:solidFill>
                  <a:srgbClr val="000000"/>
                </a:solidFill>
              </a:rPr>
              <a: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packaged_task() = </a:t>
            </a:r>
            <a:r>
              <a:rPr>
                <a:solidFill>
                  <a:srgbClr val="BB2CA2"/>
                </a:solidFill>
              </a:rPr>
              <a:t>default</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 &lt;</a:t>
            </a:r>
            <a:r>
              <a:t>typename</a:t>
            </a:r>
            <a:r>
              <a:rPr>
                <a:solidFill>
                  <a:srgbClr val="000000"/>
                </a:solidFill>
              </a:rPr>
              <a:t>... A&gt;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void</a:t>
            </a:r>
            <a:r>
              <a:t> </a:t>
            </a:r>
            <a:r>
              <a:rPr>
                <a:solidFill>
                  <a:srgbClr val="BB2CA2"/>
                </a:solidFill>
              </a:rPr>
              <a:t>operator</a:t>
            </a:r>
            <a:r>
              <a:t>()(A&amp;&amp;... args) </a:t>
            </a:r>
            <a:r>
              <a:rPr>
                <a:solidFill>
                  <a:srgbClr val="BB2CA2"/>
                </a:solidFill>
              </a:rPr>
              <a:t>const</a:t>
            </a: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auto</a:t>
            </a:r>
            <a:r>
              <a:t> p = </a:t>
            </a:r>
            <a:r>
              <a:rPr>
                <a:solidFill>
                  <a:srgbClr val="4F8187"/>
                </a:solidFill>
              </a:rPr>
              <a:t>_p</a:t>
            </a:r>
            <a:r>
              <a:t>.lock();</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if</a:t>
            </a:r>
            <a:r>
              <a:t> (p) (*p)(forward&lt;A&gt;(args)...);</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1401" name="Futures: Building, The"/>
          <p:cNvSpPr txBox="1"/>
          <p:nvPr>
            <p:ph type="title"/>
          </p:nvPr>
        </p:nvSpPr>
        <p:spPr>
          <a:prstGeom prst="rect">
            <a:avLst/>
          </a:prstGeom>
        </p:spPr>
        <p:txBody>
          <a:bodyPr lIns="76200" tIns="76200" rIns="76200" bIns="76200"/>
          <a:lstStyle>
            <a:lvl1pPr defTabSz="2176581">
              <a:defRPr sz="4200"/>
            </a:lvl1pPr>
          </a:lstStyle>
          <a:p>
            <a:pPr/>
            <a:r>
              <a:t>Futures: Building, The</a:t>
            </a:r>
          </a:p>
        </p:txBody>
      </p:sp>
      <p:sp>
        <p:nvSpPr>
          <p:cNvPr id="1402"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403" name="Rounded Rectangle"/>
          <p:cNvSpPr/>
          <p:nvPr/>
        </p:nvSpPr>
        <p:spPr>
          <a:xfrm>
            <a:off x="271563" y="2790599"/>
            <a:ext cx="168853" cy="599707"/>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1404" name="Rounded Rectangle"/>
          <p:cNvSpPr/>
          <p:nvPr/>
        </p:nvSpPr>
        <p:spPr>
          <a:xfrm>
            <a:off x="271563" y="6350866"/>
            <a:ext cx="168853" cy="1741349"/>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1405" name="Rounded Rectangle"/>
          <p:cNvSpPr/>
          <p:nvPr/>
        </p:nvSpPr>
        <p:spPr>
          <a:xfrm>
            <a:off x="271563" y="4498154"/>
            <a:ext cx="168853" cy="599707"/>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403"/>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40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3" fill="hold">
                                  <p:stCondLst>
                                    <p:cond delay="0"/>
                                  </p:stCondLst>
                                  <p:iterate type="el" backwards="0">
                                    <p:tmAbs val="0"/>
                                  </p:iterate>
                                  <p:childTnLst>
                                    <p:set>
                                      <p:cBhvr>
                                        <p:cTn id="13" fill="hold"/>
                                        <p:tgtEl>
                                          <p:spTgt spid="1404"/>
                                        </p:tgtEl>
                                        <p:attrNameLst>
                                          <p:attrName>style.visibility</p:attrName>
                                        </p:attrNameLst>
                                      </p:cBhvr>
                                      <p:to>
                                        <p:strVal val="visible"/>
                                      </p:to>
                                    </p:set>
                                  </p:childTnLst>
                                </p:cTn>
                              </p:par>
                            </p:childTnLst>
                          </p:cTn>
                        </p:par>
                        <p:par>
                          <p:cTn id="14" fill="hold">
                            <p:stCondLst>
                              <p:cond delay="0"/>
                            </p:stCondLst>
                            <p:childTnLst>
                              <p:par>
                                <p:cTn id="15" presetClass="exit" nodeType="afterEffect" presetSubtype="0" presetID="1" grpId="4" fill="hold">
                                  <p:stCondLst>
                                    <p:cond delay="0"/>
                                  </p:stCondLst>
                                  <p:iterate type="el" backwards="0">
                                    <p:tmAbs val="0"/>
                                  </p:iterate>
                                  <p:childTnLst>
                                    <p:set>
                                      <p:cBhvr>
                                        <p:cTn id="16" fill="hold">
                                          <p:stCondLst>
                                            <p:cond delay="0"/>
                                          </p:stCondLst>
                                        </p:cTn>
                                        <p:tgtEl>
                                          <p:spTgt spid="1405"/>
                                        </p:tgtEl>
                                        <p:attrNameLst>
                                          <p:attrName>style.visibility</p:attrName>
                                        </p:attrNameLst>
                                      </p:cBhvr>
                                      <p:to>
                                        <p:strVal val="hidden"/>
                                      </p:to>
                                    </p:set>
                                  </p:childTnLst>
                                </p:cTn>
                              </p:par>
                            </p:childTnLst>
                          </p:cTn>
                        </p:par>
                        <p:par>
                          <p:cTn id="17" fill="hold">
                            <p:stCondLst>
                              <p:cond delay="0"/>
                            </p:stCondLst>
                            <p:childTnLst>
                              <p:par>
                                <p:cTn id="18" presetClass="exit" nodeType="afterEffect" presetSubtype="0" presetID="1" grpId="5" fill="hold">
                                  <p:stCondLst>
                                    <p:cond delay="0"/>
                                  </p:stCondLst>
                                  <p:iterate type="el" backwards="0">
                                    <p:tmAbs val="0"/>
                                  </p:iterate>
                                  <p:childTnLst>
                                    <p:set>
                                      <p:cBhvr>
                                        <p:cTn id="19" fill="hold">
                                          <p:stCondLst>
                                            <p:cond delay="0"/>
                                          </p:stCondLst>
                                        </p:cTn>
                                        <p:tgtEl>
                                          <p:spTgt spid="140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03" grpId="1"/>
      <p:bldP build="whole" bldLvl="1" animBg="1" rev="0" advAuto="0" spid="1404" grpId="3"/>
      <p:bldP build="whole" bldLvl="1" animBg="1" rev="0" advAuto="0" spid="1405" grpId="2"/>
      <p:bldP build="whole" bldLvl="1" animBg="1" rev="0" advAuto="0" spid="1405" grpId="4"/>
      <p:bldP build="whole" bldLvl="1" animBg="1" rev="0" advAuto="0" spid="1403" grpId="5"/>
    </p:bldLst>
  </p:timing>
</p:sld>
</file>

<file path=ppt/slides/slide9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409" name="template &lt;typename R, typename... Args&gt;…"/>
          <p:cNvSpPr txBox="1"/>
          <p:nvPr>
            <p:ph type="body" idx="1"/>
          </p:nvPr>
        </p:nvSpPr>
        <p:spPr>
          <a:xfrm>
            <a:off x="612616" y="2039940"/>
            <a:ext cx="23158768" cy="10363201"/>
          </a:xfrm>
          <a:prstGeom prst="rect">
            <a:avLst/>
          </a:prstGeom>
        </p:spPr>
        <p:txBody>
          <a:bodyPr lIns="76200" tIns="76200" rIns="76200" bIns="76200"/>
          <a:lstStyle/>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template</a:t>
            </a:r>
            <a:r>
              <a:t> &lt;</a:t>
            </a:r>
            <a:r>
              <a:rPr>
                <a:solidFill>
                  <a:srgbClr val="BB2CA2"/>
                </a:solidFill>
              </a:rPr>
              <a:t>typename</a:t>
            </a:r>
            <a:r>
              <a:t> R, </a:t>
            </a:r>
            <a:r>
              <a:rPr>
                <a:solidFill>
                  <a:srgbClr val="BB2CA2"/>
                </a:solidFill>
              </a:rPr>
              <a:t>typename</a:t>
            </a:r>
            <a:r>
              <a:t>... Args&gt;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struct</a:t>
            </a:r>
            <a:r>
              <a:t> shared&lt;R(Args...)&gt; : </a:t>
            </a:r>
            <a:r>
              <a:rPr>
                <a:solidFill>
                  <a:srgbClr val="4F8187"/>
                </a:solidFill>
              </a:rPr>
              <a:t>shared_base</a:t>
            </a:r>
            <a:r>
              <a:t>&lt;R&gt;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function</a:t>
            </a:r>
            <a:r>
              <a:t>&lt;R(Args...)&gt; _f;</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&lt;</a:t>
            </a:r>
            <a:r>
              <a:t>typename</a:t>
            </a:r>
            <a:r>
              <a:rPr>
                <a:solidFill>
                  <a:srgbClr val="000000"/>
                </a:solidFill>
              </a:rPr>
              <a:t> F&gt;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shared(F&amp;&amp; f) : </a:t>
            </a:r>
            <a:r>
              <a:rPr>
                <a:solidFill>
                  <a:srgbClr val="4F8187"/>
                </a:solidFill>
              </a:rPr>
              <a:t>_f</a:t>
            </a:r>
            <a:r>
              <a:t>(forward&lt;F&gt;(f))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 &lt;</a:t>
            </a:r>
            <a:r>
              <a:t>typename</a:t>
            </a:r>
            <a:r>
              <a:rPr>
                <a:solidFill>
                  <a:srgbClr val="000000"/>
                </a:solidFill>
              </a:rPr>
              <a:t>... A&gt;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void</a:t>
            </a:r>
            <a:r>
              <a:t> </a:t>
            </a:r>
            <a:r>
              <a:rPr>
                <a:solidFill>
                  <a:srgbClr val="BB2CA2"/>
                </a:solidFill>
              </a:rPr>
              <a:t>operator</a:t>
            </a:r>
            <a:r>
              <a:t>()(A&amp;&amp;... args)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this</a:t>
            </a:r>
            <a:r>
              <a:t>-&gt;set(</a:t>
            </a:r>
            <a:r>
              <a:rPr>
                <a:solidFill>
                  <a:srgbClr val="4F8187"/>
                </a:solidFill>
              </a:rPr>
              <a:t>_f</a:t>
            </a:r>
            <a:r>
              <a:t>(forward&lt;A&gt;(args)...));</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4F8187"/>
                </a:solidFill>
              </a:rPr>
              <a:t>_f</a:t>
            </a:r>
            <a:r>
              <a:t> = </a:t>
            </a:r>
            <a:r>
              <a:rPr>
                <a:solidFill>
                  <a:srgbClr val="BB2CA2"/>
                </a:solidFill>
              </a:rPr>
              <a:t>nullptr</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1410" name="Futures: Building, The"/>
          <p:cNvSpPr txBox="1"/>
          <p:nvPr>
            <p:ph type="title"/>
          </p:nvPr>
        </p:nvSpPr>
        <p:spPr>
          <a:prstGeom prst="rect">
            <a:avLst/>
          </a:prstGeom>
        </p:spPr>
        <p:txBody>
          <a:bodyPr lIns="76200" tIns="76200" rIns="76200" bIns="76200"/>
          <a:lstStyle>
            <a:lvl1pPr defTabSz="2176581">
              <a:defRPr sz="4200"/>
            </a:lvl1pPr>
          </a:lstStyle>
          <a:p>
            <a:pPr/>
            <a:r>
              <a:t>Futures: Building, The</a:t>
            </a:r>
          </a:p>
        </p:txBody>
      </p:sp>
      <p:sp>
        <p:nvSpPr>
          <p:cNvPr id="1411"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412" name="Rounded Rectangle"/>
          <p:cNvSpPr/>
          <p:nvPr/>
        </p:nvSpPr>
        <p:spPr>
          <a:xfrm>
            <a:off x="271563" y="4558677"/>
            <a:ext cx="161946" cy="1819238"/>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4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12" grpId="1"/>
    </p:bldLst>
  </p:timing>
</p:sld>
</file>

<file path=ppt/slides/slide9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416" name="template &lt;typename R&gt;…"/>
          <p:cNvSpPr txBox="1"/>
          <p:nvPr>
            <p:ph type="body" idx="1"/>
          </p:nvPr>
        </p:nvSpPr>
        <p:spPr>
          <a:xfrm>
            <a:off x="612616" y="2039940"/>
            <a:ext cx="23158768" cy="10363201"/>
          </a:xfrm>
          <a:prstGeom prst="rect">
            <a:avLst/>
          </a:prstGeom>
        </p:spPr>
        <p:txBody>
          <a:bodyPr lIns="76200" tIns="76200" rIns="76200" bIns="76200"/>
          <a:lstStyle/>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R&gt;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struct</a:t>
            </a:r>
            <a:r>
              <a:t> shared_base {</a:t>
            </a:r>
          </a:p>
          <a:p>
            <a:pPr marL="0" indent="0" defTabSz="457200">
              <a:spcBef>
                <a:spcPts val="0"/>
              </a:spcBef>
              <a:buClrTx/>
              <a:buSzTx/>
              <a:buNone/>
              <a:tabLst>
                <a:tab pos="546100" algn="l"/>
              </a:tabLst>
              <a:defRPr sz="2400">
                <a:solidFill>
                  <a:srgbClr val="008400"/>
                </a:solidFill>
                <a:uFillTx/>
                <a:latin typeface="Menlo Regular"/>
                <a:ea typeface="Menlo Regular"/>
                <a:cs typeface="Menlo Regular"/>
                <a:sym typeface="Menlo Regular"/>
              </a:defRPr>
            </a:pPr>
            <a:r>
              <a:rPr>
                <a:solidFill>
                  <a:srgbClr val="000000"/>
                </a:solidFill>
              </a:rPr>
              <a:t>    </a:t>
            </a:r>
            <a:r>
              <a:rPr>
                <a:solidFill>
                  <a:srgbClr val="703DAA"/>
                </a:solidFill>
              </a:rPr>
              <a:t>vector</a:t>
            </a:r>
            <a:r>
              <a:rPr>
                <a:solidFill>
                  <a:srgbClr val="000000"/>
                </a:solidFill>
              </a:rPr>
              <a:t>&lt;R&gt; _r; </a:t>
            </a:r>
            <a:r>
              <a:t>// optional</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mutex</a:t>
            </a:r>
            <a:r>
              <a:t> _mutex;</a:t>
            </a:r>
          </a:p>
          <a:p>
            <a:pPr marL="0" indent="0" defTabSz="457200">
              <a:spcBef>
                <a:spcPts val="0"/>
              </a:spcBef>
              <a:buClrTx/>
              <a:buSzTx/>
              <a:buNone/>
              <a:tabLst>
                <a:tab pos="546100" algn="l"/>
              </a:tabLst>
              <a:defRPr sz="2400">
                <a:solidFill>
                  <a:srgbClr val="703DAA"/>
                </a:solidFill>
                <a:uFillTx/>
                <a:latin typeface="Menlo Regular"/>
                <a:ea typeface="Menlo Regular"/>
                <a:cs typeface="Menlo Regular"/>
                <a:sym typeface="Menlo Regular"/>
              </a:defRPr>
            </a:pPr>
            <a:r>
              <a:rPr>
                <a:solidFill>
                  <a:srgbClr val="000000"/>
                </a:solidFill>
              </a:rPr>
              <a:t>    </a:t>
            </a:r>
            <a:r>
              <a:t>condition_variable</a:t>
            </a:r>
            <a:r>
              <a:rPr>
                <a:solidFill>
                  <a:srgbClr val="000000"/>
                </a:solidFill>
              </a:rPr>
              <a:t> _ready;</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vector</a:t>
            </a:r>
            <a:r>
              <a:t>&lt;</a:t>
            </a:r>
            <a:r>
              <a:rPr>
                <a:solidFill>
                  <a:srgbClr val="703DAA"/>
                </a:solidFill>
              </a:rPr>
              <a:t>function</a:t>
            </a:r>
            <a:r>
              <a:t>&lt;</a:t>
            </a:r>
            <a:r>
              <a:rPr>
                <a:solidFill>
                  <a:srgbClr val="BB2CA2"/>
                </a:solidFill>
              </a:rPr>
              <a:t>void</a:t>
            </a:r>
            <a:r>
              <a:t>()&gt;&gt; _then;</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virtual</a:t>
            </a:r>
            <a:r>
              <a:t> ~shared_base()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void</a:t>
            </a:r>
            <a:r>
              <a:t> set(R&amp;&amp; r)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vector</a:t>
            </a:r>
            <a:r>
              <a:t>&lt;</a:t>
            </a:r>
            <a:r>
              <a:rPr>
                <a:solidFill>
                  <a:srgbClr val="703DAA"/>
                </a:solidFill>
              </a:rPr>
              <a:t>function</a:t>
            </a:r>
            <a:r>
              <a:t>&lt;</a:t>
            </a:r>
            <a:r>
              <a:rPr>
                <a:solidFill>
                  <a:srgbClr val="BB2CA2"/>
                </a:solidFill>
              </a:rPr>
              <a:t>void</a:t>
            </a:r>
            <a:r>
              <a:t>()&gt;&gt; then;</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4F8187"/>
                </a:solidFill>
              </a:rPr>
              <a:t>lock_t</a:t>
            </a:r>
            <a:r>
              <a:t> lock{</a:t>
            </a:r>
            <a:r>
              <a:rPr>
                <a:solidFill>
                  <a:srgbClr val="4F8187"/>
                </a:solidFill>
              </a:rPr>
              <a:t>_mutex</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4F8187"/>
                </a:solidFill>
              </a:rPr>
              <a:t>_r</a:t>
            </a:r>
            <a:r>
              <a:t>.push_back(move(r));</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swap(_then, then);</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3D1D81"/>
                </a:solidFill>
                <a:uFillTx/>
                <a:latin typeface="Menlo Regular"/>
                <a:ea typeface="Menlo Regular"/>
                <a:cs typeface="Menlo Regular"/>
                <a:sym typeface="Menlo Regular"/>
              </a:defRPr>
            </a:pPr>
            <a:r>
              <a:rPr>
                <a:solidFill>
                  <a:srgbClr val="000000"/>
                </a:solidFill>
              </a:rPr>
              <a:t>        </a:t>
            </a:r>
            <a:r>
              <a:rPr>
                <a:solidFill>
                  <a:srgbClr val="4F8187"/>
                </a:solidFill>
              </a:rPr>
              <a:t>_ready</a:t>
            </a:r>
            <a:r>
              <a:rPr>
                <a:solidFill>
                  <a:srgbClr val="000000"/>
                </a:solidFill>
              </a:rPr>
              <a:t>.</a:t>
            </a:r>
            <a:r>
              <a:t>notify_all</a:t>
            </a:r>
            <a:r>
              <a:rPr>
                <a:solidFill>
                  <a:srgbClr val="000000"/>
                </a:solidFill>
              </a:rPr>
              <a: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for</a:t>
            </a:r>
            <a:r>
              <a:t> (</a:t>
            </a:r>
            <a:r>
              <a:rPr>
                <a:solidFill>
                  <a:srgbClr val="BB2CA2"/>
                </a:solidFill>
              </a:rPr>
              <a:t>const</a:t>
            </a:r>
            <a:r>
              <a:t> </a:t>
            </a:r>
            <a:r>
              <a:rPr>
                <a:solidFill>
                  <a:srgbClr val="BB2CA2"/>
                </a:solidFill>
              </a:rPr>
              <a:t>auto</a:t>
            </a:r>
            <a:r>
              <a:t>&amp; f : then) </a:t>
            </a:r>
            <a:r>
              <a:rPr>
                <a:solidFill>
                  <a:srgbClr val="4F8187"/>
                </a:solidFill>
              </a:rPr>
              <a:t>_system</a:t>
            </a:r>
            <a:r>
              <a:t>.</a:t>
            </a:r>
            <a:r>
              <a:rPr>
                <a:solidFill>
                  <a:srgbClr val="31595D"/>
                </a:solidFill>
              </a:rPr>
              <a:t>async_</a:t>
            </a:r>
            <a:r>
              <a:t>(</a:t>
            </a:r>
            <a:r>
              <a:rPr>
                <a:solidFill>
                  <a:srgbClr val="3D1D81"/>
                </a:solidFill>
              </a:rPr>
              <a:t>move</a:t>
            </a:r>
            <a:r>
              <a:t>(f));</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1417" name="Futures: Building, The"/>
          <p:cNvSpPr txBox="1"/>
          <p:nvPr>
            <p:ph type="title"/>
          </p:nvPr>
        </p:nvSpPr>
        <p:spPr>
          <a:prstGeom prst="rect">
            <a:avLst/>
          </a:prstGeom>
        </p:spPr>
        <p:txBody>
          <a:bodyPr lIns="76200" tIns="76200" rIns="76200" bIns="76200"/>
          <a:lstStyle>
            <a:lvl1pPr defTabSz="2176581">
              <a:defRPr sz="4200"/>
            </a:lvl1pPr>
          </a:lstStyle>
          <a:p>
            <a:pPr/>
            <a:r>
              <a:t>Futures: Building, The</a:t>
            </a:r>
          </a:p>
        </p:txBody>
      </p:sp>
      <p:sp>
        <p:nvSpPr>
          <p:cNvPr id="1418"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419" name="Rounded Rectangle"/>
          <p:cNvSpPr/>
          <p:nvPr/>
        </p:nvSpPr>
        <p:spPr>
          <a:xfrm>
            <a:off x="284958" y="5335560"/>
            <a:ext cx="188735" cy="3461009"/>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4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19" grpId="1"/>
    </p:bldLst>
  </p:timing>
</p:sld>
</file>

<file path=ppt/slides/slide9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423" name="template &lt;typename R&gt;…"/>
          <p:cNvSpPr txBox="1"/>
          <p:nvPr>
            <p:ph type="body" idx="1"/>
          </p:nvPr>
        </p:nvSpPr>
        <p:spPr>
          <a:xfrm>
            <a:off x="612616" y="2039940"/>
            <a:ext cx="23158768" cy="10363201"/>
          </a:xfrm>
          <a:prstGeom prst="rect">
            <a:avLst/>
          </a:prstGeom>
        </p:spPr>
        <p:txBody>
          <a:bodyPr lIns="76200" tIns="76200" rIns="76200" bIns="76200"/>
          <a:lstStyle/>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R&gt;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class</a:t>
            </a:r>
            <a:r>
              <a:t> future {</a:t>
            </a:r>
          </a:p>
          <a:p>
            <a:pPr marL="0" indent="0" defTabSz="457200">
              <a:spcBef>
                <a:spcPts val="0"/>
              </a:spcBef>
              <a:buClrTx/>
              <a:buSzTx/>
              <a:buNone/>
              <a:tabLst>
                <a:tab pos="546100" algn="l"/>
              </a:tabLst>
              <a:defRPr sz="2400">
                <a:solidFill>
                  <a:srgbClr val="4F8187"/>
                </a:solidFill>
                <a:uFillTx/>
                <a:latin typeface="Menlo Regular"/>
                <a:ea typeface="Menlo Regular"/>
                <a:cs typeface="Menlo Regular"/>
                <a:sym typeface="Menlo Regular"/>
              </a:defRPr>
            </a:pPr>
            <a:r>
              <a:rPr>
                <a:solidFill>
                  <a:srgbClr val="000000"/>
                </a:solidFill>
              </a:rPr>
              <a:t>    </a:t>
            </a:r>
            <a:r>
              <a:rPr>
                <a:solidFill>
                  <a:srgbClr val="703DAA"/>
                </a:solidFill>
              </a:rPr>
              <a:t>shared_ptr</a:t>
            </a:r>
            <a:r>
              <a:rPr>
                <a:solidFill>
                  <a:srgbClr val="000000"/>
                </a:solidFill>
              </a:rPr>
              <a:t>&lt;</a:t>
            </a:r>
            <a:r>
              <a:t>shared_base</a:t>
            </a:r>
            <a:r>
              <a:rPr>
                <a:solidFill>
                  <a:srgbClr val="000000"/>
                </a:solidFill>
              </a:rPr>
              <a:t>&lt;R&gt;&gt; _p;</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 &lt;</a:t>
            </a:r>
            <a:r>
              <a:t>typename</a:t>
            </a:r>
            <a:r>
              <a:rPr>
                <a:solidFill>
                  <a:srgbClr val="000000"/>
                </a:solidFill>
              </a:rPr>
              <a:t> S, </a:t>
            </a:r>
            <a:r>
              <a:t>typename</a:t>
            </a:r>
            <a:r>
              <a:rPr>
                <a:solidFill>
                  <a:srgbClr val="000000"/>
                </a:solidFill>
              </a:rPr>
              <a:t> F&gt;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friend</a:t>
            </a:r>
            <a:r>
              <a:t> </a:t>
            </a:r>
            <a:r>
              <a:rPr>
                <a:solidFill>
                  <a:srgbClr val="BB2CA2"/>
                </a:solidFill>
              </a:rPr>
              <a:t>auto</a:t>
            </a:r>
            <a:r>
              <a:t> package(F&amp;&amp; f) -&gt; pair&lt;packaged_task&lt;S&gt;, future&lt;result_of_t_&lt;S&gt;&gt;&gt;;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explicit</a:t>
            </a:r>
            <a:r>
              <a:t> future(</a:t>
            </a:r>
            <a:r>
              <a:rPr>
                <a:solidFill>
                  <a:srgbClr val="703DAA"/>
                </a:solidFill>
              </a:rPr>
              <a:t>shared_ptr</a:t>
            </a:r>
            <a:r>
              <a:t>&lt;</a:t>
            </a:r>
            <a:r>
              <a:rPr>
                <a:solidFill>
                  <a:srgbClr val="4F8187"/>
                </a:solidFill>
              </a:rPr>
              <a:t>shared_base</a:t>
            </a:r>
            <a:r>
              <a:t>&lt;R&gt;&gt; p) : </a:t>
            </a:r>
            <a:r>
              <a:rPr>
                <a:solidFill>
                  <a:srgbClr val="4F8187"/>
                </a:solidFill>
              </a:rPr>
              <a:t>_p</a:t>
            </a:r>
            <a:r>
              <a:t>(move(p)) {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public</a:t>
            </a:r>
            <a:r>
              <a:rPr>
                <a:solidFill>
                  <a:srgbClr val="000000"/>
                </a:solidFill>
              </a:rPr>
              <a: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future() = </a:t>
            </a:r>
            <a:r>
              <a:rPr>
                <a:solidFill>
                  <a:srgbClr val="BB2CA2"/>
                </a:solidFill>
              </a:rPr>
              <a:t>default</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 &lt;</a:t>
            </a:r>
            <a:r>
              <a:t>typename</a:t>
            </a:r>
            <a:r>
              <a:rPr>
                <a:solidFill>
                  <a:srgbClr val="000000"/>
                </a:solidFill>
              </a:rPr>
              <a:t> F&gt;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auto</a:t>
            </a:r>
            <a:r>
              <a:t> then(F&amp;&amp; f)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auto</a:t>
            </a:r>
            <a:r>
              <a:t> pack = package&lt;result_of_t&lt;F(R)&gt;()&gt;([p = _p, f = forward&lt;F&gt;(f)](){</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return</a:t>
            </a:r>
            <a:r>
              <a:t> f(p-&gt;_r.back());</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4F8187"/>
                </a:solidFill>
              </a:rPr>
              <a:t>_p</a:t>
            </a:r>
            <a:r>
              <a:t>-&gt;then(move(pack.first));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return</a:t>
            </a:r>
            <a:r>
              <a:t> pack.second;</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const</a:t>
            </a:r>
            <a:r>
              <a:t> R&amp; get() </a:t>
            </a:r>
            <a:r>
              <a:rPr>
                <a:solidFill>
                  <a:srgbClr val="BB2CA2"/>
                </a:solidFill>
              </a:rPr>
              <a:t>const</a:t>
            </a:r>
            <a:r>
              <a:t> { </a:t>
            </a:r>
            <a:r>
              <a:rPr>
                <a:solidFill>
                  <a:srgbClr val="BB2CA2"/>
                </a:solidFill>
              </a:rPr>
              <a:t>return</a:t>
            </a:r>
            <a:r>
              <a:t> </a:t>
            </a:r>
            <a:r>
              <a:rPr>
                <a:solidFill>
                  <a:srgbClr val="4F8187"/>
                </a:solidFill>
              </a:rPr>
              <a:t>_p</a:t>
            </a:r>
            <a:r>
              <a:t>-&gt;get();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1424" name="Futures: Building, The"/>
          <p:cNvSpPr txBox="1"/>
          <p:nvPr>
            <p:ph type="title"/>
          </p:nvPr>
        </p:nvSpPr>
        <p:spPr>
          <a:prstGeom prst="rect">
            <a:avLst/>
          </a:prstGeom>
        </p:spPr>
        <p:txBody>
          <a:bodyPr lIns="76200" tIns="76200" rIns="76200" bIns="76200"/>
          <a:lstStyle>
            <a:lvl1pPr defTabSz="2176581">
              <a:defRPr sz="4200"/>
            </a:lvl1pPr>
          </a:lstStyle>
          <a:p>
            <a:pPr/>
            <a:r>
              <a:t>Futures: Building, The</a:t>
            </a:r>
          </a:p>
        </p:txBody>
      </p:sp>
      <p:sp>
        <p:nvSpPr>
          <p:cNvPr id="1425"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426" name="Rounded Rectangle"/>
          <p:cNvSpPr/>
          <p:nvPr/>
        </p:nvSpPr>
        <p:spPr>
          <a:xfrm>
            <a:off x="271563" y="2790599"/>
            <a:ext cx="168853" cy="599707"/>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1427" name="Rounded Rectangle"/>
          <p:cNvSpPr/>
          <p:nvPr/>
        </p:nvSpPr>
        <p:spPr>
          <a:xfrm>
            <a:off x="271563" y="5987325"/>
            <a:ext cx="168853" cy="2960723"/>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1428" name="Rounded Rectangle"/>
          <p:cNvSpPr/>
          <p:nvPr/>
        </p:nvSpPr>
        <p:spPr>
          <a:xfrm>
            <a:off x="271563" y="4498154"/>
            <a:ext cx="168853" cy="599707"/>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1429" name="Rounded Rectangle"/>
          <p:cNvSpPr/>
          <p:nvPr/>
        </p:nvSpPr>
        <p:spPr>
          <a:xfrm>
            <a:off x="271563" y="9112322"/>
            <a:ext cx="168853" cy="599707"/>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426"/>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42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3" fill="hold">
                                  <p:stCondLst>
                                    <p:cond delay="0"/>
                                  </p:stCondLst>
                                  <p:iterate type="el" backwards="0">
                                    <p:tmAbs val="0"/>
                                  </p:iterate>
                                  <p:childTnLst>
                                    <p:set>
                                      <p:cBhvr>
                                        <p:cTn id="13" fill="hold"/>
                                        <p:tgtEl>
                                          <p:spTgt spid="1427"/>
                                        </p:tgtEl>
                                        <p:attrNameLst>
                                          <p:attrName>style.visibility</p:attrName>
                                        </p:attrNameLst>
                                      </p:cBhvr>
                                      <p:to>
                                        <p:strVal val="visible"/>
                                      </p:to>
                                    </p:set>
                                  </p:childTnLst>
                                </p:cTn>
                              </p:par>
                            </p:childTnLst>
                          </p:cTn>
                        </p:par>
                        <p:par>
                          <p:cTn id="14" fill="hold">
                            <p:stCondLst>
                              <p:cond delay="0"/>
                            </p:stCondLst>
                            <p:childTnLst>
                              <p:par>
                                <p:cTn id="15" presetClass="exit" nodeType="afterEffect" presetSubtype="0" presetID="1" grpId="4" fill="hold">
                                  <p:stCondLst>
                                    <p:cond delay="0"/>
                                  </p:stCondLst>
                                  <p:iterate type="el" backwards="0">
                                    <p:tmAbs val="0"/>
                                  </p:iterate>
                                  <p:childTnLst>
                                    <p:set>
                                      <p:cBhvr>
                                        <p:cTn id="16" fill="hold">
                                          <p:stCondLst>
                                            <p:cond delay="0"/>
                                          </p:stCondLst>
                                        </p:cTn>
                                        <p:tgtEl>
                                          <p:spTgt spid="1428"/>
                                        </p:tgtEl>
                                        <p:attrNameLst>
                                          <p:attrName>style.visibility</p:attrName>
                                        </p:attrNameLst>
                                      </p:cBhvr>
                                      <p:to>
                                        <p:strVal val="hidden"/>
                                      </p:to>
                                    </p:set>
                                  </p:childTnLst>
                                </p:cTn>
                              </p:par>
                            </p:childTnLst>
                          </p:cTn>
                        </p:par>
                        <p:par>
                          <p:cTn id="17" fill="hold">
                            <p:stCondLst>
                              <p:cond delay="0"/>
                            </p:stCondLst>
                            <p:childTnLst>
                              <p:par>
                                <p:cTn id="18" presetClass="exit" nodeType="afterEffect" presetSubtype="0" presetID="1" grpId="5" fill="hold">
                                  <p:stCondLst>
                                    <p:cond delay="0"/>
                                  </p:stCondLst>
                                  <p:iterate type="el" backwards="0">
                                    <p:tmAbs val="0"/>
                                  </p:iterate>
                                  <p:childTnLst>
                                    <p:set>
                                      <p:cBhvr>
                                        <p:cTn id="19" fill="hold">
                                          <p:stCondLst>
                                            <p:cond delay="0"/>
                                          </p:stCondLst>
                                        </p:cTn>
                                        <p:tgtEl>
                                          <p:spTgt spid="1426"/>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Class="entr" nodeType="clickEffect" presetSubtype="0" presetID="1" grpId="6" fill="hold">
                                  <p:stCondLst>
                                    <p:cond delay="0"/>
                                  </p:stCondLst>
                                  <p:iterate type="el" backwards="0">
                                    <p:tmAbs val="0"/>
                                  </p:iterate>
                                  <p:childTnLst>
                                    <p:set>
                                      <p:cBhvr>
                                        <p:cTn id="23" fill="hold"/>
                                        <p:tgtEl>
                                          <p:spTgt spid="1429"/>
                                        </p:tgtEl>
                                        <p:attrNameLst>
                                          <p:attrName>style.visibility</p:attrName>
                                        </p:attrNameLst>
                                      </p:cBhvr>
                                      <p:to>
                                        <p:strVal val="visible"/>
                                      </p:to>
                                    </p:set>
                                  </p:childTnLst>
                                </p:cTn>
                              </p:par>
                            </p:childTnLst>
                          </p:cTn>
                        </p:par>
                        <p:par>
                          <p:cTn id="24" fill="hold">
                            <p:stCondLst>
                              <p:cond delay="0"/>
                            </p:stCondLst>
                            <p:childTnLst>
                              <p:par>
                                <p:cTn id="25" presetClass="exit" nodeType="afterEffect" presetSubtype="0" presetID="1" grpId="7" fill="hold">
                                  <p:stCondLst>
                                    <p:cond delay="0"/>
                                  </p:stCondLst>
                                  <p:iterate type="el" backwards="0">
                                    <p:tmAbs val="0"/>
                                  </p:iterate>
                                  <p:childTnLst>
                                    <p:set>
                                      <p:cBhvr>
                                        <p:cTn id="26" fill="hold">
                                          <p:stCondLst>
                                            <p:cond delay="0"/>
                                          </p:stCondLst>
                                        </p:cTn>
                                        <p:tgtEl>
                                          <p:spTgt spid="142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27" grpId="3"/>
      <p:bldP build="whole" bldLvl="1" animBg="1" rev="0" advAuto="0" spid="1427" grpId="7"/>
      <p:bldP build="whole" bldLvl="1" animBg="1" rev="0" advAuto="0" spid="1429" grpId="6"/>
      <p:bldP build="whole" bldLvl="1" animBg="1" rev="0" advAuto="0" spid="1426" grpId="1"/>
      <p:bldP build="whole" bldLvl="1" animBg="1" rev="0" advAuto="0" spid="1428" grpId="2"/>
      <p:bldP build="whole" bldLvl="1" animBg="1" rev="0" advAuto="0" spid="1428" grpId="4"/>
      <p:bldP build="whole" bldLvl="1" animBg="1" rev="0" advAuto="0" spid="1426" grpId="5"/>
    </p:bldLst>
  </p:timing>
</p:sld>
</file>

<file path=ppt/slides/slide9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433" name="template &lt;typename R&gt;…"/>
          <p:cNvSpPr txBox="1"/>
          <p:nvPr>
            <p:ph type="body" idx="1"/>
          </p:nvPr>
        </p:nvSpPr>
        <p:spPr>
          <a:xfrm>
            <a:off x="612616" y="2039940"/>
            <a:ext cx="23158768" cy="10363201"/>
          </a:xfrm>
          <a:prstGeom prst="rect">
            <a:avLst/>
          </a:prstGeom>
        </p:spPr>
        <p:txBody>
          <a:bodyPr lIns="76200" tIns="76200" rIns="76200" bIns="76200"/>
          <a:lstStyle/>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t>template</a:t>
            </a:r>
            <a:r>
              <a:rPr>
                <a:solidFill>
                  <a:srgbClr val="000000"/>
                </a:solidFill>
              </a:rPr>
              <a:t> &lt;</a:t>
            </a:r>
            <a:r>
              <a:t>typename</a:t>
            </a:r>
            <a:r>
              <a:rPr>
                <a:solidFill>
                  <a:srgbClr val="000000"/>
                </a:solidFill>
              </a:rPr>
              <a:t> R&gt;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struct</a:t>
            </a:r>
            <a:r>
              <a:t> shared_base {</a:t>
            </a:r>
          </a:p>
          <a:p>
            <a:pPr marL="0" indent="0" defTabSz="457200">
              <a:spcBef>
                <a:spcPts val="0"/>
              </a:spcBef>
              <a:buClrTx/>
              <a:buSzTx/>
              <a:buNone/>
              <a:tabLst>
                <a:tab pos="546100" algn="l"/>
              </a:tabLst>
              <a:defRPr sz="2400">
                <a:solidFill>
                  <a:srgbClr val="008400"/>
                </a:solidFill>
                <a:uFillTx/>
                <a:latin typeface="Menlo Regular"/>
                <a:ea typeface="Menlo Regular"/>
                <a:cs typeface="Menlo Regular"/>
                <a:sym typeface="Menlo Regular"/>
              </a:defRPr>
            </a:pPr>
            <a:r>
              <a:rPr>
                <a:solidFill>
                  <a:srgbClr val="000000"/>
                </a:solidFill>
              </a:rPr>
              <a:t>    </a:t>
            </a:r>
            <a:r>
              <a:rPr>
                <a:solidFill>
                  <a:srgbClr val="703DAA"/>
                </a:solidFill>
              </a:rPr>
              <a:t>vector</a:t>
            </a:r>
            <a:r>
              <a:rPr>
                <a:solidFill>
                  <a:srgbClr val="000000"/>
                </a:solidFill>
              </a:rPr>
              <a:t>&lt;R&gt; _r; </a:t>
            </a:r>
            <a:r>
              <a:t>// optional</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mutex</a:t>
            </a:r>
            <a:r>
              <a:t> _mutex;</a:t>
            </a:r>
          </a:p>
          <a:p>
            <a:pPr marL="0" indent="0" defTabSz="457200">
              <a:spcBef>
                <a:spcPts val="0"/>
              </a:spcBef>
              <a:buClrTx/>
              <a:buSzTx/>
              <a:buNone/>
              <a:tabLst>
                <a:tab pos="546100" algn="l"/>
              </a:tabLst>
              <a:defRPr sz="2400">
                <a:solidFill>
                  <a:srgbClr val="703DAA"/>
                </a:solidFill>
                <a:uFillTx/>
                <a:latin typeface="Menlo Regular"/>
                <a:ea typeface="Menlo Regular"/>
                <a:cs typeface="Menlo Regular"/>
                <a:sym typeface="Menlo Regular"/>
              </a:defRPr>
            </a:pPr>
            <a:r>
              <a:rPr>
                <a:solidFill>
                  <a:srgbClr val="000000"/>
                </a:solidFill>
              </a:rPr>
              <a:t>    </a:t>
            </a:r>
            <a:r>
              <a:t>condition_variable</a:t>
            </a:r>
            <a:r>
              <a:rPr>
                <a:solidFill>
                  <a:srgbClr val="000000"/>
                </a:solidFill>
              </a:rPr>
              <a:t> _ready;</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vector</a:t>
            </a:r>
            <a:r>
              <a:t>&lt;</a:t>
            </a:r>
            <a:r>
              <a:rPr>
                <a:solidFill>
                  <a:srgbClr val="703DAA"/>
                </a:solidFill>
              </a:rPr>
              <a:t>function</a:t>
            </a:r>
            <a:r>
              <a:t>&lt;</a:t>
            </a:r>
            <a:r>
              <a:rPr>
                <a:solidFill>
                  <a:srgbClr val="BB2CA2"/>
                </a:solidFill>
              </a:rPr>
              <a:t>void</a:t>
            </a:r>
            <a:r>
              <a:t>()&gt;&gt; _then;</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virtual</a:t>
            </a:r>
            <a:r>
              <a:t> ~shared_base()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void</a:t>
            </a:r>
            <a:r>
              <a:t> set(R&amp;&amp; r) {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BB2CA2"/>
                </a:solidFill>
                <a:uFillTx/>
                <a:latin typeface="Menlo Regular"/>
                <a:ea typeface="Menlo Regular"/>
                <a:cs typeface="Menlo Regular"/>
                <a:sym typeface="Menlo Regular"/>
              </a:defRPr>
            </a:pPr>
            <a:r>
              <a:rPr>
                <a:solidFill>
                  <a:srgbClr val="000000"/>
                </a:solidFill>
              </a:rPr>
              <a:t>    </a:t>
            </a:r>
            <a:r>
              <a:t>template</a:t>
            </a:r>
            <a:r>
              <a:rPr>
                <a:solidFill>
                  <a:srgbClr val="000000"/>
                </a:solidFill>
              </a:rPr>
              <a:t> &lt;</a:t>
            </a:r>
            <a:r>
              <a:t>typename</a:t>
            </a:r>
            <a:r>
              <a:rPr>
                <a:solidFill>
                  <a:srgbClr val="000000"/>
                </a:solidFill>
              </a:rPr>
              <a:t> F&gt;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void</a:t>
            </a:r>
            <a:r>
              <a:t> then(F&amp;&amp; f)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bool</a:t>
            </a:r>
            <a:r>
              <a:t> resolved{</a:t>
            </a:r>
            <a:r>
              <a:rPr>
                <a:solidFill>
                  <a:srgbClr val="BB2CA2"/>
                </a:solidFill>
              </a:rPr>
              <a:t>false</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4F8187"/>
                </a:solidFill>
              </a:rPr>
              <a:t>lock_t</a:t>
            </a:r>
            <a:r>
              <a:t> lock{</a:t>
            </a:r>
            <a:r>
              <a:rPr>
                <a:solidFill>
                  <a:srgbClr val="4F8187"/>
                </a:solidFill>
              </a:rPr>
              <a:t>_mutex</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if</a:t>
            </a:r>
            <a:r>
              <a:t> (</a:t>
            </a:r>
            <a:r>
              <a:rPr>
                <a:solidFill>
                  <a:srgbClr val="4F8187"/>
                </a:solidFill>
              </a:rPr>
              <a:t>_r</a:t>
            </a:r>
            <a:r>
              <a:t>.empty()) </a:t>
            </a:r>
            <a:r>
              <a:rPr>
                <a:solidFill>
                  <a:srgbClr val="4F8187"/>
                </a:solidFill>
              </a:rPr>
              <a:t>_then</a:t>
            </a:r>
            <a:r>
              <a:t>.push_back(forward&lt;F&gt;(f));</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else</a:t>
            </a:r>
            <a:r>
              <a:t> resolved = </a:t>
            </a:r>
            <a:r>
              <a:rPr>
                <a:solidFill>
                  <a:srgbClr val="BB2CA2"/>
                </a:solidFill>
              </a:rPr>
              <a:t>true</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if</a:t>
            </a:r>
            <a:r>
              <a:t> (resolved) </a:t>
            </a:r>
            <a:r>
              <a:rPr>
                <a:solidFill>
                  <a:srgbClr val="4F8187"/>
                </a:solidFill>
              </a:rPr>
              <a:t>_system</a:t>
            </a:r>
            <a:r>
              <a:t>.async_(move(f));</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const</a:t>
            </a:r>
            <a:r>
              <a:t> R&amp; get()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4F8187"/>
                </a:solidFill>
              </a:rPr>
              <a:t>lock_t</a:t>
            </a:r>
            <a:r>
              <a:t> lock{</a:t>
            </a:r>
            <a:r>
              <a:rPr>
                <a:solidFill>
                  <a:srgbClr val="4F8187"/>
                </a:solidFill>
              </a:rPr>
              <a:t>_mutex</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while</a:t>
            </a:r>
            <a:r>
              <a:t> (</a:t>
            </a:r>
            <a:r>
              <a:rPr>
                <a:solidFill>
                  <a:srgbClr val="4F8187"/>
                </a:solidFill>
              </a:rPr>
              <a:t>_r</a:t>
            </a:r>
            <a:r>
              <a:t>.empty()) </a:t>
            </a:r>
            <a:r>
              <a:rPr>
                <a:solidFill>
                  <a:srgbClr val="4F8187"/>
                </a:solidFill>
              </a:rPr>
              <a:t>_ready</a:t>
            </a:r>
            <a:r>
              <a:t>.wait(lock);</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return</a:t>
            </a:r>
            <a:r>
              <a:t> </a:t>
            </a:r>
            <a:r>
              <a:rPr>
                <a:solidFill>
                  <a:srgbClr val="4F8187"/>
                </a:solidFill>
              </a:rPr>
              <a:t>_r</a:t>
            </a:r>
            <a:r>
              <a:t>.back();</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1434" name="Futures: Building, The"/>
          <p:cNvSpPr txBox="1"/>
          <p:nvPr>
            <p:ph type="title"/>
          </p:nvPr>
        </p:nvSpPr>
        <p:spPr>
          <a:prstGeom prst="rect">
            <a:avLst/>
          </a:prstGeom>
        </p:spPr>
        <p:txBody>
          <a:bodyPr lIns="76200" tIns="76200" rIns="76200" bIns="76200"/>
          <a:lstStyle>
            <a:lvl1pPr defTabSz="2176581">
              <a:defRPr sz="4200"/>
            </a:lvl1pPr>
          </a:lstStyle>
          <a:p>
            <a:pPr/>
            <a:r>
              <a:t>Futures: Building, The</a:t>
            </a:r>
          </a:p>
        </p:txBody>
      </p:sp>
      <p:sp>
        <p:nvSpPr>
          <p:cNvPr id="1435"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436" name="Rounded Rectangle"/>
          <p:cNvSpPr/>
          <p:nvPr/>
        </p:nvSpPr>
        <p:spPr>
          <a:xfrm>
            <a:off x="271563" y="5991892"/>
            <a:ext cx="168853" cy="3600867"/>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sp>
        <p:nvSpPr>
          <p:cNvPr id="1437" name="Rounded Rectangle"/>
          <p:cNvSpPr/>
          <p:nvPr/>
        </p:nvSpPr>
        <p:spPr>
          <a:xfrm>
            <a:off x="271563" y="9911923"/>
            <a:ext cx="168853" cy="1740565"/>
          </a:xfrm>
          <a:prstGeom prst="roundRect">
            <a:avLst>
              <a:gd name="adj" fmla="val 47636"/>
            </a:avLst>
          </a:prstGeom>
          <a:solidFill>
            <a:srgbClr val="CCDC3C"/>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lvl="1"/>
            <a:r>
              <a:t>          </a:t>
            </a:r>
          </a:p>
        </p:txBody>
      </p:sp>
      <p:pic>
        <p:nvPicPr>
          <p:cNvPr id="1438" name="Image" descr="Image"/>
          <p:cNvPicPr>
            <a:picLocks noChangeAspect="1"/>
          </p:cNvPicPr>
          <p:nvPr/>
        </p:nvPicPr>
        <p:blipFill>
          <a:blip r:embed="rId3">
            <a:extLst/>
          </a:blip>
          <a:stretch>
            <a:fillRect/>
          </a:stretch>
        </p:blipFill>
        <p:spPr>
          <a:xfrm>
            <a:off x="4569585" y="5398458"/>
            <a:ext cx="279401" cy="228601"/>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4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437"/>
                                        </p:tgtEl>
                                        <p:attrNameLst>
                                          <p:attrName>style.visibility</p:attrName>
                                        </p:attrNameLst>
                                      </p:cBhvr>
                                      <p:to>
                                        <p:strVal val="visible"/>
                                      </p:to>
                                    </p:set>
                                  </p:childTnLst>
                                </p:cTn>
                              </p:par>
                            </p:childTnLst>
                          </p:cTn>
                        </p:par>
                        <p:par>
                          <p:cTn id="11" fill="hold">
                            <p:stCondLst>
                              <p:cond delay="0"/>
                            </p:stCondLst>
                            <p:childTnLst>
                              <p:par>
                                <p:cTn id="12" presetClass="exit" nodeType="afterEffect" presetSubtype="0" presetID="1" grpId="3" fill="hold">
                                  <p:stCondLst>
                                    <p:cond delay="0"/>
                                  </p:stCondLst>
                                  <p:iterate type="el" backwards="0">
                                    <p:tmAbs val="0"/>
                                  </p:iterate>
                                  <p:childTnLst>
                                    <p:set>
                                      <p:cBhvr>
                                        <p:cTn id="13" fill="hold">
                                          <p:stCondLst>
                                            <p:cond delay="0"/>
                                          </p:stCondLst>
                                        </p:cTn>
                                        <p:tgtEl>
                                          <p:spTgt spid="143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37" grpId="2"/>
      <p:bldP build="whole" bldLvl="1" animBg="1" rev="0" advAuto="0" spid="1436" grpId="1"/>
      <p:bldP build="whole" bldLvl="1" animBg="1" rev="0" advAuto="0" spid="1436" grpId="3"/>
    </p:bldLst>
  </p:timing>
</p:sld>
</file>

<file path=ppt/slides/slide9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pic>
        <p:nvPicPr>
          <p:cNvPr id="1442" name="Image" descr="Image"/>
          <p:cNvPicPr>
            <a:picLocks noChangeAspect="1"/>
          </p:cNvPicPr>
          <p:nvPr/>
        </p:nvPicPr>
        <p:blipFill>
          <a:blip r:embed="rId2">
            <a:extLst/>
          </a:blip>
          <a:stretch>
            <a:fillRect/>
          </a:stretch>
        </p:blipFill>
        <p:spPr>
          <a:xfrm>
            <a:off x="3175000" y="1907074"/>
            <a:ext cx="18034000" cy="8432801"/>
          </a:xfrm>
          <a:prstGeom prst="rect">
            <a:avLst/>
          </a:prstGeom>
          <a:ln w="12700">
            <a:miter lim="400000"/>
          </a:ln>
        </p:spPr>
      </p:pic>
      <p:sp>
        <p:nvSpPr>
          <p:cNvPr id="1443"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444"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445"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446" name="Futures"/>
          <p:cNvSpPr txBox="1"/>
          <p:nvPr>
            <p:ph type="title"/>
          </p:nvPr>
        </p:nvSpPr>
        <p:spPr>
          <a:xfrm>
            <a:off x="609600" y="368300"/>
            <a:ext cx="23182917" cy="822325"/>
          </a:xfrm>
          <a:prstGeom prst="rect">
            <a:avLst/>
          </a:prstGeom>
        </p:spPr>
        <p:txBody>
          <a:bodyPr/>
          <a:lstStyle>
            <a:lvl1pPr>
              <a:defRPr sz="4200"/>
            </a:lvl1pPr>
          </a:lstStyle>
          <a:p>
            <a:pPr/>
            <a:r>
              <a:t>Futures</a:t>
            </a:r>
          </a:p>
        </p:txBody>
      </p:sp>
      <p:sp>
        <p:nvSpPr>
          <p:cNvPr id="1447"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448" name="image1.png" descr="image1.png"/>
          <p:cNvPicPr>
            <a:picLocks noChangeAspect="1"/>
          </p:cNvPicPr>
          <p:nvPr/>
        </p:nvPicPr>
        <p:blipFill>
          <a:blip r:embed="rId3">
            <a:extLst/>
          </a:blip>
          <a:stretch>
            <a:fillRect/>
          </a:stretch>
        </p:blipFill>
        <p:spPr>
          <a:xfrm>
            <a:off x="23736464" y="13055480"/>
            <a:ext cx="355271" cy="489197"/>
          </a:xfrm>
          <a:prstGeom prst="rect">
            <a:avLst/>
          </a:prstGeom>
          <a:ln w="12700">
            <a:miter lim="400000"/>
          </a:ln>
        </p:spPr>
      </p:pic>
      <p:pic>
        <p:nvPicPr>
          <p:cNvPr id="1449" name="Image" descr="Image"/>
          <p:cNvPicPr>
            <a:picLocks noChangeAspect="1"/>
          </p:cNvPicPr>
          <p:nvPr/>
        </p:nvPicPr>
        <p:blipFill>
          <a:blip r:embed="rId4">
            <a:extLst/>
          </a:blip>
          <a:stretch>
            <a:fillRect/>
          </a:stretch>
        </p:blipFill>
        <p:spPr>
          <a:xfrm>
            <a:off x="3162300" y="1907074"/>
            <a:ext cx="18034000" cy="10718801"/>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xit" nodeType="clickEffect" presetID="10" grpId="1" fill="hold">
                                  <p:stCondLst>
                                    <p:cond delay="0"/>
                                  </p:stCondLst>
                                  <p:iterate type="el" backwards="0">
                                    <p:tmAbs val="0"/>
                                  </p:iterate>
                                  <p:childTnLst>
                                    <p:animEffect filter="fade" transition="out">
                                      <p:cBhvr>
                                        <p:cTn id="6" dur="1000" fill="hold"/>
                                        <p:tgtEl>
                                          <p:spTgt spid="1442"/>
                                        </p:tgtEl>
                                      </p:cBhvr>
                                    </p:animEffect>
                                    <p:set>
                                      <p:cBhvr>
                                        <p:cTn id="7" fill="hold">
                                          <p:stCondLst>
                                            <p:cond delay="999"/>
                                          </p:stCondLst>
                                        </p:cTn>
                                        <p:tgtEl>
                                          <p:spTgt spid="1442"/>
                                        </p:tgtEl>
                                        <p:attrNameLst>
                                          <p:attrName>style.visibility</p:attrName>
                                        </p:attrNameLst>
                                      </p:cBhvr>
                                      <p:to>
                                        <p:strVal val="hidden"/>
                                      </p:to>
                                    </p:set>
                                  </p:childTnLst>
                                </p:cTn>
                              </p:par>
                            </p:childTnLst>
                          </p:cTn>
                        </p:par>
                        <p:par>
                          <p:cTn id="8" fill="hold">
                            <p:stCondLst>
                              <p:cond delay="1000"/>
                            </p:stCondLst>
                            <p:childTnLst>
                              <p:par>
                                <p:cTn id="9" presetClass="entr" nodeType="afterEffect" presetID="10" grpId="2" fill="hold">
                                  <p:stCondLst>
                                    <p:cond delay="0"/>
                                  </p:stCondLst>
                                  <p:iterate type="el" backwards="0">
                                    <p:tmAbs val="0"/>
                                  </p:iterate>
                                  <p:childTnLst>
                                    <p:set>
                                      <p:cBhvr>
                                        <p:cTn id="10" fill="hold"/>
                                        <p:tgtEl>
                                          <p:spTgt spid="1449"/>
                                        </p:tgtEl>
                                        <p:attrNameLst>
                                          <p:attrName>style.visibility</p:attrName>
                                        </p:attrNameLst>
                                      </p:cBhvr>
                                      <p:to>
                                        <p:strVal val="visible"/>
                                      </p:to>
                                    </p:set>
                                    <p:animEffect filter="fade" transition="in">
                                      <p:cBhvr>
                                        <p:cTn id="11" dur="1000"/>
                                        <p:tgtEl>
                                          <p:spTgt spid="14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49" grpId="2"/>
      <p:bldP build="whole" bldLvl="1" animBg="1" rev="0" advAuto="0" spid="1442" grpId="1"/>
    </p:bldLst>
  </p:timing>
</p:sld>
</file>

<file path=ppt/slides/slide9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451" name="template &lt;typename F, typename ...Args&gt;…"/>
          <p:cNvSpPr txBox="1"/>
          <p:nvPr>
            <p:ph type="body" idx="1"/>
          </p:nvPr>
        </p:nvSpPr>
        <p:spPr>
          <a:xfrm>
            <a:off x="612616" y="2039940"/>
            <a:ext cx="23158768" cy="10363201"/>
          </a:xfrm>
          <a:prstGeom prst="rect">
            <a:avLst/>
          </a:prstGeom>
        </p:spPr>
        <p:txBody>
          <a:bodyPr lIns="76200" tIns="76200" rIns="76200" bIns="76200"/>
          <a:lstStyle/>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template</a:t>
            </a:r>
            <a:r>
              <a:t> &lt;</a:t>
            </a:r>
            <a:r>
              <a:rPr>
                <a:solidFill>
                  <a:srgbClr val="BB2CA2"/>
                </a:solidFill>
              </a:rPr>
              <a:t>typename</a:t>
            </a:r>
            <a:r>
              <a:t> F, </a:t>
            </a:r>
            <a:r>
              <a:rPr>
                <a:solidFill>
                  <a:srgbClr val="BB2CA2"/>
                </a:solidFill>
              </a:rPr>
              <a:t>typename</a:t>
            </a:r>
            <a:r>
              <a:t> ...Args&gt;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auto</a:t>
            </a:r>
            <a:r>
              <a:t> async(F&amp;&amp; f, Args&amp;&amp;... args)</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using</a:t>
            </a:r>
            <a:r>
              <a:t> result_type = result_of_t&lt;F (Args...)&gt;;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using</a:t>
            </a:r>
            <a:r>
              <a:t> packaged_type = </a:t>
            </a:r>
            <a:r>
              <a:rPr>
                <a:solidFill>
                  <a:srgbClr val="4F8187"/>
                </a:solidFill>
              </a:rPr>
              <a:t>packaged_task</a:t>
            </a:r>
            <a:r>
              <a:t>&lt;</a:t>
            </a:r>
            <a:r>
              <a:rPr>
                <a:solidFill>
                  <a:srgbClr val="4F8187"/>
                </a:solidFill>
              </a:rPr>
              <a:t>result_type</a:t>
            </a:r>
            <a:r>
              <a:t>()&gt;;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4F8187"/>
                </a:solidFill>
                <a:uFillTx/>
                <a:latin typeface="Menlo Regular"/>
                <a:ea typeface="Menlo Regular"/>
                <a:cs typeface="Menlo Regular"/>
                <a:sym typeface="Menlo Regular"/>
              </a:defRPr>
            </a:pPr>
            <a:r>
              <a:rPr>
                <a:solidFill>
                  <a:srgbClr val="000000"/>
                </a:solidFill>
              </a:rPr>
              <a:t>    </a:t>
            </a:r>
            <a:r>
              <a:rPr>
                <a:solidFill>
                  <a:srgbClr val="BB2CA2"/>
                </a:solidFill>
              </a:rPr>
              <a:t>auto</a:t>
            </a:r>
            <a:r>
              <a:rPr>
                <a:solidFill>
                  <a:srgbClr val="000000"/>
                </a:solidFill>
              </a:rPr>
              <a:t> pack = </a:t>
            </a:r>
            <a:r>
              <a:rPr>
                <a:solidFill>
                  <a:srgbClr val="31595D"/>
                </a:solidFill>
              </a:rPr>
              <a:t>package</a:t>
            </a:r>
            <a:r>
              <a:rPr>
                <a:solidFill>
                  <a:srgbClr val="000000"/>
                </a:solidFill>
              </a:rPr>
              <a:t>&lt;</a:t>
            </a:r>
            <a:r>
              <a:t>result_type</a:t>
            </a:r>
            <a:r>
              <a:rPr>
                <a:solidFill>
                  <a:srgbClr val="000000"/>
                </a:solidFill>
              </a:rPr>
              <a:t>()&gt;(</a:t>
            </a:r>
            <a:r>
              <a:rPr>
                <a:solidFill>
                  <a:srgbClr val="3D1D81"/>
                </a:solidFill>
              </a:rPr>
              <a:t>bind</a:t>
            </a:r>
            <a:r>
              <a:rPr>
                <a:solidFill>
                  <a:srgbClr val="000000"/>
                </a:solidFill>
              </a:rPr>
              <a:t>(</a:t>
            </a:r>
            <a:r>
              <a:rPr>
                <a:solidFill>
                  <a:srgbClr val="3D1D81"/>
                </a:solidFill>
              </a:rPr>
              <a:t>forward</a:t>
            </a:r>
            <a:r>
              <a:rPr>
                <a:solidFill>
                  <a:srgbClr val="000000"/>
                </a:solidFill>
              </a:rPr>
              <a:t>&lt;</a:t>
            </a:r>
            <a:r>
              <a:rPr>
                <a:solidFill>
                  <a:srgbClr val="3D1D81"/>
                </a:solidFill>
              </a:rPr>
              <a:t>F</a:t>
            </a:r>
            <a:r>
              <a:rPr>
                <a:solidFill>
                  <a:srgbClr val="000000"/>
                </a:solidFill>
              </a:rPr>
              <a:t>&gt;(f), </a:t>
            </a:r>
            <a:r>
              <a:rPr>
                <a:solidFill>
                  <a:srgbClr val="3D1D81"/>
                </a:solidFill>
              </a:rPr>
              <a:t>forward</a:t>
            </a:r>
            <a:r>
              <a:rPr>
                <a:solidFill>
                  <a:srgbClr val="000000"/>
                </a:solidFill>
              </a:rPr>
              <a:t>&lt;</a:t>
            </a:r>
            <a:r>
              <a:rPr>
                <a:solidFill>
                  <a:srgbClr val="3D1D81"/>
                </a:solidFill>
              </a:rPr>
              <a:t>Args</a:t>
            </a:r>
            <a:r>
              <a:rPr>
                <a:solidFill>
                  <a:srgbClr val="000000"/>
                </a:solidFill>
              </a:rPr>
              <a:t>&gt;(</a:t>
            </a:r>
            <a:r>
              <a:rPr>
                <a:solidFill>
                  <a:srgbClr val="3D1D81"/>
                </a:solidFill>
              </a:rPr>
              <a:t>args</a:t>
            </a:r>
            <a:r>
              <a:rPr>
                <a:solidFill>
                  <a:srgbClr val="000000"/>
                </a:solidFill>
              </a:rPr>
              <a: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4F8187"/>
                </a:solidFill>
              </a:rPr>
              <a:t>_system</a:t>
            </a:r>
            <a:r>
              <a:t>.</a:t>
            </a:r>
            <a:r>
              <a:rPr>
                <a:solidFill>
                  <a:srgbClr val="31595D"/>
                </a:solidFill>
              </a:rPr>
              <a:t>async_</a:t>
            </a:r>
            <a:r>
              <a:t>(</a:t>
            </a:r>
            <a:r>
              <a:rPr>
                <a:solidFill>
                  <a:srgbClr val="3D1D81"/>
                </a:solidFill>
              </a:rPr>
              <a:t>move</a:t>
            </a:r>
            <a:r>
              <a:t>(</a:t>
            </a:r>
            <a:r>
              <a:rPr>
                <a:solidFill>
                  <a:srgbClr val="3D1D81"/>
                </a:solidFill>
              </a:rPr>
              <a:t>get</a:t>
            </a:r>
            <a:r>
              <a:t>&lt;</a:t>
            </a:r>
            <a:r>
              <a:rPr>
                <a:solidFill>
                  <a:srgbClr val="272AD8"/>
                </a:solidFill>
              </a:rPr>
              <a:t>0</a:t>
            </a:r>
            <a:r>
              <a:t>&gt;(pack)));</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return</a:t>
            </a:r>
            <a:r>
              <a:t> </a:t>
            </a:r>
            <a:r>
              <a:rPr>
                <a:solidFill>
                  <a:srgbClr val="3D1D81"/>
                </a:solidFill>
              </a:rPr>
              <a:t>get</a:t>
            </a:r>
            <a:r>
              <a:t>&lt;</a:t>
            </a:r>
            <a:r>
              <a:rPr>
                <a:solidFill>
                  <a:srgbClr val="272AD8"/>
                </a:solidFill>
              </a:rPr>
              <a:t>1</a:t>
            </a:r>
            <a:r>
              <a:t>&gt;(pack);</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1452" name="Futures: Building, The"/>
          <p:cNvSpPr txBox="1"/>
          <p:nvPr>
            <p:ph type="title"/>
          </p:nvPr>
        </p:nvSpPr>
        <p:spPr>
          <a:prstGeom prst="rect">
            <a:avLst/>
          </a:prstGeom>
        </p:spPr>
        <p:txBody>
          <a:bodyPr lIns="76200" tIns="76200" rIns="76200" bIns="76200"/>
          <a:lstStyle>
            <a:lvl1pPr defTabSz="2176581">
              <a:defRPr sz="4200"/>
            </a:lvl1pPr>
          </a:lstStyle>
          <a:p>
            <a:pPr/>
            <a:r>
              <a:t>Futures: Building, The</a:t>
            </a:r>
          </a:p>
        </p:txBody>
      </p:sp>
      <p:sp>
        <p:nvSpPr>
          <p:cNvPr id="1453"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10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457" name="template &lt;typename F, typename ...Args&gt;…"/>
          <p:cNvSpPr txBox="1"/>
          <p:nvPr>
            <p:ph type="body" idx="1"/>
          </p:nvPr>
        </p:nvSpPr>
        <p:spPr>
          <a:xfrm>
            <a:off x="612616" y="2039940"/>
            <a:ext cx="23158768" cy="10363201"/>
          </a:xfrm>
          <a:prstGeom prst="rect">
            <a:avLst/>
          </a:prstGeom>
        </p:spPr>
        <p:txBody>
          <a:bodyPr lIns="76200" tIns="76200" rIns="76200" bIns="76200"/>
          <a:lstStyle/>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template</a:t>
            </a:r>
            <a:r>
              <a:t> &lt;</a:t>
            </a:r>
            <a:r>
              <a:rPr>
                <a:solidFill>
                  <a:srgbClr val="BB2CA2"/>
                </a:solidFill>
              </a:rPr>
              <a:t>typename</a:t>
            </a:r>
            <a:r>
              <a:t> F, </a:t>
            </a:r>
            <a:r>
              <a:rPr>
                <a:solidFill>
                  <a:srgbClr val="BB2CA2"/>
                </a:solidFill>
              </a:rPr>
              <a:t>typename</a:t>
            </a:r>
            <a:r>
              <a:t> ...Args&gt;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rPr>
                <a:solidFill>
                  <a:srgbClr val="BB2CA2"/>
                </a:solidFill>
              </a:rPr>
              <a:t>auto</a:t>
            </a:r>
            <a:r>
              <a:t> async(F&amp;&amp; f, Args&amp;&amp;... args)</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using</a:t>
            </a:r>
            <a:r>
              <a:t> result_type = result_of_t&lt;F (Args...)&gt;;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using</a:t>
            </a:r>
            <a:r>
              <a:t> packaged_type = </a:t>
            </a:r>
            <a:r>
              <a:rPr>
                <a:solidFill>
                  <a:srgbClr val="4F8187"/>
                </a:solidFill>
              </a:rPr>
              <a:t>packaged_task</a:t>
            </a:r>
            <a:r>
              <a:t>&lt;</a:t>
            </a:r>
            <a:r>
              <a:rPr>
                <a:solidFill>
                  <a:srgbClr val="4F8187"/>
                </a:solidFill>
              </a:rPr>
              <a:t>result_type</a:t>
            </a:r>
            <a:r>
              <a:t>()&gt;;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4F8187"/>
                </a:solidFill>
                <a:uFillTx/>
                <a:latin typeface="Menlo Regular"/>
                <a:ea typeface="Menlo Regular"/>
                <a:cs typeface="Menlo Regular"/>
                <a:sym typeface="Menlo Regular"/>
              </a:defRPr>
            </a:pPr>
            <a:r>
              <a:rPr>
                <a:solidFill>
                  <a:srgbClr val="000000"/>
                </a:solidFill>
              </a:rPr>
              <a:t>    </a:t>
            </a:r>
            <a:r>
              <a:rPr>
                <a:solidFill>
                  <a:srgbClr val="BB2CA2"/>
                </a:solidFill>
              </a:rPr>
              <a:t>auto</a:t>
            </a:r>
            <a:r>
              <a:rPr>
                <a:solidFill>
                  <a:srgbClr val="000000"/>
                </a:solidFill>
              </a:rPr>
              <a:t> pack = </a:t>
            </a:r>
            <a:r>
              <a:rPr>
                <a:solidFill>
                  <a:srgbClr val="31595D"/>
                </a:solidFill>
              </a:rPr>
              <a:t>package</a:t>
            </a:r>
            <a:r>
              <a:rPr>
                <a:solidFill>
                  <a:srgbClr val="000000"/>
                </a:solidFill>
              </a:rPr>
              <a:t>&lt;</a:t>
            </a:r>
            <a:r>
              <a:t>result_type</a:t>
            </a:r>
            <a:r>
              <a:rPr>
                <a:solidFill>
                  <a:srgbClr val="000000"/>
                </a:solidFill>
              </a:rPr>
              <a:t>()&gt;(</a:t>
            </a:r>
            <a:r>
              <a:rPr>
                <a:solidFill>
                  <a:srgbClr val="3D1D81"/>
                </a:solidFill>
              </a:rPr>
              <a:t>bind</a:t>
            </a:r>
            <a:r>
              <a:rPr>
                <a:solidFill>
                  <a:srgbClr val="000000"/>
                </a:solidFill>
              </a:rPr>
              <a:t>(</a:t>
            </a:r>
            <a:r>
              <a:rPr>
                <a:solidFill>
                  <a:srgbClr val="3D1D81"/>
                </a:solidFill>
              </a:rPr>
              <a:t>forward</a:t>
            </a:r>
            <a:r>
              <a:rPr>
                <a:solidFill>
                  <a:srgbClr val="000000"/>
                </a:solidFill>
              </a:rPr>
              <a:t>&lt;</a:t>
            </a:r>
            <a:r>
              <a:rPr>
                <a:solidFill>
                  <a:srgbClr val="3D1D81"/>
                </a:solidFill>
              </a:rPr>
              <a:t>F</a:t>
            </a:r>
            <a:r>
              <a:rPr>
                <a:solidFill>
                  <a:srgbClr val="000000"/>
                </a:solidFill>
              </a:rPr>
              <a:t>&gt;(f), </a:t>
            </a:r>
            <a:r>
              <a:rPr>
                <a:solidFill>
                  <a:srgbClr val="3D1D81"/>
                </a:solidFill>
              </a:rPr>
              <a:t>forward</a:t>
            </a:r>
            <a:r>
              <a:rPr>
                <a:solidFill>
                  <a:srgbClr val="000000"/>
                </a:solidFill>
              </a:rPr>
              <a:t>&lt;</a:t>
            </a:r>
            <a:r>
              <a:rPr>
                <a:solidFill>
                  <a:srgbClr val="3D1D81"/>
                </a:solidFill>
              </a:rPr>
              <a:t>Args</a:t>
            </a:r>
            <a:r>
              <a:rPr>
                <a:solidFill>
                  <a:srgbClr val="000000"/>
                </a:solidFill>
              </a:rPr>
              <a:t>&gt;(</a:t>
            </a:r>
            <a:r>
              <a:rPr>
                <a:solidFill>
                  <a:srgbClr val="3D1D81"/>
                </a:solidFill>
              </a:rPr>
              <a:t>args</a:t>
            </a:r>
            <a:r>
              <a:rPr>
                <a:solidFill>
                  <a:srgbClr val="000000"/>
                </a:solidFill>
              </a:rPr>
              <a:t>)...));</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solidFill>
                  <a:srgbClr val="008F00"/>
                </a:solidFill>
                <a:uFillTx/>
                <a:latin typeface="Menlo Regular"/>
                <a:ea typeface="Menlo Regular"/>
                <a:cs typeface="Menlo Regular"/>
                <a:sym typeface="Menlo Regular"/>
              </a:defRPr>
            </a:pPr>
            <a:r>
              <a:rPr>
                <a:solidFill>
                  <a:srgbClr val="000000"/>
                </a:solidFill>
              </a:rPr>
              <a:t>    </a:t>
            </a:r>
            <a:r>
              <a:rPr>
                <a:solidFill>
                  <a:srgbClr val="3495AF"/>
                </a:solidFill>
              </a:rPr>
              <a:t>thread</a:t>
            </a:r>
            <a:r>
              <a:rPr>
                <a:solidFill>
                  <a:srgbClr val="000000"/>
                </a:solidFill>
              </a:rPr>
              <a:t>(move(get&lt;0&gt;(pack))).</a:t>
            </a:r>
            <a:r>
              <a:rPr>
                <a:solidFill>
                  <a:srgbClr val="3495AF"/>
                </a:solidFill>
              </a:rPr>
              <a:t>detach</a:t>
            </a:r>
            <a:r>
              <a:rPr>
                <a:solidFill>
                  <a:srgbClr val="000000"/>
                </a:solidFill>
              </a:rPr>
              <a:t>(); </a:t>
            </a:r>
            <a:r>
              <a:t>// Replace with task queue</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BB2CA2"/>
                </a:solidFill>
              </a:rPr>
              <a:t>return</a:t>
            </a:r>
            <a:r>
              <a:t> </a:t>
            </a:r>
            <a:r>
              <a:rPr>
                <a:solidFill>
                  <a:srgbClr val="3D1D81"/>
                </a:solidFill>
              </a:rPr>
              <a:t>get</a:t>
            </a:r>
            <a:r>
              <a:t>&lt;</a:t>
            </a:r>
            <a:r>
              <a:rPr>
                <a:solidFill>
                  <a:srgbClr val="272AD8"/>
                </a:solidFill>
              </a:rPr>
              <a:t>1</a:t>
            </a:r>
            <a:r>
              <a:t>&gt;(pack);</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a:t>
            </a:r>
          </a:p>
        </p:txBody>
      </p:sp>
      <p:sp>
        <p:nvSpPr>
          <p:cNvPr id="1458" name="Futures: Building, The"/>
          <p:cNvSpPr txBox="1"/>
          <p:nvPr>
            <p:ph type="title"/>
          </p:nvPr>
        </p:nvSpPr>
        <p:spPr>
          <a:prstGeom prst="rect">
            <a:avLst/>
          </a:prstGeom>
        </p:spPr>
        <p:txBody>
          <a:bodyPr lIns="76200" tIns="76200" rIns="76200" bIns="76200"/>
          <a:lstStyle>
            <a:lvl1pPr defTabSz="2176581">
              <a:defRPr sz="4200"/>
            </a:lvl1pPr>
          </a:lstStyle>
          <a:p>
            <a:pPr/>
            <a:r>
              <a:t>Futures: Building, The</a:t>
            </a:r>
          </a:p>
        </p:txBody>
      </p:sp>
      <p:sp>
        <p:nvSpPr>
          <p:cNvPr id="1459"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10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463" name="Futures: Continuations"/>
          <p:cNvSpPr txBox="1"/>
          <p:nvPr>
            <p:ph type="title"/>
          </p:nvPr>
        </p:nvSpPr>
        <p:spPr>
          <a:prstGeom prst="rect">
            <a:avLst/>
          </a:prstGeom>
        </p:spPr>
        <p:txBody>
          <a:bodyPr lIns="76200" tIns="76200" rIns="76200" bIns="76200"/>
          <a:lstStyle/>
          <a:p>
            <a:pPr defTabSz="2176581">
              <a:defRPr sz="4200"/>
            </a:pPr>
            <a:r>
              <a:t>Futures: </a:t>
            </a:r>
            <a:r>
              <a:t>Continuations</a:t>
            </a:r>
          </a:p>
        </p:txBody>
      </p:sp>
      <p:sp>
        <p:nvSpPr>
          <p:cNvPr id="1464" name="future&lt;cpp_int&gt; x = async([]{ return fibonacci&lt;cpp_int&gt;(100); });…"/>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546100" algn="l"/>
              </a:tabLst>
              <a:defRPr sz="2400">
                <a:solidFill>
                  <a:srgbClr val="31595D"/>
                </a:solidFill>
                <a:uFillTx/>
                <a:latin typeface="Menlo Regular"/>
                <a:ea typeface="Menlo Regular"/>
                <a:cs typeface="Menlo Regular"/>
                <a:sym typeface="Menlo Regular"/>
              </a:defRPr>
            </a:pPr>
            <a:r>
              <a:rPr>
                <a:solidFill>
                  <a:srgbClr val="000000"/>
                </a:solidFill>
              </a:rPr>
              <a:t>    </a:t>
            </a:r>
            <a:r>
              <a:rPr>
                <a:solidFill>
                  <a:srgbClr val="4F8187"/>
                </a:solidFill>
              </a:rPr>
              <a:t>future</a:t>
            </a:r>
            <a:r>
              <a:rPr>
                <a:solidFill>
                  <a:srgbClr val="000000"/>
                </a:solidFill>
              </a:rPr>
              <a:t>&lt;</a:t>
            </a:r>
            <a:r>
              <a:rPr>
                <a:solidFill>
                  <a:srgbClr val="703DAA"/>
                </a:solidFill>
              </a:rPr>
              <a:t>cpp_int</a:t>
            </a:r>
            <a:r>
              <a:rPr>
                <a:solidFill>
                  <a:srgbClr val="000000"/>
                </a:solidFill>
              </a:rPr>
              <a:t>&gt; x = </a:t>
            </a:r>
            <a:r>
              <a:t>async</a:t>
            </a:r>
            <a:r>
              <a:rPr>
                <a:solidFill>
                  <a:srgbClr val="000000"/>
                </a:solidFill>
              </a:rPr>
              <a:t>([]{ </a:t>
            </a:r>
            <a:r>
              <a:rPr>
                <a:solidFill>
                  <a:srgbClr val="BB2CA2"/>
                </a:solidFill>
              </a:rPr>
              <a:t>return</a:t>
            </a:r>
            <a:r>
              <a:rPr>
                <a:solidFill>
                  <a:srgbClr val="000000"/>
                </a:solidFill>
              </a:rPr>
              <a:t> </a:t>
            </a:r>
            <a:r>
              <a:t>fibonacci</a:t>
            </a:r>
            <a:r>
              <a:rPr>
                <a:solidFill>
                  <a:srgbClr val="000000"/>
                </a:solidFill>
              </a:rPr>
              <a:t>&lt;</a:t>
            </a:r>
            <a:r>
              <a:rPr>
                <a:solidFill>
                  <a:srgbClr val="703DAA"/>
                </a:solidFill>
              </a:rPr>
              <a:t>cpp_int</a:t>
            </a:r>
            <a:r>
              <a:rPr>
                <a:solidFill>
                  <a:srgbClr val="000000"/>
                </a:solidFill>
              </a:rPr>
              <a:t>&gt;(</a:t>
            </a:r>
            <a:r>
              <a:rPr>
                <a:solidFill>
                  <a:srgbClr val="272AD8"/>
                </a:solidFill>
              </a:rPr>
              <a:t>100</a:t>
            </a:r>
            <a:r>
              <a:rPr>
                <a:solidFill>
                  <a:srgbClr val="000000"/>
                </a:solidFill>
              </a:rPr>
              <a:t>); });</a:t>
            </a:r>
            <a:endParaRPr>
              <a:solidFill>
                <a:srgbClr val="000000"/>
              </a:solidFill>
            </a:endParaRP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4F8187"/>
                </a:solidFill>
              </a:rPr>
              <a:t>future</a:t>
            </a:r>
            <a:r>
              <a:t>&lt;</a:t>
            </a:r>
            <a:r>
              <a:rPr>
                <a:solidFill>
                  <a:srgbClr val="703DAA"/>
                </a:solidFill>
              </a:rPr>
              <a:t>cpp_int</a:t>
            </a:r>
            <a:r>
              <a:t>&gt; y = x.</a:t>
            </a:r>
            <a:r>
              <a:rPr>
                <a:solidFill>
                  <a:srgbClr val="31595D"/>
                </a:solidFill>
              </a:rPr>
              <a:t>then</a:t>
            </a:r>
            <a:r>
              <a:t>([](</a:t>
            </a:r>
            <a:r>
              <a:rPr>
                <a:solidFill>
                  <a:srgbClr val="BB2CA2"/>
                </a:solidFill>
              </a:rPr>
              <a:t>const</a:t>
            </a:r>
            <a:r>
              <a:t> </a:t>
            </a:r>
            <a:r>
              <a:rPr>
                <a:solidFill>
                  <a:srgbClr val="703DAA"/>
                </a:solidFill>
              </a:rPr>
              <a:t>cpp_int</a:t>
            </a:r>
            <a:r>
              <a:t>&amp; x){ </a:t>
            </a:r>
            <a:r>
              <a:rPr>
                <a:solidFill>
                  <a:srgbClr val="BB2CA2"/>
                </a:solidFill>
              </a:rPr>
              <a:t>return</a:t>
            </a:r>
            <a:r>
              <a:t> </a:t>
            </a:r>
            <a:r>
              <a:rPr>
                <a:solidFill>
                  <a:srgbClr val="703DAA"/>
                </a:solidFill>
              </a:rPr>
              <a:t>cpp_int</a:t>
            </a:r>
            <a:r>
              <a:t>(x * </a:t>
            </a:r>
            <a:r>
              <a:rPr>
                <a:solidFill>
                  <a:srgbClr val="272AD8"/>
                </a:solidFill>
              </a:rPr>
              <a:t>2</a:t>
            </a: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4F8187"/>
                </a:solidFill>
              </a:rPr>
              <a:t>future</a:t>
            </a:r>
            <a:r>
              <a:t>&lt;</a:t>
            </a:r>
            <a:r>
              <a:rPr>
                <a:solidFill>
                  <a:srgbClr val="703DAA"/>
                </a:solidFill>
              </a:rPr>
              <a:t>cpp_int</a:t>
            </a:r>
            <a:r>
              <a:t>&gt; z = x.</a:t>
            </a:r>
            <a:r>
              <a:rPr>
                <a:solidFill>
                  <a:srgbClr val="31595D"/>
                </a:solidFill>
              </a:rPr>
              <a:t>then</a:t>
            </a:r>
            <a:r>
              <a:t>([](</a:t>
            </a:r>
            <a:r>
              <a:rPr>
                <a:solidFill>
                  <a:srgbClr val="BB2CA2"/>
                </a:solidFill>
              </a:rPr>
              <a:t>const</a:t>
            </a:r>
            <a:r>
              <a:t> </a:t>
            </a:r>
            <a:r>
              <a:rPr>
                <a:solidFill>
                  <a:srgbClr val="703DAA"/>
                </a:solidFill>
              </a:rPr>
              <a:t>cpp_int</a:t>
            </a:r>
            <a:r>
              <a:t>&amp; x){ </a:t>
            </a:r>
            <a:r>
              <a:rPr>
                <a:solidFill>
                  <a:srgbClr val="BB2CA2"/>
                </a:solidFill>
              </a:rPr>
              <a:t>return</a:t>
            </a:r>
            <a:r>
              <a:t> </a:t>
            </a:r>
            <a:r>
              <a:rPr>
                <a:solidFill>
                  <a:srgbClr val="703DAA"/>
                </a:solidFill>
              </a:rPr>
              <a:t>cpp_int</a:t>
            </a:r>
            <a:r>
              <a:t>(x / </a:t>
            </a:r>
            <a:r>
              <a:rPr>
                <a:solidFill>
                  <a:srgbClr val="272AD8"/>
                </a:solidFill>
              </a:rPr>
              <a:t>15</a:t>
            </a: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cout</a:t>
            </a:r>
            <a:r>
              <a:t> &lt;&lt; y.</a:t>
            </a:r>
            <a:r>
              <a:rPr>
                <a:solidFill>
                  <a:srgbClr val="31595D"/>
                </a:solidFill>
              </a:rPr>
              <a:t>get</a:t>
            </a:r>
            <a:r>
              <a:t>() &lt;&lt; </a:t>
            </a:r>
            <a:r>
              <a:rPr>
                <a:solidFill>
                  <a:srgbClr val="3D1D81"/>
                </a:solidFill>
              </a:rPr>
              <a:t>endl</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r>
              <a:rPr>
                <a:solidFill>
                  <a:srgbClr val="703DAA"/>
                </a:solidFill>
              </a:rPr>
              <a:t>cout</a:t>
            </a:r>
            <a:r>
              <a:t> &lt;&lt; z.</a:t>
            </a:r>
            <a:r>
              <a:rPr>
                <a:solidFill>
                  <a:srgbClr val="31595D"/>
                </a:solidFill>
              </a:rPr>
              <a:t>get</a:t>
            </a:r>
            <a:r>
              <a:t>() &lt;&lt; </a:t>
            </a:r>
            <a:r>
              <a:rPr>
                <a:solidFill>
                  <a:srgbClr val="3D1D81"/>
                </a:solidFill>
              </a:rPr>
              <a:t>endl</a:t>
            </a:r>
            <a:r>
              <a:t>;</a:t>
            </a:r>
          </a:p>
          <a:p>
            <a:pPr marL="0" indent="0" defTabSz="457200">
              <a:spcBef>
                <a:spcPts val="0"/>
              </a:spcBef>
              <a:buClrTx/>
              <a:buSzTx/>
              <a:buNone/>
              <a:tabLst>
                <a:tab pos="546100" algn="l"/>
              </a:tabLst>
              <a:defRPr sz="2400">
                <a:uFillTx/>
                <a:latin typeface="Menlo Regular"/>
                <a:ea typeface="Menlo Regular"/>
                <a:cs typeface="Menlo Regular"/>
                <a:sym typeface="Menlo Regular"/>
              </a:defRPr>
            </a:pPr>
            <a:r>
              <a:t>    </a:t>
            </a:r>
          </a:p>
        </p:txBody>
      </p:sp>
      <p:sp>
        <p:nvSpPr>
          <p:cNvPr id="1465"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466" name="708449696358523830150…"/>
          <p:cNvSpPr txBox="1"/>
          <p:nvPr/>
        </p:nvSpPr>
        <p:spPr>
          <a:xfrm>
            <a:off x="10116294" y="7675487"/>
            <a:ext cx="3967907" cy="812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buClrTx/>
              <a:tabLst>
                <a:tab pos="546100" algn="l"/>
              </a:tabLst>
              <a:defRPr b="1" sz="2400">
                <a:uFillTx/>
                <a:latin typeface="Menlo Regular"/>
                <a:ea typeface="Menlo Regular"/>
                <a:cs typeface="Menlo Regular"/>
                <a:sym typeface="Menlo Regular"/>
              </a:defRPr>
            </a:pPr>
            <a:r>
              <a:t>708449696358523830150</a:t>
            </a:r>
          </a:p>
          <a:p>
            <a:pPr defTabSz="457200">
              <a:buClrTx/>
              <a:tabLst>
                <a:tab pos="546100" algn="l"/>
              </a:tabLst>
              <a:defRPr b="1" sz="2400">
                <a:uFillTx/>
                <a:latin typeface="Menlo Regular"/>
                <a:ea typeface="Menlo Regular"/>
                <a:cs typeface="Menlo Regular"/>
                <a:sym typeface="Menlo Regular"/>
              </a:defRPr>
            </a:pPr>
            <a:r>
              <a:t>23614989878617461005</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4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66" grpId="1"/>
    </p:bldLst>
  </p:timing>
</p:sld>
</file>

<file path=ppt/slides/slide10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468" name="Exercises"/>
          <p:cNvSpPr txBox="1"/>
          <p:nvPr>
            <p:ph type="title"/>
          </p:nvPr>
        </p:nvSpPr>
        <p:spPr>
          <a:prstGeom prst="rect">
            <a:avLst/>
          </a:prstGeom>
        </p:spPr>
        <p:txBody>
          <a:bodyPr lIns="76200" tIns="76200" rIns="76200" bIns="76200"/>
          <a:lstStyle>
            <a:lvl1pPr defTabSz="2176581">
              <a:defRPr sz="4200"/>
            </a:lvl1pPr>
          </a:lstStyle>
          <a:p>
            <a:pPr/>
            <a:r>
              <a:t>Exercises</a:t>
            </a:r>
          </a:p>
        </p:txBody>
      </p:sp>
      <p:sp>
        <p:nvSpPr>
          <p:cNvPr id="1469" name="Add support for:…"/>
          <p:cNvSpPr txBox="1"/>
          <p:nvPr>
            <p:ph type="body" idx="1"/>
          </p:nvPr>
        </p:nvSpPr>
        <p:spPr>
          <a:prstGeom prst="rect">
            <a:avLst/>
          </a:prstGeom>
        </p:spPr>
        <p:txBody>
          <a:bodyPr lIns="76200" tIns="76200" rIns="76200" bIns="76200"/>
          <a:lstStyle/>
          <a:p>
            <a:pPr>
              <a:spcBef>
                <a:spcPts val="1200"/>
              </a:spcBef>
            </a:pPr>
            <a:r>
              <a:t>Add support for:</a:t>
            </a:r>
          </a:p>
          <a:p>
            <a:pPr lvl="1">
              <a:spcBef>
                <a:spcPts val="1200"/>
              </a:spcBef>
            </a:pPr>
            <a:r>
              <a:t>Join (when_all)</a:t>
            </a:r>
          </a:p>
          <a:p>
            <a:pPr lvl="1">
              <a:spcBef>
                <a:spcPts val="1200"/>
              </a:spcBef>
            </a:pPr>
            <a:r>
              <a:t>Broken promises</a:t>
            </a:r>
          </a:p>
          <a:p>
            <a:pPr lvl="1">
              <a:spcBef>
                <a:spcPts val="1200"/>
              </a:spcBef>
            </a:pPr>
            <a:r>
              <a:t>Exception marshalling</a:t>
            </a:r>
          </a:p>
          <a:p>
            <a:pPr lvl="1">
              <a:spcBef>
                <a:spcPts val="1200"/>
              </a:spcBef>
            </a:pPr>
            <a:r>
              <a:t>Progress reporting</a:t>
            </a:r>
          </a:p>
        </p:txBody>
      </p:sp>
      <p:sp>
        <p:nvSpPr>
          <p:cNvPr id="1470"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10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2"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473"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474"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475" name="Channels"/>
          <p:cNvSpPr txBox="1"/>
          <p:nvPr>
            <p:ph type="body" idx="1"/>
          </p:nvPr>
        </p:nvSpPr>
        <p:spPr>
          <a:prstGeom prst="rect">
            <a:avLst/>
          </a:prstGeom>
        </p:spPr>
        <p:txBody>
          <a:bodyPr/>
          <a:lstStyle>
            <a:lvl1pPr marL="0" indent="0" algn="ctr" defTabSz="457200">
              <a:lnSpc>
                <a:spcPts val="10400"/>
              </a:lnSpc>
              <a:spcBef>
                <a:spcPts val="0"/>
              </a:spcBef>
              <a:buClr>
                <a:srgbClr val="E1E4E6"/>
              </a:buClr>
              <a:buSzTx/>
              <a:buFont typeface="Wingdings"/>
              <a:buNone/>
              <a:defRPr sz="7200"/>
            </a:lvl1pPr>
          </a:lstStyle>
          <a:p>
            <a:pPr/>
            <a:r>
              <a:t>Channels</a:t>
            </a:r>
          </a:p>
        </p:txBody>
      </p:sp>
      <p:sp>
        <p:nvSpPr>
          <p:cNvPr id="1476" name="Slide Number"/>
          <p:cNvSpPr txBox="1"/>
          <p:nvPr>
            <p:ph type="sldNum" sz="quarter" idx="2"/>
          </p:nvPr>
        </p:nvSpPr>
        <p:spPr>
          <a:xfrm>
            <a:off x="12058329" y="12934946"/>
            <a:ext cx="286411"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477"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sld>
</file>

<file path=ppt/slides/slide10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9" name="What if we persist the graph?"/>
          <p:cNvSpPr txBox="1"/>
          <p:nvPr>
            <p:ph type="title"/>
          </p:nvPr>
        </p:nvSpPr>
        <p:spPr>
          <a:prstGeom prst="rect">
            <a:avLst/>
          </a:prstGeom>
        </p:spPr>
        <p:txBody>
          <a:bodyPr lIns="76200" tIns="76200" rIns="76200" bIns="76200"/>
          <a:lstStyle>
            <a:lvl1pPr defTabSz="2176581">
              <a:defRPr sz="4200"/>
            </a:lvl1pPr>
          </a:lstStyle>
          <a:p>
            <a:pPr/>
            <a:r>
              <a:t>What if we persist the graph?</a:t>
            </a:r>
          </a:p>
        </p:txBody>
      </p:sp>
      <p:sp>
        <p:nvSpPr>
          <p:cNvPr id="1480"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pic>
        <p:nvPicPr>
          <p:cNvPr id="1481" name="Image" descr="Image"/>
          <p:cNvPicPr>
            <a:picLocks noChangeAspect="1"/>
          </p:cNvPicPr>
          <p:nvPr/>
        </p:nvPicPr>
        <p:blipFill>
          <a:blip r:embed="rId2">
            <a:extLst/>
          </a:blip>
          <a:stretch>
            <a:fillRect/>
          </a:stretch>
        </p:blipFill>
        <p:spPr>
          <a:xfrm>
            <a:off x="3543300" y="3695700"/>
            <a:ext cx="17297400" cy="6324600"/>
          </a:xfrm>
          <a:prstGeom prst="rect">
            <a:avLst/>
          </a:prstGeom>
          <a:ln w="12700">
            <a:miter lim="400000"/>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med" advClick="1" p14:dur="1000">
        <p15:prstTrans prst="peelOff" invX="1"/>
      </p:transition>
    </mc:Choice>
    <mc:Choice xmlns:p14="http://schemas.microsoft.com/office/powerpoint/2010/main" Requires="p14">
      <p:transition spd="med" advClick="1" p14:dur="1000">
        <p:peelOff/>
      </p:transition>
    </mc:Choice>
    <mc:Fallback>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3" name="What if we persist the graph?"/>
          <p:cNvSpPr txBox="1"/>
          <p:nvPr>
            <p:ph type="title"/>
          </p:nvPr>
        </p:nvSpPr>
        <p:spPr>
          <a:prstGeom prst="rect">
            <a:avLst/>
          </a:prstGeom>
        </p:spPr>
        <p:txBody>
          <a:bodyPr lIns="76200" tIns="76200" rIns="76200" bIns="76200"/>
          <a:lstStyle>
            <a:lvl1pPr defTabSz="2176581">
              <a:defRPr sz="4200"/>
            </a:lvl1pPr>
          </a:lstStyle>
          <a:p>
            <a:pPr/>
            <a:r>
              <a:t>What if we persist the graph?</a:t>
            </a:r>
          </a:p>
        </p:txBody>
      </p:sp>
      <p:sp>
        <p:nvSpPr>
          <p:cNvPr id="1484" name="Allow multiple invocations of the tasks by setting the source values…"/>
          <p:cNvSpPr txBox="1"/>
          <p:nvPr>
            <p:ph type="body" idx="1"/>
          </p:nvPr>
        </p:nvSpPr>
        <p:spPr>
          <a:prstGeom prst="rect">
            <a:avLst/>
          </a:prstGeom>
        </p:spPr>
        <p:txBody>
          <a:bodyPr lIns="76200" tIns="76200" rIns="76200" bIns="76200"/>
          <a:lstStyle/>
          <a:p>
            <a:pPr>
              <a:spcBef>
                <a:spcPts val="1200"/>
              </a:spcBef>
            </a:pPr>
            <a:r>
              <a:t>Allow multiple invocations of the tasks by setting the source values</a:t>
            </a:r>
          </a:p>
          <a:p>
            <a:pPr>
              <a:spcBef>
                <a:spcPts val="1200"/>
              </a:spcBef>
            </a:pPr>
            <a:r>
              <a:t>Each change triggers a notification to the sink values</a:t>
            </a:r>
          </a:p>
          <a:p>
            <a:pPr lvl="1">
              <a:spcBef>
                <a:spcPts val="1200"/>
              </a:spcBef>
            </a:pPr>
            <a:r>
              <a:t>This is a reactive programming model and futures are known as </a:t>
            </a:r>
            <a:r>
              <a:rPr i="1"/>
              <a:t>behaviors </a:t>
            </a:r>
            <a:r>
              <a:t>or</a:t>
            </a:r>
            <a:r>
              <a:rPr i="1"/>
              <a:t> channels</a:t>
            </a:r>
          </a:p>
        </p:txBody>
      </p:sp>
      <p:sp>
        <p:nvSpPr>
          <p:cNvPr id="1485"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10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7" name="Accumulators and Generator"/>
          <p:cNvSpPr txBox="1"/>
          <p:nvPr>
            <p:ph type="title"/>
          </p:nvPr>
        </p:nvSpPr>
        <p:spPr>
          <a:prstGeom prst="rect">
            <a:avLst/>
          </a:prstGeom>
        </p:spPr>
        <p:txBody>
          <a:bodyPr lIns="76200" tIns="76200" rIns="76200" bIns="76200"/>
          <a:lstStyle>
            <a:lvl1pPr defTabSz="2176581">
              <a:defRPr sz="4200"/>
            </a:lvl1pPr>
          </a:lstStyle>
          <a:p>
            <a:pPr/>
            <a:r>
              <a:t>Accumulators and Generator</a:t>
            </a:r>
          </a:p>
        </p:txBody>
      </p:sp>
      <p:sp>
        <p:nvSpPr>
          <p:cNvPr id="1488" name="Each operation does not have to be a 1:1 mapping of input to output…"/>
          <p:cNvSpPr txBox="1"/>
          <p:nvPr>
            <p:ph type="body" idx="1"/>
          </p:nvPr>
        </p:nvSpPr>
        <p:spPr>
          <a:prstGeom prst="rect">
            <a:avLst/>
          </a:prstGeom>
        </p:spPr>
        <p:txBody>
          <a:bodyPr lIns="76200" tIns="76200" rIns="76200" bIns="76200"/>
          <a:lstStyle/>
          <a:p>
            <a:pPr>
              <a:spcBef>
                <a:spcPts val="1200"/>
              </a:spcBef>
            </a:pPr>
            <a:r>
              <a:t>Each operation does not have to be a 1:1 mapping of input to output</a:t>
            </a:r>
          </a:p>
          <a:p>
            <a:pPr>
              <a:spcBef>
                <a:spcPts val="1200"/>
              </a:spcBef>
            </a:pPr>
            <a:r>
              <a:t>Coroutines are one way to write n:m functions</a:t>
            </a:r>
          </a:p>
        </p:txBody>
      </p:sp>
      <p:sp>
        <p:nvSpPr>
          <p:cNvPr id="1489"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10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1" name="Channels"/>
          <p:cNvSpPr txBox="1"/>
          <p:nvPr>
            <p:ph type="title"/>
          </p:nvPr>
        </p:nvSpPr>
        <p:spPr>
          <a:prstGeom prst="rect">
            <a:avLst/>
          </a:prstGeom>
        </p:spPr>
        <p:txBody>
          <a:bodyPr lIns="76200" tIns="76200" rIns="76200" bIns="76200"/>
          <a:lstStyle>
            <a:lvl1pPr defTabSz="2176581">
              <a:defRPr sz="4200"/>
            </a:lvl1pPr>
          </a:lstStyle>
          <a:p>
            <a:pPr/>
            <a:r>
              <a:t>Channels</a:t>
            </a:r>
          </a:p>
        </p:txBody>
      </p:sp>
      <p:sp>
        <p:nvSpPr>
          <p:cNvPr id="1492" name="channel&lt;int&gt; send;…"/>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channel&lt;</a:t>
            </a:r>
            <a:r>
              <a:rPr>
                <a:solidFill>
                  <a:srgbClr val="0433FF"/>
                </a:solidFill>
              </a:rPr>
              <a:t>int</a:t>
            </a:r>
            <a:r>
              <a:t>&gt; send;</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a:t>
            </a:r>
            <a:r>
              <a:rPr>
                <a:solidFill>
                  <a:srgbClr val="0433FF"/>
                </a:solidFill>
              </a:rPr>
              <a:t>auto</a:t>
            </a:r>
            <a:r>
              <a:t> hold = send</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 [](</a:t>
            </a:r>
            <a:r>
              <a:rPr>
                <a:solidFill>
                  <a:srgbClr val="0433FF"/>
                </a:solidFill>
              </a:rPr>
              <a:t>const</a:t>
            </a:r>
            <a:r>
              <a:t> receiver&lt;</a:t>
            </a:r>
            <a:r>
              <a:rPr>
                <a:solidFill>
                  <a:srgbClr val="0433FF"/>
                </a:solidFill>
              </a:rPr>
              <a:t>int</a:t>
            </a:r>
            <a:r>
              <a:t>&gt;&amp; r) {</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a:t>
            </a:r>
            <a:r>
              <a:rPr>
                <a:solidFill>
                  <a:srgbClr val="0433FF"/>
                </a:solidFill>
              </a:rPr>
              <a:t>int</a:t>
            </a:r>
            <a:r>
              <a:t> sum = 0;</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a:t>
            </a:r>
            <a:r>
              <a:rPr>
                <a:solidFill>
                  <a:srgbClr val="0433FF"/>
                </a:solidFill>
              </a:rPr>
              <a:t>while</a:t>
            </a:r>
            <a:r>
              <a:t>(</a:t>
            </a:r>
            <a:r>
              <a:rPr>
                <a:solidFill>
                  <a:srgbClr val="0433FF"/>
                </a:solidFill>
              </a:rPr>
              <a:t>auto</a:t>
            </a:r>
            <a:r>
              <a:t> v = </a:t>
            </a:r>
            <a:r>
              <a:rPr>
                <a:solidFill>
                  <a:srgbClr val="0433FF"/>
                </a:solidFill>
              </a:rPr>
              <a:t>co_await</a:t>
            </a:r>
            <a:r>
              <a:t> r) {</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sum += v.get();</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a:t>
            </a:r>
            <a:r>
              <a:rPr>
                <a:solidFill>
                  <a:srgbClr val="0433FF"/>
                </a:solidFill>
              </a:rPr>
              <a:t>return</a:t>
            </a:r>
            <a:r>
              <a:t> sum;</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 [](</a:t>
            </a:r>
            <a:r>
              <a:rPr>
                <a:solidFill>
                  <a:srgbClr val="0433FF"/>
                </a:solidFill>
              </a:rPr>
              <a:t>int</a:t>
            </a:r>
            <a:r>
              <a:t> x){ cout &lt;&lt; x &lt;&lt; '\n'; };</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send(1);</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send(2);</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send(3);</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send.close();</a:t>
            </a:r>
          </a:p>
        </p:txBody>
      </p:sp>
      <p:sp>
        <p:nvSpPr>
          <p:cNvPr id="1493"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494" name="6"/>
          <p:cNvSpPr txBox="1"/>
          <p:nvPr/>
        </p:nvSpPr>
        <p:spPr>
          <a:xfrm>
            <a:off x="12043097" y="11274851"/>
            <a:ext cx="389559" cy="622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457200">
              <a:buClrTx/>
              <a:tabLst>
                <a:tab pos="546100" algn="l"/>
              </a:tabLst>
              <a:defRPr b="1">
                <a:uFillTx/>
                <a:latin typeface="Menlo Regular"/>
                <a:ea typeface="Menlo Regular"/>
                <a:cs typeface="Menlo Regular"/>
                <a:sym typeface="Menlo Regular"/>
              </a:defRPr>
            </a:lvl1pPr>
          </a:lstStyle>
          <a:p>
            <a:pPr/>
            <a:r>
              <a:t>6</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4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94" grpId="1"/>
    </p:bldLst>
  </p:timing>
</p:sld>
</file>

<file path=ppt/slides/slide10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498" name="Channels"/>
          <p:cNvSpPr txBox="1"/>
          <p:nvPr>
            <p:ph type="title"/>
          </p:nvPr>
        </p:nvSpPr>
        <p:spPr>
          <a:prstGeom prst="rect">
            <a:avLst/>
          </a:prstGeom>
        </p:spPr>
        <p:txBody>
          <a:bodyPr lIns="76200" tIns="76200" rIns="76200" bIns="76200"/>
          <a:lstStyle>
            <a:lvl1pPr defTabSz="2176581">
              <a:defRPr sz="4200"/>
            </a:lvl1pPr>
          </a:lstStyle>
          <a:p>
            <a:pPr/>
            <a:r>
              <a:t>Channels</a:t>
            </a:r>
          </a:p>
        </p:txBody>
      </p:sp>
      <p:sp>
        <p:nvSpPr>
          <p:cNvPr id="1499" name="struct sum {…"/>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419100" algn="l"/>
              </a:tabLst>
              <a:defRPr sz="2800">
                <a:uFillTx/>
                <a:latin typeface="Menlo Regular"/>
                <a:ea typeface="Menlo Regular"/>
                <a:cs typeface="Menlo Regular"/>
                <a:sym typeface="Menlo Regular"/>
              </a:defRPr>
            </a:pPr>
            <a:r>
              <a:rPr>
                <a:solidFill>
                  <a:srgbClr val="BB2CA2"/>
                </a:solidFill>
              </a:rPr>
              <a:t>struct</a:t>
            </a:r>
            <a:r>
              <a:t> sum {</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process_state_scheduled _state = await_forever;</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BB2CA2"/>
                </a:solidFill>
              </a:rPr>
              <a:t>int</a:t>
            </a:r>
            <a:r>
              <a:t> _sum = </a:t>
            </a:r>
            <a:r>
              <a:rPr>
                <a:solidFill>
                  <a:srgbClr val="272AD8"/>
                </a:solidFill>
              </a:rPr>
              <a:t>0</a:t>
            </a:r>
            <a:r>
              <a:t>;</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BB2CA2"/>
                </a:solidFill>
              </a:rPr>
              <a:t>void</a:t>
            </a:r>
            <a:r>
              <a:t> await(</a:t>
            </a:r>
            <a:r>
              <a:rPr>
                <a:solidFill>
                  <a:srgbClr val="BB2CA2"/>
                </a:solidFill>
              </a:rPr>
              <a:t>int</a:t>
            </a:r>
            <a:r>
              <a:t> n) { _sum += n; }</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BB2CA2"/>
                </a:solidFill>
              </a:rPr>
              <a:t>int</a:t>
            </a:r>
            <a:r>
              <a:t> yield() { _state = await_forever; </a:t>
            </a:r>
            <a:r>
              <a:rPr>
                <a:solidFill>
                  <a:srgbClr val="BB2CA2"/>
                </a:solidFill>
              </a:rPr>
              <a:t>return</a:t>
            </a:r>
            <a:r>
              <a:t> _sum; }</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BB2CA2"/>
                </a:solidFill>
              </a:rPr>
              <a:t>void</a:t>
            </a:r>
            <a:r>
              <a:t> close() { _state = yield_immediate; }</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BB2CA2"/>
                </a:solidFill>
              </a:rPr>
              <a:t>const</a:t>
            </a:r>
            <a:r>
              <a:t> </a:t>
            </a:r>
            <a:r>
              <a:rPr>
                <a:solidFill>
                  <a:srgbClr val="BB2CA2"/>
                </a:solidFill>
              </a:rPr>
              <a:t>auto</a:t>
            </a:r>
            <a:r>
              <a:t>&amp; state() </a:t>
            </a:r>
            <a:r>
              <a:rPr>
                <a:solidFill>
                  <a:srgbClr val="BB2CA2"/>
                </a:solidFill>
              </a:rPr>
              <a:t>const</a:t>
            </a:r>
            <a:r>
              <a:t> { </a:t>
            </a:r>
            <a:r>
              <a:rPr>
                <a:solidFill>
                  <a:srgbClr val="BB2CA2"/>
                </a:solidFill>
              </a:rPr>
              <a:t>return</a:t>
            </a:r>
            <a:r>
              <a:t> _state; }</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a:t>
            </a:r>
          </a:p>
        </p:txBody>
      </p:sp>
      <p:sp>
        <p:nvSpPr>
          <p:cNvPr id="1500"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10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4" name="Flow Control"/>
          <p:cNvSpPr txBox="1"/>
          <p:nvPr>
            <p:ph type="title"/>
          </p:nvPr>
        </p:nvSpPr>
        <p:spPr>
          <a:prstGeom prst="rect">
            <a:avLst/>
          </a:prstGeom>
        </p:spPr>
        <p:txBody>
          <a:bodyPr lIns="76200" tIns="76200" rIns="76200" bIns="76200"/>
          <a:lstStyle>
            <a:lvl1pPr defTabSz="2176581">
              <a:defRPr sz="4200"/>
            </a:lvl1pPr>
          </a:lstStyle>
          <a:p>
            <a:pPr/>
            <a:r>
              <a:t>Flow Control</a:t>
            </a:r>
          </a:p>
        </p:txBody>
      </p:sp>
      <p:sp>
        <p:nvSpPr>
          <p:cNvPr id="1505"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pic>
        <p:nvPicPr>
          <p:cNvPr id="1506" name="Image" descr="Image"/>
          <p:cNvPicPr>
            <a:picLocks noChangeAspect="1"/>
          </p:cNvPicPr>
          <p:nvPr/>
        </p:nvPicPr>
        <p:blipFill>
          <a:blip r:embed="rId2">
            <a:extLst/>
          </a:blip>
          <a:stretch>
            <a:fillRect/>
          </a:stretch>
        </p:blipFill>
        <p:spPr>
          <a:xfrm>
            <a:off x="8081689" y="6184900"/>
            <a:ext cx="8239673" cy="1346200"/>
          </a:xfrm>
          <a:prstGeom prst="rect">
            <a:avLst/>
          </a:prstGeom>
          <a:ln w="12700">
            <a:miter lim="400000"/>
          </a:ln>
        </p:spPr>
      </p:pic>
      <p:pic>
        <p:nvPicPr>
          <p:cNvPr id="1507" name="Image" descr="Image"/>
          <p:cNvPicPr>
            <a:picLocks noChangeAspect="1"/>
          </p:cNvPicPr>
          <p:nvPr/>
        </p:nvPicPr>
        <p:blipFill>
          <a:blip r:embed="rId3">
            <a:extLst/>
          </a:blip>
          <a:stretch>
            <a:fillRect/>
          </a:stretch>
        </p:blipFill>
        <p:spPr>
          <a:xfrm>
            <a:off x="9098419" y="6578600"/>
            <a:ext cx="558801" cy="558800"/>
          </a:xfrm>
          <a:prstGeom prst="rect">
            <a:avLst/>
          </a:prstGeom>
          <a:ln w="12700">
            <a:miter lim="400000"/>
          </a:ln>
        </p:spPr>
      </p:pic>
      <p:pic>
        <p:nvPicPr>
          <p:cNvPr id="1508" name="Image" descr="Image"/>
          <p:cNvPicPr>
            <a:picLocks noChangeAspect="1"/>
          </p:cNvPicPr>
          <p:nvPr/>
        </p:nvPicPr>
        <p:blipFill>
          <a:blip r:embed="rId3">
            <a:extLst/>
          </a:blip>
          <a:stretch>
            <a:fillRect/>
          </a:stretch>
        </p:blipFill>
        <p:spPr>
          <a:xfrm>
            <a:off x="9093200" y="6578600"/>
            <a:ext cx="558800" cy="558800"/>
          </a:xfrm>
          <a:prstGeom prst="rect">
            <a:avLst/>
          </a:prstGeom>
          <a:ln w="12700">
            <a:miter lim="400000"/>
          </a:ln>
        </p:spPr>
      </p:pic>
      <p:pic>
        <p:nvPicPr>
          <p:cNvPr id="1509" name="Image" descr="Image"/>
          <p:cNvPicPr>
            <a:picLocks noChangeAspect="1"/>
          </p:cNvPicPr>
          <p:nvPr/>
        </p:nvPicPr>
        <p:blipFill>
          <a:blip r:embed="rId3">
            <a:extLst/>
          </a:blip>
          <a:stretch>
            <a:fillRect/>
          </a:stretch>
        </p:blipFill>
        <p:spPr>
          <a:xfrm>
            <a:off x="9093200" y="6578600"/>
            <a:ext cx="558800" cy="558800"/>
          </a:xfrm>
          <a:prstGeom prst="rect">
            <a:avLst/>
          </a:prstGeom>
          <a:ln w="12700">
            <a:miter lim="400000"/>
          </a:ln>
        </p:spPr>
      </p:pic>
      <p:pic>
        <p:nvPicPr>
          <p:cNvPr id="1510" name="Image" descr="Image"/>
          <p:cNvPicPr>
            <a:picLocks noChangeAspect="1"/>
          </p:cNvPicPr>
          <p:nvPr/>
        </p:nvPicPr>
        <p:blipFill>
          <a:blip r:embed="rId3">
            <a:extLst/>
          </a:blip>
          <a:stretch>
            <a:fillRect/>
          </a:stretch>
        </p:blipFill>
        <p:spPr>
          <a:xfrm>
            <a:off x="9093200" y="6578600"/>
            <a:ext cx="558800" cy="558800"/>
          </a:xfrm>
          <a:prstGeom prst="rect">
            <a:avLst/>
          </a:prstGeom>
          <a:ln w="12700">
            <a:miter lim="400000"/>
          </a:ln>
        </p:spPr>
      </p:pic>
      <p:pic>
        <p:nvPicPr>
          <p:cNvPr id="1511" name="Image" descr="Image"/>
          <p:cNvPicPr>
            <a:picLocks noChangeAspect="1"/>
          </p:cNvPicPr>
          <p:nvPr/>
        </p:nvPicPr>
        <p:blipFill>
          <a:blip r:embed="rId3">
            <a:extLst/>
          </a:blip>
          <a:stretch>
            <a:fillRect/>
          </a:stretch>
        </p:blipFill>
        <p:spPr>
          <a:xfrm>
            <a:off x="11442369" y="6578600"/>
            <a:ext cx="558801" cy="558800"/>
          </a:xfrm>
          <a:prstGeom prst="rect">
            <a:avLst/>
          </a:prstGeom>
          <a:ln w="12700">
            <a:miter lim="400000"/>
          </a:ln>
        </p:spPr>
      </p:pic>
      <p:pic>
        <p:nvPicPr>
          <p:cNvPr id="1512" name="Image" descr="Image"/>
          <p:cNvPicPr>
            <a:picLocks noChangeAspect="1"/>
          </p:cNvPicPr>
          <p:nvPr/>
        </p:nvPicPr>
        <p:blipFill>
          <a:blip r:embed="rId3">
            <a:extLst/>
          </a:blip>
          <a:stretch>
            <a:fillRect/>
          </a:stretch>
        </p:blipFill>
        <p:spPr>
          <a:xfrm>
            <a:off x="11074069" y="6578600"/>
            <a:ext cx="558801" cy="558800"/>
          </a:xfrm>
          <a:prstGeom prst="rect">
            <a:avLst/>
          </a:prstGeom>
          <a:ln w="12700">
            <a:miter lim="400000"/>
          </a:ln>
        </p:spPr>
      </p:pic>
      <p:pic>
        <p:nvPicPr>
          <p:cNvPr id="1513" name="Image" descr="Image"/>
          <p:cNvPicPr>
            <a:picLocks noChangeAspect="1"/>
          </p:cNvPicPr>
          <p:nvPr/>
        </p:nvPicPr>
        <p:blipFill>
          <a:blip r:embed="rId3">
            <a:extLst/>
          </a:blip>
          <a:stretch>
            <a:fillRect/>
          </a:stretch>
        </p:blipFill>
        <p:spPr>
          <a:xfrm>
            <a:off x="11442369" y="6578600"/>
            <a:ext cx="558801" cy="558800"/>
          </a:xfrm>
          <a:prstGeom prst="rect">
            <a:avLst/>
          </a:prstGeom>
          <a:ln w="12700">
            <a:miter lim="400000"/>
          </a:ln>
        </p:spPr>
      </p:pic>
      <p:pic>
        <p:nvPicPr>
          <p:cNvPr id="1514" name="Image" descr="Image"/>
          <p:cNvPicPr>
            <a:picLocks noChangeAspect="1"/>
          </p:cNvPicPr>
          <p:nvPr/>
        </p:nvPicPr>
        <p:blipFill>
          <a:blip r:embed="rId3">
            <a:extLst/>
          </a:blip>
          <a:stretch>
            <a:fillRect/>
          </a:stretch>
        </p:blipFill>
        <p:spPr>
          <a:xfrm>
            <a:off x="10604169" y="6578600"/>
            <a:ext cx="558801" cy="558800"/>
          </a:xfrm>
          <a:prstGeom prst="rect">
            <a:avLst/>
          </a:prstGeom>
          <a:ln w="12700">
            <a:miter lim="400000"/>
          </a:ln>
        </p:spPr>
      </p:pic>
      <p:pic>
        <p:nvPicPr>
          <p:cNvPr id="1515" name="Image" descr="Image"/>
          <p:cNvPicPr>
            <a:picLocks noChangeAspect="1"/>
          </p:cNvPicPr>
          <p:nvPr/>
        </p:nvPicPr>
        <p:blipFill>
          <a:blip r:embed="rId3">
            <a:extLst/>
          </a:blip>
          <a:stretch>
            <a:fillRect/>
          </a:stretch>
        </p:blipFill>
        <p:spPr>
          <a:xfrm>
            <a:off x="10128084" y="6578600"/>
            <a:ext cx="558801" cy="558800"/>
          </a:xfrm>
          <a:prstGeom prst="rect">
            <a:avLst/>
          </a:prstGeom>
          <a:ln w="12700">
            <a:miter lim="400000"/>
          </a:ln>
        </p:spPr>
      </p:pic>
      <p:pic>
        <p:nvPicPr>
          <p:cNvPr id="1516" name="Image" descr="Image"/>
          <p:cNvPicPr>
            <a:picLocks noChangeAspect="1"/>
          </p:cNvPicPr>
          <p:nvPr/>
        </p:nvPicPr>
        <p:blipFill>
          <a:blip r:embed="rId3">
            <a:extLst/>
          </a:blip>
          <a:stretch>
            <a:fillRect/>
          </a:stretch>
        </p:blipFill>
        <p:spPr>
          <a:xfrm>
            <a:off x="9657219" y="6578600"/>
            <a:ext cx="558801" cy="558800"/>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507"/>
                                        </p:tgtEl>
                                        <p:attrNameLst>
                                          <p:attrName>style.visibility</p:attrName>
                                        </p:attrNameLst>
                                      </p:cBhvr>
                                      <p:to>
                                        <p:strVal val="visible"/>
                                      </p:to>
                                    </p:set>
                                  </p:childTnLst>
                                </p:cTn>
                              </p:par>
                            </p:childTnLst>
                          </p:cTn>
                        </p:par>
                        <p:par>
                          <p:cTn id="7" fill="hold">
                            <p:stCondLst>
                              <p:cond delay="0"/>
                            </p:stCondLst>
                            <p:childTnLst>
                              <p:par>
                                <p:cTn id="8" presetClass="path" nodeType="afterEffect" presetSubtype="0" presetID="-1" grpId="2" accel="50000" decel="50000" fill="hold">
                                  <p:stCondLst>
                                    <p:cond delay="0"/>
                                  </p:stCondLst>
                                  <p:childTnLst>
                                    <p:animMotion path="M 0.000000 0.000000 L 0.048958 0.000000" origin="layout" pathEditMode="relative">
                                      <p:cBhvr>
                                        <p:cTn id="9" dur="1000" fill="hold"/>
                                        <p:tgtEl>
                                          <p:spTgt spid="1507"/>
                                        </p:tgtEl>
                                        <p:attrNameLst>
                                          <p:attrName>ppt_x</p:attrName>
                                          <p:attrName>ppt_y</p:attrName>
                                        </p:attrNameLst>
                                      </p:cBhvr>
                                    </p:animMotion>
                                  </p:childTnLst>
                                </p:cTn>
                              </p:par>
                            </p:childTnLst>
                          </p:cTn>
                        </p:par>
                        <p:par>
                          <p:cTn id="10" fill="hold">
                            <p:stCondLst>
                              <p:cond delay="1000"/>
                            </p:stCondLst>
                            <p:childTnLst>
                              <p:par>
                                <p:cTn id="11" presetClass="exit" nodeType="afterEffect" presetSubtype="0" presetID="1" grpId="3" fill="hold">
                                  <p:stCondLst>
                                    <p:cond delay="0"/>
                                  </p:stCondLst>
                                  <p:iterate type="el" backwards="0">
                                    <p:tmAbs val="0"/>
                                  </p:iterate>
                                  <p:childTnLst>
                                    <p:set>
                                      <p:cBhvr>
                                        <p:cTn id="12" fill="hold">
                                          <p:stCondLst>
                                            <p:cond delay="0"/>
                                          </p:stCondLst>
                                        </p:cTn>
                                        <p:tgtEl>
                                          <p:spTgt spid="1507"/>
                                        </p:tgtEl>
                                        <p:attrNameLst>
                                          <p:attrName>style.visibility</p:attrName>
                                        </p:attrNameLst>
                                      </p:cBhvr>
                                      <p:to>
                                        <p:strVal val="hidden"/>
                                      </p:to>
                                    </p:set>
                                  </p:childTnLst>
                                </p:cTn>
                              </p:par>
                            </p:childTnLst>
                          </p:cTn>
                        </p:par>
                        <p:par>
                          <p:cTn id="13" fill="hold">
                            <p:stCondLst>
                              <p:cond delay="1000"/>
                            </p:stCondLst>
                            <p:childTnLst>
                              <p:par>
                                <p:cTn id="14" presetClass="entr" nodeType="afterEffect" presetSubtype="0" presetID="1" grpId="4" fill="hold">
                                  <p:stCondLst>
                                    <p:cond delay="0"/>
                                  </p:stCondLst>
                                  <p:iterate type="el" backwards="0">
                                    <p:tmAbs val="0"/>
                                  </p:iterate>
                                  <p:childTnLst>
                                    <p:set>
                                      <p:cBhvr>
                                        <p:cTn id="15" fill="hold"/>
                                        <p:tgtEl>
                                          <p:spTgt spid="1508"/>
                                        </p:tgtEl>
                                        <p:attrNameLst>
                                          <p:attrName>style.visibility</p:attrName>
                                        </p:attrNameLst>
                                      </p:cBhvr>
                                      <p:to>
                                        <p:strVal val="visible"/>
                                      </p:to>
                                    </p:set>
                                  </p:childTnLst>
                                </p:cTn>
                              </p:par>
                            </p:childTnLst>
                          </p:cTn>
                        </p:par>
                        <p:par>
                          <p:cTn id="16" fill="hold">
                            <p:stCondLst>
                              <p:cond delay="0"/>
                            </p:stCondLst>
                            <p:childTnLst>
                              <p:par>
                                <p:cTn id="17" presetClass="path" nodeType="afterEffect" presetSubtype="0" presetID="-1" grpId="5" accel="50000" decel="50000" fill="hold">
                                  <p:stCondLst>
                                    <p:cond delay="0"/>
                                  </p:stCondLst>
                                  <p:childTnLst>
                                    <p:animMotion path="M 0.000000 0.000000 L 0.048958 0.000000" origin="layout" pathEditMode="relative">
                                      <p:cBhvr>
                                        <p:cTn id="18" dur="1000" fill="hold"/>
                                        <p:tgtEl>
                                          <p:spTgt spid="1508"/>
                                        </p:tgtEl>
                                        <p:attrNameLst>
                                          <p:attrName>ppt_x</p:attrName>
                                          <p:attrName>ppt_y</p:attrName>
                                        </p:attrNameLst>
                                      </p:cBhvr>
                                    </p:animMotion>
                                  </p:childTnLst>
                                </p:cTn>
                              </p:par>
                            </p:childTnLst>
                          </p:cTn>
                        </p:par>
                        <p:par>
                          <p:cTn id="19" fill="hold">
                            <p:stCondLst>
                              <p:cond delay="1000"/>
                            </p:stCondLst>
                            <p:childTnLst>
                              <p:par>
                                <p:cTn id="20" presetClass="exit" nodeType="afterEffect" presetSubtype="0" presetID="1" grpId="6" fill="hold">
                                  <p:stCondLst>
                                    <p:cond delay="0"/>
                                  </p:stCondLst>
                                  <p:iterate type="el" backwards="0">
                                    <p:tmAbs val="0"/>
                                  </p:iterate>
                                  <p:childTnLst>
                                    <p:set>
                                      <p:cBhvr>
                                        <p:cTn id="21" fill="hold">
                                          <p:stCondLst>
                                            <p:cond delay="0"/>
                                          </p:stCondLst>
                                        </p:cTn>
                                        <p:tgtEl>
                                          <p:spTgt spid="1508"/>
                                        </p:tgtEl>
                                        <p:attrNameLst>
                                          <p:attrName>style.visibility</p:attrName>
                                        </p:attrNameLst>
                                      </p:cBhvr>
                                      <p:to>
                                        <p:strVal val="hidden"/>
                                      </p:to>
                                    </p:set>
                                  </p:childTnLst>
                                </p:cTn>
                              </p:par>
                            </p:childTnLst>
                          </p:cTn>
                        </p:par>
                        <p:par>
                          <p:cTn id="22" fill="hold">
                            <p:stCondLst>
                              <p:cond delay="1000"/>
                            </p:stCondLst>
                            <p:childTnLst>
                              <p:par>
                                <p:cTn id="23" presetClass="entr" nodeType="afterEffect" presetSubtype="0" presetID="1" grpId="7" fill="hold">
                                  <p:stCondLst>
                                    <p:cond delay="0"/>
                                  </p:stCondLst>
                                  <p:iterate type="el" backwards="0">
                                    <p:tmAbs val="0"/>
                                  </p:iterate>
                                  <p:childTnLst>
                                    <p:set>
                                      <p:cBhvr>
                                        <p:cTn id="24" fill="hold"/>
                                        <p:tgtEl>
                                          <p:spTgt spid="1509"/>
                                        </p:tgtEl>
                                        <p:attrNameLst>
                                          <p:attrName>style.visibility</p:attrName>
                                        </p:attrNameLst>
                                      </p:cBhvr>
                                      <p:to>
                                        <p:strVal val="visible"/>
                                      </p:to>
                                    </p:set>
                                  </p:childTnLst>
                                </p:cTn>
                              </p:par>
                            </p:childTnLst>
                          </p:cTn>
                        </p:par>
                        <p:par>
                          <p:cTn id="25" fill="hold">
                            <p:stCondLst>
                              <p:cond delay="1000"/>
                            </p:stCondLst>
                            <p:childTnLst>
                              <p:par>
                                <p:cTn id="26" presetClass="entr" nodeType="afterEffect" presetSubtype="0" presetID="1" grpId="8" fill="hold">
                                  <p:stCondLst>
                                    <p:cond delay="0"/>
                                  </p:stCondLst>
                                  <p:iterate type="el" backwards="0">
                                    <p:tmAbs val="0"/>
                                  </p:iterate>
                                  <p:childTnLst>
                                    <p:set>
                                      <p:cBhvr>
                                        <p:cTn id="27" fill="hold"/>
                                        <p:tgtEl>
                                          <p:spTgt spid="1513"/>
                                        </p:tgtEl>
                                        <p:attrNameLst>
                                          <p:attrName>style.visibility</p:attrName>
                                        </p:attrNameLst>
                                      </p:cBhvr>
                                      <p:to>
                                        <p:strVal val="visible"/>
                                      </p:to>
                                    </p:set>
                                  </p:childTnLst>
                                </p:cTn>
                              </p:par>
                            </p:childTnLst>
                          </p:cTn>
                        </p:par>
                        <p:par>
                          <p:cTn id="28" fill="hold">
                            <p:stCondLst>
                              <p:cond delay="0"/>
                            </p:stCondLst>
                            <p:childTnLst>
                              <p:par>
                                <p:cTn id="29" presetClass="path" nodeType="afterEffect" presetSubtype="0" presetID="-1" grpId="9" accel="50000" decel="50000" fill="hold">
                                  <p:stCondLst>
                                    <p:cond delay="0"/>
                                  </p:stCondLst>
                                  <p:childTnLst>
                                    <p:animMotion path="M 0.000000 0.000000 L 0.048958 0.000000" origin="layout" pathEditMode="relative">
                                      <p:cBhvr>
                                        <p:cTn id="30" dur="1000" fill="hold"/>
                                        <p:tgtEl>
                                          <p:spTgt spid="1509"/>
                                        </p:tgtEl>
                                        <p:attrNameLst>
                                          <p:attrName>ppt_x</p:attrName>
                                          <p:attrName>ppt_y</p:attrName>
                                        </p:attrNameLst>
                                      </p:cBhvr>
                                    </p:animMotion>
                                  </p:childTnLst>
                                </p:cTn>
                              </p:par>
                            </p:childTnLst>
                          </p:cTn>
                        </p:par>
                        <p:par>
                          <p:cTn id="31" fill="hold">
                            <p:stCondLst>
                              <p:cond delay="0"/>
                            </p:stCondLst>
                            <p:childTnLst>
                              <p:par>
                                <p:cTn id="32" presetClass="path" nodeType="withEffect" presetSubtype="0" presetID="-1" grpId="10" accel="50000" decel="50000" fill="hold">
                                  <p:stCondLst>
                                    <p:cond delay="0"/>
                                  </p:stCondLst>
                                  <p:childTnLst>
                                    <p:animMotion path="M 0.000000 0.000000 L 0.048958 0.000000" origin="layout" pathEditMode="relative">
                                      <p:cBhvr>
                                        <p:cTn id="33" dur="1000" fill="hold"/>
                                        <p:tgtEl>
                                          <p:spTgt spid="1513"/>
                                        </p:tgtEl>
                                        <p:attrNameLst>
                                          <p:attrName>ppt_x</p:attrName>
                                          <p:attrName>ppt_y</p:attrName>
                                        </p:attrNameLst>
                                      </p:cBhvr>
                                    </p:animMotion>
                                  </p:childTnLst>
                                </p:cTn>
                              </p:par>
                            </p:childTnLst>
                          </p:cTn>
                        </p:par>
                        <p:par>
                          <p:cTn id="34" fill="hold">
                            <p:stCondLst>
                              <p:cond delay="1000"/>
                            </p:stCondLst>
                            <p:childTnLst>
                              <p:par>
                                <p:cTn id="35" presetClass="exit" nodeType="afterEffect" presetSubtype="0" presetID="1" grpId="11" fill="hold">
                                  <p:stCondLst>
                                    <p:cond delay="0"/>
                                  </p:stCondLst>
                                  <p:iterate type="el" backwards="0">
                                    <p:tmAbs val="0"/>
                                  </p:iterate>
                                  <p:childTnLst>
                                    <p:set>
                                      <p:cBhvr>
                                        <p:cTn id="36" fill="hold">
                                          <p:stCondLst>
                                            <p:cond delay="0"/>
                                          </p:stCondLst>
                                        </p:cTn>
                                        <p:tgtEl>
                                          <p:spTgt spid="1509"/>
                                        </p:tgtEl>
                                        <p:attrNameLst>
                                          <p:attrName>style.visibility</p:attrName>
                                        </p:attrNameLst>
                                      </p:cBhvr>
                                      <p:to>
                                        <p:strVal val="hidden"/>
                                      </p:to>
                                    </p:set>
                                  </p:childTnLst>
                                </p:cTn>
                              </p:par>
                            </p:childTnLst>
                          </p:cTn>
                        </p:par>
                        <p:par>
                          <p:cTn id="37" fill="hold">
                            <p:stCondLst>
                              <p:cond delay="1000"/>
                            </p:stCondLst>
                            <p:childTnLst>
                              <p:par>
                                <p:cTn id="38" presetClass="exit" nodeType="afterEffect" presetSubtype="0" presetID="1" grpId="12" fill="hold">
                                  <p:stCondLst>
                                    <p:cond delay="0"/>
                                  </p:stCondLst>
                                  <p:iterate type="el" backwards="0">
                                    <p:tmAbs val="0"/>
                                  </p:iterate>
                                  <p:childTnLst>
                                    <p:set>
                                      <p:cBhvr>
                                        <p:cTn id="39" fill="hold">
                                          <p:stCondLst>
                                            <p:cond delay="0"/>
                                          </p:stCondLst>
                                        </p:cTn>
                                        <p:tgtEl>
                                          <p:spTgt spid="1513"/>
                                        </p:tgtEl>
                                        <p:attrNameLst>
                                          <p:attrName>style.visibility</p:attrName>
                                        </p:attrNameLst>
                                      </p:cBhvr>
                                      <p:to>
                                        <p:strVal val="hidden"/>
                                      </p:to>
                                    </p:set>
                                  </p:childTnLst>
                                </p:cTn>
                              </p:par>
                            </p:childTnLst>
                          </p:cTn>
                        </p:par>
                        <p:par>
                          <p:cTn id="40" fill="hold">
                            <p:stCondLst>
                              <p:cond delay="1000"/>
                            </p:stCondLst>
                            <p:childTnLst>
                              <p:par>
                                <p:cTn id="41" presetClass="entr" nodeType="afterEffect" presetSubtype="0" presetID="1" grpId="13" fill="hold">
                                  <p:stCondLst>
                                    <p:cond delay="0"/>
                                  </p:stCondLst>
                                  <p:iterate type="el" backwards="0">
                                    <p:tmAbs val="0"/>
                                  </p:iterate>
                                  <p:childTnLst>
                                    <p:set>
                                      <p:cBhvr>
                                        <p:cTn id="42" fill="hold"/>
                                        <p:tgtEl>
                                          <p:spTgt spid="1510"/>
                                        </p:tgtEl>
                                        <p:attrNameLst>
                                          <p:attrName>style.visibility</p:attrName>
                                        </p:attrNameLst>
                                      </p:cBhvr>
                                      <p:to>
                                        <p:strVal val="visible"/>
                                      </p:to>
                                    </p:set>
                                  </p:childTnLst>
                                </p:cTn>
                              </p:par>
                            </p:childTnLst>
                          </p:cTn>
                        </p:par>
                        <p:par>
                          <p:cTn id="43" fill="hold">
                            <p:stCondLst>
                              <p:cond delay="0"/>
                            </p:stCondLst>
                            <p:childTnLst>
                              <p:par>
                                <p:cTn id="44" presetClass="path" nodeType="afterEffect" presetSubtype="0" presetID="-1" grpId="14" accel="50000" decel="50000" fill="hold">
                                  <p:stCondLst>
                                    <p:cond delay="0"/>
                                  </p:stCondLst>
                                  <p:childTnLst>
                                    <p:animMotion path="M 0.000000 0.000000 L 0.048958 0.000000" origin="layout" pathEditMode="relative">
                                      <p:cBhvr>
                                        <p:cTn id="45" dur="1000" fill="hold"/>
                                        <p:tgtEl>
                                          <p:spTgt spid="1510"/>
                                        </p:tgtEl>
                                        <p:attrNameLst>
                                          <p:attrName>ppt_x</p:attrName>
                                          <p:attrName>ppt_y</p:attrName>
                                        </p:attrNameLst>
                                      </p:cBhvr>
                                    </p:animMotion>
                                  </p:childTnLst>
                                </p:cTn>
                              </p:par>
                            </p:childTnLst>
                          </p:cTn>
                        </p:par>
                        <p:par>
                          <p:cTn id="46" fill="hold">
                            <p:stCondLst>
                              <p:cond delay="1000"/>
                            </p:stCondLst>
                            <p:childTnLst>
                              <p:par>
                                <p:cTn id="47" presetClass="exit" nodeType="afterEffect" presetSubtype="0" presetID="1" grpId="15" fill="hold">
                                  <p:stCondLst>
                                    <p:cond delay="0"/>
                                  </p:stCondLst>
                                  <p:iterate type="el" backwards="0">
                                    <p:tmAbs val="0"/>
                                  </p:iterate>
                                  <p:childTnLst>
                                    <p:set>
                                      <p:cBhvr>
                                        <p:cTn id="48" fill="hold">
                                          <p:stCondLst>
                                            <p:cond delay="0"/>
                                          </p:stCondLst>
                                        </p:cTn>
                                        <p:tgtEl>
                                          <p:spTgt spid="1510"/>
                                        </p:tgtEl>
                                        <p:attrNameLst>
                                          <p:attrName>style.visibility</p:attrName>
                                        </p:attrNameLst>
                                      </p:cBhvr>
                                      <p:to>
                                        <p:strVal val="hidden"/>
                                      </p:to>
                                    </p:set>
                                  </p:childTnLst>
                                </p:cTn>
                              </p:par>
                            </p:childTnLst>
                          </p:cTn>
                        </p:par>
                        <p:par>
                          <p:cTn id="49" fill="hold">
                            <p:stCondLst>
                              <p:cond delay="1000"/>
                            </p:stCondLst>
                            <p:childTnLst>
                              <p:par>
                                <p:cTn id="50" presetClass="entr" nodeType="afterEffect" presetSubtype="0" presetID="1" grpId="16" fill="hold">
                                  <p:stCondLst>
                                    <p:cond delay="0"/>
                                  </p:stCondLst>
                                  <p:iterate type="el" backwards="0">
                                    <p:tmAbs val="0"/>
                                  </p:iterate>
                                  <p:childTnLst>
                                    <p:set>
                                      <p:cBhvr>
                                        <p:cTn id="51" fill="hold"/>
                                        <p:tgtEl>
                                          <p:spTgt spid="1511"/>
                                        </p:tgtEl>
                                        <p:attrNameLst>
                                          <p:attrName>style.visibility</p:attrName>
                                        </p:attrNameLst>
                                      </p:cBhvr>
                                      <p:to>
                                        <p:strVal val="visible"/>
                                      </p:to>
                                    </p:set>
                                  </p:childTnLst>
                                </p:cTn>
                              </p:par>
                            </p:childTnLst>
                          </p:cTn>
                        </p:par>
                        <p:par>
                          <p:cTn id="52" fill="hold">
                            <p:stCondLst>
                              <p:cond delay="0"/>
                            </p:stCondLst>
                            <p:childTnLst>
                              <p:par>
                                <p:cTn id="53" presetClass="path" nodeType="afterEffect" presetSubtype="0" presetID="-1" grpId="17" accel="50000" decel="50000" fill="hold">
                                  <p:stCondLst>
                                    <p:cond delay="0"/>
                                  </p:stCondLst>
                                  <p:childTnLst>
                                    <p:animMotion path="M 0.000000 0.000000 L 0.048958 0.000000" origin="layout" pathEditMode="relative">
                                      <p:cBhvr>
                                        <p:cTn id="54" dur="1000" fill="hold"/>
                                        <p:tgtEl>
                                          <p:spTgt spid="1511"/>
                                        </p:tgtEl>
                                        <p:attrNameLst>
                                          <p:attrName>ppt_x</p:attrName>
                                          <p:attrName>ppt_y</p:attrName>
                                        </p:attrNameLst>
                                      </p:cBhvr>
                                    </p:animMotion>
                                  </p:childTnLst>
                                </p:cTn>
                              </p:par>
                            </p:childTnLst>
                          </p:cTn>
                        </p:par>
                        <p:par>
                          <p:cTn id="55" fill="hold">
                            <p:stCondLst>
                              <p:cond delay="1000"/>
                            </p:stCondLst>
                            <p:childTnLst>
                              <p:par>
                                <p:cTn id="56" presetClass="exit" nodeType="afterEffect" presetSubtype="0" presetID="1" grpId="18" fill="hold">
                                  <p:stCondLst>
                                    <p:cond delay="0"/>
                                  </p:stCondLst>
                                  <p:iterate type="el" backwards="0">
                                    <p:tmAbs val="0"/>
                                  </p:iterate>
                                  <p:childTnLst>
                                    <p:set>
                                      <p:cBhvr>
                                        <p:cTn id="57" fill="hold">
                                          <p:stCondLst>
                                            <p:cond delay="0"/>
                                          </p:stCondLst>
                                        </p:cTn>
                                        <p:tgtEl>
                                          <p:spTgt spid="1511"/>
                                        </p:tgtEl>
                                        <p:attrNameLst>
                                          <p:attrName>style.visibility</p:attrName>
                                        </p:attrNameLst>
                                      </p:cBhvr>
                                      <p:to>
                                        <p:strVal val="hidden"/>
                                      </p:to>
                                    </p:set>
                                  </p:childTnLst>
                                </p:cTn>
                              </p:par>
                            </p:childTnLst>
                          </p:cTn>
                        </p:par>
                        <p:par>
                          <p:cTn id="58" fill="hold">
                            <p:stCondLst>
                              <p:cond delay="1000"/>
                            </p:stCondLst>
                            <p:childTnLst>
                              <p:par>
                                <p:cTn id="59" presetClass="entr" nodeType="afterEffect" presetSubtype="0" presetID="1" grpId="19" fill="hold">
                                  <p:stCondLst>
                                    <p:cond delay="0"/>
                                  </p:stCondLst>
                                  <p:iterate type="el" backwards="0">
                                    <p:tmAbs val="0"/>
                                  </p:iterate>
                                  <p:childTnLst>
                                    <p:set>
                                      <p:cBhvr>
                                        <p:cTn id="60" fill="hold"/>
                                        <p:tgtEl>
                                          <p:spTgt spid="1512"/>
                                        </p:tgtEl>
                                        <p:attrNameLst>
                                          <p:attrName>style.visibility</p:attrName>
                                        </p:attrNameLst>
                                      </p:cBhvr>
                                      <p:to>
                                        <p:strVal val="visible"/>
                                      </p:to>
                                    </p:set>
                                  </p:childTnLst>
                                </p:cTn>
                              </p:par>
                            </p:childTnLst>
                          </p:cTn>
                        </p:par>
                        <p:par>
                          <p:cTn id="61" fill="hold">
                            <p:stCondLst>
                              <p:cond delay="1000"/>
                            </p:stCondLst>
                            <p:childTnLst>
                              <p:par>
                                <p:cTn id="62" presetClass="entr" nodeType="afterEffect" presetSubtype="0" presetID="1" grpId="20" fill="hold">
                                  <p:stCondLst>
                                    <p:cond delay="0"/>
                                  </p:stCondLst>
                                  <p:iterate type="el" backwards="0">
                                    <p:tmAbs val="0"/>
                                  </p:iterate>
                                  <p:childTnLst>
                                    <p:set>
                                      <p:cBhvr>
                                        <p:cTn id="63" fill="hold"/>
                                        <p:tgtEl>
                                          <p:spTgt spid="1514"/>
                                        </p:tgtEl>
                                        <p:attrNameLst>
                                          <p:attrName>style.visibility</p:attrName>
                                        </p:attrNameLst>
                                      </p:cBhvr>
                                      <p:to>
                                        <p:strVal val="visible"/>
                                      </p:to>
                                    </p:set>
                                  </p:childTnLst>
                                </p:cTn>
                              </p:par>
                            </p:childTnLst>
                          </p:cTn>
                        </p:par>
                        <p:par>
                          <p:cTn id="64" fill="hold">
                            <p:stCondLst>
                              <p:cond delay="1000"/>
                            </p:stCondLst>
                            <p:childTnLst>
                              <p:par>
                                <p:cTn id="65" presetClass="entr" nodeType="afterEffect" presetSubtype="0" presetID="1" grpId="21" fill="hold">
                                  <p:stCondLst>
                                    <p:cond delay="0"/>
                                  </p:stCondLst>
                                  <p:iterate type="el" backwards="0">
                                    <p:tmAbs val="0"/>
                                  </p:iterate>
                                  <p:childTnLst>
                                    <p:set>
                                      <p:cBhvr>
                                        <p:cTn id="66" fill="hold"/>
                                        <p:tgtEl>
                                          <p:spTgt spid="1515"/>
                                        </p:tgtEl>
                                        <p:attrNameLst>
                                          <p:attrName>style.visibility</p:attrName>
                                        </p:attrNameLst>
                                      </p:cBhvr>
                                      <p:to>
                                        <p:strVal val="visible"/>
                                      </p:to>
                                    </p:set>
                                  </p:childTnLst>
                                </p:cTn>
                              </p:par>
                            </p:childTnLst>
                          </p:cTn>
                        </p:par>
                        <p:par>
                          <p:cTn id="67" fill="hold">
                            <p:stCondLst>
                              <p:cond delay="1000"/>
                            </p:stCondLst>
                            <p:childTnLst>
                              <p:par>
                                <p:cTn id="68" presetClass="entr" nodeType="afterEffect" presetSubtype="0" presetID="1" grpId="22" fill="hold">
                                  <p:stCondLst>
                                    <p:cond delay="0"/>
                                  </p:stCondLst>
                                  <p:iterate type="el" backwards="0">
                                    <p:tmAbs val="0"/>
                                  </p:iterate>
                                  <p:childTnLst>
                                    <p:set>
                                      <p:cBhvr>
                                        <p:cTn id="69" fill="hold"/>
                                        <p:tgtEl>
                                          <p:spTgt spid="15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11" grpId="18"/>
      <p:bldP build="whole" bldLvl="1" animBg="1" rev="0" advAuto="0" spid="1513" grpId="12"/>
      <p:bldP build="whole" bldLvl="1" animBg="1" rev="0" advAuto="0" spid="1509" grpId="11"/>
      <p:bldP build="whole" bldLvl="1" animBg="1" rev="0" advAuto="0" spid="1514" grpId="20"/>
      <p:bldP build="whole" bldLvl="1" animBg="1" rev="0" advAuto="0" spid="1515" grpId="21"/>
      <p:bldP build="whole" bldLvl="1" animBg="1" rev="0" advAuto="0" spid="1516" grpId="22"/>
      <p:bldP build="whole" bldLvl="1" animBg="1" rev="0" advAuto="0" spid="1512" grpId="19"/>
      <p:bldP build="whole" bldLvl="1" animBg="1" rev="0" advAuto="0" spid="1510" grpId="13"/>
      <p:bldP build="whole" bldLvl="1" animBg="1" rev="0" advAuto="0" spid="1508" grpId="4"/>
      <p:bldP build="whole" bldLvl="1" animBg="1" rev="0" advAuto="0" spid="1507" grpId="1"/>
      <p:bldP build="whole" bldLvl="1" animBg="1" rev="0" advAuto="0" spid="1508" grpId="6"/>
      <p:bldP build="whole" bldLvl="1" animBg="1" rev="0" advAuto="0" spid="1507" grpId="3"/>
      <p:bldP build="whole" bldLvl="1" animBg="1" rev="0" advAuto="0" spid="1510" grpId="15"/>
      <p:bldP build="whole" bldLvl="1" animBg="1" rev="0" advAuto="0" spid="1513" grpId="8"/>
      <p:bldP build="whole" bldLvl="1" animBg="1" rev="0" advAuto="0" spid="1509" grpId="7"/>
      <p:bldP build="whole" bldLvl="1" animBg="1" rev="0" advAuto="0" spid="1511" grpId="16"/>
    </p:bldLst>
  </p:timing>
</p:sld>
</file>

<file path=ppt/slides/slide1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8" name="Flow Control"/>
          <p:cNvSpPr txBox="1"/>
          <p:nvPr>
            <p:ph type="title"/>
          </p:nvPr>
        </p:nvSpPr>
        <p:spPr>
          <a:prstGeom prst="rect">
            <a:avLst/>
          </a:prstGeom>
        </p:spPr>
        <p:txBody>
          <a:bodyPr lIns="76200" tIns="76200" rIns="76200" bIns="76200"/>
          <a:lstStyle>
            <a:lvl1pPr defTabSz="2176581">
              <a:defRPr sz="4200"/>
            </a:lvl1pPr>
          </a:lstStyle>
          <a:p>
            <a:pPr/>
            <a:r>
              <a:t>Flow Control</a:t>
            </a:r>
          </a:p>
        </p:txBody>
      </p:sp>
      <p:sp>
        <p:nvSpPr>
          <p:cNvPr id="1519"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pic>
        <p:nvPicPr>
          <p:cNvPr id="1520" name="Image" descr="Image"/>
          <p:cNvPicPr>
            <a:picLocks noChangeAspect="1"/>
          </p:cNvPicPr>
          <p:nvPr/>
        </p:nvPicPr>
        <p:blipFill>
          <a:blip r:embed="rId2">
            <a:extLst/>
          </a:blip>
          <a:stretch>
            <a:fillRect/>
          </a:stretch>
        </p:blipFill>
        <p:spPr>
          <a:xfrm>
            <a:off x="8081689" y="6184900"/>
            <a:ext cx="8239673" cy="1346200"/>
          </a:xfrm>
          <a:prstGeom prst="rect">
            <a:avLst/>
          </a:prstGeom>
          <a:ln w="12700">
            <a:miter lim="400000"/>
          </a:ln>
        </p:spPr>
      </p:pic>
      <p:pic>
        <p:nvPicPr>
          <p:cNvPr id="1521" name="Image" descr="Image"/>
          <p:cNvPicPr>
            <a:picLocks noChangeAspect="1"/>
          </p:cNvPicPr>
          <p:nvPr/>
        </p:nvPicPr>
        <p:blipFill>
          <a:blip r:embed="rId3">
            <a:extLst/>
          </a:blip>
          <a:stretch>
            <a:fillRect/>
          </a:stretch>
        </p:blipFill>
        <p:spPr>
          <a:xfrm>
            <a:off x="9216321" y="6718300"/>
            <a:ext cx="279401" cy="279400"/>
          </a:xfrm>
          <a:prstGeom prst="rect">
            <a:avLst/>
          </a:prstGeom>
          <a:ln w="12700">
            <a:miter lim="400000"/>
          </a:ln>
        </p:spPr>
      </p:pic>
      <p:pic>
        <p:nvPicPr>
          <p:cNvPr id="1522" name="Image" descr="Image"/>
          <p:cNvPicPr>
            <a:picLocks noChangeAspect="1"/>
          </p:cNvPicPr>
          <p:nvPr/>
        </p:nvPicPr>
        <p:blipFill>
          <a:blip r:embed="rId4">
            <a:extLst/>
          </a:blip>
          <a:stretch>
            <a:fillRect/>
          </a:stretch>
        </p:blipFill>
        <p:spPr>
          <a:xfrm>
            <a:off x="8639150" y="6718300"/>
            <a:ext cx="279401" cy="279400"/>
          </a:xfrm>
          <a:prstGeom prst="rect">
            <a:avLst/>
          </a:prstGeom>
          <a:ln w="12700">
            <a:miter lim="400000"/>
          </a:ln>
        </p:spPr>
      </p:pic>
      <p:pic>
        <p:nvPicPr>
          <p:cNvPr id="1523" name="Image" descr="Image"/>
          <p:cNvPicPr>
            <a:picLocks noChangeAspect="1"/>
          </p:cNvPicPr>
          <p:nvPr/>
        </p:nvPicPr>
        <p:blipFill>
          <a:blip r:embed="rId5">
            <a:extLst/>
          </a:blip>
          <a:stretch>
            <a:fillRect/>
          </a:stretch>
        </p:blipFill>
        <p:spPr>
          <a:xfrm>
            <a:off x="8639150" y="6718300"/>
            <a:ext cx="279401" cy="279400"/>
          </a:xfrm>
          <a:prstGeom prst="rect">
            <a:avLst/>
          </a:prstGeom>
          <a:ln w="12700">
            <a:miter lim="400000"/>
          </a:ln>
        </p:spPr>
      </p:pic>
      <p:pic>
        <p:nvPicPr>
          <p:cNvPr id="1524" name="Image" descr="Image"/>
          <p:cNvPicPr>
            <a:picLocks noChangeAspect="1"/>
          </p:cNvPicPr>
          <p:nvPr/>
        </p:nvPicPr>
        <p:blipFill>
          <a:blip r:embed="rId5">
            <a:extLst/>
          </a:blip>
          <a:stretch>
            <a:fillRect/>
          </a:stretch>
        </p:blipFill>
        <p:spPr>
          <a:xfrm>
            <a:off x="13196972" y="6718300"/>
            <a:ext cx="279401" cy="279400"/>
          </a:xfrm>
          <a:prstGeom prst="rect">
            <a:avLst/>
          </a:prstGeom>
          <a:ln w="12700">
            <a:miter lim="400000"/>
          </a:ln>
        </p:spPr>
      </p:pic>
      <p:pic>
        <p:nvPicPr>
          <p:cNvPr id="1525" name="Image" descr="Image"/>
          <p:cNvPicPr>
            <a:picLocks noChangeAspect="1"/>
          </p:cNvPicPr>
          <p:nvPr/>
        </p:nvPicPr>
        <p:blipFill>
          <a:blip r:embed="rId3">
            <a:extLst/>
          </a:blip>
          <a:stretch>
            <a:fillRect/>
          </a:stretch>
        </p:blipFill>
        <p:spPr>
          <a:xfrm>
            <a:off x="9229021" y="6718300"/>
            <a:ext cx="279401" cy="279400"/>
          </a:xfrm>
          <a:prstGeom prst="rect">
            <a:avLst/>
          </a:prstGeom>
          <a:ln w="12700">
            <a:miter lim="400000"/>
          </a:ln>
        </p:spPr>
      </p:pic>
      <p:pic>
        <p:nvPicPr>
          <p:cNvPr id="1526" name="Image" descr="Image"/>
          <p:cNvPicPr>
            <a:picLocks noChangeAspect="1"/>
          </p:cNvPicPr>
          <p:nvPr/>
        </p:nvPicPr>
        <p:blipFill>
          <a:blip r:embed="rId6">
            <a:extLst/>
          </a:blip>
          <a:stretch>
            <a:fillRect/>
          </a:stretch>
        </p:blipFill>
        <p:spPr>
          <a:xfrm>
            <a:off x="9216321" y="6413500"/>
            <a:ext cx="1244601" cy="304800"/>
          </a:xfrm>
          <a:prstGeom prst="rect">
            <a:avLst/>
          </a:prstGeom>
          <a:ln w="12700">
            <a:miter lim="400000"/>
          </a:ln>
        </p:spPr>
      </p:pic>
      <p:pic>
        <p:nvPicPr>
          <p:cNvPr id="1527" name="Image" descr="Image"/>
          <p:cNvPicPr>
            <a:picLocks noChangeAspect="1"/>
          </p:cNvPicPr>
          <p:nvPr/>
        </p:nvPicPr>
        <p:blipFill>
          <a:blip r:embed="rId4">
            <a:extLst/>
          </a:blip>
          <a:stretch>
            <a:fillRect/>
          </a:stretch>
        </p:blipFill>
        <p:spPr>
          <a:xfrm>
            <a:off x="13196972" y="6718300"/>
            <a:ext cx="279401" cy="279400"/>
          </a:xfrm>
          <a:prstGeom prst="rect">
            <a:avLst/>
          </a:prstGeom>
          <a:ln w="12700">
            <a:miter lim="400000"/>
          </a:ln>
        </p:spPr>
      </p:pic>
      <p:pic>
        <p:nvPicPr>
          <p:cNvPr id="1528" name="Image" descr="Image"/>
          <p:cNvPicPr>
            <a:picLocks noChangeAspect="1"/>
          </p:cNvPicPr>
          <p:nvPr/>
        </p:nvPicPr>
        <p:blipFill>
          <a:blip r:embed="rId3">
            <a:extLst/>
          </a:blip>
          <a:stretch>
            <a:fillRect/>
          </a:stretch>
        </p:blipFill>
        <p:spPr>
          <a:xfrm>
            <a:off x="9216321" y="6718300"/>
            <a:ext cx="279401" cy="279400"/>
          </a:xfrm>
          <a:prstGeom prst="rect">
            <a:avLst/>
          </a:prstGeom>
          <a:ln w="12700">
            <a:miter lim="400000"/>
          </a:ln>
        </p:spPr>
      </p:pic>
      <p:pic>
        <p:nvPicPr>
          <p:cNvPr id="1529" name="Image" descr="Image"/>
          <p:cNvPicPr>
            <a:picLocks noChangeAspect="1"/>
          </p:cNvPicPr>
          <p:nvPr/>
        </p:nvPicPr>
        <p:blipFill>
          <a:blip r:embed="rId5">
            <a:extLst/>
          </a:blip>
          <a:stretch>
            <a:fillRect/>
          </a:stretch>
        </p:blipFill>
        <p:spPr>
          <a:xfrm>
            <a:off x="8639150" y="6718300"/>
            <a:ext cx="279401" cy="279400"/>
          </a:xfrm>
          <a:prstGeom prst="rect">
            <a:avLst/>
          </a:prstGeom>
          <a:ln w="12700">
            <a:miter lim="400000"/>
          </a:ln>
        </p:spPr>
      </p:pic>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521"/>
                                        </p:tgtEl>
                                        <p:attrNameLst>
                                          <p:attrName>style.visibility</p:attrName>
                                        </p:attrNameLst>
                                      </p:cBhvr>
                                      <p:to>
                                        <p:strVal val="visible"/>
                                      </p:to>
                                    </p:set>
                                  </p:childTnLst>
                                </p:cTn>
                              </p:par>
                            </p:childTnLst>
                          </p:cTn>
                        </p:par>
                        <p:par>
                          <p:cTn id="7" fill="hold">
                            <p:stCondLst>
                              <p:cond delay="0"/>
                            </p:stCondLst>
                            <p:childTnLst>
                              <p:par>
                                <p:cTn id="8" presetClass="path" nodeType="afterEffect" presetSubtype="0" presetID="-1" grpId="2" accel="50000" decel="50000" fill="hold">
                                  <p:stCondLst>
                                    <p:cond delay="0"/>
                                  </p:stCondLst>
                                  <p:childTnLst>
                                    <p:animMotion path="M 0.000000 0.000000 L 0.137575 0.002185" origin="layout" pathEditMode="relative">
                                      <p:cBhvr>
                                        <p:cTn id="9" dur="1000" fill="hold"/>
                                        <p:tgtEl>
                                          <p:spTgt spid="1521"/>
                                        </p:tgtEl>
                                        <p:attrNameLst>
                                          <p:attrName>ppt_x</p:attrName>
                                          <p:attrName>ppt_y</p:attrName>
                                        </p:attrNameLst>
                                      </p:cBhvr>
                                    </p:animMotion>
                                  </p:childTnLst>
                                </p:cTn>
                              </p:par>
                            </p:childTnLst>
                          </p:cTn>
                        </p:par>
                        <p:par>
                          <p:cTn id="10" fill="hold">
                            <p:stCondLst>
                              <p:cond delay="1000"/>
                            </p:stCondLst>
                            <p:childTnLst>
                              <p:par>
                                <p:cTn id="11" presetClass="exit" nodeType="afterEffect" presetSubtype="0" presetID="1" grpId="3" fill="hold">
                                  <p:stCondLst>
                                    <p:cond delay="0"/>
                                  </p:stCondLst>
                                  <p:iterate type="el" backwards="0">
                                    <p:tmAbs val="0"/>
                                  </p:iterate>
                                  <p:childTnLst>
                                    <p:set>
                                      <p:cBhvr>
                                        <p:cTn id="12" fill="hold">
                                          <p:stCondLst>
                                            <p:cond delay="0"/>
                                          </p:stCondLst>
                                        </p:cTn>
                                        <p:tgtEl>
                                          <p:spTgt spid="1521"/>
                                        </p:tgtEl>
                                        <p:attrNameLst>
                                          <p:attrName>style.visibility</p:attrName>
                                        </p:attrNameLst>
                                      </p:cBhvr>
                                      <p:to>
                                        <p:strVal val="hidden"/>
                                      </p:to>
                                    </p:set>
                                  </p:childTnLst>
                                </p:cTn>
                              </p:par>
                            </p:childTnLst>
                          </p:cTn>
                        </p:par>
                        <p:par>
                          <p:cTn id="13" fill="hold">
                            <p:stCondLst>
                              <p:cond delay="1000"/>
                            </p:stCondLst>
                            <p:childTnLst>
                              <p:par>
                                <p:cTn id="14" presetClass="entr" nodeType="afterEffect" presetSubtype="0" presetID="1" grpId="4" fill="hold">
                                  <p:stCondLst>
                                    <p:cond delay="0"/>
                                  </p:stCondLst>
                                  <p:iterate type="el" backwards="0">
                                    <p:tmAbs val="0"/>
                                  </p:iterate>
                                  <p:childTnLst>
                                    <p:set>
                                      <p:cBhvr>
                                        <p:cTn id="15" fill="hold"/>
                                        <p:tgtEl>
                                          <p:spTgt spid="1524"/>
                                        </p:tgtEl>
                                        <p:attrNameLst>
                                          <p:attrName>style.visibility</p:attrName>
                                        </p:attrNameLst>
                                      </p:cBhvr>
                                      <p:to>
                                        <p:strVal val="visible"/>
                                      </p:to>
                                    </p:set>
                                  </p:childTnLst>
                                </p:cTn>
                              </p:par>
                            </p:childTnLst>
                          </p:cTn>
                        </p:par>
                        <p:par>
                          <p:cTn id="16" fill="hold">
                            <p:stCondLst>
                              <p:cond delay="1000"/>
                            </p:stCondLst>
                            <p:childTnLst>
                              <p:par>
                                <p:cTn id="17" presetClass="exit" nodeType="afterEffect" presetSubtype="0" presetID="1" grpId="5" fill="hold">
                                  <p:stCondLst>
                                    <p:cond delay="0"/>
                                  </p:stCondLst>
                                  <p:iterate type="el" backwards="0">
                                    <p:tmAbs val="0"/>
                                  </p:iterate>
                                  <p:childTnLst>
                                    <p:set>
                                      <p:cBhvr>
                                        <p:cTn id="18" fill="hold">
                                          <p:stCondLst>
                                            <p:cond delay="0"/>
                                          </p:stCondLst>
                                        </p:cTn>
                                        <p:tgtEl>
                                          <p:spTgt spid="152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6" fill="hold">
                                  <p:stCondLst>
                                    <p:cond delay="0"/>
                                  </p:stCondLst>
                                  <p:iterate type="el" backwards="0">
                                    <p:tmAbs val="0"/>
                                  </p:iterate>
                                  <p:childTnLst>
                                    <p:set>
                                      <p:cBhvr>
                                        <p:cTn id="22" fill="hold"/>
                                        <p:tgtEl>
                                          <p:spTgt spid="1525"/>
                                        </p:tgtEl>
                                        <p:attrNameLst>
                                          <p:attrName>style.visibility</p:attrName>
                                        </p:attrNameLst>
                                      </p:cBhvr>
                                      <p:to>
                                        <p:strVal val="visible"/>
                                      </p:to>
                                    </p:set>
                                  </p:childTnLst>
                                </p:cTn>
                              </p:par>
                            </p:childTnLst>
                          </p:cTn>
                        </p:par>
                        <p:par>
                          <p:cTn id="23" fill="hold">
                            <p:stCondLst>
                              <p:cond delay="0"/>
                            </p:stCondLst>
                            <p:childTnLst>
                              <p:par>
                                <p:cTn id="24" presetClass="path" nodeType="afterEffect" presetSubtype="0" presetID="-1" grpId="7" accel="50000" decel="50000" fill="hold">
                                  <p:stCondLst>
                                    <p:cond delay="0"/>
                                  </p:stCondLst>
                                  <p:childTnLst>
                                    <p:animMotion path="M 0.000000 0.000000 L 0.070241 0.000404" origin="layout" pathEditMode="relative">
                                      <p:cBhvr>
                                        <p:cTn id="25" dur="1000" fill="hold"/>
                                        <p:tgtEl>
                                          <p:spTgt spid="1525"/>
                                        </p:tgtEl>
                                        <p:attrNameLst>
                                          <p:attrName>ppt_x</p:attrName>
                                          <p:attrName>ppt_y</p:attrName>
                                        </p:attrNameLst>
                                      </p:cBhvr>
                                    </p:animMotion>
                                  </p:childTnLst>
                                </p:cTn>
                              </p:par>
                            </p:childTnLst>
                          </p:cTn>
                        </p:par>
                        <p:par>
                          <p:cTn id="26" fill="hold">
                            <p:stCondLst>
                              <p:cond delay="1000"/>
                            </p:stCondLst>
                            <p:childTnLst>
                              <p:par>
                                <p:cTn id="27" presetClass="exit" nodeType="afterEffect" presetSubtype="0" presetID="1" grpId="8" fill="hold">
                                  <p:stCondLst>
                                    <p:cond delay="0"/>
                                  </p:stCondLst>
                                  <p:iterate type="el" backwards="0">
                                    <p:tmAbs val="0"/>
                                  </p:iterate>
                                  <p:childTnLst>
                                    <p:set>
                                      <p:cBhvr>
                                        <p:cTn id="28" fill="hold">
                                          <p:stCondLst>
                                            <p:cond delay="0"/>
                                          </p:stCondLst>
                                        </p:cTn>
                                        <p:tgtEl>
                                          <p:spTgt spid="1529"/>
                                        </p:tgtEl>
                                        <p:attrNameLst>
                                          <p:attrName>style.visibility</p:attrName>
                                        </p:attrNameLst>
                                      </p:cBhvr>
                                      <p:to>
                                        <p:strVal val="hidden"/>
                                      </p:to>
                                    </p:set>
                                  </p:childTnLst>
                                </p:cTn>
                              </p:par>
                            </p:childTnLst>
                          </p:cTn>
                        </p:par>
                        <p:par>
                          <p:cTn id="29" fill="hold">
                            <p:stCondLst>
                              <p:cond delay="1000"/>
                            </p:stCondLst>
                            <p:childTnLst>
                              <p:par>
                                <p:cTn id="30" presetClass="entr" nodeType="afterEffect" presetSubtype="0" presetID="1" grpId="9" fill="hold">
                                  <p:stCondLst>
                                    <p:cond delay="0"/>
                                  </p:stCondLst>
                                  <p:iterate type="el" backwards="0">
                                    <p:tmAbs val="0"/>
                                  </p:iterate>
                                  <p:childTnLst>
                                    <p:set>
                                      <p:cBhvr>
                                        <p:cTn id="31" fill="hold"/>
                                        <p:tgtEl>
                                          <p:spTgt spid="152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Class="path" nodeType="clickEffect" presetSubtype="0" presetID="-1" grpId="10" accel="50000" decel="50000" fill="hold">
                                  <p:stCondLst>
                                    <p:cond delay="0"/>
                                  </p:stCondLst>
                                  <p:childTnLst>
                                    <p:animMotion path="M 0.070241 0.000404 L 0.156420 -0.000652" origin="layout" pathEditMode="relative">
                                      <p:cBhvr>
                                        <p:cTn id="35" dur="1000" fill="hold"/>
                                        <p:tgtEl>
                                          <p:spTgt spid="1525"/>
                                        </p:tgtEl>
                                        <p:attrNameLst>
                                          <p:attrName>ppt_x</p:attrName>
                                          <p:attrName>ppt_y</p:attrName>
                                        </p:attrNameLst>
                                      </p:cBhvr>
                                    </p:animMotion>
                                  </p:childTnLst>
                                </p:cTn>
                              </p:par>
                            </p:childTnLst>
                          </p:cTn>
                        </p:par>
                        <p:par>
                          <p:cTn id="36" fill="hold">
                            <p:stCondLst>
                              <p:cond delay="1000"/>
                            </p:stCondLst>
                            <p:childTnLst>
                              <p:par>
                                <p:cTn id="37" presetClass="exit" nodeType="afterEffect" presetSubtype="0" presetID="1" grpId="11" fill="hold">
                                  <p:stCondLst>
                                    <p:cond delay="0"/>
                                  </p:stCondLst>
                                  <p:iterate type="el" backwards="0">
                                    <p:tmAbs val="0"/>
                                  </p:iterate>
                                  <p:childTnLst>
                                    <p:set>
                                      <p:cBhvr>
                                        <p:cTn id="38" fill="hold">
                                          <p:stCondLst>
                                            <p:cond delay="0"/>
                                          </p:stCondLst>
                                        </p:cTn>
                                        <p:tgtEl>
                                          <p:spTgt spid="1525"/>
                                        </p:tgtEl>
                                        <p:attrNameLst>
                                          <p:attrName>style.visibility</p:attrName>
                                        </p:attrNameLst>
                                      </p:cBhvr>
                                      <p:to>
                                        <p:strVal val="hidden"/>
                                      </p:to>
                                    </p:set>
                                  </p:childTnLst>
                                </p:cTn>
                              </p:par>
                            </p:childTnLst>
                          </p:cTn>
                        </p:par>
                        <p:par>
                          <p:cTn id="39" fill="hold">
                            <p:stCondLst>
                              <p:cond delay="1000"/>
                            </p:stCondLst>
                            <p:childTnLst>
                              <p:par>
                                <p:cTn id="40" presetClass="entr" nodeType="afterEffect" presetSubtype="0" presetID="1" grpId="12" fill="hold">
                                  <p:stCondLst>
                                    <p:cond delay="0"/>
                                  </p:stCondLst>
                                  <p:iterate type="el" backwards="0">
                                    <p:tmAbs val="0"/>
                                  </p:iterate>
                                  <p:childTnLst>
                                    <p:set>
                                      <p:cBhvr>
                                        <p:cTn id="41" fill="hold"/>
                                        <p:tgtEl>
                                          <p:spTgt spid="1526"/>
                                        </p:tgtEl>
                                        <p:attrNameLst>
                                          <p:attrName>style.visibility</p:attrName>
                                        </p:attrNameLst>
                                      </p:cBhvr>
                                      <p:to>
                                        <p:strVal val="visible"/>
                                      </p:to>
                                    </p:set>
                                  </p:childTnLst>
                                </p:cTn>
                              </p:par>
                            </p:childTnLst>
                          </p:cTn>
                        </p:par>
                        <p:par>
                          <p:cTn id="42" fill="hold">
                            <p:stCondLst>
                              <p:cond delay="1000"/>
                            </p:stCondLst>
                            <p:childTnLst>
                              <p:par>
                                <p:cTn id="43" presetClass="entr" nodeType="afterEffect" presetSubtype="0" presetID="1" grpId="13" fill="hold">
                                  <p:stCondLst>
                                    <p:cond delay="0"/>
                                  </p:stCondLst>
                                  <p:iterate type="el" backwards="0">
                                    <p:tmAbs val="0"/>
                                  </p:iterate>
                                  <p:childTnLst>
                                    <p:set>
                                      <p:cBhvr>
                                        <p:cTn id="44" fill="hold"/>
                                        <p:tgtEl>
                                          <p:spTgt spid="15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0" presetID="1" grpId="14" fill="hold">
                                  <p:stCondLst>
                                    <p:cond delay="0"/>
                                  </p:stCondLst>
                                  <p:iterate type="el" backwards="0">
                                    <p:tmAbs val="0"/>
                                  </p:iterate>
                                  <p:childTnLst>
                                    <p:set>
                                      <p:cBhvr>
                                        <p:cTn id="48" fill="hold"/>
                                        <p:tgtEl>
                                          <p:spTgt spid="1528"/>
                                        </p:tgtEl>
                                        <p:attrNameLst>
                                          <p:attrName>style.visibility</p:attrName>
                                        </p:attrNameLst>
                                      </p:cBhvr>
                                      <p:to>
                                        <p:strVal val="visible"/>
                                      </p:to>
                                    </p:set>
                                  </p:childTnLst>
                                </p:cTn>
                              </p:par>
                            </p:childTnLst>
                          </p:cTn>
                        </p:par>
                        <p:par>
                          <p:cTn id="49" fill="hold">
                            <p:stCondLst>
                              <p:cond delay="0"/>
                            </p:stCondLst>
                            <p:childTnLst>
                              <p:par>
                                <p:cTn id="50" presetClass="path" nodeType="afterEffect" presetSubtype="0" presetID="-1" grpId="15" accel="50000" decel="50000" fill="hold">
                                  <p:stCondLst>
                                    <p:cond delay="0"/>
                                  </p:stCondLst>
                                  <p:childTnLst>
                                    <p:animMotion path="M 0.000000 0.000000 L 0.070241 0.000404" origin="layout" pathEditMode="relative">
                                      <p:cBhvr>
                                        <p:cTn id="51" dur="1000" fill="hold"/>
                                        <p:tgtEl>
                                          <p:spTgt spid="1528"/>
                                        </p:tgtEl>
                                        <p:attrNameLst>
                                          <p:attrName>ppt_x</p:attrName>
                                          <p:attrName>ppt_y</p:attrName>
                                        </p:attrNameLst>
                                      </p:cBhvr>
                                    </p:animMotion>
                                  </p:childTnLst>
                                </p:cTn>
                              </p:par>
                            </p:childTnLst>
                          </p:cTn>
                        </p:par>
                        <p:par>
                          <p:cTn id="52" fill="hold">
                            <p:stCondLst>
                              <p:cond delay="1000"/>
                            </p:stCondLst>
                            <p:childTnLst>
                              <p:par>
                                <p:cTn id="53" presetClass="exit" nodeType="afterEffect" presetSubtype="0" presetID="1" grpId="16" fill="hold">
                                  <p:stCondLst>
                                    <p:cond delay="0"/>
                                  </p:stCondLst>
                                  <p:iterate type="el" backwards="0">
                                    <p:tmAbs val="0"/>
                                  </p:iterate>
                                  <p:childTnLst>
                                    <p:set>
                                      <p:cBhvr>
                                        <p:cTn id="54" fill="hold">
                                          <p:stCondLst>
                                            <p:cond delay="0"/>
                                          </p:stCondLst>
                                        </p:cTn>
                                        <p:tgtEl>
                                          <p:spTgt spid="1526"/>
                                        </p:tgtEl>
                                        <p:attrNameLst>
                                          <p:attrName>style.visibility</p:attrName>
                                        </p:attrNameLst>
                                      </p:cBhvr>
                                      <p:to>
                                        <p:strVal val="hidden"/>
                                      </p:to>
                                    </p:set>
                                  </p:childTnLst>
                                </p:cTn>
                              </p:par>
                            </p:childTnLst>
                          </p:cTn>
                        </p:par>
                        <p:par>
                          <p:cTn id="55" fill="hold">
                            <p:stCondLst>
                              <p:cond delay="1000"/>
                            </p:stCondLst>
                            <p:childTnLst>
                              <p:par>
                                <p:cTn id="56" presetClass="exit" nodeType="afterEffect" presetSubtype="0" presetID="1" grpId="17" fill="hold">
                                  <p:stCondLst>
                                    <p:cond delay="0"/>
                                  </p:stCondLst>
                                  <p:iterate type="el" backwards="0">
                                    <p:tmAbs val="0"/>
                                  </p:iterate>
                                  <p:childTnLst>
                                    <p:set>
                                      <p:cBhvr>
                                        <p:cTn id="57" fill="hold">
                                          <p:stCondLst>
                                            <p:cond delay="0"/>
                                          </p:stCondLst>
                                        </p:cTn>
                                        <p:tgtEl>
                                          <p:spTgt spid="152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25" grpId="11"/>
      <p:bldP build="whole" bldLvl="1" animBg="1" rev="0" advAuto="0" spid="1529" grpId="8"/>
      <p:bldP build="whole" bldLvl="1" animBg="1" rev="0" advAuto="0" spid="1527" grpId="5"/>
      <p:bldP build="whole" bldLvl="1" animBg="1" rev="0" advAuto="0" spid="1526" grpId="12"/>
      <p:bldP build="whole" bldLvl="1" animBg="1" rev="0" advAuto="0" spid="1521" grpId="1"/>
      <p:bldP build="whole" bldLvl="1" animBg="1" rev="0" advAuto="0" spid="1523" grpId="13"/>
      <p:bldP build="whole" bldLvl="1" animBg="1" rev="0" advAuto="0" spid="1526" grpId="16"/>
      <p:bldP build="whole" bldLvl="1" animBg="1" rev="0" advAuto="0" spid="1521" grpId="3"/>
      <p:bldP build="whole" bldLvl="1" animBg="1" rev="0" advAuto="0" spid="1528" grpId="14"/>
      <p:bldP build="whole" bldLvl="1" animBg="1" rev="0" advAuto="0" spid="1522" grpId="9"/>
      <p:bldP build="whole" bldLvl="1" animBg="1" rev="0" advAuto="0" spid="1523" grpId="17"/>
      <p:bldP build="whole" bldLvl="1" animBg="1" rev="0" advAuto="0" spid="1524" grpId="4"/>
      <p:bldP build="whole" bldLvl="1" animBg="1" rev="0" advAuto="0" spid="1525" grpId="6"/>
    </p:bldLst>
  </p:timing>
</p:sld>
</file>

<file path=ppt/slides/slide1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pic>
        <p:nvPicPr>
          <p:cNvPr id="1531" name="Image" descr="Image"/>
          <p:cNvPicPr>
            <a:picLocks noChangeAspect="1"/>
          </p:cNvPicPr>
          <p:nvPr/>
        </p:nvPicPr>
        <p:blipFill>
          <a:blip r:embed="rId3">
            <a:extLst/>
          </a:blip>
          <a:stretch>
            <a:fillRect/>
          </a:stretch>
        </p:blipFill>
        <p:spPr>
          <a:xfrm>
            <a:off x="1804700" y="0"/>
            <a:ext cx="20774601" cy="13716000"/>
          </a:xfrm>
          <a:prstGeom prst="rect">
            <a:avLst/>
          </a:prstGeom>
          <a:ln w="12700">
            <a:miter lim="400000"/>
          </a:ln>
        </p:spPr>
      </p:pic>
    </p:spTree>
  </p:cSld>
  <p:clrMapOvr>
    <a:masterClrMapping/>
  </p:clrMapOvr>
  <p:transition xmlns:p14="http://schemas.microsoft.com/office/powerpoint/2010/main" spd="fast" advClick="1"/>
</p:sld>
</file>

<file path=ppt/slides/slide1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5" name="Channels"/>
          <p:cNvSpPr txBox="1"/>
          <p:nvPr>
            <p:ph type="title"/>
          </p:nvPr>
        </p:nvSpPr>
        <p:spPr>
          <a:prstGeom prst="rect">
            <a:avLst/>
          </a:prstGeom>
        </p:spPr>
        <p:txBody>
          <a:bodyPr lIns="76200" tIns="76200" rIns="76200" bIns="76200"/>
          <a:lstStyle>
            <a:lvl1pPr defTabSz="2176581">
              <a:defRPr sz="4200"/>
            </a:lvl1pPr>
          </a:lstStyle>
          <a:p>
            <a:pPr/>
            <a:r>
              <a:t>Channels</a:t>
            </a:r>
          </a:p>
        </p:txBody>
      </p:sp>
      <p:sp>
        <p:nvSpPr>
          <p:cNvPr id="1536" name="task&lt;void&gt; render(channel&lt;parameters&gt; in) {…"/>
          <p:cNvSpPr txBox="1"/>
          <p:nvPr>
            <p:ph type="body" idx="1"/>
          </p:nvPr>
        </p:nvSpPr>
        <p:spPr>
          <a:xfrm>
            <a:off x="622141" y="2039940"/>
            <a:ext cx="23158769" cy="10363201"/>
          </a:xfrm>
          <a:prstGeom prst="rect">
            <a:avLst/>
          </a:prstGeom>
        </p:spPr>
        <p:txBody>
          <a:bodyPr lIns="76200" tIns="76200" rIns="76200" bIns="76200"/>
          <a:lstStyle/>
          <a:p>
            <a:pPr marL="0" indent="0" defTabSz="427990">
              <a:spcBef>
                <a:spcPts val="0"/>
              </a:spcBef>
              <a:buClrTx/>
              <a:buSzTx/>
              <a:buNone/>
              <a:tabLst>
                <a:tab pos="419100" algn="l"/>
              </a:tabLst>
              <a:defRPr sz="2800">
                <a:solidFill>
                  <a:srgbClr val="4F8187"/>
                </a:solidFill>
                <a:uFillTx/>
                <a:latin typeface="Menlo Regular"/>
                <a:ea typeface="Menlo Regular"/>
                <a:cs typeface="Menlo Regular"/>
                <a:sym typeface="Menlo Regular"/>
              </a:defRPr>
            </a:pPr>
            <a:r>
              <a:t>task</a:t>
            </a:r>
            <a:r>
              <a:rPr>
                <a:solidFill>
                  <a:srgbClr val="000000"/>
                </a:solidFill>
              </a:rPr>
              <a:t>&lt;</a:t>
            </a:r>
            <a:r>
              <a:rPr>
                <a:solidFill>
                  <a:srgbClr val="BB2CA2"/>
                </a:solidFill>
              </a:rPr>
              <a:t>void</a:t>
            </a:r>
            <a:r>
              <a:rPr>
                <a:solidFill>
                  <a:srgbClr val="000000"/>
                </a:solidFill>
              </a:rPr>
              <a:t>&gt; </a:t>
            </a:r>
            <a:r>
              <a:rPr u="sng">
                <a:solidFill>
                  <a:srgbClr val="000000"/>
                </a:solidFill>
              </a:rPr>
              <a:t>r</a:t>
            </a:r>
            <a:r>
              <a:rPr>
                <a:solidFill>
                  <a:srgbClr val="000000"/>
                </a:solidFill>
              </a:rPr>
              <a:t>ender(</a:t>
            </a:r>
            <a:r>
              <a:t>channel</a:t>
            </a:r>
            <a:r>
              <a:rPr>
                <a:solidFill>
                  <a:srgbClr val="000000"/>
                </a:solidFill>
              </a:rPr>
              <a:t>&lt;</a:t>
            </a:r>
            <a:r>
              <a:t>parameters</a:t>
            </a:r>
            <a:r>
              <a:rPr>
                <a:solidFill>
                  <a:srgbClr val="000000"/>
                </a:solidFill>
              </a:rPr>
              <a:t>&gt; </a:t>
            </a:r>
            <a:r>
              <a:rPr u="sng">
                <a:solidFill>
                  <a:srgbClr val="000000"/>
                </a:solidFill>
              </a:rPr>
              <a:t>i</a:t>
            </a:r>
            <a:r>
              <a:rPr>
                <a:solidFill>
                  <a:srgbClr val="000000"/>
                </a:solidFill>
              </a:rPr>
              <a:t>n) {</a:t>
            </a:r>
            <a:endParaRPr>
              <a:solidFill>
                <a:srgbClr val="000000"/>
              </a:solidFill>
              <a:latin typeface="Helvetica"/>
              <a:ea typeface="Helvetica"/>
              <a:cs typeface="Helvetica"/>
              <a:sym typeface="Helvetica"/>
            </a:endParaRPr>
          </a:p>
          <a:p>
            <a:pPr marL="0" indent="0" defTabSz="427990">
              <a:spcBef>
                <a:spcPts val="0"/>
              </a:spcBef>
              <a:buClrTx/>
              <a:buSzTx/>
              <a:buNone/>
              <a:tabLst>
                <a:tab pos="419100" algn="l"/>
              </a:tabLst>
              <a:defRPr sz="2800">
                <a:solidFill>
                  <a:srgbClr val="BA2DA2"/>
                </a:solidFill>
                <a:uFillTx/>
                <a:latin typeface="Menlo Regular"/>
                <a:ea typeface="Menlo Regular"/>
                <a:cs typeface="Menlo Regular"/>
                <a:sym typeface="Menlo Regular"/>
              </a:defRPr>
            </a:pPr>
            <a:r>
              <a:rPr>
                <a:solidFill>
                  <a:srgbClr val="000000"/>
                </a:solidFill>
              </a:rPr>
              <a:t>    </a:t>
            </a:r>
            <a:r>
              <a:t>while</a:t>
            </a:r>
            <a:r>
              <a:rPr>
                <a:solidFill>
                  <a:srgbClr val="000000"/>
                </a:solidFill>
              </a:rPr>
              <a:t> (</a:t>
            </a:r>
            <a:r>
              <a:t>true</a:t>
            </a:r>
            <a:r>
              <a:rPr>
                <a:solidFill>
                  <a:srgbClr val="000000"/>
                </a:solidFill>
              </a:rPr>
              <a:t>) {</a:t>
            </a:r>
            <a:endParaRPr>
              <a:solidFill>
                <a:srgbClr val="000000"/>
              </a:solidFill>
              <a:latin typeface="Helvetica"/>
              <a:ea typeface="Helvetica"/>
              <a:cs typeface="Helvetica"/>
              <a:sym typeface="Helvetica"/>
            </a:endParaRPr>
          </a:p>
          <a:p>
            <a:pPr marL="0" indent="0" defTabSz="427990">
              <a:spcBef>
                <a:spcPts val="0"/>
              </a:spcBef>
              <a:buClrTx/>
              <a:buSzTx/>
              <a:buNone/>
              <a:tabLst>
                <a:tab pos="419100" algn="l"/>
              </a:tabLst>
              <a:defRPr sz="2800">
                <a:solidFill>
                  <a:srgbClr val="4F8187"/>
                </a:solidFill>
                <a:uFillTx/>
                <a:latin typeface="Menlo Regular"/>
                <a:ea typeface="Menlo Regular"/>
                <a:cs typeface="Menlo Regular"/>
                <a:sym typeface="Menlo Regular"/>
              </a:defRPr>
            </a:pPr>
            <a:r>
              <a:rPr>
                <a:solidFill>
                  <a:srgbClr val="000000"/>
                </a:solidFill>
              </a:rPr>
              <a:t>        </a:t>
            </a:r>
            <a:r>
              <a:t>optional</a:t>
            </a:r>
            <a:r>
              <a:rPr>
                <a:solidFill>
                  <a:srgbClr val="000000"/>
                </a:solidFill>
              </a:rPr>
              <a:t>&lt;</a:t>
            </a:r>
            <a:r>
              <a:t>parameters</a:t>
            </a:r>
            <a:r>
              <a:rPr>
                <a:solidFill>
                  <a:srgbClr val="000000"/>
                </a:solidFill>
              </a:rPr>
              <a:t>&gt; </a:t>
            </a:r>
            <a:r>
              <a:rPr u="sng">
                <a:solidFill>
                  <a:srgbClr val="000000"/>
                </a:solidFill>
              </a:rPr>
              <a:t>p</a:t>
            </a:r>
            <a:r>
              <a:rPr>
                <a:solidFill>
                  <a:srgbClr val="000000"/>
                </a:solidFill>
              </a:rPr>
              <a:t>arams;</a:t>
            </a:r>
            <a:endParaRPr>
              <a:solidFill>
                <a:srgbClr val="000000"/>
              </a:solidFill>
              <a:latin typeface="Helvetica"/>
              <a:ea typeface="Helvetica"/>
              <a:cs typeface="Helvetica"/>
              <a:sym typeface="Helvetica"/>
            </a:endParaRPr>
          </a:p>
          <a:p>
            <a:pPr marL="0" indent="0" defTabSz="42799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BB2CA2"/>
                </a:solidFill>
              </a:rPr>
              <a:t>while</a:t>
            </a:r>
            <a:r>
              <a:t> (params = </a:t>
            </a:r>
            <a:r>
              <a:rPr>
                <a:solidFill>
                  <a:srgbClr val="BB2CA2"/>
                </a:solidFill>
              </a:rPr>
              <a:t>co_await</a:t>
            </a:r>
            <a:r>
              <a:t> in) {</a:t>
            </a:r>
            <a:endParaRPr>
              <a:latin typeface="Helvetica"/>
              <a:ea typeface="Helvetica"/>
              <a:cs typeface="Helvetica"/>
              <a:sym typeface="Helvetica"/>
            </a:endParaRPr>
          </a:p>
          <a:p>
            <a:pPr marL="0" indent="0" defTabSz="42799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BB2CA2"/>
                </a:solidFill>
              </a:rPr>
              <a:t>co_yield</a:t>
            </a:r>
            <a:r>
              <a:t> render_frame(*params, draft_quality);</a:t>
            </a:r>
            <a:endParaRPr>
              <a:latin typeface="Helvetica"/>
              <a:ea typeface="Helvetica"/>
              <a:cs typeface="Helvetica"/>
              <a:sym typeface="Helvetica"/>
            </a:endParaRPr>
          </a:p>
          <a:p>
            <a:pPr marL="0" indent="0" defTabSz="427990">
              <a:spcBef>
                <a:spcPts val="0"/>
              </a:spcBef>
              <a:buClrTx/>
              <a:buSzTx/>
              <a:buNone/>
              <a:tabLst>
                <a:tab pos="419100" algn="l"/>
              </a:tabLst>
              <a:defRPr sz="2800">
                <a:uFillTx/>
                <a:latin typeface="Menlo Regular"/>
                <a:ea typeface="Menlo Regular"/>
                <a:cs typeface="Menlo Regular"/>
                <a:sym typeface="Menlo Regular"/>
              </a:defRPr>
            </a:pPr>
            <a:r>
              <a:t>        }</a:t>
            </a:r>
            <a:endParaRPr>
              <a:latin typeface="Helvetica"/>
              <a:ea typeface="Helvetica"/>
              <a:cs typeface="Helvetica"/>
              <a:sym typeface="Helvetica"/>
            </a:endParaRPr>
          </a:p>
          <a:p>
            <a:pPr marL="0" indent="0" defTabSz="42799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BB2CA2"/>
                </a:solidFill>
              </a:rPr>
              <a:t>co_yield</a:t>
            </a:r>
            <a:r>
              <a:t> render_frame(*params, final_quality);</a:t>
            </a:r>
            <a:endParaRPr>
              <a:latin typeface="Helvetica"/>
              <a:ea typeface="Helvetica"/>
              <a:cs typeface="Helvetica"/>
              <a:sym typeface="Helvetica"/>
            </a:endParaRPr>
          </a:p>
          <a:p>
            <a:pPr marL="0" indent="0" defTabSz="427990">
              <a:spcBef>
                <a:spcPts val="0"/>
              </a:spcBef>
              <a:buClrTx/>
              <a:buSzTx/>
              <a:buNone/>
              <a:tabLst>
                <a:tab pos="419100" algn="l"/>
              </a:tabLst>
              <a:defRPr sz="2800">
                <a:uFillTx/>
                <a:latin typeface="Menlo Regular"/>
                <a:ea typeface="Menlo Regular"/>
                <a:cs typeface="Menlo Regular"/>
                <a:sym typeface="Menlo Regular"/>
              </a:defRPr>
            </a:pPr>
            <a:r>
              <a:t>    }</a:t>
            </a:r>
            <a:endParaRPr>
              <a:latin typeface="Helvetica"/>
              <a:ea typeface="Helvetica"/>
              <a:cs typeface="Helvetica"/>
              <a:sym typeface="Helvetica"/>
            </a:endParaRPr>
          </a:p>
          <a:p>
            <a:pPr marL="0" indent="0" defTabSz="427990">
              <a:spcBef>
                <a:spcPts val="0"/>
              </a:spcBef>
              <a:buClrTx/>
              <a:buSzTx/>
              <a:buNone/>
              <a:tabLst>
                <a:tab pos="419100" algn="l"/>
              </a:tabLst>
              <a:defRPr sz="2800">
                <a:uFillTx/>
                <a:latin typeface="Menlo Regular"/>
                <a:ea typeface="Menlo Regular"/>
                <a:cs typeface="Menlo Regular"/>
                <a:sym typeface="Menlo Regular"/>
              </a:defRPr>
            </a:pPr>
            <a:r>
              <a:t>}</a:t>
            </a:r>
            <a:endParaRPr>
              <a:latin typeface="Helvetica"/>
              <a:ea typeface="Helvetica"/>
              <a:cs typeface="Helvetica"/>
              <a:sym typeface="Helvetica"/>
            </a:endParaRPr>
          </a:p>
        </p:txBody>
      </p:sp>
      <p:sp>
        <p:nvSpPr>
          <p:cNvPr id="1537"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slow" advClick="1"/>
</p:sld>
</file>

<file path=ppt/slides/slide1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541" name="Channels"/>
          <p:cNvSpPr txBox="1"/>
          <p:nvPr>
            <p:ph type="title"/>
          </p:nvPr>
        </p:nvSpPr>
        <p:spPr>
          <a:prstGeom prst="rect">
            <a:avLst/>
          </a:prstGeom>
        </p:spPr>
        <p:txBody>
          <a:bodyPr lIns="76200" tIns="76200" rIns="76200" bIns="76200"/>
          <a:lstStyle>
            <a:lvl1pPr defTabSz="2176581">
              <a:defRPr sz="4200"/>
            </a:lvl1pPr>
          </a:lstStyle>
          <a:p>
            <a:pPr/>
            <a:r>
              <a:t>Channels</a:t>
            </a:r>
          </a:p>
        </p:txBody>
      </p:sp>
      <p:sp>
        <p:nvSpPr>
          <p:cNvPr id="1542" name="struct render {…"/>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419100" algn="l"/>
              </a:tabLst>
              <a:defRPr sz="2800">
                <a:uFillTx/>
                <a:latin typeface="Menlo Regular"/>
                <a:ea typeface="Menlo Regular"/>
                <a:cs typeface="Menlo Regular"/>
                <a:sym typeface="Menlo Regular"/>
              </a:defRPr>
            </a:pPr>
            <a:r>
              <a:rPr>
                <a:solidFill>
                  <a:srgbClr val="BB2CA2"/>
                </a:solidFill>
              </a:rPr>
              <a:t>struct</a:t>
            </a:r>
            <a:r>
              <a:t> render {</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703DAA"/>
                </a:solidFill>
              </a:rPr>
              <a:t>process_state_scheduled</a:t>
            </a:r>
            <a:r>
              <a:t> _state = await_forever;</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BB2CA2"/>
                </a:solidFill>
              </a:rPr>
              <a:t>bool</a:t>
            </a:r>
            <a:r>
              <a:t> _final = </a:t>
            </a:r>
            <a:r>
              <a:rPr>
                <a:solidFill>
                  <a:srgbClr val="BB2CA2"/>
                </a:solidFill>
              </a:rPr>
              <a:t>false</a:t>
            </a:r>
            <a:r>
              <a:t>;</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t>parameters</a:t>
            </a:r>
            <a:r>
              <a:t> _params;</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BB2CA2"/>
                </a:solidFill>
              </a:rPr>
              <a:t>void</a:t>
            </a:r>
            <a:r>
              <a:t> await(</a:t>
            </a:r>
            <a:r>
              <a:rPr>
                <a:solidFill>
                  <a:srgbClr val="4F8187"/>
                </a:solidFill>
              </a:rPr>
              <a:t>parameters</a:t>
            </a:r>
            <a:r>
              <a:t> params) {</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4F8187"/>
                </a:solidFill>
              </a:rPr>
              <a:t>_final</a:t>
            </a:r>
            <a:r>
              <a:t> = </a:t>
            </a:r>
            <a:r>
              <a:rPr>
                <a:solidFill>
                  <a:srgbClr val="BB2CA2"/>
                </a:solidFill>
              </a:rPr>
              <a:t>false</a:t>
            </a:r>
            <a:r>
              <a:t>;</a:t>
            </a:r>
          </a:p>
          <a:p>
            <a:pPr marL="0" indent="0" defTabSz="457200">
              <a:spcBef>
                <a:spcPts val="0"/>
              </a:spcBef>
              <a:buClrTx/>
              <a:buSzTx/>
              <a:buNone/>
              <a:tabLst>
                <a:tab pos="419100" algn="l"/>
              </a:tabLst>
              <a:defRPr sz="2800">
                <a:solidFill>
                  <a:srgbClr val="703DAA"/>
                </a:solidFill>
                <a:uFillTx/>
                <a:latin typeface="Menlo Regular"/>
                <a:ea typeface="Menlo Regular"/>
                <a:cs typeface="Menlo Regular"/>
                <a:sym typeface="Menlo Regular"/>
              </a:defRPr>
            </a:pPr>
            <a:r>
              <a:rPr>
                <a:solidFill>
                  <a:srgbClr val="000000"/>
                </a:solidFill>
              </a:rPr>
              <a:t>        </a:t>
            </a:r>
            <a:r>
              <a:rPr>
                <a:solidFill>
                  <a:srgbClr val="4F8187"/>
                </a:solidFill>
              </a:rPr>
              <a:t>_state</a:t>
            </a:r>
            <a:r>
              <a:rPr>
                <a:solidFill>
                  <a:srgbClr val="000000"/>
                </a:solidFill>
              </a:rPr>
              <a:t> = </a:t>
            </a:r>
            <a:r>
              <a:t>await_immediate</a:t>
            </a:r>
            <a:r>
              <a:rPr>
                <a:solidFill>
                  <a:srgbClr val="000000"/>
                </a:solidFill>
              </a:rPr>
              <a:t>;</a:t>
            </a:r>
            <a:endParaRPr>
              <a:solidFill>
                <a:srgbClr val="000000"/>
              </a:solidFill>
            </a:endParaRP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4F8187"/>
                </a:solidFill>
              </a:rPr>
              <a:t>_params</a:t>
            </a:r>
            <a:r>
              <a:t> = params;</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4F8187"/>
                </a:solidFill>
              </a:rPr>
              <a:t>frame</a:t>
            </a:r>
            <a:r>
              <a:t> yield() {</a:t>
            </a:r>
          </a:p>
          <a:p>
            <a:pPr marL="0" indent="0" defTabSz="457200">
              <a:spcBef>
                <a:spcPts val="0"/>
              </a:spcBef>
              <a:buClrTx/>
              <a:buSzTx/>
              <a:buNone/>
              <a:tabLst>
                <a:tab pos="419100" algn="l"/>
              </a:tabLst>
              <a:defRPr sz="2800">
                <a:solidFill>
                  <a:srgbClr val="31595D"/>
                </a:solidFill>
                <a:uFillTx/>
                <a:latin typeface="Menlo Regular"/>
                <a:ea typeface="Menlo Regular"/>
                <a:cs typeface="Menlo Regular"/>
                <a:sym typeface="Menlo Regular"/>
              </a:defRPr>
            </a:pPr>
            <a:r>
              <a:rPr>
                <a:solidFill>
                  <a:srgbClr val="000000"/>
                </a:solidFill>
              </a:rPr>
              <a:t>        </a:t>
            </a:r>
            <a:r>
              <a:rPr>
                <a:solidFill>
                  <a:srgbClr val="BB2CA2"/>
                </a:solidFill>
              </a:rPr>
              <a:t>auto</a:t>
            </a:r>
            <a:r>
              <a:rPr>
                <a:solidFill>
                  <a:srgbClr val="000000"/>
                </a:solidFill>
              </a:rPr>
              <a:t> result = </a:t>
            </a:r>
            <a:r>
              <a:t>render_frame</a:t>
            </a:r>
            <a:r>
              <a:rPr>
                <a:solidFill>
                  <a:srgbClr val="000000"/>
                </a:solidFill>
              </a:rPr>
              <a:t>(</a:t>
            </a:r>
            <a:r>
              <a:rPr>
                <a:solidFill>
                  <a:srgbClr val="4F8187"/>
                </a:solidFill>
              </a:rPr>
              <a:t>_params</a:t>
            </a:r>
            <a:r>
              <a:rPr>
                <a:solidFill>
                  <a:srgbClr val="000000"/>
                </a:solidFill>
              </a:rPr>
              <a:t>, </a:t>
            </a:r>
            <a:r>
              <a:rPr>
                <a:solidFill>
                  <a:srgbClr val="4F8187"/>
                </a:solidFill>
              </a:rPr>
              <a:t>_final</a:t>
            </a:r>
            <a:r>
              <a:rPr>
                <a:solidFill>
                  <a:srgbClr val="000000"/>
                </a:solidFill>
              </a:rPr>
              <a:t>);</a:t>
            </a:r>
            <a:endParaRPr>
              <a:solidFill>
                <a:srgbClr val="000000"/>
              </a:solidFill>
            </a:endParaRP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4F8187"/>
                </a:solidFill>
              </a:rPr>
              <a:t>_final</a:t>
            </a:r>
            <a:r>
              <a:t> = !</a:t>
            </a:r>
            <a:r>
              <a:rPr>
                <a:solidFill>
                  <a:srgbClr val="4F8187"/>
                </a:solidFill>
              </a:rPr>
              <a:t>_final</a:t>
            </a:r>
            <a:r>
              <a:t>;</a:t>
            </a:r>
          </a:p>
          <a:p>
            <a:pPr marL="0" indent="0" defTabSz="457200">
              <a:spcBef>
                <a:spcPts val="0"/>
              </a:spcBef>
              <a:buClrTx/>
              <a:buSzTx/>
              <a:buNone/>
              <a:tabLst>
                <a:tab pos="419100" algn="l"/>
              </a:tabLst>
              <a:defRPr sz="2800">
                <a:solidFill>
                  <a:srgbClr val="703DAA"/>
                </a:solidFill>
                <a:uFillTx/>
                <a:latin typeface="Menlo Regular"/>
                <a:ea typeface="Menlo Regular"/>
                <a:cs typeface="Menlo Regular"/>
                <a:sym typeface="Menlo Regular"/>
              </a:defRPr>
            </a:pPr>
            <a:r>
              <a:rPr>
                <a:solidFill>
                  <a:srgbClr val="000000"/>
                </a:solidFill>
              </a:rPr>
              <a:t>        </a:t>
            </a:r>
            <a:r>
              <a:rPr>
                <a:solidFill>
                  <a:srgbClr val="4F8187"/>
                </a:solidFill>
              </a:rPr>
              <a:t>_state</a:t>
            </a:r>
            <a:r>
              <a:rPr>
                <a:solidFill>
                  <a:srgbClr val="000000"/>
                </a:solidFill>
              </a:rPr>
              <a:t> = </a:t>
            </a:r>
            <a:r>
              <a:rPr>
                <a:solidFill>
                  <a:srgbClr val="4F8187"/>
                </a:solidFill>
              </a:rPr>
              <a:t>_final</a:t>
            </a:r>
            <a:r>
              <a:rPr>
                <a:solidFill>
                  <a:srgbClr val="000000"/>
                </a:solidFill>
              </a:rPr>
              <a:t> ?  </a:t>
            </a:r>
            <a:r>
              <a:t>await_immediate</a:t>
            </a:r>
            <a:r>
              <a:rPr>
                <a:solidFill>
                  <a:srgbClr val="000000"/>
                </a:solidFill>
              </a:rPr>
              <a:t> : </a:t>
            </a:r>
            <a:r>
              <a:t>await_forever</a:t>
            </a:r>
            <a:r>
              <a:rPr>
                <a:solidFill>
                  <a:srgbClr val="000000"/>
                </a:solidFill>
              </a:rPr>
              <a:t>;</a:t>
            </a:r>
            <a:endParaRPr>
              <a:solidFill>
                <a:srgbClr val="000000"/>
              </a:solidFill>
            </a:endParaRP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BB2CA2"/>
                </a:solidFill>
              </a:rPr>
              <a:t>return</a:t>
            </a:r>
            <a:r>
              <a:t> result;</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p>
          <a:p>
            <a:pPr marL="0" indent="0" defTabSz="457200">
              <a:spcBef>
                <a:spcPts val="0"/>
              </a:spcBef>
              <a:buClrTx/>
              <a:buSzTx/>
              <a:buNone/>
              <a:tabLst>
                <a:tab pos="419100" algn="l"/>
              </a:tabLst>
              <a:defRPr sz="2800">
                <a:solidFill>
                  <a:srgbClr val="703DAA"/>
                </a:solidFill>
                <a:uFillTx/>
                <a:latin typeface="Menlo Regular"/>
                <a:ea typeface="Menlo Regular"/>
                <a:cs typeface="Menlo Regular"/>
                <a:sym typeface="Menlo Regular"/>
              </a:defRPr>
            </a:pPr>
            <a:r>
              <a:rPr>
                <a:solidFill>
                  <a:srgbClr val="000000"/>
                </a:solidFill>
              </a:rPr>
              <a:t>    </a:t>
            </a:r>
            <a:r>
              <a:rPr>
                <a:solidFill>
                  <a:srgbClr val="BB2CA2"/>
                </a:solidFill>
              </a:rPr>
              <a:t>void</a:t>
            </a:r>
            <a:r>
              <a:rPr>
                <a:solidFill>
                  <a:srgbClr val="000000"/>
                </a:solidFill>
              </a:rPr>
              <a:t> close() { </a:t>
            </a:r>
            <a:r>
              <a:rPr>
                <a:solidFill>
                  <a:srgbClr val="BB2CA2"/>
                </a:solidFill>
              </a:rPr>
              <a:t>if</a:t>
            </a:r>
            <a:r>
              <a:rPr>
                <a:solidFill>
                  <a:srgbClr val="000000"/>
                </a:solidFill>
              </a:rPr>
              <a:t> (</a:t>
            </a:r>
            <a:r>
              <a:rPr>
                <a:solidFill>
                  <a:srgbClr val="4F8187"/>
                </a:solidFill>
              </a:rPr>
              <a:t>_state</a:t>
            </a:r>
            <a:r>
              <a:rPr>
                <a:solidFill>
                  <a:srgbClr val="000000"/>
                </a:solidFill>
              </a:rPr>
              <a:t> == </a:t>
            </a:r>
            <a:r>
              <a:t>await_immediate</a:t>
            </a:r>
            <a:r>
              <a:rPr>
                <a:solidFill>
                  <a:srgbClr val="000000"/>
                </a:solidFill>
              </a:rPr>
              <a:t>) </a:t>
            </a:r>
            <a:r>
              <a:rPr>
                <a:solidFill>
                  <a:srgbClr val="4F8187"/>
                </a:solidFill>
              </a:rPr>
              <a:t>_state</a:t>
            </a:r>
            <a:r>
              <a:rPr>
                <a:solidFill>
                  <a:srgbClr val="000000"/>
                </a:solidFill>
              </a:rPr>
              <a:t> = </a:t>
            </a:r>
            <a:r>
              <a:t>yield_immediate</a:t>
            </a:r>
            <a:r>
              <a:rPr>
                <a:solidFill>
                  <a:srgbClr val="000000"/>
                </a:solidFill>
              </a:rPr>
              <a:t>; }</a:t>
            </a:r>
            <a:endParaRPr>
              <a:solidFill>
                <a:srgbClr val="000000"/>
              </a:solidFill>
            </a:endParaRPr>
          </a:p>
          <a:p>
            <a:pPr marL="0" indent="0" defTabSz="457200">
              <a:spcBef>
                <a:spcPts val="0"/>
              </a:spcBef>
              <a:buClrTx/>
              <a:buSzTx/>
              <a:buNone/>
              <a:tabLst>
                <a:tab pos="419100" algn="l"/>
              </a:tabLst>
              <a:defRPr sz="2800">
                <a:uFillTx/>
                <a:latin typeface="Menlo Regular"/>
                <a:ea typeface="Menlo Regular"/>
                <a:cs typeface="Menlo Regular"/>
                <a:sym typeface="Menlo Regular"/>
              </a:defRPr>
            </a:pP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BB2CA2"/>
                </a:solidFill>
              </a:rPr>
              <a:t>const</a:t>
            </a:r>
            <a:r>
              <a:t> </a:t>
            </a:r>
            <a:r>
              <a:rPr>
                <a:solidFill>
                  <a:srgbClr val="BB2CA2"/>
                </a:solidFill>
              </a:rPr>
              <a:t>auto</a:t>
            </a:r>
            <a:r>
              <a:t>&amp; state() </a:t>
            </a:r>
            <a:r>
              <a:rPr>
                <a:solidFill>
                  <a:srgbClr val="BB2CA2"/>
                </a:solidFill>
              </a:rPr>
              <a:t>const</a:t>
            </a:r>
            <a:r>
              <a:t> {</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r>
              <a:rPr>
                <a:solidFill>
                  <a:srgbClr val="BB2CA2"/>
                </a:solidFill>
              </a:rPr>
              <a:t>return</a:t>
            </a:r>
            <a:r>
              <a:t> </a:t>
            </a:r>
            <a:r>
              <a:rPr>
                <a:solidFill>
                  <a:srgbClr val="4F8187"/>
                </a:solidFill>
              </a:rPr>
              <a:t>_state</a:t>
            </a:r>
            <a:r>
              <a:t>;</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    }</a:t>
            </a:r>
          </a:p>
          <a:p>
            <a:pPr marL="0" indent="0" defTabSz="457200">
              <a:spcBef>
                <a:spcPts val="0"/>
              </a:spcBef>
              <a:buClrTx/>
              <a:buSzTx/>
              <a:buNone/>
              <a:tabLst>
                <a:tab pos="419100" algn="l"/>
              </a:tabLst>
              <a:defRPr sz="2800">
                <a:uFillTx/>
                <a:latin typeface="Menlo Regular"/>
                <a:ea typeface="Menlo Regular"/>
                <a:cs typeface="Menlo Regular"/>
                <a:sym typeface="Menlo Regular"/>
              </a:defRPr>
            </a:pPr>
            <a:r>
              <a:t>};</a:t>
            </a:r>
          </a:p>
        </p:txBody>
      </p:sp>
      <p:sp>
        <p:nvSpPr>
          <p:cNvPr id="1543"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1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547" name="Futures: Continuations"/>
          <p:cNvSpPr txBox="1"/>
          <p:nvPr>
            <p:ph type="title"/>
          </p:nvPr>
        </p:nvSpPr>
        <p:spPr>
          <a:prstGeom prst="rect">
            <a:avLst/>
          </a:prstGeom>
        </p:spPr>
        <p:txBody>
          <a:bodyPr lIns="76200" tIns="76200" rIns="76200" bIns="76200"/>
          <a:lstStyle/>
          <a:p>
            <a:pPr defTabSz="2176581">
              <a:defRPr sz="4200"/>
            </a:pPr>
            <a:r>
              <a:t>Futures: </a:t>
            </a:r>
            <a:r>
              <a:t>Continuations</a:t>
            </a:r>
          </a:p>
        </p:txBody>
      </p:sp>
      <p:sp>
        <p:nvSpPr>
          <p:cNvPr id="1548" name="sender&lt;int&gt; send;…"/>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a:t>
            </a:r>
            <a:r>
              <a:rPr>
                <a:solidFill>
                  <a:srgbClr val="3495AF"/>
                </a:solidFill>
              </a:rPr>
              <a:t>sender</a:t>
            </a:r>
            <a:r>
              <a:t>&lt;</a:t>
            </a:r>
            <a:r>
              <a:rPr>
                <a:solidFill>
                  <a:srgbClr val="0433FF"/>
                </a:solidFill>
              </a:rPr>
              <a:t>int</a:t>
            </a:r>
            <a:r>
              <a:t>&gt; send;</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a:t>
            </a:r>
            <a:r>
              <a:rPr>
                <a:solidFill>
                  <a:srgbClr val="3495AF"/>
                </a:solidFill>
              </a:rPr>
              <a:t>receiver</a:t>
            </a:r>
            <a:r>
              <a:t>&lt;</a:t>
            </a:r>
            <a:r>
              <a:rPr>
                <a:solidFill>
                  <a:srgbClr val="0433FF"/>
                </a:solidFill>
              </a:rPr>
              <a:t>int</a:t>
            </a:r>
            <a:r>
              <a:t>&gt; receive;</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a:t>
            </a:r>
            <a:r>
              <a:rPr>
                <a:solidFill>
                  <a:srgbClr val="3495AF"/>
                </a:solidFill>
              </a:rPr>
              <a:t>tie</a:t>
            </a:r>
            <a:r>
              <a:t>(send, receive) = </a:t>
            </a:r>
            <a:r>
              <a:rPr>
                <a:solidFill>
                  <a:srgbClr val="3495AF"/>
                </a:solidFill>
              </a:rPr>
              <a:t>channel</a:t>
            </a:r>
            <a:r>
              <a:t>&lt;</a:t>
            </a:r>
            <a:r>
              <a:rPr>
                <a:solidFill>
                  <a:srgbClr val="0433FF"/>
                </a:solidFill>
              </a:rPr>
              <a:t>int</a:t>
            </a:r>
            <a:r>
              <a:t>&gt;();</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a:t>
            </a:r>
            <a:r>
              <a:rPr>
                <a:solidFill>
                  <a:srgbClr val="0433FF"/>
                </a:solidFill>
              </a:rPr>
              <a:t>auto</a:t>
            </a:r>
            <a:r>
              <a:t> hold = receive</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 </a:t>
            </a:r>
            <a:r>
              <a:rPr>
                <a:solidFill>
                  <a:srgbClr val="3495AF"/>
                </a:solidFill>
              </a:rPr>
              <a:t>sum</a:t>
            </a:r>
            <a:r>
              <a:t>()</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 [](</a:t>
            </a:r>
            <a:r>
              <a:rPr>
                <a:solidFill>
                  <a:srgbClr val="0433FF"/>
                </a:solidFill>
              </a:rPr>
              <a:t>int</a:t>
            </a:r>
            <a:r>
              <a:t> x){ </a:t>
            </a:r>
            <a:r>
              <a:rPr>
                <a:solidFill>
                  <a:srgbClr val="3495AF"/>
                </a:solidFill>
              </a:rPr>
              <a:t>cout</a:t>
            </a:r>
            <a:r>
              <a:t> &lt;&lt; x &lt;&lt; '\n'; };</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receive.</a:t>
            </a:r>
            <a:r>
              <a:rPr>
                <a:solidFill>
                  <a:srgbClr val="3495AF"/>
                </a:solidFill>
              </a:rPr>
              <a:t>set_ready</a:t>
            </a:r>
            <a:r>
              <a:t>();</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send(1);</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send(2);</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send(3);</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send.</a:t>
            </a:r>
            <a:r>
              <a:rPr>
                <a:solidFill>
                  <a:srgbClr val="3495AF"/>
                </a:solidFill>
              </a:rPr>
              <a:t>close</a:t>
            </a:r>
            <a:r>
              <a:t>();</a:t>
            </a:r>
          </a:p>
        </p:txBody>
      </p:sp>
      <p:sp>
        <p:nvSpPr>
          <p:cNvPr id="1549"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550" name="6"/>
          <p:cNvSpPr txBox="1"/>
          <p:nvPr/>
        </p:nvSpPr>
        <p:spPr>
          <a:xfrm>
            <a:off x="12043097" y="11274851"/>
            <a:ext cx="389559" cy="622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457200">
              <a:buClrTx/>
              <a:tabLst>
                <a:tab pos="546100" algn="l"/>
              </a:tabLst>
              <a:defRPr b="1">
                <a:uFillTx/>
                <a:latin typeface="Menlo Regular"/>
                <a:ea typeface="Menlo Regular"/>
                <a:cs typeface="Menlo Regular"/>
                <a:sym typeface="Menlo Regular"/>
              </a:defRPr>
            </a:lvl1pPr>
          </a:lstStyle>
          <a:p>
            <a:pPr/>
            <a:r>
              <a:t>6</a:t>
            </a:r>
          </a:p>
        </p:txBody>
      </p:sp>
    </p:spTree>
  </p:cSld>
  <p:clrMapOvr>
    <a:masterClrMapping/>
  </p:clrMapOvr>
  <p:transition xmlns:p14="http://schemas.microsoft.com/office/powerpoint/2010/main" spd="fast"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5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50" grpId="1"/>
    </p:bldLst>
  </p:timing>
</p:sld>
</file>

<file path=ppt/slides/slide1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552" name="Futures: Continuations"/>
          <p:cNvSpPr txBox="1"/>
          <p:nvPr>
            <p:ph type="title"/>
          </p:nvPr>
        </p:nvSpPr>
        <p:spPr>
          <a:prstGeom prst="rect">
            <a:avLst/>
          </a:prstGeom>
        </p:spPr>
        <p:txBody>
          <a:bodyPr lIns="76200" tIns="76200" rIns="76200" bIns="76200"/>
          <a:lstStyle/>
          <a:p>
            <a:pPr defTabSz="2176581">
              <a:defRPr sz="4200"/>
            </a:pPr>
            <a:r>
              <a:t>Futures: </a:t>
            </a:r>
            <a:r>
              <a:t>Continuations</a:t>
            </a:r>
          </a:p>
        </p:txBody>
      </p:sp>
      <p:sp>
        <p:nvSpPr>
          <p:cNvPr id="1553" name="struct sum {…"/>
          <p:cNvSpPr txBox="1"/>
          <p:nvPr>
            <p:ph type="body" idx="1"/>
          </p:nvPr>
        </p:nvSpPr>
        <p:spPr>
          <a:xfrm>
            <a:off x="622141" y="2039940"/>
            <a:ext cx="23158769" cy="10363201"/>
          </a:xfrm>
          <a:prstGeom prst="rect">
            <a:avLst/>
          </a:prstGeom>
        </p:spPr>
        <p:txBody>
          <a:bodyPr lIns="76200" tIns="76200" rIns="76200" bIns="76200"/>
          <a:lstStyle/>
          <a:p>
            <a:pPr marL="0" indent="0" defTabSz="457200">
              <a:spcBef>
                <a:spcPts val="0"/>
              </a:spcBef>
              <a:buClrTx/>
              <a:buSzTx/>
              <a:buNone/>
              <a:tabLst>
                <a:tab pos="546100" algn="l"/>
              </a:tabLst>
              <a:defRPr sz="3600">
                <a:uFillTx/>
                <a:latin typeface="Menlo Regular"/>
                <a:ea typeface="Menlo Regular"/>
                <a:cs typeface="Menlo Regular"/>
                <a:sym typeface="Menlo Regular"/>
              </a:defRPr>
            </a:pPr>
            <a:r>
              <a:rPr>
                <a:solidFill>
                  <a:srgbClr val="0433FF"/>
                </a:solidFill>
              </a:rPr>
              <a:t>struct</a:t>
            </a:r>
            <a:r>
              <a:t> sum {</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a:t>
            </a:r>
            <a:r>
              <a:rPr>
                <a:solidFill>
                  <a:srgbClr val="3495AF"/>
                </a:solidFill>
              </a:rPr>
              <a:t>process_state</a:t>
            </a:r>
            <a:r>
              <a:t> _state = process_state::await;</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a:t>
            </a:r>
            <a:r>
              <a:rPr>
                <a:solidFill>
                  <a:srgbClr val="0433FF"/>
                </a:solidFill>
              </a:rPr>
              <a:t>int</a:t>
            </a:r>
            <a:r>
              <a:t> _sum = 0;</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a:t>
            </a:r>
            <a:r>
              <a:rPr>
                <a:solidFill>
                  <a:srgbClr val="0433FF"/>
                </a:solidFill>
              </a:rPr>
              <a:t>void</a:t>
            </a:r>
            <a:r>
              <a:t> await(</a:t>
            </a:r>
            <a:r>
              <a:rPr>
                <a:solidFill>
                  <a:srgbClr val="0433FF"/>
                </a:solidFill>
              </a:rPr>
              <a:t>int</a:t>
            </a:r>
            <a:r>
              <a:t> n) { </a:t>
            </a:r>
            <a:r>
              <a:rPr>
                <a:solidFill>
                  <a:srgbClr val="3495AF"/>
                </a:solidFill>
              </a:rPr>
              <a:t>_sum</a:t>
            </a:r>
            <a:r>
              <a:t> += n; }</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p>
          <a:p>
            <a:pPr marL="0" indent="0" defTabSz="457200">
              <a:spcBef>
                <a:spcPts val="0"/>
              </a:spcBef>
              <a:buClrTx/>
              <a:buSzTx/>
              <a:buNone/>
              <a:tabLst>
                <a:tab pos="546100" algn="l"/>
              </a:tabLst>
              <a:defRPr sz="3600">
                <a:solidFill>
                  <a:srgbClr val="3495AF"/>
                </a:solidFill>
                <a:uFillTx/>
                <a:latin typeface="Menlo Regular"/>
                <a:ea typeface="Menlo Regular"/>
                <a:cs typeface="Menlo Regular"/>
                <a:sym typeface="Menlo Regular"/>
              </a:defRPr>
            </a:pPr>
            <a:r>
              <a:rPr>
                <a:solidFill>
                  <a:srgbClr val="000000"/>
                </a:solidFill>
              </a:rPr>
              <a:t>    </a:t>
            </a:r>
            <a:r>
              <a:rPr>
                <a:solidFill>
                  <a:srgbClr val="0433FF"/>
                </a:solidFill>
              </a:rPr>
              <a:t>int</a:t>
            </a:r>
            <a:r>
              <a:rPr>
                <a:solidFill>
                  <a:srgbClr val="000000"/>
                </a:solidFill>
              </a:rPr>
              <a:t> yield() { </a:t>
            </a:r>
            <a:r>
              <a:t>_state</a:t>
            </a:r>
            <a:r>
              <a:rPr>
                <a:solidFill>
                  <a:srgbClr val="000000"/>
                </a:solidFill>
              </a:rPr>
              <a:t> = </a:t>
            </a:r>
            <a:r>
              <a:t>process_state</a:t>
            </a:r>
            <a:r>
              <a:rPr>
                <a:solidFill>
                  <a:srgbClr val="000000"/>
                </a:solidFill>
              </a:rPr>
              <a:t>::</a:t>
            </a:r>
            <a:r>
              <a:t>await</a:t>
            </a:r>
            <a:r>
              <a:rPr>
                <a:solidFill>
                  <a:srgbClr val="000000"/>
                </a:solidFill>
              </a:rPr>
              <a:t>; </a:t>
            </a:r>
            <a:r>
              <a:rPr>
                <a:solidFill>
                  <a:srgbClr val="0433FF"/>
                </a:solidFill>
              </a:rPr>
              <a:t>return</a:t>
            </a:r>
            <a:r>
              <a:rPr>
                <a:solidFill>
                  <a:srgbClr val="000000"/>
                </a:solidFill>
              </a:rPr>
              <a:t> </a:t>
            </a:r>
            <a:r>
              <a:t>_sum</a:t>
            </a:r>
            <a:r>
              <a:rPr>
                <a:solidFill>
                  <a:srgbClr val="000000"/>
                </a:solidFill>
              </a:rPr>
              <a:t>; }</a:t>
            </a:r>
            <a:endParaRPr>
              <a:solidFill>
                <a:srgbClr val="000000"/>
              </a:solidFill>
            </a:endParaRPr>
          </a:p>
          <a:p>
            <a:pPr marL="0" indent="0" defTabSz="457200">
              <a:spcBef>
                <a:spcPts val="0"/>
              </a:spcBef>
              <a:buClrTx/>
              <a:buSzTx/>
              <a:buNone/>
              <a:tabLst>
                <a:tab pos="546100" algn="l"/>
              </a:tabLst>
              <a:defRPr sz="3600">
                <a:uFillTx/>
                <a:latin typeface="Menlo Regular"/>
                <a:ea typeface="Menlo Regular"/>
                <a:cs typeface="Menlo Regular"/>
                <a:sym typeface="Menlo Regular"/>
              </a:defRPr>
            </a:pPr>
          </a:p>
          <a:p>
            <a:pPr marL="0" indent="0" defTabSz="457200">
              <a:spcBef>
                <a:spcPts val="0"/>
              </a:spcBef>
              <a:buClrTx/>
              <a:buSzTx/>
              <a:buNone/>
              <a:tabLst>
                <a:tab pos="546100" algn="l"/>
              </a:tabLst>
              <a:defRPr sz="3600">
                <a:solidFill>
                  <a:srgbClr val="3495AF"/>
                </a:solidFill>
                <a:uFillTx/>
                <a:latin typeface="Menlo Regular"/>
                <a:ea typeface="Menlo Regular"/>
                <a:cs typeface="Menlo Regular"/>
                <a:sym typeface="Menlo Regular"/>
              </a:defRPr>
            </a:pPr>
            <a:r>
              <a:rPr>
                <a:solidFill>
                  <a:srgbClr val="000000"/>
                </a:solidFill>
              </a:rPr>
              <a:t>    </a:t>
            </a:r>
            <a:r>
              <a:rPr>
                <a:solidFill>
                  <a:srgbClr val="0433FF"/>
                </a:solidFill>
              </a:rPr>
              <a:t>void</a:t>
            </a:r>
            <a:r>
              <a:rPr>
                <a:solidFill>
                  <a:srgbClr val="000000"/>
                </a:solidFill>
              </a:rPr>
              <a:t> close() { </a:t>
            </a:r>
            <a:r>
              <a:t>_state</a:t>
            </a:r>
            <a:r>
              <a:rPr>
                <a:solidFill>
                  <a:srgbClr val="000000"/>
                </a:solidFill>
              </a:rPr>
              <a:t> = </a:t>
            </a:r>
            <a:r>
              <a:t>process_state</a:t>
            </a:r>
            <a:r>
              <a:rPr>
                <a:solidFill>
                  <a:srgbClr val="000000"/>
                </a:solidFill>
              </a:rPr>
              <a:t>::</a:t>
            </a:r>
            <a:r>
              <a:t>yield</a:t>
            </a:r>
            <a:r>
              <a:rPr>
                <a:solidFill>
                  <a:srgbClr val="000000"/>
                </a:solidFill>
              </a:rPr>
              <a:t>; }</a:t>
            </a:r>
            <a:endParaRPr>
              <a:solidFill>
                <a:srgbClr val="000000"/>
              </a:solidFill>
            </a:endParaRPr>
          </a:p>
          <a:p>
            <a:pPr marL="0" indent="0" defTabSz="457200">
              <a:spcBef>
                <a:spcPts val="0"/>
              </a:spcBef>
              <a:buClrTx/>
              <a:buSzTx/>
              <a:buNone/>
              <a:tabLst>
                <a:tab pos="546100" algn="l"/>
              </a:tabLst>
              <a:defRPr sz="3600">
                <a:uFillTx/>
                <a:latin typeface="Menlo Regular"/>
                <a:ea typeface="Menlo Regular"/>
                <a:cs typeface="Menlo Regular"/>
                <a:sym typeface="Menlo Regular"/>
              </a:defRPr>
            </a:pP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    </a:t>
            </a:r>
            <a:r>
              <a:rPr>
                <a:solidFill>
                  <a:srgbClr val="0433FF"/>
                </a:solidFill>
              </a:rPr>
              <a:t>auto</a:t>
            </a:r>
            <a:r>
              <a:t> state() </a:t>
            </a:r>
            <a:r>
              <a:rPr>
                <a:solidFill>
                  <a:srgbClr val="0433FF"/>
                </a:solidFill>
              </a:rPr>
              <a:t>const</a:t>
            </a:r>
            <a:r>
              <a:t> { </a:t>
            </a:r>
            <a:r>
              <a:rPr>
                <a:solidFill>
                  <a:srgbClr val="0433FF"/>
                </a:solidFill>
              </a:rPr>
              <a:t>return</a:t>
            </a:r>
            <a:r>
              <a:t> </a:t>
            </a:r>
            <a:r>
              <a:rPr>
                <a:solidFill>
                  <a:srgbClr val="3495AF"/>
                </a:solidFill>
              </a:rPr>
              <a:t>_state</a:t>
            </a:r>
            <a:r>
              <a:t>; }</a:t>
            </a:r>
          </a:p>
          <a:p>
            <a:pPr marL="0" indent="0" defTabSz="457200">
              <a:spcBef>
                <a:spcPts val="0"/>
              </a:spcBef>
              <a:buClrTx/>
              <a:buSzTx/>
              <a:buNone/>
              <a:tabLst>
                <a:tab pos="546100" algn="l"/>
              </a:tabLst>
              <a:defRPr sz="3600">
                <a:uFillTx/>
                <a:latin typeface="Menlo Regular"/>
                <a:ea typeface="Menlo Regular"/>
                <a:cs typeface="Menlo Regular"/>
                <a:sym typeface="Menlo Regular"/>
              </a:defRPr>
            </a:pPr>
            <a:r>
              <a:t>};</a:t>
            </a:r>
          </a:p>
        </p:txBody>
      </p:sp>
      <p:sp>
        <p:nvSpPr>
          <p:cNvPr id="1554"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1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6"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557"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558"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sp>
        <p:nvSpPr>
          <p:cNvPr id="1559" name="Property Models"/>
          <p:cNvSpPr txBox="1"/>
          <p:nvPr>
            <p:ph type="body" idx="1"/>
          </p:nvPr>
        </p:nvSpPr>
        <p:spPr>
          <a:prstGeom prst="rect">
            <a:avLst/>
          </a:prstGeom>
        </p:spPr>
        <p:txBody>
          <a:bodyPr/>
          <a:lstStyle>
            <a:lvl1pPr marL="0" indent="0" algn="ctr" defTabSz="457200">
              <a:lnSpc>
                <a:spcPts val="10400"/>
              </a:lnSpc>
              <a:spcBef>
                <a:spcPts val="0"/>
              </a:spcBef>
              <a:buClr>
                <a:srgbClr val="E1E4E6"/>
              </a:buClr>
              <a:buSzTx/>
              <a:buFont typeface="Wingdings"/>
              <a:buNone/>
              <a:defRPr sz="7200"/>
            </a:lvl1pPr>
          </a:lstStyle>
          <a:p>
            <a:pPr/>
            <a:r>
              <a:t>Property Models</a:t>
            </a:r>
          </a:p>
        </p:txBody>
      </p:sp>
      <p:sp>
        <p:nvSpPr>
          <p:cNvPr id="1560" name="Slide Number"/>
          <p:cNvSpPr txBox="1"/>
          <p:nvPr>
            <p:ph type="sldNum" sz="quarter" idx="2"/>
          </p:nvPr>
        </p:nvSpPr>
        <p:spPr>
          <a:xfrm>
            <a:off x="12041057" y="12934946"/>
            <a:ext cx="320955" cy="3556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561"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Tree>
  </p:cSld>
  <p:clrMapOvr>
    <a:masterClrMapping/>
  </p:clrMapOvr>
  <p:transition xmlns:p14="http://schemas.microsoft.com/office/powerpoint/2010/main" spd="fast" advClick="1"/>
</p:sld>
</file>

<file path=ppt/slides/slide1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3" name="Double-click to edit"/>
          <p:cNvSpPr txBox="1"/>
          <p:nvPr>
            <p:ph type="title"/>
          </p:nvPr>
        </p:nvSpPr>
        <p:spPr>
          <a:prstGeom prst="rect">
            <a:avLst/>
          </a:prstGeom>
        </p:spPr>
        <p:txBody>
          <a:bodyPr lIns="76200" tIns="76200" rIns="76200" bIns="76200"/>
          <a:lstStyle/>
          <a:p>
            <a:pPr>
              <a:defRPr sz="4000"/>
            </a:pPr>
          </a:p>
        </p:txBody>
      </p:sp>
      <p:sp>
        <p:nvSpPr>
          <p:cNvPr id="1564" name="How do the graphs change during execution?"/>
          <p:cNvSpPr txBox="1"/>
          <p:nvPr>
            <p:ph type="body" idx="1"/>
          </p:nvPr>
        </p:nvSpPr>
        <p:spPr>
          <a:prstGeom prst="rect">
            <a:avLst/>
          </a:prstGeom>
        </p:spPr>
        <p:txBody>
          <a:bodyPr lIns="76200" tIns="76200" rIns="76200" bIns="76200"/>
          <a:lstStyle>
            <a:lvl1pPr marL="0" indent="0" algn="ctr" defTabSz="914400">
              <a:lnSpc>
                <a:spcPts val="12200"/>
              </a:lnSpc>
              <a:spcBef>
                <a:spcPts val="0"/>
              </a:spcBef>
              <a:buClr>
                <a:srgbClr val="E1E4E6"/>
              </a:buClr>
              <a:buSzTx/>
              <a:buFont typeface="Wingdings"/>
              <a:buNone/>
              <a:defRPr sz="7200"/>
            </a:lvl1pPr>
          </a:lstStyle>
          <a:p>
            <a:pPr/>
            <a:r>
              <a:t>How do the graphs change during execution?</a:t>
            </a:r>
          </a:p>
        </p:txBody>
      </p:sp>
      <p:sp>
        <p:nvSpPr>
          <p:cNvPr id="1565"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med" advClick="1" p14:dur="1000">
        <p15:prstTrans prst="peelOff" invX="1"/>
      </p:transition>
    </mc:Choice>
    <mc:Choice xmlns:p14="http://schemas.microsoft.com/office/powerpoint/2010/main" Requires="p14">
      <p:transition spd="med" advClick="1" p14:dur="1000">
        <p:peelOff/>
      </p:transition>
    </mc:Choice>
    <mc:Fallback>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7" name="Property Model"/>
          <p:cNvSpPr txBox="1"/>
          <p:nvPr>
            <p:ph type="title"/>
          </p:nvPr>
        </p:nvSpPr>
        <p:spPr>
          <a:prstGeom prst="rect">
            <a:avLst/>
          </a:prstGeom>
        </p:spPr>
        <p:txBody>
          <a:bodyPr lIns="76200" tIns="76200" rIns="76200" bIns="76200"/>
          <a:lstStyle>
            <a:lvl1pPr defTabSz="2176581">
              <a:defRPr sz="4200"/>
            </a:lvl1pPr>
          </a:lstStyle>
          <a:p>
            <a:pPr/>
            <a:r>
              <a:t>Property Model</a:t>
            </a:r>
          </a:p>
        </p:txBody>
      </p:sp>
      <p:sp>
        <p:nvSpPr>
          <p:cNvPr id="1568"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pic>
        <p:nvPicPr>
          <p:cNvPr id="1569" name="Image" descr="Image"/>
          <p:cNvPicPr>
            <a:picLocks noChangeAspect="1"/>
          </p:cNvPicPr>
          <p:nvPr/>
        </p:nvPicPr>
        <p:blipFill>
          <a:blip r:embed="rId2">
            <a:extLst/>
          </a:blip>
          <a:stretch>
            <a:fillRect/>
          </a:stretch>
        </p:blipFill>
        <p:spPr>
          <a:xfrm>
            <a:off x="3565525" y="3695700"/>
            <a:ext cx="17297400" cy="6324600"/>
          </a:xfrm>
          <a:prstGeom prst="rect">
            <a:avLst/>
          </a:prstGeom>
          <a:ln w="12700">
            <a:miter lim="400000"/>
          </a:ln>
        </p:spPr>
      </p:pic>
    </p:spTree>
  </p:cSld>
  <p:clrMapOvr>
    <a:masterClrMapping/>
  </p:clrMapOvr>
  <p:transition xmlns:p14="http://schemas.microsoft.com/office/powerpoint/2010/main" spd="fast" advClick="1"/>
</p:sld>
</file>

<file path=ppt/slides/slide1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1" name="A function is a directed relationship"/>
          <p:cNvSpPr txBox="1"/>
          <p:nvPr>
            <p:ph type="title"/>
          </p:nvPr>
        </p:nvSpPr>
        <p:spPr>
          <a:prstGeom prst="rect">
            <a:avLst/>
          </a:prstGeom>
        </p:spPr>
        <p:txBody>
          <a:bodyPr lIns="76200" tIns="76200" rIns="76200" bIns="76200"/>
          <a:lstStyle>
            <a:lvl1pPr defTabSz="2176581">
              <a:defRPr sz="4200"/>
            </a:lvl1pPr>
          </a:lstStyle>
          <a:p>
            <a:pPr/>
            <a:r>
              <a:t>A function is a directed relationship</a:t>
            </a:r>
          </a:p>
        </p:txBody>
      </p:sp>
      <p:sp>
        <p:nvSpPr>
          <p:cNvPr id="1572" name="We can remove the arrows by providing a package of functions to represent the relationship…"/>
          <p:cNvSpPr txBox="1"/>
          <p:nvPr>
            <p:ph type="body" idx="1"/>
          </p:nvPr>
        </p:nvSpPr>
        <p:spPr>
          <a:prstGeom prst="rect">
            <a:avLst/>
          </a:prstGeom>
        </p:spPr>
        <p:txBody>
          <a:bodyPr lIns="76200" tIns="76200" rIns="76200" bIns="76200"/>
          <a:lstStyle/>
          <a:p>
            <a:pPr>
              <a:spcBef>
                <a:spcPts val="1200"/>
              </a:spcBef>
            </a:pPr>
            <a:r>
              <a:t>We can remove the arrows by providing a package of functions to represent the relationship</a:t>
            </a:r>
          </a:p>
          <a:p>
            <a:pPr lvl="1">
              <a:spcBef>
                <a:spcPts val="1200"/>
              </a:spcBef>
            </a:pPr>
            <a:r>
              <a:t>a = b * c</a:t>
            </a:r>
            <a:br/>
            <a:r>
              <a:t>b = a / c</a:t>
            </a:r>
            <a:br/>
            <a:r>
              <a:t>c = a / b</a:t>
            </a:r>
          </a:p>
          <a:p>
            <a:pPr lvl="1">
              <a:spcBef>
                <a:spcPts val="1200"/>
              </a:spcBef>
            </a:pPr>
            <a:r>
              <a:t>This forms a type of constraint system called a </a:t>
            </a:r>
            <a:r>
              <a:rPr i="1"/>
              <a:t>property model</a:t>
            </a:r>
            <a:endParaRPr i="1"/>
          </a:p>
          <a:p>
            <a:pPr lvl="1">
              <a:spcBef>
                <a:spcPts val="1200"/>
              </a:spcBef>
            </a:pPr>
            <a:r>
              <a:t>Flow is determined by value, or </a:t>
            </a:r>
            <a:r>
              <a:rPr i="1"/>
              <a:t>cell</a:t>
            </a:r>
            <a:r>
              <a:t>, priority</a:t>
            </a:r>
          </a:p>
          <a:p>
            <a:pPr lvl="1">
              <a:spcBef>
                <a:spcPts val="1200"/>
              </a:spcBef>
            </a:pPr>
            <a:r>
              <a:t>Relationships can be conditional, so long as predicate can be determined regardless of flow</a:t>
            </a:r>
          </a:p>
          <a:p>
            <a:pPr lvl="1">
              <a:spcBef>
                <a:spcPts val="1200"/>
              </a:spcBef>
            </a:pPr>
          </a:p>
          <a:p>
            <a:pPr lvl="1">
              <a:spcBef>
                <a:spcPts val="1200"/>
              </a:spcBef>
            </a:pPr>
            <a:r>
              <a:t>Cells can only have one in-edge for a given flow or the system is over constrained</a:t>
            </a:r>
          </a:p>
        </p:txBody>
      </p:sp>
      <p:sp>
        <p:nvSpPr>
          <p:cNvPr id="1573"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1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5" name="Property Model"/>
          <p:cNvSpPr txBox="1"/>
          <p:nvPr>
            <p:ph type="title"/>
          </p:nvPr>
        </p:nvSpPr>
        <p:spPr>
          <a:prstGeom prst="rect">
            <a:avLst/>
          </a:prstGeom>
        </p:spPr>
        <p:txBody>
          <a:bodyPr lIns="76200" tIns="76200" rIns="76200" bIns="76200"/>
          <a:lstStyle>
            <a:lvl1pPr defTabSz="2176581">
              <a:defRPr sz="4200"/>
            </a:lvl1pPr>
          </a:lstStyle>
          <a:p>
            <a:pPr/>
            <a:r>
              <a:t>Property Model</a:t>
            </a:r>
          </a:p>
        </p:txBody>
      </p:sp>
      <p:sp>
        <p:nvSpPr>
          <p:cNvPr id="1576"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pic>
        <p:nvPicPr>
          <p:cNvPr id="1577" name="Image" descr="Image"/>
          <p:cNvPicPr>
            <a:picLocks noChangeAspect="1"/>
          </p:cNvPicPr>
          <p:nvPr/>
        </p:nvPicPr>
        <p:blipFill>
          <a:blip r:embed="rId2">
            <a:extLst/>
          </a:blip>
          <a:stretch>
            <a:fillRect/>
          </a:stretch>
        </p:blipFill>
        <p:spPr>
          <a:xfrm>
            <a:off x="3543300" y="3695700"/>
            <a:ext cx="17297400" cy="6324600"/>
          </a:xfrm>
          <a:prstGeom prst="rect">
            <a:avLst/>
          </a:prstGeom>
          <a:ln w="12700">
            <a:miter lim="400000"/>
          </a:ln>
        </p:spPr>
      </p:pic>
    </p:spTree>
  </p:cSld>
  <p:clrMapOvr>
    <a:masterClrMapping/>
  </p:clrMapOvr>
  <p:transition xmlns:p14="http://schemas.microsoft.com/office/powerpoint/2010/main" spd="fast" advClick="1"/>
</p:sld>
</file>

<file path=ppt/slides/slide1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9" name="Property Models"/>
          <p:cNvSpPr txBox="1"/>
          <p:nvPr>
            <p:ph type="title"/>
          </p:nvPr>
        </p:nvSpPr>
        <p:spPr>
          <a:prstGeom prst="rect">
            <a:avLst/>
          </a:prstGeom>
        </p:spPr>
        <p:txBody>
          <a:bodyPr lIns="76200" tIns="76200" rIns="76200" bIns="76200"/>
          <a:lstStyle>
            <a:lvl1pPr defTabSz="2176581">
              <a:defRPr sz="4200"/>
            </a:lvl1pPr>
          </a:lstStyle>
          <a:p>
            <a:pPr/>
            <a:r>
              <a:t>Property Models</a:t>
            </a:r>
          </a:p>
        </p:txBody>
      </p:sp>
      <p:sp>
        <p:nvSpPr>
          <p:cNvPr id="1580" name="Reflowing a property model doesn’t require all relationships to be resolved…"/>
          <p:cNvSpPr txBox="1"/>
          <p:nvPr>
            <p:ph type="body" idx="1"/>
          </p:nvPr>
        </p:nvSpPr>
        <p:spPr>
          <a:prstGeom prst="rect">
            <a:avLst/>
          </a:prstGeom>
        </p:spPr>
        <p:txBody>
          <a:bodyPr lIns="76200" tIns="76200" rIns="76200" bIns="76200"/>
          <a:lstStyle/>
          <a:p>
            <a:pPr>
              <a:spcBef>
                <a:spcPts val="1200"/>
              </a:spcBef>
            </a:pPr>
            <a:r>
              <a:t>Reflowing a property model doesn’t require all relationships to be resolved</a:t>
            </a:r>
          </a:p>
          <a:p>
            <a:pPr lvl="1">
              <a:spcBef>
                <a:spcPts val="1200"/>
              </a:spcBef>
            </a:pPr>
            <a:r>
              <a:t>The task representing them can still be executing concurrently</a:t>
            </a:r>
          </a:p>
          <a:p>
            <a:pPr>
              <a:spcBef>
                <a:spcPts val="1200"/>
              </a:spcBef>
            </a:pPr>
            <a:r>
              <a:t>This creates a single dependency graph that is appended to for each new flow and is pruned and </a:t>
            </a:r>
            <a:r>
              <a:rPr i="1"/>
              <a:t>unravels </a:t>
            </a:r>
            <a:r>
              <a:t>as tasks are complete </a:t>
            </a:r>
          </a:p>
        </p:txBody>
      </p:sp>
      <p:sp>
        <p:nvSpPr>
          <p:cNvPr id="1581"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1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3" name="Property Model"/>
          <p:cNvSpPr txBox="1"/>
          <p:nvPr>
            <p:ph type="title"/>
          </p:nvPr>
        </p:nvSpPr>
        <p:spPr>
          <a:prstGeom prst="rect">
            <a:avLst/>
          </a:prstGeom>
        </p:spPr>
        <p:txBody>
          <a:bodyPr lIns="76200" tIns="76200" rIns="76200" bIns="76200"/>
          <a:lstStyle>
            <a:lvl1pPr defTabSz="2176581">
              <a:defRPr sz="4200"/>
            </a:lvl1pPr>
          </a:lstStyle>
          <a:p>
            <a:pPr/>
            <a:r>
              <a:t>Property Model</a:t>
            </a:r>
          </a:p>
        </p:txBody>
      </p:sp>
      <p:sp>
        <p:nvSpPr>
          <p:cNvPr id="1584"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
        <p:nvSpPr>
          <p:cNvPr id="1585" name="Value set in source A then B…"/>
          <p:cNvSpPr txBox="1"/>
          <p:nvPr>
            <p:ph type="body" sz="half" idx="1"/>
          </p:nvPr>
        </p:nvSpPr>
        <p:spPr>
          <a:xfrm>
            <a:off x="622141" y="1981200"/>
            <a:ext cx="9633269" cy="10363200"/>
          </a:xfrm>
          <a:prstGeom prst="rect">
            <a:avLst/>
          </a:prstGeom>
        </p:spPr>
        <p:txBody>
          <a:bodyPr lIns="76200" tIns="76200" rIns="76200" bIns="76200"/>
          <a:lstStyle/>
          <a:p>
            <a:pPr>
              <a:spcBef>
                <a:spcPts val="1200"/>
              </a:spcBef>
            </a:pPr>
            <a:r>
              <a:t>Value set in source A then B</a:t>
            </a:r>
          </a:p>
          <a:p>
            <a:pPr>
              <a:spcBef>
                <a:spcPts val="1200"/>
              </a:spcBef>
            </a:pPr>
            <a:r>
              <a:t>Operation connected to B is high latency</a:t>
            </a:r>
          </a:p>
          <a:p>
            <a:pPr>
              <a:spcBef>
                <a:spcPts val="1200"/>
              </a:spcBef>
            </a:pPr>
            <a:r>
              <a:t>Value is set in source C causing reflow</a:t>
            </a:r>
          </a:p>
          <a:p>
            <a:pPr lvl="1">
              <a:spcBef>
                <a:spcPts val="1200"/>
              </a:spcBef>
            </a:pPr>
            <a:r>
              <a:t>Sink X is no longer needed, pending operation is canceled</a:t>
            </a:r>
          </a:p>
          <a:p>
            <a:pPr lvl="1">
              <a:spcBef>
                <a:spcPts val="1200"/>
              </a:spcBef>
            </a:pPr>
            <a:r>
              <a:t>Source A is discarded</a:t>
            </a:r>
          </a:p>
          <a:p>
            <a:pPr lvl="1">
              <a:spcBef>
                <a:spcPts val="1200"/>
              </a:spcBef>
            </a:pPr>
            <a:r>
              <a:t>Intermediate value I is shared between flows, once determined</a:t>
            </a:r>
          </a:p>
          <a:p>
            <a:pPr>
              <a:spcBef>
                <a:spcPts val="1200"/>
              </a:spcBef>
            </a:pPr>
            <a:r>
              <a:t>Final values determined by source B (via I) and source C</a:t>
            </a:r>
          </a:p>
        </p:txBody>
      </p:sp>
      <p:pic>
        <p:nvPicPr>
          <p:cNvPr id="1586" name="Image" descr="Image"/>
          <p:cNvPicPr>
            <a:picLocks noChangeAspect="1"/>
          </p:cNvPicPr>
          <p:nvPr/>
        </p:nvPicPr>
        <p:blipFill>
          <a:blip r:embed="rId2">
            <a:extLst/>
          </a:blip>
          <a:stretch>
            <a:fillRect/>
          </a:stretch>
        </p:blipFill>
        <p:spPr>
          <a:xfrm>
            <a:off x="11798495" y="2235200"/>
            <a:ext cx="11988801" cy="9245600"/>
          </a:xfrm>
          <a:prstGeom prst="rect">
            <a:avLst/>
          </a:prstGeom>
          <a:ln w="12700">
            <a:miter lim="400000"/>
          </a:ln>
        </p:spPr>
      </p:pic>
    </p:spTree>
  </p:cSld>
  <p:clrMapOvr>
    <a:masterClrMapping/>
  </p:clrMapOvr>
  <p:transition xmlns:p14="http://schemas.microsoft.com/office/powerpoint/2010/main" spd="fast" advClick="1"/>
</p:sld>
</file>

<file path=ppt/slides/slide1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8" name="Property Model"/>
          <p:cNvSpPr txBox="1"/>
          <p:nvPr>
            <p:ph type="title"/>
          </p:nvPr>
        </p:nvSpPr>
        <p:spPr>
          <a:prstGeom prst="rect">
            <a:avLst/>
          </a:prstGeom>
        </p:spPr>
        <p:txBody>
          <a:bodyPr lIns="76200" tIns="76200" rIns="76200" bIns="76200"/>
          <a:lstStyle>
            <a:lvl1pPr defTabSz="2176581">
              <a:defRPr sz="4200"/>
            </a:lvl1pPr>
          </a:lstStyle>
          <a:p>
            <a:pPr/>
            <a:r>
              <a:t>Property Model</a:t>
            </a:r>
          </a:p>
        </p:txBody>
      </p:sp>
      <p:sp>
        <p:nvSpPr>
          <p:cNvPr id="1589"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pic>
        <p:nvPicPr>
          <p:cNvPr id="1590" name="Image" descr="Image"/>
          <p:cNvPicPr>
            <a:picLocks noChangeAspect="1"/>
          </p:cNvPicPr>
          <p:nvPr/>
        </p:nvPicPr>
        <p:blipFill>
          <a:blip r:embed="rId2">
            <a:extLst/>
          </a:blip>
          <a:stretch>
            <a:fillRect/>
          </a:stretch>
        </p:blipFill>
        <p:spPr>
          <a:xfrm>
            <a:off x="3552826" y="3695700"/>
            <a:ext cx="17297401" cy="6324600"/>
          </a:xfrm>
          <a:prstGeom prst="rect">
            <a:avLst/>
          </a:prstGeom>
          <a:ln w="12700">
            <a:miter lim="400000"/>
          </a:ln>
        </p:spPr>
      </p:pic>
    </p:spTree>
  </p:cSld>
  <p:clrMapOvr>
    <a:masterClrMapping/>
  </p:clrMapOvr>
  <p:transition xmlns:p14="http://schemas.microsoft.com/office/powerpoint/2010/main" spd="fast" advClick="1"/>
</p:sld>
</file>

<file path=ppt/slides/slide1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2" name="Property Models"/>
          <p:cNvSpPr txBox="1"/>
          <p:nvPr>
            <p:ph type="title"/>
          </p:nvPr>
        </p:nvSpPr>
        <p:spPr>
          <a:prstGeom prst="rect">
            <a:avLst/>
          </a:prstGeom>
        </p:spPr>
        <p:txBody>
          <a:bodyPr lIns="76200" tIns="76200" rIns="76200" bIns="76200"/>
          <a:lstStyle>
            <a:lvl1pPr defTabSz="2176581">
              <a:defRPr sz="4200"/>
            </a:lvl1pPr>
          </a:lstStyle>
          <a:p>
            <a:pPr/>
            <a:r>
              <a:t>Property Models</a:t>
            </a:r>
          </a:p>
        </p:txBody>
      </p:sp>
      <p:sp>
        <p:nvSpPr>
          <p:cNvPr id="1593" name="Very useful for UI behavior…"/>
          <p:cNvSpPr txBox="1"/>
          <p:nvPr>
            <p:ph type="body" idx="1"/>
          </p:nvPr>
        </p:nvSpPr>
        <p:spPr>
          <a:prstGeom prst="rect">
            <a:avLst/>
          </a:prstGeom>
        </p:spPr>
        <p:txBody>
          <a:bodyPr lIns="76200" tIns="76200" rIns="76200" bIns="76200"/>
          <a:lstStyle/>
          <a:p>
            <a:pPr>
              <a:spcBef>
                <a:spcPts val="1200"/>
              </a:spcBef>
            </a:pPr>
            <a:r>
              <a:t>Very useful for UI behavior</a:t>
            </a:r>
          </a:p>
          <a:p>
            <a:pPr>
              <a:spcBef>
                <a:spcPts val="1200"/>
              </a:spcBef>
            </a:pPr>
          </a:p>
          <a:p>
            <a:pPr>
              <a:spcBef>
                <a:spcPts val="1200"/>
              </a:spcBef>
            </a:pPr>
            <a:r>
              <a:t>Significant information is in the graph</a:t>
            </a:r>
          </a:p>
          <a:p>
            <a:pPr lvl="1">
              <a:spcBef>
                <a:spcPts val="1200"/>
              </a:spcBef>
            </a:pPr>
            <a:r>
              <a:t>Source / Derived values form a partition set</a:t>
            </a:r>
          </a:p>
          <a:p>
            <a:pPr lvl="2" marL="1103407" indent="-551704">
              <a:spcBef>
                <a:spcPts val="1200"/>
              </a:spcBef>
              <a:defRPr sz="4000"/>
            </a:pPr>
            <a:r>
              <a:t>Easily model checked</a:t>
            </a:r>
          </a:p>
          <a:p>
            <a:pPr lvl="1">
              <a:spcBef>
                <a:spcPts val="1200"/>
              </a:spcBef>
            </a:pPr>
            <a:r>
              <a:t>Equal result regardless of source order</a:t>
            </a:r>
          </a:p>
          <a:p>
            <a:pPr lvl="2" marL="1103407" indent="-551704">
              <a:spcBef>
                <a:spcPts val="1200"/>
              </a:spcBef>
              <a:defRPr sz="4000"/>
            </a:pPr>
            <a:r>
              <a:t>Form an operational transform, useful for collaborative editing</a:t>
            </a:r>
          </a:p>
          <a:p>
            <a:pPr lvl="1">
              <a:spcBef>
                <a:spcPts val="1200"/>
              </a:spcBef>
            </a:pPr>
            <a:r>
              <a:t>A value is </a:t>
            </a:r>
            <a:r>
              <a:rPr i="1"/>
              <a:t>implied</a:t>
            </a:r>
            <a:r>
              <a:t> by the current state it only has in in-edge</a:t>
            </a:r>
          </a:p>
          <a:p>
            <a:pPr lvl="1">
              <a:spcBef>
                <a:spcPts val="1200"/>
              </a:spcBef>
            </a:pPr>
            <a:r>
              <a:t>Source values determine </a:t>
            </a:r>
            <a:r>
              <a:rPr i="1"/>
              <a:t>intent</a:t>
            </a:r>
            <a:endParaRPr i="1"/>
          </a:p>
          <a:p>
            <a:pPr lvl="1">
              <a:spcBef>
                <a:spcPts val="1200"/>
              </a:spcBef>
            </a:pPr>
            <a:r>
              <a:t>Values disconnected from result (sink) are </a:t>
            </a:r>
            <a:r>
              <a:rPr i="1"/>
              <a:t>don't care</a:t>
            </a:r>
          </a:p>
        </p:txBody>
      </p:sp>
      <p:sp>
        <p:nvSpPr>
          <p:cNvPr id="1594"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1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596" name="Demo"/>
          <p:cNvSpPr txBox="1"/>
          <p:nvPr>
            <p:ph type="title"/>
          </p:nvPr>
        </p:nvSpPr>
        <p:spPr>
          <a:prstGeom prst="rect">
            <a:avLst/>
          </a:prstGeom>
        </p:spPr>
        <p:txBody>
          <a:bodyPr lIns="76200" tIns="76200" rIns="76200" bIns="76200"/>
          <a:lstStyle>
            <a:lvl1pPr defTabSz="2176581">
              <a:defRPr sz="4200"/>
            </a:lvl1pPr>
          </a:lstStyle>
          <a:p>
            <a:pPr/>
            <a:r>
              <a:t>Demo</a:t>
            </a:r>
          </a:p>
        </p:txBody>
      </p:sp>
      <p:sp>
        <p:nvSpPr>
          <p:cNvPr id="1597"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1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1" name="Final Thoughts"/>
          <p:cNvSpPr txBox="1"/>
          <p:nvPr>
            <p:ph type="title"/>
          </p:nvPr>
        </p:nvSpPr>
        <p:spPr>
          <a:prstGeom prst="rect">
            <a:avLst/>
          </a:prstGeom>
        </p:spPr>
        <p:txBody>
          <a:bodyPr lIns="76200" tIns="76200" rIns="76200" bIns="76200"/>
          <a:lstStyle>
            <a:lvl1pPr defTabSz="2176581">
              <a:defRPr sz="4200"/>
            </a:lvl1pPr>
          </a:lstStyle>
          <a:p>
            <a:pPr/>
            <a:r>
              <a:t>Final Thoughts</a:t>
            </a:r>
          </a:p>
        </p:txBody>
      </p:sp>
      <p:sp>
        <p:nvSpPr>
          <p:cNvPr id="1602" name="Perhaps representing such systems as if it where imperative code is not the correct approach…"/>
          <p:cNvSpPr txBox="1"/>
          <p:nvPr>
            <p:ph type="body" idx="1"/>
          </p:nvPr>
        </p:nvSpPr>
        <p:spPr>
          <a:xfrm>
            <a:off x="612616" y="2039940"/>
            <a:ext cx="23158768" cy="10363201"/>
          </a:xfrm>
          <a:prstGeom prst="rect">
            <a:avLst/>
          </a:prstGeom>
        </p:spPr>
        <p:txBody>
          <a:bodyPr lIns="76200" tIns="76200" rIns="76200" bIns="76200"/>
          <a:lstStyle/>
          <a:p>
            <a:pPr>
              <a:spcBef>
                <a:spcPts val="1200"/>
              </a:spcBef>
            </a:pPr>
            <a:r>
              <a:t>Perhaps representing such systems </a:t>
            </a:r>
            <a:r>
              <a:rPr i="1"/>
              <a:t>as if</a:t>
            </a:r>
            <a:r>
              <a:t> it where imperative code is not the correct approach</a:t>
            </a:r>
          </a:p>
          <a:p>
            <a:pPr>
              <a:spcBef>
                <a:spcPts val="1200"/>
              </a:spcBef>
            </a:pPr>
            <a:r>
              <a:t>Instead a graph description can be compiled and statically validated</a:t>
            </a:r>
          </a:p>
          <a:p>
            <a:pPr>
              <a:spcBef>
                <a:spcPts val="1200"/>
              </a:spcBef>
            </a:pPr>
          </a:p>
          <a:p>
            <a:pPr>
              <a:spcBef>
                <a:spcPts val="1200"/>
              </a:spcBef>
            </a:pPr>
            <a:r>
              <a:t>Slides and code from talk (and property model papers):</a:t>
            </a:r>
          </a:p>
          <a:p>
            <a:pPr>
              <a:spcBef>
                <a:spcPts val="1200"/>
              </a:spcBef>
            </a:pPr>
            <a:r>
              <a:rPr u="sng">
                <a:hlinkClick r:id="rId2" invalidUrl="" action="" tgtFrame="" tooltip="" history="1" highlightClick="0" endSnd="0"/>
              </a:rPr>
              <a:t>http://sean-parent.stlab.cc/papers-and-presentations</a:t>
            </a:r>
          </a:p>
          <a:p>
            <a:pPr>
              <a:spcBef>
                <a:spcPts val="1200"/>
              </a:spcBef>
            </a:pPr>
          </a:p>
          <a:p>
            <a:pPr>
              <a:spcBef>
                <a:spcPts val="1200"/>
              </a:spcBef>
            </a:pPr>
            <a:r>
              <a:t>Experimental future and channel library:</a:t>
            </a:r>
          </a:p>
          <a:p>
            <a:pPr>
              <a:spcBef>
                <a:spcPts val="1200"/>
              </a:spcBef>
            </a:pPr>
            <a:r>
              <a:rPr u="sng">
                <a:hlinkClick r:id="rId3" invalidUrl="" action="" tgtFrame="" tooltip="" history="1" highlightClick="0" endSnd="0"/>
              </a:rPr>
              <a:t>https://github.com/stlab/libraries/tree/develop</a:t>
            </a:r>
          </a:p>
          <a:p>
            <a:pPr>
              <a:spcBef>
                <a:spcPts val="1200"/>
              </a:spcBef>
            </a:pPr>
            <a:r>
              <a:t>Thanks to Felix Petriconi</a:t>
            </a:r>
          </a:p>
          <a:p>
            <a:pPr>
              <a:spcBef>
                <a:spcPts val="1200"/>
              </a:spcBef>
            </a:pPr>
          </a:p>
          <a:p>
            <a:pPr>
              <a:spcBef>
                <a:spcPts val="1200"/>
              </a:spcBef>
            </a:pPr>
            <a:r>
              <a:t>Communicating Sequential Processes (C. A. R. Hoare)</a:t>
            </a:r>
          </a:p>
          <a:p>
            <a:pPr>
              <a:spcBef>
                <a:spcPts val="1200"/>
              </a:spcBef>
            </a:pPr>
            <a:r>
              <a:rPr u="sng">
                <a:hlinkClick r:id="rId4" invalidUrl="" action="" tgtFrame="" tooltip="" history="1" highlightClick="0" endSnd="0"/>
              </a:rPr>
              <a:t>http://usingcsp.com/cspbook.pdf</a:t>
            </a:r>
          </a:p>
        </p:txBody>
      </p:sp>
      <p:sp>
        <p:nvSpPr>
          <p:cNvPr id="1603" name="Slide Number"/>
          <p:cNvSpPr txBox="1"/>
          <p:nvPr>
            <p:ph type="sldNum" sz="quarter" idx="2"/>
          </p:nvPr>
        </p:nvSpPr>
        <p:spPr>
          <a:xfrm>
            <a:off x="12001169" y="12884146"/>
            <a:ext cx="400712" cy="406401"/>
          </a:xfrm>
          <a:prstGeom prst="rect">
            <a:avLst/>
          </a:prstGeom>
          <a:extLst>
            <a:ext uri="{C572A759-6A51-4108-AA02-DFA0A04FC94B}">
              <ma14:wrappingTextBoxFlag xmlns:ma14="http://schemas.microsoft.com/office/mac/drawingml/2011/main" val="1"/>
            </a:ext>
          </a:extLst>
        </p:spPr>
        <p:txBody>
          <a:bodyPr lIns="76200" tIns="76200" rIns="76200" bIns="76200"/>
          <a:lstStyle/>
          <a:p>
            <a:pPr/>
            <a:fld id="{86CB4B4D-7CA3-9044-876B-883B54F8677D}" type="slidenum"/>
          </a:p>
        </p:txBody>
      </p:sp>
    </p:spTree>
  </p:cSld>
  <p:clrMapOvr>
    <a:masterClrMapping/>
  </p:clrMapOvr>
  <p:transition xmlns:p14="http://schemas.microsoft.com/office/powerpoint/2010/main" spd="fast" advClick="1"/>
</p:sld>
</file>

<file path=ppt/slides/slide1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5" name="Rectangle"/>
          <p:cNvSpPr/>
          <p:nvPr/>
        </p:nvSpPr>
        <p:spPr>
          <a:xfrm>
            <a:off x="0" y="0"/>
            <a:ext cx="24428495" cy="1558927"/>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606" name="Rectangle"/>
          <p:cNvSpPr/>
          <p:nvPr/>
        </p:nvSpPr>
        <p:spPr>
          <a:xfrm>
            <a:off x="0" y="12884153"/>
            <a:ext cx="24428495" cy="831851"/>
          </a:xfrm>
          <a:prstGeom prst="rect">
            <a:avLst/>
          </a:prstGeom>
          <a:solidFill>
            <a:srgbClr val="475560"/>
          </a:solidFill>
          <a:ln w="25400"/>
        </p:spPr>
        <p:txBody>
          <a:bodyPr lIns="50800" tIns="50800" rIns="50800" bIns="50800" anchor="ctr"/>
          <a:lstStyle/>
          <a:p>
            <a:pPr algn="ctr">
              <a:buClr>
                <a:srgbClr val="FFFFFF"/>
              </a:buClr>
              <a:defRPr>
                <a:solidFill>
                  <a:srgbClr val="FFFFFF"/>
                </a:solidFill>
                <a:uFill>
                  <a:solidFill>
                    <a:srgbClr val="FFFFFF"/>
                  </a:solidFill>
                </a:uFill>
              </a:defRPr>
            </a:pPr>
          </a:p>
        </p:txBody>
      </p:sp>
      <p:sp>
        <p:nvSpPr>
          <p:cNvPr id="1607" name="© 2014 Adobe Systems Incorporated.  All Rights Reserved."/>
          <p:cNvSpPr txBox="1"/>
          <p:nvPr/>
        </p:nvSpPr>
        <p:spPr>
          <a:xfrm>
            <a:off x="609600" y="12974022"/>
            <a:ext cx="1040130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buClr>
                <a:srgbClr val="FFFFFF"/>
              </a:buClr>
              <a:defRPr sz="1400">
                <a:solidFill>
                  <a:srgbClr val="FFFFFF"/>
                </a:solidFill>
                <a:uFill>
                  <a:solidFill>
                    <a:srgbClr val="FFFFFF"/>
                  </a:solidFill>
                </a:uFill>
              </a:defRPr>
            </a:lvl1pPr>
          </a:lstStyle>
          <a:p>
            <a:pPr>
              <a:defRPr sz="3600">
                <a:solidFill>
                  <a:srgbClr val="000000"/>
                </a:solidFill>
                <a:uFill>
                  <a:solidFill>
                    <a:srgbClr val="000000"/>
                  </a:solidFill>
                </a:uFill>
              </a:defRPr>
            </a:pPr>
            <a:r>
              <a:rPr sz="1400">
                <a:solidFill>
                  <a:srgbClr val="FFFFFF"/>
                </a:solidFill>
                <a:uFill>
                  <a:solidFill>
                    <a:srgbClr val="FFFFFF"/>
                  </a:solidFill>
                </a:uFill>
              </a:rPr>
              <a:t>© 2014 Adobe Systems Incorporated.  All Rights Reserved.</a:t>
            </a:r>
          </a:p>
        </p:txBody>
      </p:sp>
      <p:pic>
        <p:nvPicPr>
          <p:cNvPr id="1608" name="image1.png" descr="image1.png"/>
          <p:cNvPicPr>
            <a:picLocks noChangeAspect="1"/>
          </p:cNvPicPr>
          <p:nvPr/>
        </p:nvPicPr>
        <p:blipFill>
          <a:blip r:embed="rId2">
            <a:extLst/>
          </a:blip>
          <a:stretch>
            <a:fillRect/>
          </a:stretch>
        </p:blipFill>
        <p:spPr>
          <a:xfrm>
            <a:off x="23736464" y="13055480"/>
            <a:ext cx="355271" cy="489197"/>
          </a:xfrm>
          <a:prstGeom prst="rect">
            <a:avLst/>
          </a:prstGeom>
          <a:ln w="12700">
            <a:miter lim="400000"/>
          </a:ln>
        </p:spPr>
      </p:pic>
      <p:sp>
        <p:nvSpPr>
          <p:cNvPr id="1609" name="Rectangle"/>
          <p:cNvSpPr/>
          <p:nvPr/>
        </p:nvSpPr>
        <p:spPr>
          <a:xfrm>
            <a:off x="0" y="0"/>
            <a:ext cx="24428495" cy="13716000"/>
          </a:xfrm>
          <a:prstGeom prst="rect">
            <a:avLst/>
          </a:prstGeom>
          <a:solidFill>
            <a:srgbClr val="FFFFFF"/>
          </a:solidFill>
          <a:ln w="25400"/>
        </p:spPr>
        <p:txBody>
          <a:bodyPr lIns="38100" tIns="38100" rIns="38100" bIns="38100" anchor="ctr"/>
          <a:lstStyle/>
          <a:p>
            <a:pPr algn="ctr">
              <a:buClr>
                <a:srgbClr val="FFFFFF"/>
              </a:buClr>
              <a:defRPr>
                <a:solidFill>
                  <a:srgbClr val="FFFFFF"/>
                </a:solidFill>
                <a:uFill>
                  <a:solidFill>
                    <a:srgbClr val="FFFFFF"/>
                  </a:solidFill>
                </a:uFill>
              </a:defRPr>
            </a:pPr>
          </a:p>
        </p:txBody>
      </p:sp>
      <p:pic>
        <p:nvPicPr>
          <p:cNvPr id="1610" name="Adobe_standard_logo_red.png" descr="Adobe_standard_logo_red.png"/>
          <p:cNvPicPr>
            <a:picLocks noChangeAspect="1"/>
          </p:cNvPicPr>
          <p:nvPr/>
        </p:nvPicPr>
        <p:blipFill>
          <a:blip r:embed="rId3">
            <a:extLst/>
          </a:blip>
          <a:stretch>
            <a:fillRect/>
          </a:stretch>
        </p:blipFill>
        <p:spPr>
          <a:xfrm>
            <a:off x="10722452" y="4867642"/>
            <a:ext cx="2939096" cy="3980716"/>
          </a:xfrm>
          <a:prstGeom prst="rect">
            <a:avLst/>
          </a:prstGeom>
          <a:ln w="12700">
            <a:miter lim="400000"/>
          </a:ln>
        </p:spPr>
      </p:pic>
    </p:spTree>
  </p:cSld>
  <p:clrMapOvr>
    <a:masterClrMapping/>
  </p:clrMapOvr>
  <p:transition xmlns:p14="http://schemas.microsoft.com/office/powerpoint/2010/main" spd="fast" advClick="1"/>
</p:sld>
</file>

<file path=ppt/theme/_rels/theme1.xml.rels><?xml version="1.0" encoding="UTF-8"?>
<Relationships xmlns="http://schemas.openxmlformats.org/package/2006/relationships"><Relationship Id="rId1" Type="http://schemas.openxmlformats.org/officeDocument/2006/relationships/image" Target="../media/image1.png"/></Relationships>

</file>

<file path=ppt/theme/_rels/theme2.xml.rels><?xml version="1.0" encoding="UTF-8"?>
<Relationships xmlns="http://schemas.openxmlformats.org/package/2006/relationships"><Relationship Id="rId1" Type="http://schemas.openxmlformats.org/officeDocument/2006/relationships/image" Target="../media/image5.png"/></Relationships>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Adobe Clean"/>
        <a:ea typeface="Adobe Clean"/>
        <a:cs typeface="Adobe Clean"/>
      </a:majorFont>
      <a:minorFont>
        <a:latin typeface="Adobe Clean"/>
        <a:ea typeface="Adobe Clean"/>
        <a:cs typeface="Adobe Clea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50000"/>
              </a:srgbClr>
            </a:outerShdw>
          </a:effectLst>
        </a:effectStyle>
        <a:effectStyle>
          <a:effectLst>
            <a:outerShdw sx="100000" sy="100000" kx="0" ky="0" algn="b" rotWithShape="0" blurRad="50800" dist="12700" dir="0">
              <a:srgbClr val="000000">
                <a:alpha val="50000"/>
              </a:srgbClr>
            </a:outerShdw>
          </a:effectLst>
        </a:effectStyle>
        <a:effectStyle>
          <a:effectLst>
            <a:outerShdw sx="100000" sy="100000" kx="0" ky="0" algn="b" rotWithShape="0" blurRad="38100" dist="25400" dir="540000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outerShdw sx="100000" sy="100000" kx="0" ky="0" algn="b" rotWithShape="0" blurRad="38100" dist="25400" dir="5400000">
            <a:srgbClr val="000000">
              <a:alpha val="50000"/>
            </a:srgbClr>
          </a:outerShdw>
        </a:effectLst>
        <a:sp3d/>
      </a:spPr>
      <a:bodyPr rot="0" spcFirstLastPara="1" vertOverflow="overflow" horzOverflow="overflow" vert="horz" wrap="square" lIns="50800" tIns="50800" rIns="50800" bIns="50800" numCol="1" spcCol="38100" rtlCol="0" anchor="ctr" upright="0">
        <a:spAutoFit/>
      </a:bodyPr>
      <a:lstStyle>
        <a:defPPr marL="0" marR="0" indent="0" algn="l" defTabSz="1828800" rtl="0" fontAlgn="auto" latinLnBrk="0" hangingPunct="0">
          <a:lnSpc>
            <a:spcPct val="100000"/>
          </a:lnSpc>
          <a:spcBef>
            <a:spcPts val="0"/>
          </a:spcBef>
          <a:spcAft>
            <a:spcPts val="0"/>
          </a:spcAft>
          <a:buClr>
            <a:srgbClr val="000000"/>
          </a:buClr>
          <a:buSzTx/>
          <a:buFontTx/>
          <a:buNone/>
          <a:tabLst/>
          <a:defRPr b="0" baseline="0" cap="none" i="0" spc="0" strike="noStrike" sz="3600" u="none" kumimoji="0" normalizeH="0">
            <a:ln>
              <a:noFill/>
            </a:ln>
            <a:solidFill>
              <a:srgbClr val="000000"/>
            </a:solidFill>
            <a:effectLst/>
            <a:uFill>
              <a:solidFill>
                <a:srgbClr val="000000"/>
              </a:solidFill>
            </a:uFill>
            <a:latin typeface="+mn-lt"/>
            <a:ea typeface="+mn-ea"/>
            <a:cs typeface="+mn-cs"/>
            <a:sym typeface="Adobe Clean"/>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1828800" rtl="0" fontAlgn="auto" latinLnBrk="0" hangingPunct="0">
          <a:lnSpc>
            <a:spcPct val="100000"/>
          </a:lnSpc>
          <a:spcBef>
            <a:spcPts val="0"/>
          </a:spcBef>
          <a:spcAft>
            <a:spcPts val="0"/>
          </a:spcAft>
          <a:buClr>
            <a:srgbClr val="000000"/>
          </a:buClr>
          <a:buSzTx/>
          <a:buFontTx/>
          <a:buNone/>
          <a:tabLst/>
          <a:defRPr b="0" baseline="0" cap="none" i="0" spc="0" strike="noStrike" sz="3600" u="none" kumimoji="0" normalizeH="0">
            <a:ln>
              <a:noFill/>
            </a:ln>
            <a:solidFill>
              <a:srgbClr val="000000"/>
            </a:solidFill>
            <a:effectLst/>
            <a:uFill>
              <a:solidFill>
                <a:srgbClr val="000000"/>
              </a:solidFill>
            </a:uFill>
            <a:latin typeface="+mn-lt"/>
            <a:ea typeface="+mn-ea"/>
            <a:cs typeface="+mn-cs"/>
            <a:sym typeface="Adobe Clean"/>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Adobe Clean"/>
        <a:ea typeface="Adobe Clean"/>
        <a:cs typeface="Adobe Clean"/>
      </a:majorFont>
      <a:minorFont>
        <a:latin typeface="Adobe Clean"/>
        <a:ea typeface="Adobe Clean"/>
        <a:cs typeface="Adobe Clea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50000"/>
              </a:srgbClr>
            </a:outerShdw>
          </a:effectLst>
        </a:effectStyle>
        <a:effectStyle>
          <a:effectLst>
            <a:outerShdw sx="100000" sy="100000" kx="0" ky="0" algn="b" rotWithShape="0" blurRad="50800" dist="12700" dir="0">
              <a:srgbClr val="000000">
                <a:alpha val="50000"/>
              </a:srgbClr>
            </a:outerShdw>
          </a:effectLst>
        </a:effectStyle>
        <a:effectStyle>
          <a:effectLst>
            <a:outerShdw sx="100000" sy="100000" kx="0" ky="0" algn="b" rotWithShape="0" blurRad="38100" dist="25400" dir="540000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outerShdw sx="100000" sy="100000" kx="0" ky="0" algn="b" rotWithShape="0" blurRad="38100" dist="25400" dir="5400000">
            <a:srgbClr val="000000">
              <a:alpha val="50000"/>
            </a:srgbClr>
          </a:outerShdw>
        </a:effectLst>
        <a:sp3d/>
      </a:spPr>
      <a:bodyPr rot="0" spcFirstLastPara="1" vertOverflow="overflow" horzOverflow="overflow" vert="horz" wrap="square" lIns="50800" tIns="50800" rIns="50800" bIns="50800" numCol="1" spcCol="38100" rtlCol="0" anchor="ctr" upright="0">
        <a:spAutoFit/>
      </a:bodyPr>
      <a:lstStyle>
        <a:defPPr marL="0" marR="0" indent="0" algn="l" defTabSz="1828800" rtl="0" fontAlgn="auto" latinLnBrk="0" hangingPunct="0">
          <a:lnSpc>
            <a:spcPct val="100000"/>
          </a:lnSpc>
          <a:spcBef>
            <a:spcPts val="0"/>
          </a:spcBef>
          <a:spcAft>
            <a:spcPts val="0"/>
          </a:spcAft>
          <a:buClr>
            <a:srgbClr val="000000"/>
          </a:buClr>
          <a:buSzTx/>
          <a:buFontTx/>
          <a:buNone/>
          <a:tabLst/>
          <a:defRPr b="0" baseline="0" cap="none" i="0" spc="0" strike="noStrike" sz="3600" u="none" kumimoji="0" normalizeH="0">
            <a:ln>
              <a:noFill/>
            </a:ln>
            <a:solidFill>
              <a:srgbClr val="000000"/>
            </a:solidFill>
            <a:effectLst/>
            <a:uFill>
              <a:solidFill>
                <a:srgbClr val="000000"/>
              </a:solidFill>
            </a:uFill>
            <a:latin typeface="+mn-lt"/>
            <a:ea typeface="+mn-ea"/>
            <a:cs typeface="+mn-cs"/>
            <a:sym typeface="Adobe Clean"/>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1828800" rtl="0" fontAlgn="auto" latinLnBrk="0" hangingPunct="0">
          <a:lnSpc>
            <a:spcPct val="100000"/>
          </a:lnSpc>
          <a:spcBef>
            <a:spcPts val="0"/>
          </a:spcBef>
          <a:spcAft>
            <a:spcPts val="0"/>
          </a:spcAft>
          <a:buClr>
            <a:srgbClr val="000000"/>
          </a:buClr>
          <a:buSzTx/>
          <a:buFontTx/>
          <a:buNone/>
          <a:tabLst/>
          <a:defRPr b="0" baseline="0" cap="none" i="0" spc="0" strike="noStrike" sz="3600" u="none" kumimoji="0" normalizeH="0">
            <a:ln>
              <a:noFill/>
            </a:ln>
            <a:solidFill>
              <a:srgbClr val="000000"/>
            </a:solidFill>
            <a:effectLst/>
            <a:uFill>
              <a:solidFill>
                <a:srgbClr val="000000"/>
              </a:solidFill>
            </a:uFill>
            <a:latin typeface="+mn-lt"/>
            <a:ea typeface="+mn-ea"/>
            <a:cs typeface="+mn-cs"/>
            <a:sym typeface="Adobe Clean"/>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